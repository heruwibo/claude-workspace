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3864"/>
                </a:solidFill>
                <a:latin typeface="Calibri"/>
              </a:defRPr>
            </a:pPr>
            <a:r>
              <a:rPr sz="1300" b="0" i="0" u="none" strike="noStrike">
                <a:solidFill>
                  <a:srgbClr val="1F3864"/>
                </a:solidFill>
                <a:latin typeface="Calibri"/>
              </a:rPr>
              <a:t>Natural-resource PNBP (full year vs eight months)</a:t>
            </a:r>
          </a:p>
        </c:rich>
      </c:tx>
      <c:layout/>
      <c:overlay val="0"/>
    </c:title>
    <c:autoTitleDeleted val="0"/>
    <c:plotArea>
      <c:layout/>
      <c:barChart>
        <c:barDir val="col"/>
        <c:grouping val="stacked"/>
        <c:varyColors val="0"/>
        <c:ser>
          <c:idx val="0"/>
          <c:order val="0"/>
          <c:tx>
            <c:strRef>
              <c:f>Sheet1!$B$1</c:f>
              <c:strCache>
                <c:ptCount val="1"/>
                <c:pt idx="0">
                  <c:v>Oil and gas</c:v>
                </c:pt>
              </c:strCache>
            </c:strRef>
          </c:tx>
          <c:spPr>
            <a:solidFill>
              <a:srgbClr val="1F3864"/>
            </a:solidFill>
            <a:effectLst/>
          </c:spPr>
          <c:invertIfNegative val="0"/>
          <c:dLbls>
            <c:numFmt formatCode="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Jan–Aug 2026</c:v>
                  </c:pt>
                </c:lvl>
              </c:multiLvlStrCache>
            </c:multiLvlStrRef>
          </c:cat>
          <c:val>
            <c:numRef>
              <c:f>Sheet1!$B$2:$B$4</c:f>
              <c:numCache>
                <c:formatCode>General</c:formatCode>
                <c:ptCount val="3"/>
                <c:pt idx="0">
                  <c:v>116.2</c:v>
                </c:pt>
                <c:pt idx="1">
                  <c:v>110.9</c:v>
                </c:pt>
                <c:pt idx="2">
                  <c:v>80.1</c:v>
                </c:pt>
              </c:numCache>
            </c:numRef>
          </c:val>
        </c:ser>
        <c:ser>
          <c:idx val="1"/>
          <c:order val="1"/>
          <c:tx>
            <c:strRef>
              <c:f>Sheet1!$C$1</c:f>
              <c:strCache>
                <c:ptCount val="1"/>
                <c:pt idx="0">
                  <c:v>Non-oil and gas (minerals, coal, forestry)</c:v>
                </c:pt>
              </c:strCache>
            </c:strRef>
          </c:tx>
          <c:spPr>
            <a:solidFill>
              <a:srgbClr val="B8901E"/>
            </a:solidFill>
            <a:effectLst/>
          </c:spPr>
          <c:invertIfNegative val="0"/>
          <c:dLbls>
            <c:numFmt formatCode="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Jan–Aug 2026</c:v>
                  </c:pt>
                </c:lvl>
              </c:multiLvlStrCache>
            </c:multiLvlStrRef>
          </c:cat>
          <c:val>
            <c:numRef>
              <c:f>Sheet1!$C$2:$C$4</c:f>
              <c:numCache>
                <c:formatCode>General</c:formatCode>
                <c:ptCount val="3"/>
                <c:pt idx="0">
                  <c:v>138</c:v>
                </c:pt>
                <c:pt idx="1">
                  <c:v>118.3</c:v>
                </c:pt>
                <c:pt idx="2">
                  <c:v>114.4</c:v>
                </c:pt>
              </c:numCache>
            </c:numRef>
          </c:val>
        </c:ser>
        <c:dLbls>
          <c:numFmt formatCode="0.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99999"/>
            </a:solidFill>
            <a:prstDash val="solid"/>
            <a:round/>
          </a:ln>
        </c:spPr>
        <c:txPr>
          <a:bodyPr/>
          <a:lstStyle/>
          <a:p>
            <a:pPr>
              <a:defRPr sz="1100" b="0" i="0" u="none" strike="noStrike">
                <a:solidFill>
                  <a:srgbClr val="4A5568"/>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6E6E6"/>
              </a:solidFill>
              <a:prstDash val="solid"/>
              <a:round/>
            </a:ln>
          </c:spPr>
        </c:majorGridlines>
        <c:title>
          <c:tx>
            <c:rich>
              <a:bodyPr/>
              <a:lstStyle/>
              <a:p>
                <a:pPr>
                  <a:defRPr sz="1000" b="0" i="0" u="none" strike="noStrike">
                    <a:solidFill>
                      <a:srgbClr val="4A5568"/>
                    </a:solidFill>
                    <a:latin typeface="Arial"/>
                  </a:defRPr>
                </a:pPr>
                <a:r>
                  <a:rPr sz="1000" b="0" i="0" u="none" strike="noStrike">
                    <a:solidFill>
                      <a:srgbClr val="4A5568"/>
                    </a:solidFill>
                    <a:latin typeface="Arial"/>
                  </a:rPr>
                  <a:t>Natural-resource PNBP, Rp trillion</a:t>
                </a:r>
              </a:p>
            </c:rich>
          </c:tx>
          <c:layout/>
          <c:overlay val="0"/>
        </c:title>
        <c:numFmt formatCode="General" sourceLinked="0"/>
        <c:majorTickMark val="out"/>
        <c:minorTickMark val="none"/>
        <c:tickLblPos val="nextTo"/>
        <c:spPr>
          <a:ln w="12700" cap="flat">
            <a:noFill/>
            <a:prstDash val="solid"/>
            <a:round/>
          </a:ln>
        </c:spPr>
        <c:txPr>
          <a:bodyPr/>
          <a:lstStyle/>
          <a:p>
            <a:pPr>
              <a:defRPr sz="1000" b="0" i="0" u="none" strike="noStrike">
                <a:solidFill>
                  <a:srgbClr val="4A5568"/>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568"/>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briefing summarises the integrated paper. It follows five steps: what Indonesia has, how to deal with current conditions by stabilising, how to prepare the future by saving, how to make it sustainable by investing part of the savings through DDMF, and how to reach high growth towards 8% through careful design, execution, monitoring and risk mitigation. It contains confidential DDMF data; restrict circulation.
</a:t>
            </a:r>
          </a:p>
          <a:p>
            <a:r>
              <a:rPr lang="en-US" dirty="0"/>
              <a:t>
</a:t>
            </a:r>
          </a:p>
          <a:p>
            <a:r>
              <a:rPr lang="en-US" dirty="0"/>
              <a:t>SOURCES FOR THIS SLIDE
</a:t>
            </a:r>
          </a:p>
          <a:p>
            <a:r>
              <a:rPr lang="en-US" dirty="0"/>
              <a:t>1. Uploaded file: RKAP_2026_DDMF_pptver.pdf — DDMF (Danantara Development Mandate Fund), Rencana Kerja dan Anggaran Perusahaan (RKAP) 2026, presentation version, marked Private &amp; Confidential
</a:t>
            </a:r>
          </a:p>
          <a:p>
            <a:r>
              <a:rPr lang="en-US" dirty="0"/>
              <a:t>2. Policy Paper 1 — Stabilise and Save: Managing Indonesia's Natural-Resource Wealth (Resource Revenue Governance Series, Sept 2026, EN/ID docx): framework, export analysis and two-window fund
</a:t>
            </a:r>
          </a:p>
          <a:p>
            <a:r>
              <a:rPr lang="en-US" dirty="0"/>
              <a:t>3. Policy Note 2 — Stabilise, Save and Invest (29 Sept 2026, EN/ID docx): full text, tables and figures summarised in this deck
</a:t>
            </a:r>
          </a:p>
          <a:p>
            <a:r>
              <a:rPr lang="en-US" dirty="0"/>
              <a:t>4. Cover illustration: original artwork drawn by the author for this series
</a:t>
            </a:r>
          </a:p>
          <a:p>
            <a:r>
              <a:rPr lang="en-US" dirty="0"/>
              <a:t>5. Integrated Paper — Stabilise, Save, Invest and Grow (8 Oct 2026, EN/ID docx): full text, tables and figures summarised in this briefing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briefing follows the flow of the integrated paper: what we have, current conditions, the future, sustainability, and high growth.
</a:t>
            </a:r>
          </a:p>
          <a:p>
            <a:r>
              <a:rPr lang="en-US" dirty="0"/>
              <a:t>
</a:t>
            </a:r>
          </a:p>
          <a:p>
            <a:r>
              <a:rPr lang="en-US" dirty="0"/>
              <a:t>SOURCES FOR THIS SLIDE
</a:t>
            </a:r>
          </a:p>
          <a:p>
            <a:r>
              <a:rPr lang="en-US" dirty="0"/>
              <a:t>1. Policy Note 2 — Stabilise, Save and Invest (29 Sept 2026, EN/ID docx): structure of Sections 1–7 and appendix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numbers carry the argument. With the October 2026 figures the pipeline is 5,396 trillion rupiah, dominated by defence and the Giant Sea Wall. Natural resources can fund about half of it under a maximised, time-limited rule. At its peak it supports about 4 million jobs and lifts GDP by 2.2 percent. Growth reaches about 6.9 percent; 8 percent needs an ICOR of about 4.3, so efficiency, not money, is now the binding constraint.
</a:t>
            </a:r>
          </a:p>
          <a:p>
            <a:r>
              <a:rPr lang="en-US" dirty="0"/>
              <a:t>
</a:t>
            </a:r>
          </a:p>
          <a:p>
            <a:r>
              <a:rPr lang="en-US" dirty="0"/>
              <a:t>SOURCES FOR THIS SLIDE
</a:t>
            </a:r>
          </a:p>
          <a:p>
            <a:r>
              <a:rPr lang="en-US" dirty="0"/>
              <a:t>1. Priority list revised on 2 Oct 2026 at the user's request: shipyard &amp; ship components (investment Rp5.24 T, equity Rp1.10 T) and alutsista (Rp16.12 T, Rp3.39 T) added to the RKAP's 13 priority projects, from RKAP p. 111, giving 15 projects: investment Rp799.0 T, equity Rp147.7 T
</a:t>
            </a:r>
          </a:p>
          <a:p>
            <a:r>
              <a:rPr lang="en-US" dirty="0"/>
              <a:t>2. Author's calculation: maritime &amp; defence projects (EV Power Pack, shipyard &amp; ship components, Athens, alutsista) = investment Rp191.6 T, DDMF equity Rp20.2 T (≈9.5× leverage); sovereignty tier (shipyard, alutsista, Athens equity) Rp19.5 T ≈ 7% of the Rp270 T development window 2027–32; Athens availability payment ≈ Rp15.8 T/yr = illustrative 20-year annuity at 7% on Rp167.2 T, ≈8% of the Rp187.1 T Kemhan 2026 budget
</a:t>
            </a:r>
          </a:p>
          <a:p>
            <a:r>
              <a:rPr lang="en-US" dirty="0"/>
              <a:t>3. RKAP DDMF 2026 (uploaded file), p. 10: 40 projects, total investment Rp2,091.5 T, DDMF equity Rp419.1 T, 2027–2032
</a:t>
            </a:r>
          </a:p>
          <a:p>
            <a:r>
              <a:rPr lang="en-US" dirty="0"/>
              <a:t>4. RKAP DDMF 2026 (uploaded file), p. 15: additional paid-in capital Rp10 T (initial capital Rp0.1 T)
</a:t>
            </a:r>
          </a:p>
          <a:p>
            <a:r>
              <a:rPr lang="en-US" dirty="0"/>
              <a:t>5. Kementerian Keuangan, Media Keuangan (2025), 'PNBP 2024 terealisasi 117% dari target APBN': natural-resource PNBP 2024 Rp229.2 T (oil &amp; gas 110.9; non-oil &amp; gas 118.3); 2023 Rp254.2 T (116.2; 138.0) (https://mediakeuangan.kemenkeu.go.id/article/show/pnbp-2024-terealisasi-117-dari-target-apbn)
</a:t>
            </a:r>
          </a:p>
          <a:p>
            <a:r>
              <a:rPr lang="en-US" dirty="0"/>
              <a:t>6. DDTC News (Sept 2026), 'Setoran PNBP tembus Rp435,1 triliun, sudah 94,8% dari target APBN 2026', citing the Ministry of Finance: Jan–Aug 2026 PNBP Rp435.1 T (+41.7%); natural-resource PNBP Rp194.6 T (oil &amp; gas 80.1; non-oil &amp; gas 114.4) (https://news.ddtc.co.id/berita/nasional/1822596/setoran-pnbp-tembus-rp4351-triliun-sudah-948-dari-target-apbn-2026)
</a:t>
            </a:r>
          </a:p>
          <a:p>
            <a:r>
              <a:rPr lang="en-US" dirty="0"/>
              <a:t>7. Author's classification of the 35 costed RKAP projects into six groups by link to resource wealth (resource conversion; energy transition &amp; FX; non-resource industry; digital &amp; frontier tech; public goods; defence PPP). CPE is not described in the RKAP and is assumed to be petrochemical
</a:t>
            </a:r>
          </a:p>
          <a:p>
            <a:r>
              <a:rPr lang="en-US" dirty="0"/>
              <a:t>8. Author's calculation of leverage from the RKAP financing assumption (p. 10): DDMF share of capex = 30% equity × 70% held = 21%, so Rp 1 of DDMF equity ≈ Rp 4.76 of total investment
</a:t>
            </a:r>
          </a:p>
          <a:p>
            <a:r>
              <a:rPr lang="en-US" dirty="0"/>
              <a:t>9. Author's illustrative model (Python), documented in Policy Note 2, Section 4: resource PNBP Rp250 T/yr in constant 2026 prices, −2%/yr after 2030; future window 4% real return, 3% annual budget draw; development equity 4.5% real cash yield from year 5, exited evenly over years 10–15; aggressive case 30% contribution, 60/30/0 split, loan ≤5% of future-window balance a year to 2034
</a:t>
            </a:r>
          </a:p>
          <a:p>
            <a:r>
              <a:rPr lang="en-US" dirty="0"/>
              <a:t>10. Author's growth model (growth8.py, scen8.py): growth = investment ratio ÷ ICOR, calibrated to 2025 (PMTB 28.77% of GDP, growth 5.11%, implied ICOR 5.63); natural-resource levers and scenario parameters as documented in Appendix E of the integrated paper
</a:t>
            </a:r>
          </a:p>
          <a:p>
            <a:r>
              <a:rPr lang="en-US" dirty="0"/>
              <a:t>11. Integrated Paper — Stabilise, Save, Invest and Grow (8 Oct 2026, EN/ID docx): Chapters 11–12
</a:t>
            </a:r>
          </a:p>
          <a:p>
            <a:r>
              <a:rPr lang="en-US" dirty="0"/>
              <a:t>12. Author's employment model (jobs.py, workbook DDMF_Employment_Model): 35 costed projects in seven work types; construction job-years per Rp 1 T from ERIA (2023) PSN input-output results rebased to 2025 prices (×1.30); induced jobs +35%; permanent jobs per project anchored on IMIP (≈129 per Rp 1 T) and Danantara downstream projects (≈168); 40% of extra jobs assumed to reduce open unemployment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Paper 1 showed that resource exports are large and unstable and that the cycle moves the rupiah and revenue more than real growth. It proposed three layers of policy. Indonesia has only the first, DHE SDA.
</a:t>
            </a:r>
          </a:p>
          <a:p>
            <a:r>
              <a:rPr lang="en-US" dirty="0"/>
              <a:t>
</a:t>
            </a:r>
          </a:p>
          <a:p>
            <a:r>
              <a:rPr lang="en-US" dirty="0"/>
              <a:t>SOURCES FOR THIS SLIDE
</a:t>
            </a:r>
          </a:p>
          <a:p>
            <a:r>
              <a:rPr lang="en-US" dirty="0"/>
              <a:t>1. Policy Paper 1 — Stabilise and Save: Managing Indonesia's Natural-Resource Wealth (Resource Revenue Governance Series, Sept 2026, EN/ID docx): Chapter 1 statistics (2025 exports US$122 bn, 8.4% of GDP; eight phases, Table 2; correlation r = 0.63 with dollar GDP growth and 0.17 with real growth, Figure 4) and Figure 6 (three layers)
</a:t>
            </a:r>
          </a:p>
          <a:p>
            <a:r>
              <a:rPr lang="en-US" dirty="0"/>
              <a:t>2. UN Comtrade Database, Indonesia as reporter, exports by HS 4-digit heading, 2000–2025 (https://comtradeplus.un.org)
</a:t>
            </a:r>
          </a:p>
          <a:p>
            <a:r>
              <a:rPr lang="en-US" dirty="0"/>
              <a:t>3. CEPII BACI, HS92 version, for 2001–03, 2005–09 and 2011–13, scaled to Comtrade levels (https://www.cepii.fr/CEPII/en/bdd_modele/bdd_modele_item.asp?id=37 (accessed via https://oec.world))
</a:t>
            </a:r>
          </a:p>
          <a:p>
            <a:r>
              <a:rPr lang="en-US" dirty="0"/>
              <a:t>4. World Bank, World Development Indicators: GDP (current US$), GDP growth (annual %), Indonesia (https://databank.worldbank.org/source/world-development-indicators)
</a:t>
            </a:r>
          </a:p>
          <a:p>
            <a:r>
              <a:rPr lang="en-US" dirty="0"/>
              <a:t>5. Coordinating Ministry for Economic Affairs (2025), socialisation of PP 8/2025 on DHE SDA; Ministry of Finance press release SP-39/KLI/2026 on PP 21/2026</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figures for six programmes replace the RKAP values. The Giant Sea Wall rises from 97 trillion to 1,200 trillion rupiah. Defence modernisation, covering new submarines, unmanned surface vessels, fast attack craft, the refurbishment of the carrier Sriwijaya, fighter squadrons and MRO, replaces Athens and alutsista and totals 2,125 trillion. The National Data Centre is 50 trillion, quantum technology 20, semiconductors 15, and other AI and IT 200. The pipeline grows from 2,091 to 5,396 trillion rupiah; defence and the sea wall are now almost two-thirds of it.
</a:t>
            </a:r>
          </a:p>
          <a:p>
            <a:r>
              <a:rPr lang="en-US" dirty="0"/>
              <a:t>
</a:t>
            </a:r>
          </a:p>
          <a:p>
            <a:r>
              <a:rPr lang="en-US" dirty="0"/>
              <a:t>SOURCES FOR THIS SLIDE
</a:t>
            </a:r>
          </a:p>
          <a:p>
            <a:r>
              <a:rPr lang="en-US" dirty="0"/>
              <a:t>1. RKAP DDMF 2026 (uploaded file), p. 110–112: RKAP values replaced
</a:t>
            </a:r>
          </a:p>
          <a:p>
            <a:r>
              <a:rPr lang="en-US" dirty="0"/>
              <a:t>2.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3. Integrated paper (v3, 16 October 2026), Section 2.3 and Table 2.4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projects are re-clustered by what they build. Industry, 4,914 trillion rupiah or 91 percent, is physical capacity: resource processing and energy, infrastructure, the sea wall, defence and manufacturing. Technology, 480 trillion, covers digital infrastructure, deep tech and the Tech Corridor; IMX is placed here with its purpose to be confirmed. Finance is small in capital spending, 1 trillion for a B2G and B2B platform plus ERP Merah Putih, but holds the fund and the instruments that pay for the other two.
</a:t>
            </a:r>
          </a:p>
          <a:p>
            <a:r>
              <a:rPr lang="en-US" dirty="0"/>
              <a:t>
</a:t>
            </a:r>
          </a:p>
          <a:p>
            <a:r>
              <a:rPr lang="en-US" dirty="0"/>
              <a:t>SOURCES FOR THIS SLIDE
</a:t>
            </a:r>
          </a:p>
          <a:p>
            <a:r>
              <a:rPr lang="en-US" dirty="0"/>
              <a:t>1. RKAP DDMF 2026 (uploaded file), p. 110–112: project list
</a:t>
            </a:r>
          </a:p>
          <a:p>
            <a:r>
              <a:rPr lang="en-US" dirty="0"/>
              <a:t>2.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3. Integrated paper (v3, 16 October 2026), Section 2.4, Table 2.5–2.6, Figure 2.2 and Appendix A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Spreading each project evenly over its timeline, investment rises from about 540 trillion rupiah in 2027 to about 820 trillion a year in 2028 to 2030, close to 3 percent of GDP, almost twice the RKAP peak. It falls in three steps: in 2032 when the RKAP projects end, in 2035 when the defence programme ends, and in 2041 when the sea wall is finished. Each step is a drag on growth and jobs, so a successor pipeline is needed from 2030.
</a:t>
            </a:r>
          </a:p>
          <a:p>
            <a:r>
              <a:rPr lang="en-US" dirty="0"/>
              <a:t>
</a:t>
            </a:r>
          </a:p>
          <a:p>
            <a:r>
              <a:rPr lang="en-US" dirty="0"/>
              <a:t>SOURCES FOR THIS SLIDE
</a:t>
            </a:r>
          </a:p>
          <a:p>
            <a:r>
              <a:rPr lang="en-US" dirty="0"/>
              <a:t>1. Author's cluster model v3 (clusters_v3.py): ten segments in three clusters; IMF (2026) multipliers 0.5→1.2 scaled by domestic content ÷ 0.70; capacity effect = productive share × cumulative capital ÷ ICOR 6.5; larger of the two each year.
</a:t>
            </a:r>
          </a:p>
          <a:p>
            <a:r>
              <a:rPr lang="en-US" dirty="0"/>
              <a:t>2. BPS (2025): GDP 2025 Rp23,821.1 T; employed persons 146.54 m (Sakernas Aug 2025); tax ratio and ICOR from MoF/Bappenas publications as cited in the integrated paper
</a:t>
            </a:r>
          </a:p>
          <a:p>
            <a:r>
              <a:rPr lang="en-US" dirty="0"/>
              <a:t>3. Integrated paper (v3, 16 October 2026), Figure 2.3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non-tax revenue was 254 trillion rupiah in 2023 and 229 trillion in 2024. In the first eight months of 2026 alone it reached 195 trillion, and total PNBP was up 41.7 percent year on year. This is exactly the windfall the reserve window is designed to capture. Without a fund it will be spent as it arrives.
</a:t>
            </a:r>
          </a:p>
          <a:p>
            <a:r>
              <a:rPr lang="en-US" dirty="0"/>
              <a:t>
</a:t>
            </a:r>
          </a:p>
          <a:p>
            <a:r>
              <a:rPr lang="en-US" dirty="0"/>
              <a:t>SOURCES FOR THIS SLIDE
</a:t>
            </a:r>
          </a:p>
          <a:p>
            <a:r>
              <a:rPr lang="en-US" dirty="0"/>
              <a:t>1. Kementerian Keuangan, Media Keuangan (2025), 'PNBP 2024 terealisasi 117% dari target APBN': natural-resource PNBP 2024 Rp229.2 T (oil &amp; gas 110.9; non-oil &amp; gas 118.3); 2023 Rp254.2 T (116.2; 138.0) (https://mediakeuangan.kemenkeu.go.id/article/show/pnbp-2024-terealisasi-117-dari-target-apbn)
</a:t>
            </a:r>
          </a:p>
          <a:p>
            <a:r>
              <a:rPr lang="en-US" dirty="0"/>
              <a:t>2. DDTC News (Sept 2026), 'Setoran PNBP tembus Rp435,1 triliun, sudah 94,8% dari target APBN 2026', citing the Ministry of Finance: Jan–Aug 2026 PNBP Rp435.1 T (+41.7%); natural-resource PNBP Rp194.6 T (oil &amp; gas 80.1; non-oil &amp; gas 114.4) (https://news.ddtc.co.id/berita/nasional/1822596/setoran-pnbp-tembus-rp4351-triliun-sudah-948-dari-target-apbn-2026)
</a:t>
            </a:r>
          </a:p>
          <a:p>
            <a:r>
              <a:rPr lang="en-US" dirty="0"/>
              <a:t>3. Policy Note 2 — Stabilise, Save and Invest (29 Sept 2026, EN/ID docx): Section 2.4</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that replace imports reduce the current account's dependence on commodity prices. CDME alone would save about 0.9 billion dollars a year at 20 percent LPG substitution. But these projects earn revenue that moves with the same commodity prices as state revenue, so a portfolio of only resource-conversion assets would concentrate risk. Caps by commodity and uncorrelated assets such as contracted solar power are the answer.
</a:t>
            </a:r>
          </a:p>
          <a:p>
            <a:r>
              <a:rPr lang="en-US" dirty="0"/>
              <a:t>
</a:t>
            </a:r>
          </a:p>
          <a:p>
            <a:r>
              <a:rPr lang="en-US" dirty="0"/>
              <a:t>SOURCES FOR THIS SLIDE
</a:t>
            </a:r>
          </a:p>
          <a:p>
            <a:r>
              <a:rPr lang="en-US" dirty="0"/>
              <a:t>1. RKAP DDMF 2026 (uploaded file), p. 119: project overview — CDME: LPG import saving ≈US$0.9 bn/yr at 20% substitution, up to ≈US$4.5 bn/yr at 100%; capex ≈US$2.88 bn for 1.4 MTPA; risk that DME is less competitive than LPG
</a:t>
            </a:r>
          </a:p>
          <a:p>
            <a:r>
              <a:rPr lang="en-US" dirty="0"/>
              <a:t>2. RKAP DDMF 2026 (uploaded file), p. 124: project overview — EV Power Pack: substitution of imported vessels and components
</a:t>
            </a:r>
          </a:p>
          <a:p>
            <a:r>
              <a:rPr lang="en-US" dirty="0"/>
              <a:t>3. Author's calculation: US$2.88 bn ÷ US$0.9 bn per year ≈ 3.2 years for FX savings to equal capex (not a financial payback)
</a:t>
            </a:r>
          </a:p>
          <a:p>
            <a:r>
              <a:rPr lang="en-US" dirty="0"/>
              <a:t>4. Policy Note 2 — Stabilise, Save and Invest (29 Sept 2026, EN/ID docx): Section 2.3 (correlated-risk argument and 35% commodity cap)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fund saves windfalls above an independent reference price in a reserve window, and a fixed share every year in a future window that spends only its real return. This note asks what happens if part of the long-term saving is invested at home instead.
</a:t>
            </a:r>
          </a:p>
          <a:p>
            <a:r>
              <a:rPr lang="en-US" dirty="0"/>
              <a:t>
</a:t>
            </a:r>
          </a:p>
          <a:p>
            <a:r>
              <a:rPr lang="en-US" dirty="0"/>
              <a:t>SOURCES FOR THIS SLIDE
</a:t>
            </a:r>
          </a:p>
          <a:p>
            <a:r>
              <a:rPr lang="en-US" dirty="0"/>
              <a:t>1. Policy Paper 1 — Stabilise and Save: Managing Indonesia's Natural-Resource Wealth (Resource Revenue Governance Series, Sept 2026, EN/ID docx): Figure 10 (fund architecture) and Table 9 (window rules)
</a:t>
            </a:r>
          </a:p>
          <a:p>
            <a:r>
              <a:rPr lang="en-US" dirty="0"/>
              <a:t>2. Hacienda Chile (n.d.), Economic and Social Stabilization Fund; UNU-WIDER, Copper, the fiscal rule and stabilisation funds in Chile
</a:t>
            </a:r>
          </a:p>
          <a:p>
            <a:r>
              <a:rPr lang="en-US" dirty="0"/>
              <a:t>3. Norwegian Ministry of Finance (2025). Meld. St. 1 (2025–2026), National Budget 2026; Norwegianpetroleum.no (2026), Management of revenues.
</a:t>
            </a:r>
          </a:p>
          <a:p>
            <a:r>
              <a:rPr lang="en-US" dirty="0"/>
              <a:t>4. Alaska Permanent Fund Corporation (2025). 2025 Annual Report.
</a:t>
            </a:r>
          </a:p>
          <a:p>
            <a:r>
              <a:rPr lang="en-US" dirty="0"/>
              <a:t>5. Kuwait Decree-Law No. 81 of 2026 on borrowing from the Future Generations Fund (loans ≤10% of FGF net assets); reported in AGBI (Sept 2026) and Times Kuwait (Sept 2026); IMF (2026) Kuwait Article IV, Country Report 26/052
</a:t>
            </a:r>
          </a:p>
          <a:p>
            <a:r>
              <a:rPr lang="en-US" dirty="0"/>
              <a:t>6. Timor-Leste: EITI (2023) country profile; IMF (2025) Timor-Leste Article IV Consultation (withdrawals above the Estimated Sustainable Income in most years since 2009)</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Hartwick rule says a country stays as wealthy as before only if it reinvests resource rent in other assets. Norway chose foreign financial assets because it was capital-rich. For capital-scarce economies, Collier and co-authors and van der Ploeg and Venables argue for investing more at home, parking money abroad only while investment capacity is built. Indonesia sits in between: large gaps but uneven investment efficiency.
</a:t>
            </a:r>
          </a:p>
          <a:p>
            <a:r>
              <a:rPr lang="en-US" dirty="0"/>
              <a:t>
</a:t>
            </a:r>
          </a:p>
          <a:p>
            <a:r>
              <a:rPr lang="en-US" dirty="0"/>
              <a:t>SOURCES FOR THIS SLIDE
</a:t>
            </a:r>
          </a:p>
          <a:p>
            <a:r>
              <a:rPr lang="en-US" dirty="0"/>
              <a:t>1. Policy Note 2 — Stabilise, Save and Invest (29 Sept 2026, EN/ID docx): Section 2.1
</a:t>
            </a:r>
          </a:p>
          <a:p>
            <a:r>
              <a:rPr lang="en-US" dirty="0"/>
              <a:t>2. Hartwick, J. M. (1977). Intergenerational equity and the investing of rents from exhaustible resources. American Economic Review, 67(5), 972–974.
</a:t>
            </a:r>
          </a:p>
          <a:p>
            <a:r>
              <a:rPr lang="en-US" dirty="0"/>
              <a:t>3. Collier, P., van der Ploeg, F., Spence, M. &amp; Venables, A. J. (2010). Managing resource revenues in developing economies. IMF Staff Papers, 57(1), 84–118.
</a:t>
            </a:r>
          </a:p>
          <a:p>
            <a:r>
              <a:rPr lang="en-US" dirty="0"/>
              <a:t>4. van der Ploeg, F. &amp; Venables, A. J. (2011). Harnessing windfall revenues: optimal policies for resource-rich developing economies. The Economic Journal, 121(551), 1–30.
</a:t>
            </a:r>
          </a:p>
          <a:p>
            <a:r>
              <a:rPr lang="en-US" dirty="0"/>
              <a:t>5. Berg, A., Portillo, R., Yang, S.-C. S. &amp; Zanna, L.-F. (2013). Public investment in resource-abundant developing countries. IMF Economic Review, 61(1), 92–129.
</a:t>
            </a:r>
          </a:p>
          <a:p>
            <a:r>
              <a:rPr lang="en-US" dirty="0"/>
              <a:t>6. Gelb, A., Tordo, S. &amp; Halland, H. (2014). Sovereign wealth funds and long-term development finance: risks and opportunities. World Bank Policy Research Working Paper 6776.
</a:t>
            </a:r>
          </a:p>
          <a:p>
            <a:r>
              <a:rPr lang="en-US" dirty="0"/>
              <a:t>7. IMF (2015), Making Public Investment More Efficient, IMF Staff Report (on average about 30% of potential gains from public investment are lost to inefficiency)
</a:t>
            </a:r>
          </a:p>
          <a:p>
            <a:r>
              <a:rPr lang="en-US" dirty="0"/>
              <a:t>8. Norwegian Ministry of Finance (2025). Meld. St. 1 (2025–2026), National Budget 2026; Norwegianpetroleum.no (2026), Management of revenues.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reserve window is unchanged. The future window still saves a fixed share and releases only its real return. The new development window takes part of the long-term savings in the early years, may borrow a capped amount from the future window, and invests as catalytic equity or subordinated debt through DDMF. Dividends and exits flow back to the future window.
</a:t>
            </a:r>
          </a:p>
          <a:p>
            <a:r>
              <a:rPr lang="en-US" dirty="0"/>
              <a:t>
</a:t>
            </a:r>
          </a:p>
          <a:p>
            <a:r>
              <a:rPr lang="en-US" dirty="0"/>
              <a:t>SOURCES FOR THIS SLIDE
</a:t>
            </a:r>
          </a:p>
          <a:p>
            <a:r>
              <a:rPr lang="en-US" dirty="0"/>
              <a:t>1. Policy Note 2 — Stabilise, Save and Invest (29 Sept 2026, EN/ID docx): Figure 2 (three-window architecture), extending Figure 10 of Policy Paper 1
</a:t>
            </a:r>
          </a:p>
          <a:p>
            <a:r>
              <a:rPr lang="en-US" dirty="0"/>
              <a:t>2. Kuwait Decree-Law No. 81 of 2026 on borrowing from the Future Generations Fund (loans ≤10% of FGF net assets); reported in AGBI (Sept 2026) and Times Kuwait (Sept 2026); IMF (2026) Kuwait Article IV, Country Report 26/052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rules set the money and the tests. The saving rate rises to 30 percent, with a front-loaded development share that sunsets. The window may borrow a capped amount from the future window. Projects must convert resource wealth, clear a return floor and an economic-return hurdle, and crowd in at least 3.5 rupiah of other capital.
</a:t>
            </a:r>
          </a:p>
          <a:p>
            <a:r>
              <a:rPr lang="en-US" dirty="0"/>
              <a:t>
</a:t>
            </a:r>
          </a:p>
          <a:p>
            <a:r>
              <a:rPr lang="en-US" dirty="0"/>
              <a:t>SOURCES FOR THIS SLIDE
</a:t>
            </a:r>
          </a:p>
          <a:p>
            <a:r>
              <a:rPr lang="en-US" dirty="0"/>
              <a:t>1. Policy Note 2 — Stabilise, Save and Invest (29 Sept 2026, EN/ID docx): Table 3 (rules 1–6) and Table 3a (sovereignty tier)
</a:t>
            </a:r>
          </a:p>
          <a:p>
            <a:r>
              <a:rPr lang="en-US" dirty="0"/>
              <a:t>2. Kuwait Decree-Law No. 81 of 2026 on borrowing from the Future Generations Fund (loans ≤10% of FGF net assets); reported in AGBI (Sept 2026) and Times Kuwait (Sept 2026); IMF (2026) Kuwait Article IV, Country Report 26/052
</a:t>
            </a:r>
          </a:p>
          <a:p>
            <a:r>
              <a:rPr lang="en-US" dirty="0"/>
              <a:t>3. RKAP DDMF 2026 (uploaded file), p. 108: 'sovereign floor' score 1 used as the return floor
</a:t>
            </a:r>
          </a:p>
          <a:p>
            <a:r>
              <a:rPr lang="en-US" dirty="0"/>
              <a:t>4. Author's calculation of leverage from the RKAP financing assumption (p. 10): DDMF share of capex = 30% equity × 70% held = 21%, so Rp 1 of DDMF equity ≈ Rp 4.76 of total investment
</a:t>
            </a:r>
          </a:p>
          <a:p>
            <a:r>
              <a:rPr lang="en-US" dirty="0"/>
              <a:t>5. Rates and shares are the author's proposals for discussion, not calibrated values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rules control risk: concentration caps, no guarantees, stage-gated disbursement, counter-cyclical timing and governance that keeps the money with the Ministry of Finance while DDMF executes under a mandate.
</a:t>
            </a:r>
          </a:p>
          <a:p>
            <a:r>
              <a:rPr lang="en-US" dirty="0"/>
              <a:t>
</a:t>
            </a:r>
          </a:p>
          <a:p>
            <a:r>
              <a:rPr lang="en-US" dirty="0"/>
              <a:t>SOURCES FOR THIS SLIDE
</a:t>
            </a:r>
          </a:p>
          <a:p>
            <a:r>
              <a:rPr lang="en-US" dirty="0"/>
              <a:t>1. Policy Note 2 — Stabilise, Save and Invest (29 Sept 2026, EN/ID docx): Table 3 (rules 7–11)
</a:t>
            </a:r>
          </a:p>
          <a:p>
            <a:r>
              <a:rPr lang="en-US" dirty="0"/>
              <a:t>2. RKAP DDMF 2026 (uploaded file), p. 22, 75: contingent-liability risk (guarantees, comfort letters, bailout pressure)
</a:t>
            </a:r>
          </a:p>
          <a:p>
            <a:r>
              <a:rPr lang="en-US" dirty="0"/>
              <a:t>3. Auerbach, A. J. &amp; Gorodnichenko, Y. (2012). Measuring the output responses to fiscal policy. American Economic Journal: Economic Policy, 4(2), 1–27.
</a:t>
            </a:r>
          </a:p>
          <a:p>
            <a:r>
              <a:rPr lang="en-US" dirty="0"/>
              <a:t>4. IFSWF (2008). Generally Accepted Principles and Practices for Sovereign Wealth Funds (Santiago Principles).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Nigeria's NSIA runs stabilisation, future-generations and domestic infrastructure funds side by side. Ireland converted a pension reserve fund into a domestic strategic investment fund with a double bottom line. Khazanah Dana Impak ring-fences impact capital with a sovereign-yield floor. The warnings are Timor-Leste's concentrated Greater Sunrise purchase outside its withdrawal rule, and 1MDB's governance failure.
</a:t>
            </a:r>
          </a:p>
          <a:p>
            <a:r>
              <a:rPr lang="en-US" dirty="0"/>
              <a:t>
</a:t>
            </a:r>
          </a:p>
          <a:p>
            <a:r>
              <a:rPr lang="en-US" dirty="0"/>
              <a:t>SOURCES FOR THIS SLIDE
</a:t>
            </a:r>
          </a:p>
          <a:p>
            <a:r>
              <a:rPr lang="en-US" dirty="0"/>
              <a:t>1. Nigeria Sovereign Investment Authority (Establishment etc.) Act 2011: Stabilisation Fund, Future Generations Fund and Nigeria Infrastructure Fund
</a:t>
            </a:r>
          </a:p>
          <a:p>
            <a:r>
              <a:rPr lang="en-US" dirty="0"/>
              <a:t>2. Ireland: National Treasury Management Agency (Amendment) Act 2014, establishing the Ireland Strategic Investment Fund from the National Pensions Reserve Fund ('double bottom line' mandate)
</a:t>
            </a:r>
          </a:p>
          <a:p>
            <a:r>
              <a:rPr lang="en-US" dirty="0"/>
              <a:t>3. RKAP DDMF 2026 (uploaded file), p. 109: Khazanah Dana Impak: return floor = 10-year Malaysian Government Securities yield (≈3.5%)
</a:t>
            </a:r>
          </a:p>
          <a:p>
            <a:r>
              <a:rPr lang="en-US" dirty="0"/>
              <a:t>4. Timor-Leste: 2019 purchase of the ConocoPhillips and Shell interests in Greater Sunrise (≈US$650 million) financed through the Petroleum Fund, per Government of Timor-Leste / Timor GAP announcements and IMF Article IV reports
</a:t>
            </a:r>
          </a:p>
          <a:p>
            <a:r>
              <a:rPr lang="en-US" dirty="0"/>
              <a:t>5. 1MDB: US Department of Justice civil forfeiture actions relating to 1Malaysia Development Berhad (from 2016)
</a:t>
            </a:r>
          </a:p>
          <a:p>
            <a:r>
              <a:rPr lang="en-US" dirty="0"/>
              <a:t>6. Gelb, A., Tordo, S. &amp; Halland, H. (2014). Sovereign wealth funds and long-term development finance: risks and opportunities. World Bank Policy Research Working Paper 6776.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the rules become six tests at the investment committee. A project that fails any one is routed elsewhere: to the budget, to KPBU or to DDMF's own capital.
</a:t>
            </a:r>
          </a:p>
          <a:p>
            <a:r>
              <a:rPr lang="en-US" dirty="0"/>
              <a:t>
</a:t>
            </a:r>
          </a:p>
          <a:p>
            <a:r>
              <a:rPr lang="en-US" dirty="0"/>
              <a:t>SOURCES FOR THIS SLIDE
</a:t>
            </a:r>
          </a:p>
          <a:p>
            <a:r>
              <a:rPr lang="en-US" dirty="0"/>
              <a:t>1. Policy Note 2 — Stabilise, Save and Invest (29 Sept 2026, EN/ID docx): Table 3a (sovereignty tier, test 1)
</a:t>
            </a:r>
          </a:p>
          <a:p>
            <a:r>
              <a:rPr lang="en-US" dirty="0"/>
              <a:t>2. Policy Note 2 — Stabilise, Save and Invest (29 Sept 2026, EN/ID docx): Table 3, restated as six tests
</a:t>
            </a:r>
          </a:p>
          <a:p>
            <a:r>
              <a:rPr lang="en-US" dirty="0"/>
              <a:t>3. RKAP DDMF 2026 (uploaded file), p. 62–64: impact KPIs with zero 2026 targets (basis for test 6)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Indonesia's resource wealth lies largely at sea, so protecting it is part of saving it. The defence modernisation programme of 2,125 trillion rupiah over 2027 to 2034, about 266 trillion a year, is larger than the whole 2026 defence budget of 187 trillion; whether it is additional is the first open point. At 40 percent domestic content about 72 billion dollars is imported. Today 55 percent of alutsista modernisation is funded by foreign loans. The proposal: the fund holds only the domestic industrial share within the 20 percent sovereignty tier, platforms stay on the budget, the imported share is financed with loans funded by retained resource export proceeds, and domestic content rises to 60 percent.
</a:t>
            </a:r>
          </a:p>
          <a:p>
            <a:r>
              <a:rPr lang="en-US" dirty="0"/>
              <a:t>
</a:t>
            </a:r>
          </a:p>
          <a:p>
            <a:r>
              <a:rPr lang="en-US" dirty="0"/>
              <a:t>SOURCES FOR THIS SLIDE
</a:t>
            </a:r>
          </a:p>
          <a:p>
            <a:r>
              <a:rPr lang="en-US" dirty="0"/>
              <a:t>1.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2. CNBC Indonesia (30 Jan 2026), 'Kementerian Pertahanan dapat Rp187 triliun, berapa buat alutsista?': Kemhan 2026 budget Rp187.1 T; alutsista modernisation Rp84.48 T (45.1%), funded by foreign loans Rp46.5 T, domestic rupiah Rp33.44 T, domestic loans Rp3.69 T, SBSN Rp0.8 T, PNBP Rp0.06 T (https://www.cnbcindonesia.com/research/20260130133929-128-706742/kementerian-pertahanan-dapat-rp187-triliun-berapa-buat-alutsista); Tempo (2026), 'Anggaran Kemhan 2026 sebesar Rp187,1 triliun'
</a:t>
            </a:r>
          </a:p>
          <a:p>
            <a:r>
              <a:rPr lang="en-US" dirty="0"/>
              <a:t>3. ASPI (2026). More money, same problems: how Indonesia can make the most of its defence budget. The Strategist.
</a:t>
            </a:r>
          </a:p>
          <a:p>
            <a:r>
              <a:rPr lang="en-US" dirty="0"/>
              <a:t>4. Law No. 16 of 2012 on the Defence Industry (local content and offset obligations; role of the Defence Industry Policy Committee, KKIP)
</a:t>
            </a:r>
          </a:p>
          <a:p>
            <a:r>
              <a:rPr lang="en-US" dirty="0"/>
              <a:t>5. Triantama, F. (2026). A milestone, not a finish line: Indonesia's defence industry in SIPRI's Top 100. Australian Outlook, AIIA, 22 January.
</a:t>
            </a:r>
          </a:p>
          <a:p>
            <a:r>
              <a:rPr lang="en-US" dirty="0"/>
              <a:t>6. Author's cluster model v3 (clusters_v3.py): ten segments in three clusters; IMF (2026) multipliers 0.5→1.2 scaled by domestic content ÷ 0.70; capacity effect = productive share × cumulative capital ÷ ICOR 6.5; larger of the two each year.
</a:t>
            </a:r>
          </a:p>
          <a:p>
            <a:r>
              <a:rPr lang="en-US" dirty="0"/>
              <a:t>7. Integrated paper (v3, 16 October 2026), Sections 2.5, 7.3, 8.5 and 10.3</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compares a saving-only fund with the aggressive design. The future window's balance dips in the early years because money goes to projects, but total assets, including the development portfolio at cost, stay above the saving-only path as equity is recycled. Panel B shows the equity deployed and the investment mobilised.
</a:t>
            </a:r>
          </a:p>
          <a:p>
            <a:r>
              <a:rPr lang="en-US" dirty="0"/>
              <a:t>
</a:t>
            </a:r>
          </a:p>
          <a:p>
            <a:r>
              <a:rPr lang="en-US" dirty="0"/>
              <a:t>SOURCES FOR THIS SLIDE
</a:t>
            </a:r>
          </a:p>
          <a:p>
            <a:r>
              <a:rPr lang="en-US" dirty="0"/>
              <a:t>1. Policy Note 2 — Stabilise, Save and Invest (29 Sept 2026, EN/ID docx): Figure 4 and Section 4.2
</a:t>
            </a:r>
          </a:p>
          <a:p>
            <a:r>
              <a:rPr lang="en-US" dirty="0"/>
              <a:t>2. Author's illustrative model (Python), documented in Policy Note 2, Section 4: resource PNBP Rp250 T/yr in constant 2026 prices, −2%/yr after 2030; future window 4% real return, 3% annual budget draw; development equity 4.5% real cash yield from year 5, exited evenly over years 10–15; aggressive case 30% contribution, 60/30/0 split, loan ≤5% of future-window balance a year to 2034
</a:t>
            </a:r>
          </a:p>
          <a:p>
            <a:r>
              <a:rPr lang="en-US" dirty="0"/>
              <a:t>3. Norwegian Ministry of Finance (2025). Meld. St. 1 (2025–2026), National Budget 2026; Norwegianpetroleum.no (2026), Management of revenues.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needs about 4,881 trillion rupiah in 2027 to 2034. Under a maximised, time-limited rule, saving 40 percent of resource revenue and directing 80 percent of it to development, natural resources provide about 1,178 trillion of cash: the development window 708, windfall 120, coal export duty 120, royalty revision 70 and resource-SOE dividends 160. Resource-backed debt adds 1,459 trillion: loans funded by retained export proceeds of 8 billion dollars a year, and resource-revenue bonds. That is 54 percent of the need. Partners drawn into commercial projects take the resource-anchored share to 74 percent; about a quarter remains for the budget, KPBU and export credit.
</a:t>
            </a:r>
          </a:p>
          <a:p>
            <a:r>
              <a:rPr lang="en-US" dirty="0"/>
              <a:t>
</a:t>
            </a:r>
          </a:p>
          <a:p>
            <a:r>
              <a:rPr lang="en-US" dirty="0"/>
              <a:t>SOURCES FOR THIS SLIDE
</a:t>
            </a:r>
          </a:p>
          <a:p>
            <a:r>
              <a:rPr lang="en-US" dirty="0"/>
              <a:t>1. Author's funding model (funding_v3.py): RAPBN 2027 resource PNBP Rp 283.4 T (oil and gas 129.9, non-oil-and-gas 153.5); coal export duty simulation Rp 11.7–19 T a year (Kontan); SOE dividends Rp 142.3 T in 2025; DHE SDA retained US$22.9 bn in March–April 2025; royalty increase postponed May 2026.
</a:t>
            </a:r>
          </a:p>
          <a:p>
            <a:r>
              <a:rPr lang="en-US" dirty="0"/>
              <a:t>2. Integrated paper (v3, 16 October 2026), Section 10.3, Figure 10.3 and Table 10.2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Resource cash is used in order of priority. First the 21 percent equity in commercial projects, about 265 trillion rupiah, which is recycled. Next 30 percent of the cost of public goods, about 449 trillion, for infrastructure and the sea wall. Last the domestic share of defence, about 464 trillion, of which at most about 142 trillion can come from the development window under the sovereignty-tier cap. The maximised rule costs the budget about 111 trillion a year instead of 83, and slows saving for future generations until 2034, so it should be time-limited and written into the Law.
</a:t>
            </a:r>
          </a:p>
          <a:p>
            <a:r>
              <a:rPr lang="en-US" dirty="0"/>
              <a:t>
</a:t>
            </a:r>
          </a:p>
          <a:p>
            <a:r>
              <a:rPr lang="en-US" dirty="0"/>
              <a:t>SOURCES FOR THIS SLIDE
</a:t>
            </a:r>
          </a:p>
          <a:p>
            <a:r>
              <a:rPr lang="en-US" dirty="0"/>
              <a:t>1. Author's funding model (funding_v3.py): RAPBN 2027 resource PNBP Rp 283.4 T (oil and gas 129.9, non-oil-and-gas 153.5); coal export duty simulation Rp 11.7–19 T a year (Kontan); SOE dividends Rp 142.3 T in 2025; DHE SDA retained US$22.9 bn in March–April 2025; royalty increase postponed May 2026.
</a:t>
            </a:r>
          </a:p>
          <a:p>
            <a:r>
              <a:rPr lang="en-US" dirty="0"/>
              <a:t>2. Integrated paper (v3, 16 October 2026), Section 10.3</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IMF multipliers for Indonesia scaled by domestic content, and an ICOR of 6.5 for the lasting capacity effect, the updated pipeline raises GDP by about 2.2 percent at its 2031 peak, or 2.9 percent with better efficiency, and by about 0.9 percent permanently. It adds about 0.8 points to growth in 2027 and 2028, 0.46 in 2029 and 0.6 on average in 2027 to 2030. Industry provides almost nine-tenths of the effect. The pipeline is 2.6 times the RKAP's, but its effect only about 1.5 times, because defence is import-heavy and the sea wall adds little new capacity. Growth falls by about 0.8 points in 2032.
</a:t>
            </a:r>
          </a:p>
          <a:p>
            <a:r>
              <a:rPr lang="en-US" dirty="0"/>
              <a:t>
</a:t>
            </a:r>
          </a:p>
          <a:p>
            <a:r>
              <a:rPr lang="en-US" dirty="0"/>
              <a:t>SOURCES FOR THIS SLIDE
</a:t>
            </a:r>
          </a:p>
          <a:p>
            <a:r>
              <a:rPr lang="en-US" dirty="0"/>
              <a:t>1. IMF (2026). Batsuuri, T., Huidrom, R. &amp; Wingender, P. Golden Vision 2045: Making the Most out of Public Investment – Indonesia. Selected Issues Paper SIP/2026/006.
</a:t>
            </a:r>
          </a:p>
          <a:p>
            <a:r>
              <a:rPr lang="en-US" dirty="0"/>
              <a:t>2. Author's cluster model v3 (clusters_v3.py): ten segments in three clusters; IMF (2026) multipliers 0.5→1.2 scaled by domestic content ÷ 0.70; capacity effect = productive share × cumulative capital ÷ ICOR 6.5; larger of the two each year.
</a:t>
            </a:r>
          </a:p>
          <a:p>
            <a:r>
              <a:rPr lang="en-US" dirty="0"/>
              <a:t>3. BPS (2025): GDP 2025 Rp23,821.1 T; employed persons 146.54 m (Sakernas Aug 2025); tax ratio and ICOR from MoF/Bappenas publications as cited in the integrated paper
</a:t>
            </a:r>
          </a:p>
          <a:p>
            <a:r>
              <a:rPr lang="en-US" dirty="0"/>
              <a:t>4. Integrated paper (v3, 16 October 2026), Sections 8.1–8.3, Figure 8.1, Tables 8.2–8.3</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trillion rupiah, the sea wall and infrastructure give the largest short-run boost and the most jobs; resource processing and technology give the most permanent capacity; defence platforms give the least, about 0.03 trillion of lasting GDP a year and 34 million dollars of imports. Because defence is 39 percent of the pipeline, its domestic content matters more than any other parameter: raising it from 40 to 60 percent adds about 0.3 points to the peak GDP effect and saves about 24 billion dollars of imports.
</a:t>
            </a:r>
          </a:p>
          <a:p>
            <a:r>
              <a:rPr lang="en-US" dirty="0"/>
              <a:t>
</a:t>
            </a:r>
          </a:p>
          <a:p>
            <a:r>
              <a:rPr lang="en-US" dirty="0"/>
              <a:t>SOURCES FOR THIS SLIDE
</a:t>
            </a:r>
          </a:p>
          <a:p>
            <a:r>
              <a:rPr lang="en-US" dirty="0"/>
              <a:t>1. Author's cluster model v3 (clusters_v3.py): ten segments in three clusters; IMF (2026) multipliers 0.5→1.2 scaled by domestic content ÷ 0.70; capacity effect = productive share × cumulative capital ÷ ICOR 6.5; larger of the two each year.
</a:t>
            </a:r>
          </a:p>
          <a:p>
            <a:r>
              <a:rPr lang="en-US" dirty="0"/>
              <a:t>2. Triantama, F. (2026). A milestone, not a finish line: Indonesia's defence industry in SIPRI's Top 100. Australian Outlook, AIIA, 22 January.
</a:t>
            </a:r>
          </a:p>
          <a:p>
            <a:r>
              <a:rPr lang="en-US" dirty="0"/>
              <a:t>3. Author's employment model (jobs.py, workbook DDMF_Employment_Model): 35 costed projects in seven work types; construction job-years per Rp 1 T from ERIA (2023) PSN input-output results rebased to 2025 prices (×1.30); induced jobs +35%; permanent jobs per project anchored on IMIP (≈129 per Rp 1 T) and Danantara downstream projects (≈168); 40% of extra jobs assumed to reduce open unemployment
</a:t>
            </a:r>
          </a:p>
          <a:p>
            <a:r>
              <a:rPr lang="en-US" dirty="0"/>
              <a:t>4. Integrated paper (v3, 16 October 2026), Sections 8.4–8.5, Tables 8.4–8.5</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Counted project by project, the 34 costed projects support about 25.5 million job-years: 9.5 million on site, 9.4 million at suppliers and 6.6 million from household spending. At the 2029 peak that is about 4.0 million jobs. Assuming 40 percent of the extra jobs reduce open unemployment, the rate falls from 4.7 percent to about 3.7 percent in 2028 to 2030. It rises to about 4.0 percent in 2032 when the RKAP projects end and about 4.2 percent in 2035 when the defence programme ends; the sea wall and 1.4 million lasting jobs keep it about 0.4 points lower to 2040.
</a:t>
            </a:r>
          </a:p>
          <a:p>
            <a:r>
              <a:rPr lang="en-US" dirty="0"/>
              <a:t>
</a:t>
            </a:r>
          </a:p>
          <a:p>
            <a:r>
              <a:rPr lang="en-US" dirty="0"/>
              <a:t>SOURCES FOR THIS SLIDE
</a:t>
            </a:r>
          </a:p>
          <a:p>
            <a:r>
              <a:rPr lang="en-US" dirty="0"/>
              <a:t>1. Author's employment model (jobs.py, workbook DDMF_Employment_Model): 35 costed projects in seven work types; construction job-years per Rp 1 T from ERIA (2023) PSN input-output results rebased to 2025 prices (×1.30); induced jobs +35%; permanent jobs per project anchored on IMIP (≈129 per Rp 1 T) and Danantara downstream projects (≈168); 40% of extra jobs assumed to reduce open unemployment
</a:t>
            </a:r>
          </a:p>
          <a:p>
            <a:r>
              <a:rPr lang="en-US" dirty="0"/>
              <a:t>2. ERIA (2023). Impact analysis of Indonesia's national strategic projects (PSN), Volume 1, Chapter 5: economic and employment effects using input-output analysis. Economic Research Institute for ASEAN and East Asia.
</a:t>
            </a:r>
          </a:p>
          <a:p>
            <a:r>
              <a:rPr lang="en-US" dirty="0"/>
              <a:t>3. BPS (2026). Keadaan Ketenagakerjaan Indonesia Februari 2026 (open unemployment 4.68%, 7.24 million unemployed, 147.67 million employed), as reported by Bisnis.com and CNN Indonesia, 5–6 May.
</a:t>
            </a:r>
          </a:p>
          <a:p>
            <a:r>
              <a:rPr lang="en-US" dirty="0"/>
              <a:t>4. IMIP (2026). Investasi IMIP capai Rp696,9 triliun, serap 89.849 tenaga kerja. PT Indonesia Morowali Industrial Park.
</a:t>
            </a:r>
          </a:p>
          <a:p>
            <a:r>
              <a:rPr lang="en-US" dirty="0"/>
              <a:t>5. Kontan (2026). Danantara garap 26 proyek hilirisasi senilai Rp 225 triliun, serap 37.833 pekerja; Bisnis.com (2026), Daftar lengkap 6 proyek hilirisasi Danantara (6 February).
</a:t>
            </a:r>
          </a:p>
          <a:p>
            <a:r>
              <a:rPr lang="en-US" dirty="0"/>
              <a:t>6. Integrated Paper — Stabilise, Save, Invest and Grow (8 Oct 2026, EN/ID docx): Section 8.7, Tables 8.6–8.8, Figure 8.3 and Appendix F</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Giant Sea Wall supports about 7.1 million job-years over 14 years, about half a million jobs a year, and defence modernisation about 7.0 million over 2027 to 2034. Labour intensity differs widely: about 5,900 to 6,800 job-years per trillion rupiah for civil works and buildings, about 3,300 for defence with 40 percent domestic content. Each 10 points of extra defence domestic content adds about 1.7 million job-years. Wages spent raise household consumption; this loop is already in the IMF multipliers.
</a:t>
            </a:r>
          </a:p>
          <a:p>
            <a:r>
              <a:rPr lang="en-US" dirty="0"/>
              <a:t>
</a:t>
            </a:r>
          </a:p>
          <a:p>
            <a:r>
              <a:rPr lang="en-US" dirty="0"/>
              <a:t>SOURCES FOR THIS SLIDE
</a:t>
            </a:r>
          </a:p>
          <a:p>
            <a:r>
              <a:rPr lang="en-US" dirty="0"/>
              <a:t>1. Author's employment model (jobs.py, workbook DDMF_Employment_Model): 35 costed projects in seven work types; construction job-years per Rp 1 T from ERIA (2023) PSN input-output results rebased to 2025 prices (×1.30); induced jobs +35%; permanent jobs per project anchored on IMIP (≈129 per Rp 1 T) and Danantara downstream projects (≈168); 40% of extra jobs assumed to reduce open unemployment
</a:t>
            </a:r>
          </a:p>
          <a:p>
            <a:r>
              <a:rPr lang="en-US" dirty="0"/>
              <a:t>2. BPS (2025). Rata-rata upah buruh Rp3,33 juta per Agustus 2025 (as reported by Bisnis.com, 5 November).
</a:t>
            </a:r>
          </a:p>
          <a:p>
            <a:r>
              <a:rPr lang="en-US" dirty="0"/>
              <a:t>3. Kontan (2025). Prabowo bidik ekonomi tumbuh 8% di 2029, konsumsi rumah tangga naik 7,27%.
</a:t>
            </a:r>
          </a:p>
          <a:p>
            <a:r>
              <a:rPr lang="en-US" dirty="0"/>
              <a:t>4. Indonesia Business Post (2025). Danantara considers direct investment in coal gasification to DME (7 November); Indonesia seeks global investors for US$80 billion Giant Sea Wall (9 September).
</a:t>
            </a:r>
          </a:p>
          <a:p>
            <a:r>
              <a:rPr lang="en-US" dirty="0"/>
              <a:t>5. Integrated Paper — Stabilise, Save, Invest and Grow (8 Oct 2026, EN/ID docx): Sections 8.7–8.8, Table 8.7, Figure 8.2 and Table 8.9</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is the anchor. Rare earths, metals, copper and silica are eligible and should be pulled forward. Coal-to-DME, the refinery, CPE and biodiesel are conditional. The EV Power Pack qualifies with captive demand. Textiles qualify within the non-resource cap.
</a:t>
            </a:r>
          </a:p>
          <a:p>
            <a:r>
              <a:rPr lang="en-US" dirty="0"/>
              <a:t>
</a:t>
            </a:r>
          </a:p>
          <a:p>
            <a:r>
              <a:rPr lang="en-US" dirty="0"/>
              <a:t>SOURCES FOR THIS SLIDE
</a:t>
            </a:r>
          </a:p>
          <a:p>
            <a:r>
              <a:rPr lang="en-US" dirty="0"/>
              <a:t>1. Policy Note 2 — Stabilise, Save and Invest (29 Sept 2026, EN/ID docx): Table 5 (rows 1–7)
</a:t>
            </a:r>
          </a:p>
          <a:p>
            <a:r>
              <a:rPr lang="en-US" dirty="0"/>
              <a:t>2. RKAP DDMF 2026 (uploaded file), p. 110–112: DDMF equity estimates
</a:t>
            </a:r>
          </a:p>
          <a:p>
            <a:r>
              <a:rPr lang="en-US" dirty="0"/>
              <a:t>3. RKAP DDMF 2026 (uploaded file), p. 120: project overview — PLTS 100 GW
</a:t>
            </a:r>
          </a:p>
          <a:p>
            <a:r>
              <a:rPr lang="en-US" dirty="0"/>
              <a:t>4. RKAP DDMF 2026 (uploaded file), p. 119: project overview — CDME
</a:t>
            </a:r>
          </a:p>
          <a:p>
            <a:r>
              <a:rPr lang="en-US" dirty="0"/>
              <a:t>5. RKAP DDMF 2026 (uploaded file), p. 127: project overview — Tarsius
</a:t>
            </a:r>
          </a:p>
          <a:p>
            <a:r>
              <a:rPr lang="en-US" dirty="0"/>
              <a:t>6. RKAP DDMF 2026 (uploaded file), p. 124: project overview — EV Power Pack
</a:t>
            </a:r>
          </a:p>
          <a:p>
            <a:r>
              <a:rPr lang="en-US" dirty="0"/>
              <a:t>7. RKAP DDMF 2026 (uploaded file), p. 126: project overview — textile ecosystem
</a:t>
            </a:r>
          </a:p>
          <a:p>
            <a:r>
              <a:rPr lang="en-US" dirty="0"/>
              <a:t>8. Policy Paper 1 — Stabilise and Save: Managing Indonesia's Natural-Resource Wealth (Resource Revenue Governance Series, Sept 2026, EN/ID docx): Section 4.7 (BPDP levy reform)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Shipyards and components are eligible. Defence modernisation splits: the fund holds only the domestic industrial share within the sovereignty tier, platforms stay on the budget and imports are financed with DHE SDA loans. The data centre and AI programme qualify only for commercial tranches; quantum and semiconductors are staged. MOBNAS is high risk; the Tech Corridor is not ready. Public goods, including the sea wall, have no cash flow to recycle and belong on the budget, supported by resource-revenue bonds.
</a:t>
            </a:r>
          </a:p>
          <a:p>
            <a:r>
              <a:rPr lang="en-US" dirty="0"/>
              <a:t>
</a:t>
            </a:r>
          </a:p>
          <a:p>
            <a:r>
              <a:rPr lang="en-US" dirty="0"/>
              <a:t>SOURCES FOR THIS SLIDE
</a:t>
            </a:r>
          </a:p>
          <a:p>
            <a:r>
              <a:rPr lang="en-US" dirty="0"/>
              <a:t>1. Remark added at the user's request (2 Oct 2026): Project Athens is an unknown / black programme — classified, with scope and details not disclosed; the figures shown are the RKAP's indicative values (RKAP p. 11, 111, 129)
</a:t>
            </a:r>
          </a:p>
          <a:p>
            <a:r>
              <a:rPr lang="en-US" dirty="0"/>
              <a:t>2. Policy Note 2 — Stabilise, Save and Invest (29 Sept 2026, EN/ID docx): Table 5 (sovereignty-tier rows and rows 8–13)
</a:t>
            </a:r>
          </a:p>
          <a:p>
            <a:r>
              <a:rPr lang="en-US" dirty="0"/>
              <a:t>3. Policy Note 2 — Stabilise, Save and Invest (29 Sept 2026, EN/ID docx): Table 3a
</a:t>
            </a:r>
          </a:p>
          <a:p>
            <a:r>
              <a:rPr lang="en-US" dirty="0"/>
              <a:t>4. Law No. 16 of 2012 on the Defence Industry (local content and offset obligations; role of the Defence Industry Policy Committee, KKIP)
</a:t>
            </a:r>
          </a:p>
          <a:p>
            <a:r>
              <a:rPr lang="en-US" dirty="0"/>
              <a:t>5. RKAP DDMF 2026 (uploaded file), p. 111: shipyard &amp; ship components; alutsista
</a:t>
            </a:r>
          </a:p>
          <a:p>
            <a:r>
              <a:rPr lang="en-US" dirty="0"/>
              <a:t>6. RKAP DDMF 2026 (uploaded file), p. 110–112: DDMF equity estimates
</a:t>
            </a:r>
          </a:p>
          <a:p>
            <a:r>
              <a:rPr lang="en-US" dirty="0"/>
              <a:t>7. RKAP DDMF 2026 (uploaded file), p. 128: project overview — MOBNAS &amp; MOLINAS
</a:t>
            </a:r>
          </a:p>
          <a:p>
            <a:r>
              <a:rPr lang="en-US" dirty="0"/>
              <a:t>8. RKAP DDMF 2026 (uploaded file), p. 130: project overview — Tech Corridor
</a:t>
            </a:r>
          </a:p>
          <a:p>
            <a:r>
              <a:rPr lang="en-US" dirty="0"/>
              <a:t>9. RKAP DDMF 2026 (uploaded file), p. 125: project overview — biosimilar &amp; pharma
</a:t>
            </a:r>
          </a:p>
          <a:p>
            <a:r>
              <a:rPr lang="en-US" dirty="0"/>
              <a:t>10. RKAP DDMF 2026 (uploaded file), p. 131: project overview — e-commerce (Borobudur)
</a:t>
            </a:r>
          </a:p>
          <a:p>
            <a:r>
              <a:rPr lang="en-US" dirty="0"/>
              <a:t>11. RKAP DDMF 2026 (uploaded file), p. 121–123: project overview — waste projects
</a:t>
            </a:r>
          </a:p>
          <a:p>
            <a:r>
              <a:rPr lang="en-US" dirty="0"/>
              <a:t>12. RKAP DDMF 2026 (uploaded file), p. 129: project overview — Athens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diligence on four high-risk projects. Textile: the constraint is demand and import competition, not capacity; restructure distressed assets. Pharma: most APIs are imported and three firms already make EPO; refocus on antibodies and insulin with a partner. Semiconductors: no captive market for a fab; invest in assembly and test and power devices with an anchor offtaker. E-commerce: two platforms hold about 92 percent; build a B2G and B2B platform for MSMEs instead.
</a:t>
            </a:r>
          </a:p>
          <a:p>
            <a:r>
              <a:rPr lang="en-US" dirty="0"/>
              <a:t>
</a:t>
            </a:r>
          </a:p>
          <a:p>
            <a:r>
              <a:rPr lang="en-US" dirty="0"/>
              <a:t>SOURCES FOR THIS SLIDE
</a:t>
            </a:r>
          </a:p>
          <a:p>
            <a:r>
              <a:rPr lang="en-US" dirty="0"/>
              <a:t>1. USDA via Databoks (2025). Indonesia enters the list of top global cotton importers 2024/2025; API / Kontan (2017), cotton supply almost 100% imported.
</a:t>
            </a:r>
          </a:p>
          <a:p>
            <a:r>
              <a:rPr lang="en-US" dirty="0"/>
              <a:t>2. BenarNews (2025). Bankruptcy of Sritex and layoffs. 7 March.
</a:t>
            </a:r>
          </a:p>
          <a:p>
            <a:r>
              <a:rPr lang="en-US" dirty="0"/>
              <a:t>3. GPFI / CNBC Indonesia (2025). Tanaman obat berserakan di RI, tapi impor 90% bahan baku obat. 18 July; Bisnis.com (2026), Menkes klaim impor bahan baku obat berhasil diturunkan 20%. 24 June.
</a:t>
            </a:r>
          </a:p>
          <a:p>
            <a:r>
              <a:rPr lang="en-US" dirty="0"/>
              <a:t>4. WHO (2026). Driving clinical trials in Indonesia through collaborative action. 7 January.
</a:t>
            </a:r>
          </a:p>
          <a:p>
            <a:r>
              <a:rPr lang="en-US" dirty="0"/>
              <a:t>5. WSTS (2026). Semiconductor market forecast, spring 2026. World Semiconductor Trade Statistics.
</a:t>
            </a:r>
          </a:p>
          <a:p>
            <a:r>
              <a:rPr lang="en-US" dirty="0"/>
              <a:t>6. BCG (2023). Navigating the costly economics of chip making. Boston Consulting Group.
</a:t>
            </a:r>
          </a:p>
          <a:p>
            <a:r>
              <a:rPr lang="en-US" dirty="0"/>
              <a:t>7. Kemenperin / Investortrust (2026). Semiconductor imports hit Rp81.64 trillion; roadmap for semiconductors. January.
</a:t>
            </a:r>
          </a:p>
          <a:p>
            <a:r>
              <a:rPr lang="en-US" dirty="0"/>
              <a:t>8. Infineon / eeNews (2024). Infineon doubles packaging capacity in Indonesia.
</a:t>
            </a:r>
          </a:p>
          <a:p>
            <a:r>
              <a:rPr lang="en-US" dirty="0"/>
              <a:t>9. Momentum Works (2026). Indonesia e-commerce market share 2025 (via Bisnis.com, May 2026). Google, Temasek &amp; Bain (2025). e-Conomy SEA 2025.
</a:t>
            </a:r>
          </a:p>
          <a:p>
            <a:r>
              <a:rPr lang="en-US" dirty="0"/>
              <a:t>10. Telkom (2023). PaDi UMKM consistently expands MSMEs' market network; LKPP / Kontan, e-Katalog MSME products.
</a:t>
            </a:r>
          </a:p>
          <a:p>
            <a:r>
              <a:rPr lang="en-US" dirty="0"/>
              <a:t>11. Integrated Paper — Stabilise, Save and Invest (Oct 2026, EN/ID docx): Chapter 8 (due diligence on the Others group)</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starts from 5.1% growth. Upstream recovery, the updated pipeline, faster downstreaming, plantation and marine productivity and a stabilisation dividend add about 1.27 points in 2029, taking growth to about 6.4%. Better investment efficiency adds about 0.53 points, to 6.9%. The remaining 1.1 points must come from non-resource reforms, mainly a lower ICOR. The downstreaming roadmap is often credited with 2 points; our estimate for all processing levers is 0.6 to 0.9 points, because much equipment is imported and mining is currently contracting.
</a:t>
            </a:r>
          </a:p>
          <a:p>
            <a:r>
              <a:rPr lang="en-US" dirty="0"/>
              <a:t>
</a:t>
            </a:r>
          </a:p>
          <a:p>
            <a:r>
              <a:rPr lang="en-US" dirty="0"/>
              <a:t>SOURCES FOR THIS SLIDE
</a:t>
            </a:r>
          </a:p>
          <a:p>
            <a:r>
              <a:rPr lang="en-US" dirty="0"/>
              <a:t>1. Author's growth model (growth8.py, scen8.py): growth = investment ratio ÷ ICOR, calibrated to 2025 (PMTB 28.77% of GDP, growth 5.11%, implied ICOR 5.63); natural-resource levers and scenario parameters as documented in Appendix E of the integrated paper
</a:t>
            </a:r>
          </a:p>
          <a:p>
            <a:r>
              <a:rPr lang="en-US" dirty="0"/>
              <a:t>2. BPS (2026). Ekonomi Indonesia 2025 tumbuh 5,11 persen; Ekonomi Indonesia triwulan II-2026 (as reported by Jawapos, KabarBursa and IDN Financials).
</a:t>
            </a:r>
          </a:p>
          <a:p>
            <a:r>
              <a:rPr lang="en-US" dirty="0"/>
              <a:t>3. Bisnis.com (2026). Hilirisasi sumbang 30,2% total investasi, realisasi Rp584,1 triliun. 15 January.
</a:t>
            </a:r>
          </a:p>
          <a:p>
            <a:r>
              <a:rPr lang="en-US" dirty="0"/>
              <a:t>4. Fortune Indonesia (2024). Bahlil uraikan peta jalan hilirisasi buat capai pertumbuhan ekonomi 8%; Bappenas targetkan investasi RI 2025–2029 capai Rp47,59 kuadriliun.
</a:t>
            </a:r>
          </a:p>
          <a:p>
            <a:r>
              <a:rPr lang="en-US" dirty="0"/>
              <a:t>5. IMF (2026). World Economic Outlook Update, January 2026 (Indonesia growth projection 5.0% for 2026, as reported by IDN Financials).
</a:t>
            </a:r>
          </a:p>
          <a:p>
            <a:r>
              <a:rPr lang="en-US" dirty="0"/>
              <a:t>6. Ramey, G. &amp; Ramey, V. A. (1995). Cross-country evidence on the link between volatility and growth. American Economic Review, 85(5), 1138–1151.
</a:t>
            </a:r>
          </a:p>
          <a:p>
            <a:r>
              <a:rPr lang="en-US" dirty="0"/>
              <a:t>7. van der Ploeg, F. &amp; Poelhekke, S. (2009). Volatility and the natural resource curse. Oxford Economic Papers, 61(4), 727–760.
</a:t>
            </a:r>
          </a:p>
          <a:p>
            <a:r>
              <a:rPr lang="en-US" dirty="0"/>
              <a:t>8. Integrated Paper — Stabilise, Save, Invest and Grow (8 Oct 2026, EN/ID docx): Chapter 11, Table 11.2 and Figures 11.1–11.2</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Growth is roughly the investment ratio divided by the ICOR. Efficiency first keeps investment near 31.5% of GDP but needs an ICOR of 3.95. The big push needs investment of 38.5% of GDP and leaves a current-account deficit near 3.8%. The industrial and export leap needs investment of 34.5% and manufacturing growth of 11.5% a year.
</a:t>
            </a:r>
          </a:p>
          <a:p>
            <a:r>
              <a:rPr lang="en-US" dirty="0"/>
              <a:t>
</a:t>
            </a:r>
          </a:p>
          <a:p>
            <a:r>
              <a:rPr lang="en-US" dirty="0"/>
              <a:t>SOURCES FOR THIS SLIDE
</a:t>
            </a:r>
          </a:p>
          <a:p>
            <a:r>
              <a:rPr lang="en-US" dirty="0"/>
              <a:t>1. Author's growth model (growth8.py, scen8.py): growth = investment ratio ÷ ICOR, calibrated to 2025 (PMTB 28.77% of GDP, growth 5.11%, implied ICOR 5.63); natural-resource levers and scenario parameters as documented in Appendix E of the integrated paper
</a:t>
            </a:r>
          </a:p>
          <a:p>
            <a:r>
              <a:rPr lang="en-US" dirty="0"/>
              <a:t>2. Bisnis.com (2025). AHY: Perbaikan konektivitas dan digitalisasi bantu tekan ICOR ke level 4. 23 September.
</a:t>
            </a:r>
          </a:p>
          <a:p>
            <a:r>
              <a:rPr lang="en-US" dirty="0"/>
              <a:t>3. DDTC News (2025). Masuk RPJMN 2025–2029, pertumbuhan ekonomi 2029 ditarget tembus 8%.
</a:t>
            </a:r>
          </a:p>
          <a:p>
            <a:r>
              <a:rPr lang="en-US" dirty="0"/>
              <a:t>4. New Straits Times (2026). Indonesia Q4 current account deficit at 0.7pct of GDP (full-year 2025 deficit US$1.5 billion, about 0.1% of GDP). February.
</a:t>
            </a:r>
          </a:p>
          <a:p>
            <a:r>
              <a:rPr lang="en-US" dirty="0"/>
              <a:t>5. Integrated Paper — Stabilise, Save, Invest and Grow (8 Oct 2026, EN/ID docx): Chapter 12, Table 12.1 and Figure 12.1</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scenario rests on a hard assumption and carries a different risk. Efficiency first depends on the politics of reform. The big push depends on the balance of payments. The industrial leap depends on global markets and skills.
</a:t>
            </a:r>
          </a:p>
          <a:p>
            <a:r>
              <a:rPr lang="en-US" dirty="0"/>
              <a:t>
</a:t>
            </a:r>
          </a:p>
          <a:p>
            <a:r>
              <a:rPr lang="en-US" dirty="0"/>
              <a:t>SOURCES FOR THIS SLIDE
</a:t>
            </a:r>
          </a:p>
          <a:p>
            <a:r>
              <a:rPr lang="en-US" dirty="0"/>
              <a:t>1. Katadata (2025). Menko Airlangga minta biaya logistik turun jadi 8% pada 2030.
</a:t>
            </a:r>
          </a:p>
          <a:p>
            <a:r>
              <a:rPr lang="en-US" dirty="0"/>
              <a:t>2. Bisnis.com (2025). AHY: Perbaikan konektivitas dan digitalisasi bantu tekan ICOR ke level 4. 23 September.
</a:t>
            </a:r>
          </a:p>
          <a:p>
            <a:r>
              <a:rPr lang="en-US" dirty="0"/>
              <a:t>3. Fortune Indonesia (2024). Bahlil uraikan peta jalan hilirisasi buat capai pertumbuhan ekonomi 8%; Bappenas targetkan investasi RI 2025–2029 capai Rp47,59 kuadriliun.
</a:t>
            </a:r>
          </a:p>
          <a:p>
            <a:r>
              <a:rPr lang="en-US" dirty="0"/>
              <a:t>4. DDTC News (2025). Masuk RPJMN 2025–2029, pertumbuhan ekonomi 2029 ditarget tembus 8%.
</a:t>
            </a:r>
          </a:p>
          <a:p>
            <a:r>
              <a:rPr lang="en-US" dirty="0"/>
              <a:t>5. Kuwait Decree-Law No. 81 of 2026 on borrowing from the Future Generations Fund (loans ≤10% of FGF net assets); reported in AGBI (Sept 2026) and Times Kuwait (Sept 2026); IMF (2026) Kuwait Article IV, Country Report 26/052
</a:t>
            </a:r>
          </a:p>
          <a:p>
            <a:r>
              <a:rPr lang="en-US" dirty="0"/>
              <a:t>6. Integrated Paper — Stabilise, Save, Invest and Grow (8 Oct 2026, EN/ID docx): Sections 12.2–12.4</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recommended path combines the industrial and export leap with the reforms of efficiency first. Better efficiency means investment of about 33.5% of GDP is enough for 8%, instead of 38.5%. Indonesia grew 7 to 8% a year in the mid-1990s with investment of roughly 30% of GDP. Holding 8% after 2029 needs a successor pipeline and a low ICOR.
</a:t>
            </a:r>
          </a:p>
          <a:p>
            <a:r>
              <a:rPr lang="en-US" dirty="0"/>
              <a:t>
</a:t>
            </a:r>
          </a:p>
          <a:p>
            <a:r>
              <a:rPr lang="en-US" dirty="0"/>
              <a:t>SOURCES FOR THIS SLIDE
</a:t>
            </a:r>
          </a:p>
          <a:p>
            <a:r>
              <a:rPr lang="en-US" dirty="0"/>
              <a:t>1. Author's growth model (growth8.py, scen8.py): growth = investment ratio ÷ ICOR, calibrated to 2025 (PMTB 28.77% of GDP, growth 5.11%, implied ICOR 5.63); natural-resource levers and scenario parameters as documented in Appendix E of the integrated paper
</a:t>
            </a:r>
          </a:p>
          <a:p>
            <a:r>
              <a:rPr lang="en-US" dirty="0"/>
              <a:t>2. World Bank, World Development Indicators: GDP (current US$), GDP growth (annual %), Indonesia (https://databank.worldbank.org/source/world-development-indicators)
</a:t>
            </a:r>
          </a:p>
          <a:p>
            <a:r>
              <a:rPr lang="en-US" dirty="0"/>
              <a:t>3. Integrated Paper — Stabilise, Save, Invest and Grow (8 Oct 2026, EN/ID docx): Section 12.6 and Figure 12.2</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starts now: capture the 2026 windfall, sign a DDMF mandate and recalibrate in 2027, enact the Law in 2028 and make first deposits in 2029. The development share is 60 percent to 2032 and 30 percent to 2038. Exits start recycling from about 2037. The window sunsets in 2038 unless renewed by Law.
</a:t>
            </a:r>
          </a:p>
          <a:p>
            <a:r>
              <a:rPr lang="en-US" dirty="0"/>
              <a:t>
</a:t>
            </a:r>
          </a:p>
          <a:p>
            <a:r>
              <a:rPr lang="en-US" dirty="0"/>
              <a:t>SOURCES FOR THIS SLIDE
</a:t>
            </a:r>
          </a:p>
          <a:p>
            <a:r>
              <a:rPr lang="en-US" dirty="0"/>
              <a:t>1. Policy Note 2 — Stabilise, Save and Invest (29 Sept 2026, EN/ID docx): Section 7 and Table 3 (dates and shares)
</a:t>
            </a:r>
          </a:p>
          <a:p>
            <a:r>
              <a:rPr lang="en-US" dirty="0"/>
              <a:t>2. Policy Paper 1 — Stabilise and Save: Managing Indonesia's Natural-Resource Wealth (Resource Revenue Governance Series, Sept 2026, EN/ID docx): Chapter 5 working plan and timeline (Table 10)
</a:t>
            </a:r>
          </a:p>
          <a:p>
            <a:r>
              <a:rPr lang="en-US" dirty="0"/>
              <a:t>3. All dates are indicative and depend on the legislative calendar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programme of this size will go off course somewhere. The dashboard is published every quarter. Each indicator has a 2029 target and a red flag, and the responses to each red flag are agreed before money moves, so that the reaction is automatic rather than political.
</a:t>
            </a:r>
          </a:p>
          <a:p>
            <a:r>
              <a:rPr lang="en-US" dirty="0"/>
              <a:t>
</a:t>
            </a:r>
          </a:p>
          <a:p>
            <a:r>
              <a:rPr lang="en-US" dirty="0"/>
              <a:t>SOURCES FOR THIS SLIDE
</a:t>
            </a:r>
          </a:p>
          <a:p>
            <a:r>
              <a:rPr lang="en-US" dirty="0"/>
              <a:t>1. BPS (2026). Ekonomi Indonesia 2025 tumbuh 5,11 persen; Ekonomi Indonesia triwulan II-2026 (as reported by Jawapos, KabarBursa and IDN Financials).
</a:t>
            </a:r>
          </a:p>
          <a:p>
            <a:r>
              <a:rPr lang="en-US" dirty="0"/>
              <a:t>2. Bisnis.com (2026). Hilirisasi sumbang 30,2% total investasi, realisasi Rp584,1 triliun. 15 January.
</a:t>
            </a:r>
          </a:p>
          <a:p>
            <a:r>
              <a:rPr lang="en-US" dirty="0"/>
              <a:t>3. Katadata (2025). Menko Airlangga minta biaya logistik turun jadi 8% pada 2030.
</a:t>
            </a:r>
          </a:p>
          <a:p>
            <a:r>
              <a:rPr lang="en-US" dirty="0"/>
              <a:t>4. New Straits Times (2026). Indonesia Q4 current account deficit at 0.7pct of GDP (full-year 2025 deficit US$1.5 billion, about 0.1% of GDP). February.
</a:t>
            </a:r>
          </a:p>
          <a:p>
            <a:r>
              <a:rPr lang="en-US" dirty="0"/>
              <a:t>5. CNBC Indonesia (30 Jan 2026), 'Kementerian Pertahanan dapat Rp187 triliun, berapa buat alutsista?': Kemhan 2026 budget Rp187.1 T; alutsista modernisation Rp84.48 T (45.1%), funded by foreign loans Rp46.5 T, domestic rupiah Rp33.44 T, domestic loans Rp3.69 T, SBSN Rp0.8 T, PNBP Rp0.06 T (https://www.cnbcindonesia.com/research/20260130133929-128-706742/kementerian-pertahanan-dapat-rp187-triliun-berapa-buat-alutsista); Tempo (2026), 'Anggaran Kemhan 2026 sebesar Rp187,1 triliun'
</a:t>
            </a:r>
          </a:p>
          <a:p>
            <a:r>
              <a:rPr lang="en-US" dirty="0"/>
              <a:t>6. Integrated Paper — Stabilise, Save, Invest and Grow (8 Oct 2026, EN/ID docx): Chapter 14, Table 14.1 and Section 14.2</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risks are correlated commodity exposure, stranded coal assets, contingent liabilities, defence-specific risks such as a single buyer and export controls, exceptions becoming the rule, capture and misuse, absorptive capacity, and unmeasured impact. Each maps to a specific rule in the design.
</a:t>
            </a:r>
          </a:p>
          <a:p>
            <a:r>
              <a:rPr lang="en-US" dirty="0"/>
              <a:t>
</a:t>
            </a:r>
          </a:p>
          <a:p>
            <a:r>
              <a:rPr lang="en-US" dirty="0"/>
              <a:t>SOURCES FOR THIS SLIDE
</a:t>
            </a:r>
          </a:p>
          <a:p>
            <a:r>
              <a:rPr lang="en-US" dirty="0"/>
              <a:t>1. Policy Note 2 — Stabilise, Save and Invest (29 Sept 2026, EN/ID docx): Table 6, incl. defence-specific risks
</a:t>
            </a:r>
          </a:p>
          <a:p>
            <a:r>
              <a:rPr lang="en-US" dirty="0"/>
              <a:t>2. Law No. 16 of 2012 on the Defence Industry (local content and offset obligations; role of the Defence Industry Policy Committee, KKIP)
</a:t>
            </a:r>
          </a:p>
          <a:p>
            <a:r>
              <a:rPr lang="en-US" dirty="0"/>
              <a:t>3. RKAP DDMF 2026 (uploaded file), p. 21–22, 74–75: DDMF risk register: project, financial, fiscal, legal, strategic, sustainability, reputation and contingent risks
</a:t>
            </a:r>
          </a:p>
          <a:p>
            <a:r>
              <a:rPr lang="en-US" dirty="0"/>
              <a:t>4. RKAP DDMF 2026 (uploaded file), p. 119: project overview — CDME commercial risk vs LPG
</a:t>
            </a:r>
          </a:p>
          <a:p>
            <a:r>
              <a:rPr lang="en-US" dirty="0"/>
              <a:t>5. RKAP DDMF 2026 (uploaded file), p. 62–64: zero impact-KPI targets
</a:t>
            </a:r>
          </a:p>
          <a:p>
            <a:r>
              <a:rPr lang="en-US" dirty="0"/>
              <a:t>6. IMF (2015), Making Public Investment More Efficient, IMF Staff Report (on average about 30% of potential gains from public investment are lost to inefficiency)
</a:t>
            </a:r>
          </a:p>
          <a:p>
            <a:r>
              <a:rPr lang="en-US" dirty="0"/>
              <a:t>7. Timor-Leste: EITI (2023) country profile; IMF (2025) Timor-Leste Article IV Consultation (withdrawals above the Estimated Sustainable Income in most years since 2009)
</a:t>
            </a:r>
          </a:p>
          <a:p>
            <a:r>
              <a:rPr lang="en-US" dirty="0"/>
              <a:t>8. IFSWF (2008). Generally Accepted Principles and Practices for Sovereign Wealth Funds (Santiago Principles).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recommendations, including a sovereignty tier for maritime and defence: one Law for three windows; capture the 2026 windfall; give DDMF a mandate rather than the money; start with the resource-conversion core; route public goods through the budget; require measurable impact; and recalibrate the parameters in 2027.
</a:t>
            </a:r>
          </a:p>
          <a:p>
            <a:r>
              <a:rPr lang="en-US" dirty="0"/>
              <a:t>
</a:t>
            </a:r>
          </a:p>
          <a:p>
            <a:r>
              <a:rPr lang="en-US" dirty="0"/>
              <a:t>SOURCES FOR THIS SLIDE
</a:t>
            </a:r>
          </a:p>
          <a:p>
            <a:r>
              <a:rPr lang="en-US" dirty="0"/>
              <a:t>1. Policy Note 2 — Stabilise, Save and Invest (29 Sept 2026, EN/ID docx): Section 7 (recommendations, incl. the sovereignty tier)
</a:t>
            </a:r>
          </a:p>
          <a:p>
            <a:r>
              <a:rPr lang="en-US" dirty="0"/>
              <a:t>2. DDTC News (Sept 2026), 'Setoran PNBP tembus Rp435,1 triliun, sudah 94,8% dari target APBN 2026', citing the Ministry of Finance: Jan–Aug 2026 PNBP Rp435.1 T (+41.7%); natural-resource PNBP Rp194.6 T (oil &amp; gas 80.1; non-oil &amp; gas 114.4) (https://news.ddtc.co.id/berita/nasional/1822596/setoran-pnbp-tembus-rp4351-triliun-sudah-948-dari-target-apbn-2026)
</a:t>
            </a:r>
          </a:p>
          <a:p>
            <a:r>
              <a:rPr lang="en-US" dirty="0"/>
              <a:t>3. Priority list revised on 2 Oct 2026 at the user's request: shipyard &amp; ship components (investment Rp5.24 T, equity Rp1.10 T) and alutsista (Rp16.12 T, Rp3.39 T) added to the RKAP's 13 priority projects, from RKAP p. 111, giving 15 projects: investment Rp799.0 T, equity Rp147.7 T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one-paragraph recommendation. Savings are spent on assets, not consumption; the rules keep the future window whole; and the growth ambition is pursued through efficiency and industry, monitored in public.
</a:t>
            </a:r>
          </a:p>
          <a:p>
            <a:r>
              <a:rPr lang="en-US" dirty="0"/>
              <a:t>
</a:t>
            </a:r>
          </a:p>
          <a:p>
            <a:r>
              <a:rPr lang="en-US" dirty="0"/>
              <a:t>SOURCES FOR THIS SLIDE
</a:t>
            </a:r>
          </a:p>
          <a:p>
            <a:r>
              <a:rPr lang="en-US" dirty="0"/>
              <a:t>1. Policy Note 2 — Stabilise, Save and Invest (29 Sept 2026, EN/ID docx): closing summary ('The option in one paragraph')</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in the Industry cluster by segment, with investment, equity and timeline. Asterisked programmes are the October 2026 figures; the rest are from the RKAP.
</a:t>
            </a:r>
          </a:p>
          <a:p>
            <a:r>
              <a:rPr lang="en-US" dirty="0"/>
              <a:t>
</a:t>
            </a:r>
          </a:p>
          <a:p>
            <a:r>
              <a:rPr lang="en-US" dirty="0"/>
              <a:t>SOURCES FOR THIS SLIDE
</a:t>
            </a:r>
          </a:p>
          <a:p>
            <a:r>
              <a:rPr lang="en-US" dirty="0"/>
              <a:t>1. RKAP DDMF 2026 (uploaded file), p. 110–112: project list
</a:t>
            </a:r>
          </a:p>
          <a:p>
            <a:r>
              <a:rPr lang="en-US" dirty="0"/>
              <a:t>2.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3. Integrated paper (v3, 16 October 2026), Appendix A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Projects in the Technology and Finance clusters, the uncosted projects to be confirmed, and the totals by cluster.
</a:t>
            </a:r>
          </a:p>
          <a:p>
            <a:r>
              <a:rPr lang="en-US" dirty="0"/>
              <a:t>
</a:t>
            </a:r>
          </a:p>
          <a:p>
            <a:r>
              <a:rPr lang="en-US" dirty="0"/>
              <a:t>SOURCES FOR THIS SLIDE
</a:t>
            </a:r>
          </a:p>
          <a:p>
            <a:r>
              <a:rPr lang="en-US" dirty="0"/>
              <a:t>1. RKAP DDMF 2026 (uploaded file), p. 110–112: project list
</a:t>
            </a:r>
          </a:p>
          <a:p>
            <a:r>
              <a:rPr lang="en-US" dirty="0"/>
              <a:t>2.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3. Integrated paper (v3, 16 October 2026), Appendix A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open point is whether the 2,125 trillion rupiah defence programme is additional to the existing alutsista budget. Others concern domestic content and financing of defence, the assumed timelines, IMX, the composition of the AI and IT programme, the funding assumptions, and remaining RKAP inconsistencies.
</a:t>
            </a:r>
          </a:p>
          <a:p>
            <a:r>
              <a:rPr lang="en-US" dirty="0"/>
              <a:t>
</a:t>
            </a:r>
          </a:p>
          <a:p>
            <a:r>
              <a:rPr lang="en-US" dirty="0"/>
              <a:t>SOURCES FOR THIS SLIDE
</a:t>
            </a:r>
          </a:p>
          <a:p>
            <a:r>
              <a:rPr lang="en-US" dirty="0"/>
              <a:t>1. RKAP DDMF 2026 (uploaded file), p. 10, 110–112: totals and financing
</a:t>
            </a:r>
          </a:p>
          <a:p>
            <a:r>
              <a:rPr lang="en-US" dirty="0"/>
              <a:t>2. Figures provided by the user in October 2026: Giant Sea Wall Rp 1,200 T; defence modernisation Rp 2,125 T (new submarines, USV, fast attack craft, carrier Sriwijaya refurbishment, fighter squadrons, MRO); National Data Centre Rp 50 T; quantum technology Rp 20 T; semiconductors Rp 15 T; other AI and IT Rp 200 T. Timelines and 21% equity are the author's assumptions.
</a:t>
            </a:r>
          </a:p>
          <a:p>
            <a:r>
              <a:rPr lang="en-US" dirty="0"/>
              <a:t>3. Integrated paper (v3, 16 October 2026), Appendix C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sources used in this briefing.
</a:t>
            </a:r>
          </a:p>
          <a:p>
            <a:r>
              <a:rPr lang="en-US" dirty="0"/>
              <a:t>
</a:t>
            </a:r>
          </a:p>
          <a:p>
            <a:r>
              <a:rPr lang="en-US" dirty="0"/>
              <a:t>SOURCES FOR THIS SLIDE
</a:t>
            </a:r>
          </a:p>
          <a:p>
            <a:r>
              <a:rPr lang="en-US" dirty="0"/>
              <a:t>1. CNBC Indonesia (30 Jan 2026), 'Kementerian Pertahanan dapat Rp187 triliun, berapa buat alutsista?': Kemhan 2026 budget Rp187.1 T; alutsista modernisation Rp84.48 T (45.1%), funded by foreign loans Rp46.5 T, domestic rupiah Rp33.44 T, domestic loans Rp3.69 T, SBSN Rp0.8 T, PNBP Rp0.06 T (https://www.cnbcindonesia.com/research/20260130133929-128-706742/kementerian-pertahanan-dapat-rp187-triliun-berapa-buat-alutsista); Tempo (2026), 'Anggaran Kemhan 2026 sebesar Rp187,1 triliun'
</a:t>
            </a:r>
          </a:p>
          <a:p>
            <a:r>
              <a:rPr lang="en-US" dirty="0"/>
              <a:t>2. Law No. 16 of 2012 on the Defence Industry (local content and offset obligations; role of the Defence Industry Policy Committee, KKIP)
</a:t>
            </a:r>
          </a:p>
          <a:p>
            <a:r>
              <a:rPr lang="en-US" dirty="0"/>
              <a:t>3. Dunne, J. P. &amp; Tian, N. (2013). Military expenditure and economic growth: A survey. The Economics of Peace and Security Journal, 8(1), 5–11.
</a:t>
            </a:r>
          </a:p>
          <a:p>
            <a:r>
              <a:rPr lang="en-US" dirty="0"/>
              <a:t>4. Uploaded file: RKAP_2026_DDMF_pptver.pdf — DDMF (Danantara Development Mandate Fund), Rencana Kerja dan Anggaran Perusahaan (RKAP) 2026, presentation version, marked Private &amp; Confidential
</a:t>
            </a:r>
          </a:p>
          <a:p>
            <a:r>
              <a:rPr lang="en-US" dirty="0"/>
              <a:t>5. Policy Paper 1 — Stabilise and Save: Managing Indonesia's Natural-Resource Wealth (Resource Revenue Governance Series, Sept 2026, EN/ID docx): full reference list
</a:t>
            </a:r>
          </a:p>
          <a:p>
            <a:r>
              <a:rPr lang="en-US" dirty="0"/>
              <a:t>6. Policy Note 2 — Stabilise, Save and Invest (29 Sept 2026, EN/ID docx): full reference list
</a:t>
            </a:r>
          </a:p>
          <a:p>
            <a:r>
              <a:rPr lang="en-US" dirty="0"/>
              <a:t>7. UN Comtrade Database, Indonesia as reporter, exports by HS 4-digit heading, 2000–2025 (https://comtradeplus.un.org)
</a:t>
            </a:r>
          </a:p>
          <a:p>
            <a:r>
              <a:rPr lang="en-US" dirty="0"/>
              <a:t>8. CEPII BACI, HS92 version, for 2001–03, 2005–09 and 2011–13, scaled to Comtrade levels (https://www.cepii.fr/CEPII/en/bdd_modele/bdd_modele_item.asp?id=37 (accessed via https://oec.world))
</a:t>
            </a:r>
          </a:p>
          <a:p>
            <a:r>
              <a:rPr lang="en-US" dirty="0"/>
              <a:t>9. World Bank, World Development Indicators: GDP (current US$), GDP growth (annual %), Indonesia (https://databank.worldbank.org/source/world-development-indicators)
</a:t>
            </a:r>
          </a:p>
          <a:p>
            <a:r>
              <a:rPr lang="en-US" dirty="0"/>
              <a:t>10. Kementerian Keuangan, Media Keuangan (2025), 'PNBP 2024 terealisasi 117% dari target APBN': natural-resource PNBP 2024 Rp229.2 T (oil &amp; gas 110.9; non-oil &amp; gas 118.3); 2023 Rp254.2 T (116.2; 138.0) (https://mediakeuangan.kemenkeu.go.id/article/show/pnbp-2024-terealisasi-117-dari-target-apbn)
</a:t>
            </a:r>
          </a:p>
          <a:p>
            <a:r>
              <a:rPr lang="en-US" dirty="0"/>
              <a:t>11. DDTC News (Sept 2026), 'Setoran PNBP tembus Rp435,1 triliun, sudah 94,8% dari target APBN 2026', citing the Ministry of Finance: Jan–Aug 2026 PNBP Rp435.1 T (+41.7%); natural-resource PNBP Rp194.6 T (oil &amp; gas 80.1; non-oil &amp; gas 114.4) (https://news.ddtc.co.id/berita/nasional/1822596/setoran-pnbp-tembus-rp4351-triliun-sudah-948-dari-target-apbn-2026)
</a:t>
            </a:r>
          </a:p>
          <a:p>
            <a:r>
              <a:rPr lang="en-US" dirty="0"/>
              <a:t>Page numbers refer to the page numbers printed on the RKAP DDMF 2026 slides. The RKAP is confidential: restrict circulation of this deck accordingly.</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Illustration of a solar farm, a processing plant and a shipyard at sunrise">    </p:cNvPr>
          <p:cNvPicPr>
            <a:picLocks noChangeAspect="1"/>
          </p:cNvPicPr>
          <p:nvPr/>
        </p:nvPicPr>
        <p:blipFill>
          <a:blip r:embed="rId1"/>
          <a:stretch>
            <a:fillRect/>
          </a:stretch>
        </p:blipFill>
        <p:spPr>
          <a:xfrm>
            <a:off x="5852160" y="0"/>
            <a:ext cx="6336792" cy="6221578"/>
          </a:xfrm>
          <a:prstGeom prst="rect">
            <a:avLst/>
          </a:prstGeom>
        </p:spPr>
      </p:pic>
      <p:sp>
        <p:nvSpPr>
          <p:cNvPr id="3" name="Shape 0"/>
          <p:cNvSpPr/>
          <p:nvPr/>
        </p:nvSpPr>
        <p:spPr>
          <a:xfrm>
            <a:off x="0" y="0"/>
            <a:ext cx="6035040" cy="6858000"/>
          </a:xfrm>
          <a:prstGeom prst="rect">
            <a:avLst/>
          </a:prstGeom>
          <a:solidFill>
            <a:srgbClr val="14213D"/>
          </a:solidFill>
          <a:ln w="12700">
            <a:solidFill>
              <a:srgbClr val="14213D"/>
            </a:solidFill>
            <a:prstDash val="solid"/>
          </a:ln>
        </p:spPr>
      </p:sp>
      <p:sp>
        <p:nvSpPr>
          <p:cNvPr id="4" name="Text 1"/>
          <p:cNvSpPr txBox="1"/>
          <p:nvPr/>
        </p:nvSpPr>
        <p:spPr>
          <a:xfrm>
            <a:off x="640080" y="914400"/>
            <a:ext cx="5303520" cy="320040"/>
          </a:xfrm>
          <a:prstGeom prst="rect">
            <a:avLst/>
          </a:prstGeom>
          <a:noFill/>
          <a:ln/>
        </p:spPr>
        <p:txBody>
          <a:bodyPr wrap="square" lIns="0" tIns="0" rIns="0" bIns="0" rtlCol="0" anchor="t"/>
          <a:lstStyle/>
          <a:p>
            <a:pPr indent="0" marL="0">
              <a:buNone/>
            </a:pPr>
            <a:r>
              <a:rPr lang="en-US" sz="1200" b="1" spc="300" kern="0" dirty="0">
                <a:solidFill>
                  <a:srgbClr val="D4A93A"/>
                </a:solidFill>
                <a:latin typeface="Calibri" pitchFamily="34" charset="0"/>
                <a:ea typeface="Calibri" pitchFamily="34" charset="-122"/>
                <a:cs typeface="Calibri" pitchFamily="34" charset="-120"/>
              </a:rPr>
              <a:t>RESOURCE GOVERNANCE · INTEGRATED BRIEFING</a:t>
            </a:r>
            <a:endParaRPr lang="en-US" sz="1200" dirty="0"/>
          </a:p>
        </p:txBody>
      </p:sp>
      <p:sp>
        <p:nvSpPr>
          <p:cNvPr id="5" name="Text 2"/>
          <p:cNvSpPr txBox="1"/>
          <p:nvPr/>
        </p:nvSpPr>
        <p:spPr>
          <a:xfrm>
            <a:off x="640080" y="1325880"/>
            <a:ext cx="530352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Stabilise, Save, Invest and Grow</a:t>
            </a:r>
            <a:endParaRPr lang="en-US" sz="3800" dirty="0"/>
          </a:p>
        </p:txBody>
      </p:sp>
      <p:sp>
        <p:nvSpPr>
          <p:cNvPr id="6" name="Text 3"/>
          <p:cNvSpPr txBox="1"/>
          <p:nvPr/>
        </p:nvSpPr>
        <p:spPr>
          <a:xfrm>
            <a:off x="640080" y="2880360"/>
            <a:ext cx="5120640" cy="822960"/>
          </a:xfrm>
          <a:prstGeom prst="rect">
            <a:avLst/>
          </a:prstGeom>
          <a:noFill/>
          <a:ln/>
        </p:spPr>
        <p:txBody>
          <a:bodyPr wrap="square" lIns="0" tIns="0" rIns="0" bIns="0" rtlCol="0" anchor="t"/>
          <a:lstStyle/>
          <a:p>
            <a:pPr indent="0" marL="0">
              <a:buNone/>
            </a:pPr>
            <a:r>
              <a:rPr lang="en-US" sz="1800" dirty="0">
                <a:solidFill>
                  <a:srgbClr val="D6DCE6"/>
                </a:solidFill>
                <a:latin typeface="Calibri" pitchFamily="34" charset="0"/>
                <a:ea typeface="Calibri" pitchFamily="34" charset="-122"/>
                <a:cs typeface="Calibri" pitchFamily="34" charset="-120"/>
              </a:rPr>
              <a:t>Indonesia's resource wealth, Danantara's pipeline and the road to 8% growth</a:t>
            </a:r>
            <a:endParaRPr lang="en-US" sz="1800" dirty="0"/>
          </a:p>
        </p:txBody>
      </p:sp>
      <p:sp>
        <p:nvSpPr>
          <p:cNvPr id="7" name="Shape 4"/>
          <p:cNvSpPr/>
          <p:nvPr/>
        </p:nvSpPr>
        <p:spPr>
          <a:xfrm>
            <a:off x="640080" y="3931920"/>
            <a:ext cx="1188720" cy="411480"/>
          </a:xfrm>
          <a:prstGeom prst="roundRect">
            <a:avLst>
              <a:gd name="adj" fmla="val 48889"/>
            </a:avLst>
          </a:prstGeom>
          <a:solidFill>
            <a:srgbClr val="3A4E78"/>
          </a:solidFill>
          <a:ln w="12700">
            <a:solidFill>
              <a:srgbClr val="3A4E78"/>
            </a:solidFill>
            <a:prstDash val="solid"/>
          </a:ln>
        </p:spPr>
      </p:sp>
      <p:sp>
        <p:nvSpPr>
          <p:cNvPr id="8" name="Text 5"/>
          <p:cNvSpPr txBox="1"/>
          <p:nvPr/>
        </p:nvSpPr>
        <p:spPr>
          <a:xfrm>
            <a:off x="640080" y="3931920"/>
            <a:ext cx="11887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Stabilise</a:t>
            </a:r>
            <a:endParaRPr lang="en-US" sz="1300" dirty="0"/>
          </a:p>
        </p:txBody>
      </p:sp>
      <p:sp>
        <p:nvSpPr>
          <p:cNvPr id="9" name="Shape 6"/>
          <p:cNvSpPr/>
          <p:nvPr/>
        </p:nvSpPr>
        <p:spPr>
          <a:xfrm>
            <a:off x="1920240" y="3931920"/>
            <a:ext cx="1188720" cy="411480"/>
          </a:xfrm>
          <a:prstGeom prst="roundRect">
            <a:avLst>
              <a:gd name="adj" fmla="val 48889"/>
            </a:avLst>
          </a:prstGeom>
          <a:solidFill>
            <a:srgbClr val="3A4E78"/>
          </a:solidFill>
          <a:ln w="12700">
            <a:solidFill>
              <a:srgbClr val="3A4E78"/>
            </a:solidFill>
            <a:prstDash val="solid"/>
          </a:ln>
        </p:spPr>
      </p:sp>
      <p:sp>
        <p:nvSpPr>
          <p:cNvPr id="10" name="Text 7"/>
          <p:cNvSpPr txBox="1"/>
          <p:nvPr/>
        </p:nvSpPr>
        <p:spPr>
          <a:xfrm>
            <a:off x="1920240" y="3931920"/>
            <a:ext cx="11887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Save</a:t>
            </a:r>
            <a:endParaRPr lang="en-US" sz="1300" dirty="0"/>
          </a:p>
        </p:txBody>
      </p:sp>
      <p:sp>
        <p:nvSpPr>
          <p:cNvPr id="11" name="Shape 8"/>
          <p:cNvSpPr/>
          <p:nvPr/>
        </p:nvSpPr>
        <p:spPr>
          <a:xfrm>
            <a:off x="3200400" y="3931920"/>
            <a:ext cx="1188720" cy="411480"/>
          </a:xfrm>
          <a:prstGeom prst="roundRect">
            <a:avLst>
              <a:gd name="adj" fmla="val 48889"/>
            </a:avLst>
          </a:prstGeom>
          <a:solidFill>
            <a:srgbClr val="B8901E"/>
          </a:solidFill>
          <a:ln w="12700">
            <a:solidFill>
              <a:srgbClr val="B8901E"/>
            </a:solidFill>
            <a:prstDash val="solid"/>
          </a:ln>
        </p:spPr>
      </p:sp>
      <p:sp>
        <p:nvSpPr>
          <p:cNvPr id="12" name="Text 9"/>
          <p:cNvSpPr txBox="1"/>
          <p:nvPr/>
        </p:nvSpPr>
        <p:spPr>
          <a:xfrm>
            <a:off x="3200400" y="3931920"/>
            <a:ext cx="118872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Invest</a:t>
            </a:r>
            <a:endParaRPr lang="en-US" sz="1300" dirty="0"/>
          </a:p>
        </p:txBody>
      </p:sp>
      <p:sp>
        <p:nvSpPr>
          <p:cNvPr id="13" name="Shape 10"/>
          <p:cNvSpPr/>
          <p:nvPr/>
        </p:nvSpPr>
        <p:spPr>
          <a:xfrm>
            <a:off x="4480560" y="3931920"/>
            <a:ext cx="1188720" cy="411480"/>
          </a:xfrm>
          <a:prstGeom prst="roundRect">
            <a:avLst>
              <a:gd name="adj" fmla="val 48889"/>
            </a:avLst>
          </a:prstGeom>
          <a:solidFill>
            <a:srgbClr val="D4A93A"/>
          </a:solidFill>
          <a:ln w="12700">
            <a:solidFill>
              <a:srgbClr val="D4A93A"/>
            </a:solidFill>
            <a:prstDash val="solid"/>
          </a:ln>
        </p:spPr>
      </p:sp>
      <p:sp>
        <p:nvSpPr>
          <p:cNvPr id="14" name="Text 11"/>
          <p:cNvSpPr txBox="1"/>
          <p:nvPr/>
        </p:nvSpPr>
        <p:spPr>
          <a:xfrm>
            <a:off x="4480560" y="3931920"/>
            <a:ext cx="118872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Grow</a:t>
            </a:r>
            <a:endParaRPr lang="en-US" sz="1300" dirty="0"/>
          </a:p>
        </p:txBody>
      </p:sp>
      <p:sp>
        <p:nvSpPr>
          <p:cNvPr id="15" name="Text 12"/>
          <p:cNvSpPr txBox="1"/>
          <p:nvPr/>
        </p:nvSpPr>
        <p:spPr>
          <a:xfrm>
            <a:off x="640080" y="4617720"/>
            <a:ext cx="5029200" cy="1005840"/>
          </a:xfrm>
          <a:prstGeom prst="rect">
            <a:avLst/>
          </a:prstGeom>
          <a:noFill/>
          <a:ln/>
        </p:spPr>
        <p:txBody>
          <a:bodyPr wrap="square" lIns="0" tIns="0" rIns="0" bIns="0" rtlCol="0" anchor="t"/>
          <a:lstStyle/>
          <a:p>
            <a:pPr indent="0" marL="0">
              <a:buNone/>
            </a:pPr>
            <a:r>
              <a:rPr lang="en-US" sz="1400" i="1" dirty="0">
                <a:solidFill>
                  <a:srgbClr val="BFC8D6"/>
                </a:solidFill>
                <a:latin typeface="Cambria" pitchFamily="34" charset="0"/>
                <a:ea typeface="Cambria" pitchFamily="34" charset="-122"/>
                <a:cs typeface="Cambria" pitchFamily="34" charset="-120"/>
              </a:rPr>
              <a:t>What we have, how we deal with current conditions, how we prepare the future, how we make it sustainable, and how we reach high growth</a:t>
            </a:r>
            <a:endParaRPr lang="en-US" sz="1400" dirty="0"/>
          </a:p>
        </p:txBody>
      </p:sp>
      <p:sp>
        <p:nvSpPr>
          <p:cNvPr id="16" name="Text 13"/>
          <p:cNvSpPr txBox="1"/>
          <p:nvPr/>
        </p:nvSpPr>
        <p:spPr>
          <a:xfrm>
            <a:off x="640080" y="5897880"/>
            <a:ext cx="5120640" cy="274320"/>
          </a:xfrm>
          <a:prstGeom prst="rect">
            <a:avLst/>
          </a:prstGeom>
          <a:noFill/>
          <a:ln/>
        </p:spPr>
        <p:txBody>
          <a:bodyPr wrap="square" lIns="0" tIns="0" rIns="0" bIns="0" rtlCol="0" anchor="t"/>
          <a:lstStyle/>
          <a:p>
            <a:pPr indent="0" marL="0">
              <a:buNone/>
            </a:pPr>
            <a:r>
              <a:rPr lang="en-US" sz="1100" dirty="0">
                <a:solidFill>
                  <a:srgbClr val="98A1B3"/>
                </a:solidFill>
                <a:latin typeface="Calibri" pitchFamily="34" charset="0"/>
                <a:ea typeface="Calibri" pitchFamily="34" charset="-122"/>
                <a:cs typeface="Calibri" pitchFamily="34" charset="-120"/>
              </a:rPr>
              <a:t>Briefing · 16 October 2026 · October 2026 data update · Draft</a:t>
            </a:r>
            <a:endParaRPr lang="en-US" sz="1100" dirty="0"/>
          </a:p>
        </p:txBody>
      </p:sp>
      <p:sp>
        <p:nvSpPr>
          <p:cNvPr id="17" name="Text 14"/>
          <p:cNvSpPr txBox="1"/>
          <p:nvPr/>
        </p:nvSpPr>
        <p:spPr>
          <a:xfrm>
            <a:off x="640080" y="6217920"/>
            <a:ext cx="5303520" cy="274320"/>
          </a:xfrm>
          <a:prstGeom prst="rect">
            <a:avLst/>
          </a:prstGeom>
          <a:noFill/>
          <a:ln/>
        </p:spPr>
        <p:txBody>
          <a:bodyPr wrap="square" lIns="0" tIns="0" rIns="0" bIns="0" rtlCol="0" anchor="t"/>
          <a:lstStyle/>
          <a:p>
            <a:pPr indent="0" marL="0">
              <a:buNone/>
            </a:pPr>
            <a:r>
              <a:rPr lang="en-US" sz="1000" b="1" dirty="0">
                <a:solidFill>
                  <a:srgbClr val="E8A0A0"/>
                </a:solidFill>
                <a:latin typeface="Calibri" pitchFamily="34" charset="0"/>
                <a:ea typeface="Calibri" pitchFamily="34" charset="-122"/>
                <a:cs typeface="Calibri" pitchFamily="34" charset="-120"/>
              </a:rPr>
              <a:t>RESTRICTED · contains data from the DDMF RKAP 2026 (Private &amp; Confidential)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AGENDA</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Five steps from resource wealth to high growth</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508760"/>
            <a:ext cx="5440680" cy="1234440"/>
          </a:xfrm>
          <a:prstGeom prst="roundRect">
            <a:avLst>
              <a:gd name="adj" fmla="val 5926"/>
            </a:avLst>
          </a:prstGeom>
          <a:solidFill>
            <a:srgbClr val="F4F6FA"/>
          </a:solidFill>
          <a:ln w="12700">
            <a:solidFill>
              <a:srgbClr val="F4F6FA"/>
            </a:solidFill>
            <a:prstDash val="solid"/>
          </a:ln>
        </p:spPr>
      </p:sp>
      <p:sp>
        <p:nvSpPr>
          <p:cNvPr id="8" name="Shape 5"/>
          <p:cNvSpPr/>
          <p:nvPr/>
        </p:nvSpPr>
        <p:spPr>
          <a:xfrm>
            <a:off x="731520" y="1801368"/>
            <a:ext cx="640080" cy="640080"/>
          </a:xfrm>
          <a:prstGeom prst="ellipse">
            <a:avLst/>
          </a:prstGeom>
          <a:solidFill>
            <a:srgbClr val="1F3864"/>
          </a:solidFill>
          <a:ln w="12700">
            <a:solidFill>
              <a:srgbClr val="1F3864"/>
            </a:solidFill>
            <a:prstDash val="solid"/>
          </a:ln>
        </p:spPr>
      </p:sp>
      <p:sp>
        <p:nvSpPr>
          <p:cNvPr id="9" name="Text 6"/>
          <p:cNvSpPr txBox="1"/>
          <p:nvPr/>
        </p:nvSpPr>
        <p:spPr>
          <a:xfrm>
            <a:off x="731520" y="18013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7"/>
          <p:cNvSpPr txBox="1"/>
          <p:nvPr/>
        </p:nvSpPr>
        <p:spPr>
          <a:xfrm>
            <a:off x="1554480" y="1709928"/>
            <a:ext cx="4297680" cy="41148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What we have</a:t>
            </a:r>
            <a:endParaRPr lang="en-US" sz="1800" dirty="0"/>
          </a:p>
        </p:txBody>
      </p:sp>
      <p:sp>
        <p:nvSpPr>
          <p:cNvPr id="11" name="Text 8"/>
          <p:cNvSpPr txBox="1"/>
          <p:nvPr/>
        </p:nvSpPr>
        <p:spPr>
          <a:xfrm>
            <a:off x="1554480" y="2148840"/>
            <a:ext cx="429768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Resource wealth; the Rp 5,396 T pipeline in Industry, Technology and Finance</a:t>
            </a:r>
            <a:endParaRPr lang="en-US" sz="1350" dirty="0"/>
          </a:p>
        </p:txBody>
      </p:sp>
      <p:sp>
        <p:nvSpPr>
          <p:cNvPr id="12" name="Shape 9"/>
          <p:cNvSpPr/>
          <p:nvPr/>
        </p:nvSpPr>
        <p:spPr>
          <a:xfrm>
            <a:off x="548640" y="2971800"/>
            <a:ext cx="5440680" cy="1234440"/>
          </a:xfrm>
          <a:prstGeom prst="roundRect">
            <a:avLst>
              <a:gd name="adj" fmla="val 5926"/>
            </a:avLst>
          </a:prstGeom>
          <a:solidFill>
            <a:srgbClr val="F4F6FA"/>
          </a:solidFill>
          <a:ln w="12700">
            <a:solidFill>
              <a:srgbClr val="F4F6FA"/>
            </a:solidFill>
            <a:prstDash val="solid"/>
          </a:ln>
        </p:spPr>
      </p:sp>
      <p:sp>
        <p:nvSpPr>
          <p:cNvPr id="13" name="Shape 10"/>
          <p:cNvSpPr/>
          <p:nvPr/>
        </p:nvSpPr>
        <p:spPr>
          <a:xfrm>
            <a:off x="731520" y="3264408"/>
            <a:ext cx="640080" cy="640080"/>
          </a:xfrm>
          <a:prstGeom prst="ellipse">
            <a:avLst/>
          </a:prstGeom>
          <a:solidFill>
            <a:srgbClr val="1F3864"/>
          </a:solidFill>
          <a:ln w="12700">
            <a:solidFill>
              <a:srgbClr val="1F3864"/>
            </a:solidFill>
            <a:prstDash val="solid"/>
          </a:ln>
        </p:spPr>
      </p:sp>
      <p:sp>
        <p:nvSpPr>
          <p:cNvPr id="14" name="Text 11"/>
          <p:cNvSpPr txBox="1"/>
          <p:nvPr/>
        </p:nvSpPr>
        <p:spPr>
          <a:xfrm>
            <a:off x="731520" y="32644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2"/>
          <p:cNvSpPr txBox="1"/>
          <p:nvPr/>
        </p:nvSpPr>
        <p:spPr>
          <a:xfrm>
            <a:off x="1554480" y="3172968"/>
            <a:ext cx="4297680" cy="41148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Current conditions: stabilise</a:t>
            </a:r>
            <a:endParaRPr lang="en-US" sz="1800" dirty="0"/>
          </a:p>
        </p:txBody>
      </p:sp>
      <p:sp>
        <p:nvSpPr>
          <p:cNvPr id="16" name="Text 13"/>
          <p:cNvSpPr txBox="1"/>
          <p:nvPr/>
        </p:nvSpPr>
        <p:spPr>
          <a:xfrm>
            <a:off x="1554480" y="3611880"/>
            <a:ext cx="429768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Precedents, the 2026 windfall, import substitution, one fund</a:t>
            </a:r>
            <a:endParaRPr lang="en-US" sz="1350" dirty="0"/>
          </a:p>
        </p:txBody>
      </p:sp>
      <p:sp>
        <p:nvSpPr>
          <p:cNvPr id="17" name="Shape 14"/>
          <p:cNvSpPr/>
          <p:nvPr/>
        </p:nvSpPr>
        <p:spPr>
          <a:xfrm>
            <a:off x="548640" y="4434840"/>
            <a:ext cx="5440680" cy="1234440"/>
          </a:xfrm>
          <a:prstGeom prst="roundRect">
            <a:avLst>
              <a:gd name="adj" fmla="val 5926"/>
            </a:avLst>
          </a:prstGeom>
          <a:solidFill>
            <a:srgbClr val="F4F6FA"/>
          </a:solidFill>
          <a:ln w="12700">
            <a:solidFill>
              <a:srgbClr val="F4F6FA"/>
            </a:solidFill>
            <a:prstDash val="solid"/>
          </a:ln>
        </p:spPr>
      </p:sp>
      <p:sp>
        <p:nvSpPr>
          <p:cNvPr id="18" name="Shape 15"/>
          <p:cNvSpPr/>
          <p:nvPr/>
        </p:nvSpPr>
        <p:spPr>
          <a:xfrm>
            <a:off x="731520" y="4727448"/>
            <a:ext cx="640080" cy="640080"/>
          </a:xfrm>
          <a:prstGeom prst="ellipse">
            <a:avLst/>
          </a:prstGeom>
          <a:solidFill>
            <a:srgbClr val="1F3864"/>
          </a:solidFill>
          <a:ln w="12700">
            <a:solidFill>
              <a:srgbClr val="1F3864"/>
            </a:solidFill>
            <a:prstDash val="solid"/>
          </a:ln>
        </p:spPr>
      </p:sp>
      <p:sp>
        <p:nvSpPr>
          <p:cNvPr id="19" name="Text 16"/>
          <p:cNvSpPr txBox="1"/>
          <p:nvPr/>
        </p:nvSpPr>
        <p:spPr>
          <a:xfrm>
            <a:off x="731520" y="47274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7"/>
          <p:cNvSpPr txBox="1"/>
          <p:nvPr/>
        </p:nvSpPr>
        <p:spPr>
          <a:xfrm>
            <a:off x="1554480" y="4636008"/>
            <a:ext cx="4297680" cy="41148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Preparing the future: save</a:t>
            </a:r>
            <a:endParaRPr lang="en-US" sz="1800" dirty="0"/>
          </a:p>
        </p:txBody>
      </p:sp>
      <p:sp>
        <p:nvSpPr>
          <p:cNvPr id="21" name="Text 18"/>
          <p:cNvSpPr txBox="1"/>
          <p:nvPr/>
        </p:nvSpPr>
        <p:spPr>
          <a:xfrm>
            <a:off x="1554480" y="5074920"/>
            <a:ext cx="429768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Saving at home, three windows and their rules</a:t>
            </a:r>
            <a:endParaRPr lang="en-US" sz="1350" dirty="0"/>
          </a:p>
        </p:txBody>
      </p:sp>
      <p:sp>
        <p:nvSpPr>
          <p:cNvPr id="22" name="Shape 19"/>
          <p:cNvSpPr/>
          <p:nvPr/>
        </p:nvSpPr>
        <p:spPr>
          <a:xfrm>
            <a:off x="6217920" y="1508760"/>
            <a:ext cx="5440680" cy="1234440"/>
          </a:xfrm>
          <a:prstGeom prst="roundRect">
            <a:avLst>
              <a:gd name="adj" fmla="val 5926"/>
            </a:avLst>
          </a:prstGeom>
          <a:solidFill>
            <a:srgbClr val="F4F6FA"/>
          </a:solidFill>
          <a:ln w="12700">
            <a:solidFill>
              <a:srgbClr val="F4F6FA"/>
            </a:solidFill>
            <a:prstDash val="solid"/>
          </a:ln>
        </p:spPr>
      </p:sp>
      <p:sp>
        <p:nvSpPr>
          <p:cNvPr id="23" name="Shape 20"/>
          <p:cNvSpPr/>
          <p:nvPr/>
        </p:nvSpPr>
        <p:spPr>
          <a:xfrm>
            <a:off x="6400800" y="1801368"/>
            <a:ext cx="640080" cy="640080"/>
          </a:xfrm>
          <a:prstGeom prst="ellipse">
            <a:avLst/>
          </a:prstGeom>
          <a:solidFill>
            <a:srgbClr val="1F3864"/>
          </a:solidFill>
          <a:ln w="12700">
            <a:solidFill>
              <a:srgbClr val="1F3864"/>
            </a:solidFill>
            <a:prstDash val="solid"/>
          </a:ln>
        </p:spPr>
      </p:sp>
      <p:sp>
        <p:nvSpPr>
          <p:cNvPr id="24" name="Text 21"/>
          <p:cNvSpPr txBox="1"/>
          <p:nvPr/>
        </p:nvSpPr>
        <p:spPr>
          <a:xfrm>
            <a:off x="6400800" y="180136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2"/>
          <p:cNvSpPr txBox="1"/>
          <p:nvPr/>
        </p:nvSpPr>
        <p:spPr>
          <a:xfrm>
            <a:off x="7223760" y="1709928"/>
            <a:ext cx="4297680" cy="41148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Making it sustainable: invest</a:t>
            </a:r>
            <a:endParaRPr lang="en-US" sz="1800" dirty="0"/>
          </a:p>
        </p:txBody>
      </p:sp>
      <p:sp>
        <p:nvSpPr>
          <p:cNvPr id="26" name="Text 23"/>
          <p:cNvSpPr txBox="1"/>
          <p:nvPr/>
        </p:nvSpPr>
        <p:spPr>
          <a:xfrm>
            <a:off x="7223760" y="2148840"/>
            <a:ext cx="429768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Gate, defence, funding from resources, effects, jobs, screening</a:t>
            </a:r>
            <a:endParaRPr lang="en-US" sz="1350" dirty="0"/>
          </a:p>
        </p:txBody>
      </p:sp>
      <p:sp>
        <p:nvSpPr>
          <p:cNvPr id="27" name="Shape 24"/>
          <p:cNvSpPr/>
          <p:nvPr/>
        </p:nvSpPr>
        <p:spPr>
          <a:xfrm>
            <a:off x="6217920" y="2971800"/>
            <a:ext cx="5440680" cy="1234440"/>
          </a:xfrm>
          <a:prstGeom prst="roundRect">
            <a:avLst>
              <a:gd name="adj" fmla="val 5926"/>
            </a:avLst>
          </a:prstGeom>
          <a:solidFill>
            <a:srgbClr val="F7F3E6"/>
          </a:solidFill>
          <a:ln w="12700">
            <a:solidFill>
              <a:srgbClr val="F7F3E6"/>
            </a:solidFill>
            <a:prstDash val="solid"/>
          </a:ln>
        </p:spPr>
      </p:sp>
      <p:sp>
        <p:nvSpPr>
          <p:cNvPr id="28" name="Shape 25"/>
          <p:cNvSpPr/>
          <p:nvPr/>
        </p:nvSpPr>
        <p:spPr>
          <a:xfrm>
            <a:off x="6400800" y="3264408"/>
            <a:ext cx="640080" cy="640080"/>
          </a:xfrm>
          <a:prstGeom prst="ellipse">
            <a:avLst/>
          </a:prstGeom>
          <a:solidFill>
            <a:srgbClr val="B8901E"/>
          </a:solidFill>
          <a:ln w="12700">
            <a:solidFill>
              <a:srgbClr val="B8901E"/>
            </a:solidFill>
            <a:prstDash val="solid"/>
          </a:ln>
        </p:spPr>
      </p:sp>
      <p:sp>
        <p:nvSpPr>
          <p:cNvPr id="29" name="Text 26"/>
          <p:cNvSpPr txBox="1"/>
          <p:nvPr/>
        </p:nvSpPr>
        <p:spPr>
          <a:xfrm>
            <a:off x="6400800" y="326440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0" name="Text 27"/>
          <p:cNvSpPr txBox="1"/>
          <p:nvPr/>
        </p:nvSpPr>
        <p:spPr>
          <a:xfrm>
            <a:off x="7223760" y="3172968"/>
            <a:ext cx="4297680" cy="411480"/>
          </a:xfrm>
          <a:prstGeom prst="rect">
            <a:avLst/>
          </a:prstGeom>
          <a:noFill/>
          <a:ln/>
        </p:spPr>
        <p:txBody>
          <a:bodyPr wrap="square" lIns="0" tIns="0" rIns="0" bIns="0" rtlCol="0" anchor="t"/>
          <a:lstStyle/>
          <a:p>
            <a:pPr indent="0" marL="0">
              <a:buNone/>
            </a:pPr>
            <a:r>
              <a:rPr lang="en-US" sz="1800" b="1" dirty="0">
                <a:solidFill>
                  <a:srgbClr val="14213D"/>
                </a:solidFill>
                <a:latin typeface="Calibri" pitchFamily="34" charset="0"/>
                <a:ea typeface="Calibri" pitchFamily="34" charset="-122"/>
                <a:cs typeface="Calibri" pitchFamily="34" charset="-120"/>
              </a:rPr>
              <a:t>Reaching high growth</a:t>
            </a:r>
            <a:endParaRPr lang="en-US" sz="1800" dirty="0"/>
          </a:p>
        </p:txBody>
      </p:sp>
      <p:sp>
        <p:nvSpPr>
          <p:cNvPr id="31" name="Text 28"/>
          <p:cNvSpPr txBox="1"/>
          <p:nvPr/>
        </p:nvSpPr>
        <p:spPr>
          <a:xfrm>
            <a:off x="7223760" y="3611880"/>
            <a:ext cx="4297680" cy="45720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The 8% bridge, three scenarios, roadmap, dashboard, risks</a:t>
            </a:r>
            <a:endParaRPr lang="en-US" sz="1350" dirty="0"/>
          </a:p>
        </p:txBody>
      </p:sp>
      <p:sp>
        <p:nvSpPr>
          <p:cNvPr id="32" name="Shape 29"/>
          <p:cNvSpPr/>
          <p:nvPr/>
        </p:nvSpPr>
        <p:spPr>
          <a:xfrm>
            <a:off x="6217920" y="4434840"/>
            <a:ext cx="5440680" cy="1234440"/>
          </a:xfrm>
          <a:prstGeom prst="roundRect">
            <a:avLst>
              <a:gd name="adj" fmla="val 5926"/>
            </a:avLst>
          </a:prstGeom>
          <a:solidFill>
            <a:srgbClr val="F4F6FA"/>
          </a:solidFill>
          <a:ln w="12700">
            <a:solidFill>
              <a:srgbClr val="F4F6FA"/>
            </a:solidFill>
            <a:prstDash val="solid"/>
          </a:ln>
        </p:spPr>
      </p:sp>
      <p:sp>
        <p:nvSpPr>
          <p:cNvPr id="33" name="Text 30"/>
          <p:cNvSpPr txBox="1"/>
          <p:nvPr/>
        </p:nvSpPr>
        <p:spPr>
          <a:xfrm>
            <a:off x="6400800" y="4617720"/>
            <a:ext cx="5029200" cy="365760"/>
          </a:xfrm>
          <a:prstGeom prst="rect">
            <a:avLst/>
          </a:prstGeom>
          <a:noFill/>
          <a:ln/>
        </p:spPr>
        <p:txBody>
          <a:bodyPr wrap="square" lIns="0" tIns="0" rIns="0" bIns="0" rtlCol="0" anchor="t"/>
          <a:lstStyle/>
          <a:p>
            <a:pPr indent="0" marL="0">
              <a:buNone/>
            </a:pPr>
            <a:r>
              <a:rPr lang="en-US" sz="1700" b="1" dirty="0">
                <a:solidFill>
                  <a:srgbClr val="B8901E"/>
                </a:solidFill>
                <a:latin typeface="Calibri" pitchFamily="34" charset="0"/>
                <a:ea typeface="Calibri" pitchFamily="34" charset="-122"/>
                <a:cs typeface="Calibri" pitchFamily="34" charset="-120"/>
              </a:rPr>
              <a:t>Appendix</a:t>
            </a:r>
            <a:endParaRPr lang="en-US" sz="1700" dirty="0"/>
          </a:p>
        </p:txBody>
      </p:sp>
      <p:sp>
        <p:nvSpPr>
          <p:cNvPr id="34" name="Text 31"/>
          <p:cNvSpPr txBox="1"/>
          <p:nvPr/>
        </p:nvSpPr>
        <p:spPr>
          <a:xfrm>
            <a:off x="6400800" y="5029200"/>
            <a:ext cx="5029200" cy="365760"/>
          </a:xfrm>
          <a:prstGeom prst="rect">
            <a:avLst/>
          </a:prstGeom>
          <a:noFill/>
          <a:ln/>
        </p:spPr>
        <p:txBody>
          <a:bodyPr wrap="square" lIns="0" tIns="0" rIns="0" bIns="0" rtlCol="0" anchor="t"/>
          <a:lstStyle/>
          <a:p>
            <a:pPr indent="0" marL="0">
              <a:buNone/>
            </a:pPr>
            <a:r>
              <a:rPr lang="en-US" sz="1350" dirty="0">
                <a:solidFill>
                  <a:srgbClr val="4A5568"/>
                </a:solidFill>
                <a:latin typeface="Calibri" pitchFamily="34" charset="0"/>
                <a:ea typeface="Calibri" pitchFamily="34" charset="-122"/>
                <a:cs typeface="Calibri" pitchFamily="34" charset="-120"/>
              </a:rPr>
              <a:t>Projects by cluster, points to clarify and references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KEY MESSAGES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Spend from savings where it multiplies, and aim it at growth</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508760"/>
            <a:ext cx="3566160" cy="2194560"/>
          </a:xfrm>
          <a:prstGeom prst="roundRect">
            <a:avLst>
              <a:gd name="adj" fmla="val 3333"/>
            </a:avLst>
          </a:prstGeom>
          <a:solidFill>
            <a:srgbClr val="F4F6FA"/>
          </a:solidFill>
          <a:ln w="12700">
            <a:solidFill>
              <a:srgbClr val="F4F6FA"/>
            </a:solidFill>
            <a:prstDash val="solid"/>
          </a:ln>
        </p:spPr>
      </p:sp>
      <p:sp>
        <p:nvSpPr>
          <p:cNvPr id="8" name="Text 5"/>
          <p:cNvSpPr txBox="1"/>
          <p:nvPr/>
        </p:nvSpPr>
        <p:spPr>
          <a:xfrm>
            <a:off x="731520" y="1645920"/>
            <a:ext cx="32004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Rp 5,396 T</a:t>
            </a:r>
            <a:endParaRPr lang="en-US" sz="3000" dirty="0"/>
          </a:p>
        </p:txBody>
      </p:sp>
      <p:sp>
        <p:nvSpPr>
          <p:cNvPr id="9" name="Text 6"/>
          <p:cNvSpPr txBox="1"/>
          <p:nvPr/>
        </p:nvSpPr>
        <p:spPr>
          <a:xfrm>
            <a:off x="731520" y="228600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pipeline after the October 2026 update: Industry 91%, Technology 9%; defence 39% and the Giant Sea Wall 22%</a:t>
            </a:r>
            <a:endParaRPr lang="en-US" sz="1250" dirty="0"/>
          </a:p>
        </p:txBody>
      </p:sp>
      <p:sp>
        <p:nvSpPr>
          <p:cNvPr id="10" name="Shape 7"/>
          <p:cNvSpPr/>
          <p:nvPr/>
        </p:nvSpPr>
        <p:spPr>
          <a:xfrm>
            <a:off x="4297680" y="1508760"/>
            <a:ext cx="3566160" cy="2194560"/>
          </a:xfrm>
          <a:prstGeom prst="roundRect">
            <a:avLst>
              <a:gd name="adj" fmla="val 3333"/>
            </a:avLst>
          </a:prstGeom>
          <a:solidFill>
            <a:srgbClr val="F4F6FA"/>
          </a:solidFill>
          <a:ln w="12700">
            <a:solidFill>
              <a:srgbClr val="F4F6FA"/>
            </a:solidFill>
            <a:prstDash val="solid"/>
          </a:ln>
        </p:spPr>
      </p:sp>
      <p:sp>
        <p:nvSpPr>
          <p:cNvPr id="11" name="Text 8"/>
          <p:cNvSpPr txBox="1"/>
          <p:nvPr/>
        </p:nvSpPr>
        <p:spPr>
          <a:xfrm>
            <a:off x="4480560" y="1645920"/>
            <a:ext cx="3200400" cy="640080"/>
          </a:xfrm>
          <a:prstGeom prst="rect">
            <a:avLst/>
          </a:prstGeom>
          <a:noFill/>
          <a:ln/>
        </p:spPr>
        <p:txBody>
          <a:bodyPr wrap="square" lIns="0" tIns="0" rIns="0" bIns="0" rtlCol="0" anchor="t">
            <a:normAutofit/>
          </a:bodyPr>
          <a:lstStyle/>
          <a:p>
            <a:pPr indent="0" marL="0">
              <a:buNone/>
            </a:pPr>
            <a:r>
              <a:rPr lang="en-US" sz="3000" b="1" dirty="0">
                <a:solidFill>
                  <a:srgbClr val="B8901E"/>
                </a:solidFill>
                <a:latin typeface="Cambria" pitchFamily="34" charset="0"/>
                <a:ea typeface="Cambria" pitchFamily="34" charset="-122"/>
                <a:cs typeface="Cambria" pitchFamily="34" charset="-120"/>
              </a:rPr>
              <a:t>54% · 74%</a:t>
            </a:r>
            <a:endParaRPr lang="en-US" sz="3000" dirty="0"/>
          </a:p>
        </p:txBody>
      </p:sp>
      <p:sp>
        <p:nvSpPr>
          <p:cNvPr id="12" name="Text 9"/>
          <p:cNvSpPr txBox="1"/>
          <p:nvPr/>
        </p:nvSpPr>
        <p:spPr>
          <a:xfrm>
            <a:off x="4480560" y="228600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of the 2027–34 need funded by natural resources, and anchored on them with partners (save 40%, 80% to development)</a:t>
            </a:r>
            <a:endParaRPr lang="en-US" sz="1250" dirty="0"/>
          </a:p>
        </p:txBody>
      </p:sp>
      <p:sp>
        <p:nvSpPr>
          <p:cNvPr id="13" name="Shape 10"/>
          <p:cNvSpPr/>
          <p:nvPr/>
        </p:nvSpPr>
        <p:spPr>
          <a:xfrm>
            <a:off x="8046720" y="1508760"/>
            <a:ext cx="3566160" cy="2194560"/>
          </a:xfrm>
          <a:prstGeom prst="roundRect">
            <a:avLst>
              <a:gd name="adj" fmla="val 3333"/>
            </a:avLst>
          </a:prstGeom>
          <a:solidFill>
            <a:srgbClr val="F4F6FA"/>
          </a:solidFill>
          <a:ln w="12700">
            <a:solidFill>
              <a:srgbClr val="F4F6FA"/>
            </a:solidFill>
            <a:prstDash val="solid"/>
          </a:ln>
        </p:spPr>
      </p:sp>
      <p:sp>
        <p:nvSpPr>
          <p:cNvPr id="14" name="Text 11"/>
          <p:cNvSpPr txBox="1"/>
          <p:nvPr/>
        </p:nvSpPr>
        <p:spPr>
          <a:xfrm>
            <a:off x="8229600" y="1645920"/>
            <a:ext cx="3200400" cy="640080"/>
          </a:xfrm>
          <a:prstGeom prst="rect">
            <a:avLst/>
          </a:prstGeom>
          <a:noFill/>
          <a:ln/>
        </p:spPr>
        <p:txBody>
          <a:bodyPr wrap="square" lIns="0" tIns="0" rIns="0" bIns="0" rtlCol="0" anchor="t">
            <a:normAutofit/>
          </a:bodyPr>
          <a:lstStyle/>
          <a:p>
            <a:pPr indent="0" marL="0">
              <a:buNone/>
            </a:pPr>
            <a:r>
              <a:rPr lang="en-US" sz="3000" b="1" dirty="0">
                <a:solidFill>
                  <a:srgbClr val="B8901E"/>
                </a:solidFill>
                <a:latin typeface="Cambria" pitchFamily="34" charset="0"/>
                <a:ea typeface="Cambria" pitchFamily="34" charset="-122"/>
                <a:cs typeface="Cambria" pitchFamily="34" charset="-120"/>
              </a:rPr>
              <a:t>+2.2% GDP</a:t>
            </a:r>
            <a:endParaRPr lang="en-US" sz="3000" dirty="0"/>
          </a:p>
        </p:txBody>
      </p:sp>
      <p:sp>
        <p:nvSpPr>
          <p:cNvPr id="15" name="Text 12"/>
          <p:cNvSpPr txBox="1"/>
          <p:nvPr/>
        </p:nvSpPr>
        <p:spPr>
          <a:xfrm>
            <a:off x="8229600" y="228600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at the 2031 peak, +0.9% for good; about +0.6 pp growth a year in 2027–30; US$124 bn of imports, 58% for defence</a:t>
            </a:r>
            <a:endParaRPr lang="en-US" sz="1250" dirty="0"/>
          </a:p>
        </p:txBody>
      </p:sp>
      <p:sp>
        <p:nvSpPr>
          <p:cNvPr id="16" name="Shape 13"/>
          <p:cNvSpPr/>
          <p:nvPr/>
        </p:nvSpPr>
        <p:spPr>
          <a:xfrm>
            <a:off x="548640" y="3886200"/>
            <a:ext cx="3566160" cy="2194560"/>
          </a:xfrm>
          <a:prstGeom prst="roundRect">
            <a:avLst>
              <a:gd name="adj" fmla="val 3333"/>
            </a:avLst>
          </a:prstGeom>
          <a:solidFill>
            <a:srgbClr val="F4F6FA"/>
          </a:solidFill>
          <a:ln w="12700">
            <a:solidFill>
              <a:srgbClr val="F4F6FA"/>
            </a:solidFill>
            <a:prstDash val="solid"/>
          </a:ln>
        </p:spPr>
      </p:sp>
      <p:sp>
        <p:nvSpPr>
          <p:cNvPr id="17" name="Text 14"/>
          <p:cNvSpPr txBox="1"/>
          <p:nvPr/>
        </p:nvSpPr>
        <p:spPr>
          <a:xfrm>
            <a:off x="731520" y="4023360"/>
            <a:ext cx="3200400" cy="640080"/>
          </a:xfrm>
          <a:prstGeom prst="rect">
            <a:avLst/>
          </a:prstGeom>
          <a:noFill/>
          <a:ln/>
        </p:spPr>
        <p:txBody>
          <a:bodyPr wrap="square" lIns="0" tIns="0" rIns="0" bIns="0" rtlCol="0" anchor="t">
            <a:normAutofit/>
          </a:bodyPr>
          <a:lstStyle/>
          <a:p>
            <a:pPr indent="0" marL="0">
              <a:buNone/>
            </a:pPr>
            <a:r>
              <a:rPr lang="en-US" sz="3000" b="1" dirty="0">
                <a:solidFill>
                  <a:srgbClr val="3E7C7B"/>
                </a:solidFill>
                <a:latin typeface="Cambria" pitchFamily="34" charset="0"/>
                <a:ea typeface="Cambria" pitchFamily="34" charset="-122"/>
                <a:cs typeface="Cambria" pitchFamily="34" charset="-120"/>
              </a:rPr>
              <a:t>4.0 m jobs</a:t>
            </a:r>
            <a:endParaRPr lang="en-US" sz="3000" dirty="0"/>
          </a:p>
        </p:txBody>
      </p:sp>
      <p:sp>
        <p:nvSpPr>
          <p:cNvPr id="18" name="Text 15"/>
          <p:cNvSpPr txBox="1"/>
          <p:nvPr/>
        </p:nvSpPr>
        <p:spPr>
          <a:xfrm>
            <a:off x="731520" y="466344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at the 2029 peak (25.5 m job-years); open unemployment 4.7% → about 3.7% in 2028–30</a:t>
            </a:r>
            <a:endParaRPr lang="en-US" sz="1250" dirty="0"/>
          </a:p>
        </p:txBody>
      </p:sp>
      <p:sp>
        <p:nvSpPr>
          <p:cNvPr id="19" name="Shape 16"/>
          <p:cNvSpPr/>
          <p:nvPr/>
        </p:nvSpPr>
        <p:spPr>
          <a:xfrm>
            <a:off x="4297680" y="3886200"/>
            <a:ext cx="3566160" cy="2194560"/>
          </a:xfrm>
          <a:prstGeom prst="roundRect">
            <a:avLst>
              <a:gd name="adj" fmla="val 3333"/>
            </a:avLst>
          </a:prstGeom>
          <a:solidFill>
            <a:srgbClr val="F4F6FA"/>
          </a:solidFill>
          <a:ln w="12700">
            <a:solidFill>
              <a:srgbClr val="F4F6FA"/>
            </a:solidFill>
            <a:prstDash val="solid"/>
          </a:ln>
        </p:spPr>
      </p:sp>
      <p:sp>
        <p:nvSpPr>
          <p:cNvPr id="20" name="Text 17"/>
          <p:cNvSpPr txBox="1"/>
          <p:nvPr/>
        </p:nvSpPr>
        <p:spPr>
          <a:xfrm>
            <a:off x="4480560" y="4023360"/>
            <a:ext cx="3200400" cy="640080"/>
          </a:xfrm>
          <a:prstGeom prst="rect">
            <a:avLst/>
          </a:prstGeom>
          <a:noFill/>
          <a:ln/>
        </p:spPr>
        <p:txBody>
          <a:bodyPr wrap="square" lIns="0" tIns="0" rIns="0" bIns="0" rtlCol="0" anchor="t">
            <a:normAutofit/>
          </a:bodyPr>
          <a:lstStyle/>
          <a:p>
            <a:pPr indent="0" marL="0">
              <a:buNone/>
            </a:pPr>
            <a:r>
              <a:rPr lang="en-US" sz="3000" b="1" dirty="0">
                <a:solidFill>
                  <a:srgbClr val="3E7C7B"/>
                </a:solidFill>
                <a:latin typeface="Cambria" pitchFamily="34" charset="0"/>
                <a:ea typeface="Cambria" pitchFamily="34" charset="-122"/>
                <a:cs typeface="Cambria" pitchFamily="34" charset="-120"/>
              </a:rPr>
              <a:t>6.9%</a:t>
            </a:r>
            <a:endParaRPr lang="en-US" sz="3000" dirty="0"/>
          </a:p>
        </p:txBody>
      </p:sp>
      <p:sp>
        <p:nvSpPr>
          <p:cNvPr id="21" name="Text 18"/>
          <p:cNvSpPr txBox="1"/>
          <p:nvPr/>
        </p:nvSpPr>
        <p:spPr>
          <a:xfrm>
            <a:off x="4480560" y="466344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growth in 2029 with all resource levers, the updated pipeline and better efficiency; gap to 8% about 1.1 pp</a:t>
            </a:r>
            <a:endParaRPr lang="en-US" sz="1250" dirty="0"/>
          </a:p>
        </p:txBody>
      </p:sp>
      <p:sp>
        <p:nvSpPr>
          <p:cNvPr id="22" name="Shape 19"/>
          <p:cNvSpPr/>
          <p:nvPr/>
        </p:nvSpPr>
        <p:spPr>
          <a:xfrm>
            <a:off x="8046720" y="3886200"/>
            <a:ext cx="3566160" cy="2194560"/>
          </a:xfrm>
          <a:prstGeom prst="roundRect">
            <a:avLst>
              <a:gd name="adj" fmla="val 3333"/>
            </a:avLst>
          </a:prstGeom>
          <a:solidFill>
            <a:srgbClr val="F4F6FA"/>
          </a:solidFill>
          <a:ln w="12700">
            <a:solidFill>
              <a:srgbClr val="F4F6FA"/>
            </a:solidFill>
            <a:prstDash val="solid"/>
          </a:ln>
        </p:spPr>
      </p:sp>
      <p:sp>
        <p:nvSpPr>
          <p:cNvPr id="23" name="Text 20"/>
          <p:cNvSpPr txBox="1"/>
          <p:nvPr/>
        </p:nvSpPr>
        <p:spPr>
          <a:xfrm>
            <a:off x="8229600" y="4023360"/>
            <a:ext cx="3200400" cy="640080"/>
          </a:xfrm>
          <a:prstGeom prst="rect">
            <a:avLst/>
          </a:prstGeom>
          <a:noFill/>
          <a:ln/>
        </p:spPr>
        <p:txBody>
          <a:bodyPr wrap="square" lIns="0" tIns="0" rIns="0" bIns="0" rtlCol="0" anchor="t">
            <a:normAutofit/>
          </a:bodyPr>
          <a:lstStyle/>
          <a:p>
            <a:pPr indent="0" marL="0">
              <a:buNone/>
            </a:pPr>
            <a:r>
              <a:rPr lang="en-US" sz="3000" b="1" dirty="0">
                <a:solidFill>
                  <a:srgbClr val="9B2C2C"/>
                </a:solidFill>
                <a:latin typeface="Cambria" pitchFamily="34" charset="0"/>
                <a:ea typeface="Cambria" pitchFamily="34" charset="-122"/>
                <a:cs typeface="Cambria" pitchFamily="34" charset="-120"/>
              </a:rPr>
              <a:t>ICOR 4.3</a:t>
            </a:r>
            <a:endParaRPr lang="en-US" sz="3000" dirty="0"/>
          </a:p>
        </p:txBody>
      </p:sp>
      <p:sp>
        <p:nvSpPr>
          <p:cNvPr id="24" name="Text 21"/>
          <p:cNvSpPr txBox="1"/>
          <p:nvPr/>
        </p:nvSpPr>
        <p:spPr>
          <a:xfrm>
            <a:off x="8229600" y="4663440"/>
            <a:ext cx="3200400" cy="132588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needed for 8%: investment (32.5% of GDP) is no longer the constraint, efficiency is</a:t>
            </a:r>
            <a:endParaRPr lang="en-US" sz="1250" dirty="0"/>
          </a:p>
        </p:txBody>
      </p:sp>
      <p:sp>
        <p:nvSpPr>
          <p:cNvPr id="25" name="Text 22"/>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Figures from DDMF RKAP 2026, the October 2026 update and the author's illustrative models (Parts 4 and 5). Rp T = Rp trillion.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1 · RESOURCE WEALTH</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Resource wealth is large, volatile and depleting</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463040"/>
            <a:ext cx="2651760" cy="1463040"/>
          </a:xfrm>
          <a:prstGeom prst="roundRect">
            <a:avLst>
              <a:gd name="adj" fmla="val 5000"/>
            </a:avLst>
          </a:prstGeom>
          <a:solidFill>
            <a:srgbClr val="F4F6FA"/>
          </a:solidFill>
          <a:ln w="12700">
            <a:solidFill>
              <a:srgbClr val="F4F6FA"/>
            </a:solidFill>
            <a:prstDash val="solid"/>
          </a:ln>
        </p:spPr>
      </p:sp>
      <p:sp>
        <p:nvSpPr>
          <p:cNvPr id="8" name="Text 5"/>
          <p:cNvSpPr txBox="1"/>
          <p:nvPr/>
        </p:nvSpPr>
        <p:spPr>
          <a:xfrm>
            <a:off x="731520" y="160020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US$122 bn</a:t>
            </a:r>
            <a:endParaRPr lang="en-US" sz="3000" dirty="0"/>
          </a:p>
        </p:txBody>
      </p:sp>
      <p:sp>
        <p:nvSpPr>
          <p:cNvPr id="9" name="Text 6"/>
          <p:cNvSpPr txBox="1"/>
          <p:nvPr/>
        </p:nvSpPr>
        <p:spPr>
          <a:xfrm>
            <a:off x="731520" y="2240280"/>
            <a:ext cx="228600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resource exports in 2025 (record US$150 bn in 2022)</a:t>
            </a:r>
            <a:endParaRPr lang="en-US" sz="1250" dirty="0"/>
          </a:p>
        </p:txBody>
      </p:sp>
      <p:sp>
        <p:nvSpPr>
          <p:cNvPr id="10" name="Shape 7"/>
          <p:cNvSpPr/>
          <p:nvPr/>
        </p:nvSpPr>
        <p:spPr>
          <a:xfrm>
            <a:off x="3364992" y="1463040"/>
            <a:ext cx="2651760" cy="1463040"/>
          </a:xfrm>
          <a:prstGeom prst="roundRect">
            <a:avLst>
              <a:gd name="adj" fmla="val 5000"/>
            </a:avLst>
          </a:prstGeom>
          <a:solidFill>
            <a:srgbClr val="F4F6FA"/>
          </a:solidFill>
          <a:ln w="12700">
            <a:solidFill>
              <a:srgbClr val="F4F6FA"/>
            </a:solidFill>
            <a:prstDash val="solid"/>
          </a:ln>
        </p:spPr>
      </p:sp>
      <p:sp>
        <p:nvSpPr>
          <p:cNvPr id="11" name="Text 8"/>
          <p:cNvSpPr txBox="1"/>
          <p:nvPr/>
        </p:nvSpPr>
        <p:spPr>
          <a:xfrm>
            <a:off x="3547872" y="160020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8.4%</a:t>
            </a:r>
            <a:endParaRPr lang="en-US" sz="3000" dirty="0"/>
          </a:p>
        </p:txBody>
      </p:sp>
      <p:sp>
        <p:nvSpPr>
          <p:cNvPr id="12" name="Text 9"/>
          <p:cNvSpPr txBox="1"/>
          <p:nvPr/>
        </p:nvSpPr>
        <p:spPr>
          <a:xfrm>
            <a:off x="3547872" y="2240280"/>
            <a:ext cx="228600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of GDP in 2025</a:t>
            </a:r>
            <a:endParaRPr lang="en-US" sz="1250" dirty="0"/>
          </a:p>
        </p:txBody>
      </p:sp>
      <p:sp>
        <p:nvSpPr>
          <p:cNvPr id="13" name="Shape 10"/>
          <p:cNvSpPr/>
          <p:nvPr/>
        </p:nvSpPr>
        <p:spPr>
          <a:xfrm>
            <a:off x="6181344" y="1463040"/>
            <a:ext cx="2651760" cy="1463040"/>
          </a:xfrm>
          <a:prstGeom prst="roundRect">
            <a:avLst>
              <a:gd name="adj" fmla="val 5000"/>
            </a:avLst>
          </a:prstGeom>
          <a:solidFill>
            <a:srgbClr val="F4F6FA"/>
          </a:solidFill>
          <a:ln w="12700">
            <a:solidFill>
              <a:srgbClr val="F4F6FA"/>
            </a:solidFill>
            <a:prstDash val="solid"/>
          </a:ln>
        </p:spPr>
      </p:sp>
      <p:sp>
        <p:nvSpPr>
          <p:cNvPr id="14" name="Text 11"/>
          <p:cNvSpPr txBox="1"/>
          <p:nvPr/>
        </p:nvSpPr>
        <p:spPr>
          <a:xfrm>
            <a:off x="6364224" y="160020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8 phases</a:t>
            </a:r>
            <a:endParaRPr lang="en-US" sz="3000" dirty="0"/>
          </a:p>
        </p:txBody>
      </p:sp>
      <p:sp>
        <p:nvSpPr>
          <p:cNvPr id="15" name="Text 12"/>
          <p:cNvSpPr txBox="1"/>
          <p:nvPr/>
        </p:nvSpPr>
        <p:spPr>
          <a:xfrm>
            <a:off x="6364224" y="2240280"/>
            <a:ext cx="228600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of boom and bust in 25 years</a:t>
            </a:r>
            <a:endParaRPr lang="en-US" sz="1250" dirty="0"/>
          </a:p>
        </p:txBody>
      </p:sp>
      <p:sp>
        <p:nvSpPr>
          <p:cNvPr id="16" name="Shape 13"/>
          <p:cNvSpPr/>
          <p:nvPr/>
        </p:nvSpPr>
        <p:spPr>
          <a:xfrm>
            <a:off x="8997696" y="1463040"/>
            <a:ext cx="2651760" cy="1463040"/>
          </a:xfrm>
          <a:prstGeom prst="roundRect">
            <a:avLst>
              <a:gd name="adj" fmla="val 5000"/>
            </a:avLst>
          </a:prstGeom>
          <a:solidFill>
            <a:srgbClr val="F4F6FA"/>
          </a:solidFill>
          <a:ln w="12700">
            <a:solidFill>
              <a:srgbClr val="F4F6FA"/>
            </a:solidFill>
            <a:prstDash val="solid"/>
          </a:ln>
        </p:spPr>
      </p:sp>
      <p:sp>
        <p:nvSpPr>
          <p:cNvPr id="17" name="Text 14"/>
          <p:cNvSpPr txBox="1"/>
          <p:nvPr/>
        </p:nvSpPr>
        <p:spPr>
          <a:xfrm>
            <a:off x="9180576" y="160020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r = 0.63</a:t>
            </a:r>
            <a:endParaRPr lang="en-US" sz="3000" dirty="0"/>
          </a:p>
        </p:txBody>
      </p:sp>
      <p:sp>
        <p:nvSpPr>
          <p:cNvPr id="18" name="Text 15"/>
          <p:cNvSpPr txBox="1"/>
          <p:nvPr/>
        </p:nvSpPr>
        <p:spPr>
          <a:xfrm>
            <a:off x="9180576" y="2240280"/>
            <a:ext cx="228600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with dollar GDP; 0.17 with real growth</a:t>
            </a:r>
            <a:endParaRPr lang="en-US" sz="1250" dirty="0"/>
          </a:p>
        </p:txBody>
      </p:sp>
      <p:pic>
        <p:nvPicPr>
          <p:cNvPr id="19" name="Image 0" descr="Three layers: export receivables, reserve window, future window">    </p:cNvPr>
          <p:cNvPicPr>
            <a:picLocks noChangeAspect="1"/>
          </p:cNvPicPr>
          <p:nvPr/>
        </p:nvPicPr>
        <p:blipFill>
          <a:blip r:embed="rId1"/>
          <a:stretch>
            <a:fillRect/>
          </a:stretch>
        </p:blipFill>
        <p:spPr>
          <a:xfrm>
            <a:off x="2413445" y="3154680"/>
            <a:ext cx="7334631" cy="3154680"/>
          </a:xfrm>
          <a:prstGeom prst="rect">
            <a:avLst/>
          </a:prstGeom>
        </p:spPr>
      </p:pic>
      <p:sp>
        <p:nvSpPr>
          <p:cNvPr id="20" name="Text 16"/>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Policy Paper 1 (Stabilise and Save), export analysis 2000–2025.</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1 · OCTOBER 2026 UPDATE</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Six programmes updated: the pipeline grows to Rp 5,396 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7223760" cy="914400"/>
        </p:xfrm>
        <a:graphic>
          <a:graphicData uri="http://schemas.openxmlformats.org/drawingml/2006/table">
            <a:tbl>
              <a:tblPr/>
              <a:tblGrid>
                <a:gridCol w="3566160"/>
                <a:gridCol w="1188720"/>
                <a:gridCol w="1188720"/>
                <a:gridCol w="12801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Programme</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RKAP 2026 (Rp 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Updated (Rp 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Timeline assumed</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Giant Sea Wall</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97.0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1,200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2027–2040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Defence modernisation ‡ (replaces Athens + alutsista)</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183.4</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2,125</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2027–2034</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National Data Centre</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2027–2031</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Quantum technology</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2027–2031</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Semiconductors</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2027–2030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AI and IT programme (replaces sovereign AI)</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2027–2032</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Total of the six</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305.9</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9B2C2C"/>
                          </a:solidFill>
                          <a:latin typeface="Calibri" pitchFamily="34" charset="0"/>
                          <a:ea typeface="Calibri" pitchFamily="34" charset="-122"/>
                          <a:cs typeface="Calibri" pitchFamily="34" charset="-120"/>
                        </a:rPr>
                        <a:t>3,610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5349240"/>
            <a:ext cx="7223760" cy="548640"/>
          </a:xfrm>
          <a:prstGeom prst="rect">
            <a:avLst/>
          </a:prstGeom>
          <a:noFill/>
          <a:ln/>
        </p:spPr>
        <p:txBody>
          <a:bodyPr wrap="square" lIns="0" tIns="0" rIns="0" bIns="0" rtlCol="0" anchor="t"/>
          <a:lstStyle/>
          <a:p>
            <a:pPr indent="0" marL="0">
              <a:buNone/>
            </a:pPr>
            <a:r>
              <a:rPr lang="en-US" sz="1100" i="1" dirty="0">
                <a:solidFill>
                  <a:srgbClr val="6B7488"/>
                </a:solidFill>
                <a:latin typeface="Calibri" pitchFamily="34" charset="0"/>
                <a:ea typeface="Calibri" pitchFamily="34" charset="-122"/>
                <a:cs typeface="Calibri" pitchFamily="34" charset="-120"/>
              </a:rPr>
              <a:t>‡ New submarines, unmanned surface vessels (USV), fast attack craft, carrier Sriwijaya refurbishment, fighter squadrons and MRO. Timelines and 21% equity are assumptions.</a:t>
            </a:r>
            <a:endParaRPr lang="en-US" sz="1100" dirty="0"/>
          </a:p>
        </p:txBody>
      </p:sp>
      <p:sp>
        <p:nvSpPr>
          <p:cNvPr id="9" name="Shape 5"/>
          <p:cNvSpPr/>
          <p:nvPr/>
        </p:nvSpPr>
        <p:spPr>
          <a:xfrm>
            <a:off x="8092440" y="1417320"/>
            <a:ext cx="3566160" cy="1325880"/>
          </a:xfrm>
          <a:prstGeom prst="roundRect">
            <a:avLst>
              <a:gd name="adj" fmla="val 5517"/>
            </a:avLst>
          </a:prstGeom>
          <a:solidFill>
            <a:srgbClr val="F4F6FA"/>
          </a:solidFill>
          <a:ln w="12700">
            <a:solidFill>
              <a:srgbClr val="F4F6FA"/>
            </a:solidFill>
            <a:prstDash val="solid"/>
          </a:ln>
        </p:spPr>
      </p:sp>
      <p:sp>
        <p:nvSpPr>
          <p:cNvPr id="10" name="Text 6"/>
          <p:cNvSpPr txBox="1"/>
          <p:nvPr/>
        </p:nvSpPr>
        <p:spPr>
          <a:xfrm>
            <a:off x="8275320" y="1554480"/>
            <a:ext cx="3200400" cy="640080"/>
          </a:xfrm>
          <a:prstGeom prst="rect">
            <a:avLst/>
          </a:prstGeom>
          <a:noFill/>
          <a:ln/>
        </p:spPr>
        <p:txBody>
          <a:bodyPr wrap="square" lIns="0" tIns="0" rIns="0" bIns="0" rtlCol="0" anchor="t">
            <a:normAutofit/>
          </a:bodyPr>
          <a:lstStyle/>
          <a:p>
            <a:pPr indent="0" marL="0">
              <a:buNone/>
            </a:pPr>
            <a:r>
              <a:rPr lang="en-US" sz="2600" b="1" dirty="0">
                <a:solidFill>
                  <a:srgbClr val="1F3864"/>
                </a:solidFill>
                <a:latin typeface="Cambria" pitchFamily="34" charset="0"/>
                <a:ea typeface="Cambria" pitchFamily="34" charset="-122"/>
                <a:cs typeface="Cambria" pitchFamily="34" charset="-120"/>
              </a:rPr>
              <a:t>Rp 5,396 T</a:t>
            </a:r>
            <a:endParaRPr lang="en-US" sz="2600" dirty="0"/>
          </a:p>
        </p:txBody>
      </p:sp>
      <p:sp>
        <p:nvSpPr>
          <p:cNvPr id="11" name="Text 7"/>
          <p:cNvSpPr txBox="1"/>
          <p:nvPr/>
        </p:nvSpPr>
        <p:spPr>
          <a:xfrm>
            <a:off x="8275320" y="2194560"/>
            <a:ext cx="3200400" cy="4572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pipeline, from Rp 2,091 T in the RKAP (2.6×); equity ≈ Rp 1,133 T</a:t>
            </a:r>
            <a:endParaRPr lang="en-US" sz="1250" dirty="0"/>
          </a:p>
        </p:txBody>
      </p:sp>
      <p:sp>
        <p:nvSpPr>
          <p:cNvPr id="12" name="Shape 8"/>
          <p:cNvSpPr/>
          <p:nvPr/>
        </p:nvSpPr>
        <p:spPr>
          <a:xfrm>
            <a:off x="8092440" y="2880360"/>
            <a:ext cx="3566160" cy="1325880"/>
          </a:xfrm>
          <a:prstGeom prst="roundRect">
            <a:avLst>
              <a:gd name="adj" fmla="val 5517"/>
            </a:avLst>
          </a:prstGeom>
          <a:solidFill>
            <a:srgbClr val="F4F6FA"/>
          </a:solidFill>
          <a:ln w="12700">
            <a:solidFill>
              <a:srgbClr val="F4F6FA"/>
            </a:solidFill>
            <a:prstDash val="solid"/>
          </a:ln>
        </p:spPr>
      </p:sp>
      <p:sp>
        <p:nvSpPr>
          <p:cNvPr id="13" name="Text 9"/>
          <p:cNvSpPr txBox="1"/>
          <p:nvPr/>
        </p:nvSpPr>
        <p:spPr>
          <a:xfrm>
            <a:off x="8275320" y="3017520"/>
            <a:ext cx="3200400" cy="640080"/>
          </a:xfrm>
          <a:prstGeom prst="rect">
            <a:avLst/>
          </a:prstGeom>
          <a:noFill/>
          <a:ln/>
        </p:spPr>
        <p:txBody>
          <a:bodyPr wrap="square" lIns="0" tIns="0" rIns="0" bIns="0" rtlCol="0" anchor="t">
            <a:normAutofit/>
          </a:bodyPr>
          <a:lstStyle/>
          <a:p>
            <a:pPr indent="0" marL="0">
              <a:buNone/>
            </a:pPr>
            <a:r>
              <a:rPr lang="en-US" sz="2600" b="1" dirty="0">
                <a:solidFill>
                  <a:srgbClr val="9B2C2C"/>
                </a:solidFill>
                <a:latin typeface="Cambria" pitchFamily="34" charset="0"/>
                <a:ea typeface="Cambria" pitchFamily="34" charset="-122"/>
                <a:cs typeface="Cambria" pitchFamily="34" charset="-120"/>
              </a:rPr>
              <a:t>39%</a:t>
            </a:r>
            <a:endParaRPr lang="en-US" sz="2600" dirty="0"/>
          </a:p>
        </p:txBody>
      </p:sp>
      <p:sp>
        <p:nvSpPr>
          <p:cNvPr id="14" name="Text 10"/>
          <p:cNvSpPr txBox="1"/>
          <p:nvPr/>
        </p:nvSpPr>
        <p:spPr>
          <a:xfrm>
            <a:off x="8275320" y="3657600"/>
            <a:ext cx="3200400" cy="4572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defence modernisation: Rp 2,125 T, ≈ Rp 266 T a year to 2034</a:t>
            </a:r>
            <a:endParaRPr lang="en-US" sz="1250" dirty="0"/>
          </a:p>
        </p:txBody>
      </p:sp>
      <p:sp>
        <p:nvSpPr>
          <p:cNvPr id="15" name="Shape 11"/>
          <p:cNvSpPr/>
          <p:nvPr/>
        </p:nvSpPr>
        <p:spPr>
          <a:xfrm>
            <a:off x="8092440" y="4343400"/>
            <a:ext cx="3566160" cy="1325880"/>
          </a:xfrm>
          <a:prstGeom prst="roundRect">
            <a:avLst>
              <a:gd name="adj" fmla="val 5517"/>
            </a:avLst>
          </a:prstGeom>
          <a:solidFill>
            <a:srgbClr val="F4F6FA"/>
          </a:solidFill>
          <a:ln w="12700">
            <a:solidFill>
              <a:srgbClr val="F4F6FA"/>
            </a:solidFill>
            <a:prstDash val="solid"/>
          </a:ln>
        </p:spPr>
      </p:sp>
      <p:sp>
        <p:nvSpPr>
          <p:cNvPr id="16" name="Text 12"/>
          <p:cNvSpPr txBox="1"/>
          <p:nvPr/>
        </p:nvSpPr>
        <p:spPr>
          <a:xfrm>
            <a:off x="8275320" y="4480560"/>
            <a:ext cx="3200400" cy="640080"/>
          </a:xfrm>
          <a:prstGeom prst="rect">
            <a:avLst/>
          </a:prstGeom>
          <a:noFill/>
          <a:ln/>
        </p:spPr>
        <p:txBody>
          <a:bodyPr wrap="square" lIns="0" tIns="0" rIns="0" bIns="0" rtlCol="0" anchor="t">
            <a:normAutofit/>
          </a:bodyPr>
          <a:lstStyle/>
          <a:p>
            <a:pPr indent="0" marL="0">
              <a:buNone/>
            </a:pPr>
            <a:r>
              <a:rPr lang="en-US" sz="2600" b="1" dirty="0">
                <a:solidFill>
                  <a:srgbClr val="B8901E"/>
                </a:solidFill>
                <a:latin typeface="Cambria" pitchFamily="34" charset="0"/>
                <a:ea typeface="Cambria" pitchFamily="34" charset="-122"/>
                <a:cs typeface="Cambria" pitchFamily="34" charset="-120"/>
              </a:rPr>
              <a:t>22%</a:t>
            </a:r>
            <a:endParaRPr lang="en-US" sz="2600" dirty="0"/>
          </a:p>
        </p:txBody>
      </p:sp>
      <p:sp>
        <p:nvSpPr>
          <p:cNvPr id="17" name="Text 13"/>
          <p:cNvSpPr txBox="1"/>
          <p:nvPr/>
        </p:nvSpPr>
        <p:spPr>
          <a:xfrm>
            <a:off x="8275320" y="5120640"/>
            <a:ext cx="3200400" cy="4572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Giant Sea Wall: Rp 1,200 T, ≈ Rp 86 T a year to 2040</a:t>
            </a:r>
            <a:endParaRPr lang="en-US" sz="1250" dirty="0"/>
          </a:p>
        </p:txBody>
      </p:sp>
      <p:sp>
        <p:nvSpPr>
          <p:cNvPr id="18" name="Text 1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Sources: DDMF RKAP 2026 p. 110–112; figures provided in October 2026; author's assumptions for timelines (integrated paper, Section 2.3).</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1 · THREE CLUSTERS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Industry, Technology, Finance: what the pipeline builds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Investment by segment, coloured by cluster">    </p:cNvPr>
          <p:cNvPicPr>
            <a:picLocks noChangeAspect="1"/>
          </p:cNvPicPr>
          <p:nvPr/>
        </p:nvPicPr>
        <p:blipFill>
          <a:blip r:embed="rId1"/>
          <a:stretch>
            <a:fillRect/>
          </a:stretch>
        </p:blipFill>
        <p:spPr>
          <a:xfrm>
            <a:off x="365760" y="1325880"/>
            <a:ext cx="7040880" cy="3594760"/>
          </a:xfrm>
          <a:prstGeom prst="rect">
            <a:avLst/>
          </a:prstGeom>
        </p:spPr>
      </p:pic>
      <p:sp>
        <p:nvSpPr>
          <p:cNvPr id="8" name="Shape 4"/>
          <p:cNvSpPr/>
          <p:nvPr/>
        </p:nvSpPr>
        <p:spPr>
          <a:xfrm>
            <a:off x="7635240" y="1371600"/>
            <a:ext cx="4023360" cy="1371600"/>
          </a:xfrm>
          <a:prstGeom prst="roundRect">
            <a:avLst>
              <a:gd name="adj" fmla="val 5333"/>
            </a:avLst>
          </a:prstGeom>
          <a:solidFill>
            <a:srgbClr val="F4F6FA"/>
          </a:solidFill>
          <a:ln w="12700">
            <a:solidFill>
              <a:srgbClr val="F4F6FA"/>
            </a:solidFill>
            <a:prstDash val="solid"/>
          </a:ln>
        </p:spPr>
      </p:sp>
      <p:sp>
        <p:nvSpPr>
          <p:cNvPr id="9" name="Shape 5"/>
          <p:cNvSpPr/>
          <p:nvPr/>
        </p:nvSpPr>
        <p:spPr>
          <a:xfrm>
            <a:off x="7635240" y="1371600"/>
            <a:ext cx="91440" cy="1371600"/>
          </a:xfrm>
          <a:prstGeom prst="rect">
            <a:avLst/>
          </a:prstGeom>
          <a:solidFill>
            <a:srgbClr val="1F3864"/>
          </a:solidFill>
          <a:ln w="12700">
            <a:solidFill>
              <a:srgbClr val="1F3864"/>
            </a:solidFill>
            <a:prstDash val="solid"/>
          </a:ln>
        </p:spPr>
      </p:sp>
      <p:sp>
        <p:nvSpPr>
          <p:cNvPr id="10" name="Text 6"/>
          <p:cNvSpPr txBox="1"/>
          <p:nvPr/>
        </p:nvSpPr>
        <p:spPr>
          <a:xfrm>
            <a:off x="7863840" y="1463040"/>
            <a:ext cx="1828800" cy="320040"/>
          </a:xfrm>
          <a:prstGeom prst="rect">
            <a:avLst/>
          </a:prstGeom>
          <a:noFill/>
          <a:ln/>
        </p:spPr>
        <p:txBody>
          <a:bodyPr wrap="square" lIns="0" tIns="0" rIns="0" bIns="0" rtlCol="0" anchor="t"/>
          <a:lstStyle/>
          <a:p>
            <a:pPr indent="0" marL="0">
              <a:buNone/>
            </a:pPr>
            <a:r>
              <a:rPr lang="en-US" sz="1500" b="1" dirty="0">
                <a:solidFill>
                  <a:srgbClr val="1F3864"/>
                </a:solidFill>
                <a:latin typeface="Calibri" pitchFamily="34" charset="0"/>
                <a:ea typeface="Calibri" pitchFamily="34" charset="-122"/>
                <a:cs typeface="Calibri" pitchFamily="34" charset="-120"/>
              </a:rPr>
              <a:t>Industry</a:t>
            </a:r>
            <a:endParaRPr lang="en-US" sz="1500" dirty="0"/>
          </a:p>
        </p:txBody>
      </p:sp>
      <p:sp>
        <p:nvSpPr>
          <p:cNvPr id="11" name="Text 7"/>
          <p:cNvSpPr txBox="1"/>
          <p:nvPr/>
        </p:nvSpPr>
        <p:spPr>
          <a:xfrm>
            <a:off x="9326880" y="1481328"/>
            <a:ext cx="2286000" cy="320040"/>
          </a:xfrm>
          <a:prstGeom prst="rect">
            <a:avLst/>
          </a:prstGeom>
          <a:noFill/>
          <a:ln/>
        </p:spPr>
        <p:txBody>
          <a:bodyPr wrap="square" lIns="0" tIns="0" rIns="0" bIns="0" rtlCol="0" anchor="t"/>
          <a:lstStyle/>
          <a:p>
            <a:pPr algn="r" indent="0" marL="0">
              <a:buNone/>
            </a:pPr>
            <a:r>
              <a:rPr lang="en-US" sz="1150" b="1" dirty="0">
                <a:solidFill>
                  <a:srgbClr val="14213D"/>
                </a:solidFill>
                <a:latin typeface="Calibri" pitchFamily="34" charset="0"/>
                <a:ea typeface="Calibri" pitchFamily="34" charset="-122"/>
                <a:cs typeface="Calibri" pitchFamily="34" charset="-120"/>
              </a:rPr>
              <a:t>Rp 4,914 T · 91% · 26 projects</a:t>
            </a:r>
            <a:endParaRPr lang="en-US" sz="1150" dirty="0"/>
          </a:p>
        </p:txBody>
      </p:sp>
      <p:sp>
        <p:nvSpPr>
          <p:cNvPr id="12" name="Text 8"/>
          <p:cNvSpPr txBox="1"/>
          <p:nvPr/>
        </p:nvSpPr>
        <p:spPr>
          <a:xfrm>
            <a:off x="7863840" y="1828800"/>
            <a:ext cx="3703320" cy="86868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Resource processing &amp; energy 648 · Infrastructure &amp; social 810 · Giant Sea Wall 1,200 · Defence platforms &amp; MRO 2,125 · Defence industry 8 · Manufacturing 123</a:t>
            </a:r>
            <a:endParaRPr lang="en-US" sz="1100" dirty="0"/>
          </a:p>
        </p:txBody>
      </p:sp>
      <p:sp>
        <p:nvSpPr>
          <p:cNvPr id="13" name="Shape 9"/>
          <p:cNvSpPr/>
          <p:nvPr/>
        </p:nvSpPr>
        <p:spPr>
          <a:xfrm>
            <a:off x="7635240" y="2852928"/>
            <a:ext cx="4023360" cy="1371600"/>
          </a:xfrm>
          <a:prstGeom prst="roundRect">
            <a:avLst>
              <a:gd name="adj" fmla="val 5333"/>
            </a:avLst>
          </a:prstGeom>
          <a:solidFill>
            <a:srgbClr val="F4F6FA"/>
          </a:solidFill>
          <a:ln w="12700">
            <a:solidFill>
              <a:srgbClr val="F4F6FA"/>
            </a:solidFill>
            <a:prstDash val="solid"/>
          </a:ln>
        </p:spPr>
      </p:sp>
      <p:sp>
        <p:nvSpPr>
          <p:cNvPr id="14" name="Shape 10"/>
          <p:cNvSpPr/>
          <p:nvPr/>
        </p:nvSpPr>
        <p:spPr>
          <a:xfrm>
            <a:off x="7635240" y="2852928"/>
            <a:ext cx="91440" cy="1371600"/>
          </a:xfrm>
          <a:prstGeom prst="rect">
            <a:avLst/>
          </a:prstGeom>
          <a:solidFill>
            <a:srgbClr val="B8901E"/>
          </a:solidFill>
          <a:ln w="12700">
            <a:solidFill>
              <a:srgbClr val="B8901E"/>
            </a:solidFill>
            <a:prstDash val="solid"/>
          </a:ln>
        </p:spPr>
      </p:sp>
      <p:sp>
        <p:nvSpPr>
          <p:cNvPr id="15" name="Text 11"/>
          <p:cNvSpPr txBox="1"/>
          <p:nvPr/>
        </p:nvSpPr>
        <p:spPr>
          <a:xfrm>
            <a:off x="7863840" y="2944368"/>
            <a:ext cx="1828800" cy="320040"/>
          </a:xfrm>
          <a:prstGeom prst="rect">
            <a:avLst/>
          </a:prstGeom>
          <a:noFill/>
          <a:ln/>
        </p:spPr>
        <p:txBody>
          <a:bodyPr wrap="square" lIns="0" tIns="0" rIns="0" bIns="0" rtlCol="0" anchor="t"/>
          <a:lstStyle/>
          <a:p>
            <a:pPr indent="0" marL="0">
              <a:buNone/>
            </a:pPr>
            <a:r>
              <a:rPr lang="en-US" sz="1500" b="1" dirty="0">
                <a:solidFill>
                  <a:srgbClr val="8A6A12"/>
                </a:solidFill>
                <a:latin typeface="Calibri" pitchFamily="34" charset="0"/>
                <a:ea typeface="Calibri" pitchFamily="34" charset="-122"/>
                <a:cs typeface="Calibri" pitchFamily="34" charset="-120"/>
              </a:rPr>
              <a:t>Technology</a:t>
            </a:r>
            <a:endParaRPr lang="en-US" sz="1500" dirty="0"/>
          </a:p>
        </p:txBody>
      </p:sp>
      <p:sp>
        <p:nvSpPr>
          <p:cNvPr id="16" name="Text 12"/>
          <p:cNvSpPr txBox="1"/>
          <p:nvPr/>
        </p:nvSpPr>
        <p:spPr>
          <a:xfrm>
            <a:off x="9326880" y="2962656"/>
            <a:ext cx="2286000" cy="320040"/>
          </a:xfrm>
          <a:prstGeom prst="rect">
            <a:avLst/>
          </a:prstGeom>
          <a:noFill/>
          <a:ln/>
        </p:spPr>
        <p:txBody>
          <a:bodyPr wrap="square" lIns="0" tIns="0" rIns="0" bIns="0" rtlCol="0" anchor="t"/>
          <a:lstStyle/>
          <a:p>
            <a:pPr algn="r" indent="0" marL="0">
              <a:buNone/>
            </a:pPr>
            <a:r>
              <a:rPr lang="en-US" sz="1150" b="1" dirty="0">
                <a:solidFill>
                  <a:srgbClr val="14213D"/>
                </a:solidFill>
                <a:latin typeface="Calibri" pitchFamily="34" charset="0"/>
                <a:ea typeface="Calibri" pitchFamily="34" charset="-122"/>
                <a:cs typeface="Calibri" pitchFamily="34" charset="-120"/>
              </a:rPr>
              <a:t>Rp 480 T · 9% · 7 projects + IMX</a:t>
            </a:r>
            <a:endParaRPr lang="en-US" sz="1150" dirty="0"/>
          </a:p>
        </p:txBody>
      </p:sp>
      <p:sp>
        <p:nvSpPr>
          <p:cNvPr id="17" name="Text 13"/>
          <p:cNvSpPr txBox="1"/>
          <p:nvPr/>
        </p:nvSpPr>
        <p:spPr>
          <a:xfrm>
            <a:off x="7863840" y="3310128"/>
            <a:ext cx="3703320" cy="86868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AI and IT 200 · Data Centre 50 · Tech Corridor 187 · Quantum 20 · Semiconductors 15 · Space and drone 8</a:t>
            </a:r>
            <a:endParaRPr lang="en-US" sz="1100" dirty="0"/>
          </a:p>
        </p:txBody>
      </p:sp>
      <p:sp>
        <p:nvSpPr>
          <p:cNvPr id="18" name="Shape 14"/>
          <p:cNvSpPr/>
          <p:nvPr/>
        </p:nvSpPr>
        <p:spPr>
          <a:xfrm>
            <a:off x="7635240" y="4334256"/>
            <a:ext cx="4023360" cy="1371600"/>
          </a:xfrm>
          <a:prstGeom prst="roundRect">
            <a:avLst>
              <a:gd name="adj" fmla="val 5333"/>
            </a:avLst>
          </a:prstGeom>
          <a:solidFill>
            <a:srgbClr val="F4F6FA"/>
          </a:solidFill>
          <a:ln w="12700">
            <a:solidFill>
              <a:srgbClr val="F4F6FA"/>
            </a:solidFill>
            <a:prstDash val="solid"/>
          </a:ln>
        </p:spPr>
      </p:sp>
      <p:sp>
        <p:nvSpPr>
          <p:cNvPr id="19" name="Shape 15"/>
          <p:cNvSpPr/>
          <p:nvPr/>
        </p:nvSpPr>
        <p:spPr>
          <a:xfrm>
            <a:off x="7635240" y="4334256"/>
            <a:ext cx="91440" cy="1371600"/>
          </a:xfrm>
          <a:prstGeom prst="rect">
            <a:avLst/>
          </a:prstGeom>
          <a:solidFill>
            <a:srgbClr val="3E7C7B"/>
          </a:solidFill>
          <a:ln w="12700">
            <a:solidFill>
              <a:srgbClr val="3E7C7B"/>
            </a:solidFill>
            <a:prstDash val="solid"/>
          </a:ln>
        </p:spPr>
      </p:sp>
      <p:sp>
        <p:nvSpPr>
          <p:cNvPr id="20" name="Text 16"/>
          <p:cNvSpPr txBox="1"/>
          <p:nvPr/>
        </p:nvSpPr>
        <p:spPr>
          <a:xfrm>
            <a:off x="7863840" y="4425696"/>
            <a:ext cx="1828800" cy="320040"/>
          </a:xfrm>
          <a:prstGeom prst="rect">
            <a:avLst/>
          </a:prstGeom>
          <a:noFill/>
          <a:ln/>
        </p:spPr>
        <p:txBody>
          <a:bodyPr wrap="square" lIns="0" tIns="0" rIns="0" bIns="0" rtlCol="0" anchor="t"/>
          <a:lstStyle/>
          <a:p>
            <a:pPr indent="0" marL="0">
              <a:buNone/>
            </a:pPr>
            <a:r>
              <a:rPr lang="en-US" sz="1500" b="1" dirty="0">
                <a:solidFill>
                  <a:srgbClr val="3E7C7B"/>
                </a:solidFill>
                <a:latin typeface="Calibri" pitchFamily="34" charset="0"/>
                <a:ea typeface="Calibri" pitchFamily="34" charset="-122"/>
                <a:cs typeface="Calibri" pitchFamily="34" charset="-120"/>
              </a:rPr>
              <a:t>Finance</a:t>
            </a:r>
            <a:endParaRPr lang="en-US" sz="1500" dirty="0"/>
          </a:p>
        </p:txBody>
      </p:sp>
      <p:sp>
        <p:nvSpPr>
          <p:cNvPr id="21" name="Text 17"/>
          <p:cNvSpPr txBox="1"/>
          <p:nvPr/>
        </p:nvSpPr>
        <p:spPr>
          <a:xfrm>
            <a:off x="9326880" y="4443984"/>
            <a:ext cx="2286000" cy="320040"/>
          </a:xfrm>
          <a:prstGeom prst="rect">
            <a:avLst/>
          </a:prstGeom>
          <a:noFill/>
          <a:ln/>
        </p:spPr>
        <p:txBody>
          <a:bodyPr wrap="square" lIns="0" tIns="0" rIns="0" bIns="0" rtlCol="0" anchor="t"/>
          <a:lstStyle/>
          <a:p>
            <a:pPr algn="r" indent="0" marL="0">
              <a:buNone/>
            </a:pPr>
            <a:r>
              <a:rPr lang="en-US" sz="1150" b="1" dirty="0">
                <a:solidFill>
                  <a:srgbClr val="14213D"/>
                </a:solidFill>
                <a:latin typeface="Calibri" pitchFamily="34" charset="0"/>
                <a:ea typeface="Calibri" pitchFamily="34" charset="-122"/>
                <a:cs typeface="Calibri" pitchFamily="34" charset="-120"/>
              </a:rPr>
              <a:t>Rp 1 T + the fund</a:t>
            </a:r>
            <a:endParaRPr lang="en-US" sz="1150" dirty="0"/>
          </a:p>
        </p:txBody>
      </p:sp>
      <p:sp>
        <p:nvSpPr>
          <p:cNvPr id="22" name="Text 18"/>
          <p:cNvSpPr txBox="1"/>
          <p:nvPr/>
        </p:nvSpPr>
        <p:spPr>
          <a:xfrm>
            <a:off x="7863840" y="4791456"/>
            <a:ext cx="3703320" cy="868680"/>
          </a:xfrm>
          <a:prstGeom prst="rect">
            <a:avLst/>
          </a:prstGeom>
          <a:noFill/>
          <a:ln/>
        </p:spPr>
        <p:txBody>
          <a:bodyPr wrap="square" lIns="0" tIns="0" rIns="0" bIns="0" rtlCol="0" anchor="t"/>
          <a:lstStyle/>
          <a:p>
            <a:pPr indent="0" marL="0">
              <a:buNone/>
            </a:pPr>
            <a:r>
              <a:rPr lang="en-US" sz="1100" dirty="0">
                <a:solidFill>
                  <a:srgbClr val="4A5568"/>
                </a:solidFill>
                <a:latin typeface="Calibri" pitchFamily="34" charset="0"/>
                <a:ea typeface="Calibri" pitchFamily="34" charset="-122"/>
                <a:cs typeface="Calibri" pitchFamily="34" charset="-120"/>
              </a:rPr>
              <a:t>B2G/B2B MSME platform; ERP Merah Putih (uncosted); the resource fund and its funding instruments (Part 4)</a:t>
            </a:r>
            <a:endParaRPr lang="en-US" sz="1100" dirty="0"/>
          </a:p>
        </p:txBody>
      </p:sp>
      <p:sp>
        <p:nvSpPr>
          <p:cNvPr id="23" name="Shape 19"/>
          <p:cNvSpPr/>
          <p:nvPr/>
        </p:nvSpPr>
        <p:spPr>
          <a:xfrm>
            <a:off x="548640" y="5257800"/>
            <a:ext cx="6858000" cy="1051560"/>
          </a:xfrm>
          <a:prstGeom prst="roundRect">
            <a:avLst>
              <a:gd name="adj" fmla="val 6957"/>
            </a:avLst>
          </a:prstGeom>
          <a:solidFill>
            <a:srgbClr val="EEF2F8"/>
          </a:solidFill>
          <a:ln w="12700">
            <a:solidFill>
              <a:srgbClr val="EEF2F8"/>
            </a:solidFill>
            <a:prstDash val="solid"/>
          </a:ln>
        </p:spPr>
      </p:sp>
      <p:sp>
        <p:nvSpPr>
          <p:cNvPr id="24" name="Text 20"/>
          <p:cNvSpPr txBox="1"/>
          <p:nvPr/>
        </p:nvSpPr>
        <p:spPr>
          <a:xfrm>
            <a:off x="731520" y="5303520"/>
            <a:ext cx="6492240" cy="960120"/>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Why re-cluster: </a:t>
            </a:r>
            <a:pPr indent="0" marL="0">
              <a:buNone/>
            </a:pPr>
            <a:r>
              <a:rPr lang="en-US" sz="1200" dirty="0">
                <a:solidFill>
                  <a:srgbClr val="1F2A3C"/>
                </a:solidFill>
                <a:latin typeface="Calibri" pitchFamily="34" charset="0"/>
                <a:ea typeface="Calibri" pitchFamily="34" charset="-122"/>
                <a:cs typeface="Calibri" pitchFamily="34" charset="-120"/>
              </a:rPr>
              <a:t>with the new figures, defence alone would be larger than the rest of the old clusters, and AI and data centres do not belong with roads and schools. Segments keep the economic differences the model needs.</a:t>
            </a:r>
            <a:endParaRPr lang="en-US" sz="1200" dirty="0"/>
          </a:p>
        </p:txBody>
      </p:sp>
      <p:sp>
        <p:nvSpPr>
          <p:cNvPr id="25" name="Text 21"/>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classification of the RKAP DDMF 2026 list and the October 2026 update (integrated paper, Section 2.4 and Appendix 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1 · TIMING</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Investment nears 3% of GDP in 2028–2030, then falls in three steps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Investment by cluster and year, 2027–2040, with share of GDP">    </p:cNvPr>
          <p:cNvPicPr>
            <a:picLocks noChangeAspect="1"/>
          </p:cNvPicPr>
          <p:nvPr/>
        </p:nvPicPr>
        <p:blipFill>
          <a:blip r:embed="rId1"/>
          <a:stretch>
            <a:fillRect/>
          </a:stretch>
        </p:blipFill>
        <p:spPr>
          <a:xfrm>
            <a:off x="365760" y="1325880"/>
            <a:ext cx="7863840" cy="3476645"/>
          </a:xfrm>
          <a:prstGeom prst="rect">
            <a:avLst/>
          </a:prstGeom>
        </p:spPr>
      </p:pic>
      <p:sp>
        <p:nvSpPr>
          <p:cNvPr id="8" name="Shape 4"/>
          <p:cNvSpPr/>
          <p:nvPr/>
        </p:nvSpPr>
        <p:spPr>
          <a:xfrm>
            <a:off x="8458200" y="1371600"/>
            <a:ext cx="3200400" cy="1207008"/>
          </a:xfrm>
          <a:prstGeom prst="roundRect">
            <a:avLst>
              <a:gd name="adj" fmla="val 6061"/>
            </a:avLst>
          </a:prstGeom>
          <a:solidFill>
            <a:srgbClr val="F4F6FA"/>
          </a:solidFill>
          <a:ln w="12700">
            <a:solidFill>
              <a:srgbClr val="F4F6FA"/>
            </a:solidFill>
            <a:prstDash val="solid"/>
          </a:ln>
        </p:spPr>
      </p:sp>
      <p:sp>
        <p:nvSpPr>
          <p:cNvPr id="9" name="Text 5"/>
          <p:cNvSpPr txBox="1"/>
          <p:nvPr/>
        </p:nvSpPr>
        <p:spPr>
          <a:xfrm>
            <a:off x="8641080" y="1508760"/>
            <a:ext cx="2834640" cy="640080"/>
          </a:xfrm>
          <a:prstGeom prst="rect">
            <a:avLst/>
          </a:prstGeom>
          <a:noFill/>
          <a:ln/>
        </p:spPr>
        <p:txBody>
          <a:bodyPr wrap="square" lIns="0" tIns="0" rIns="0" bIns="0" rtlCol="0" anchor="t">
            <a:normAutofit/>
          </a:bodyPr>
          <a:lstStyle/>
          <a:p>
            <a:pPr indent="0" marL="0">
              <a:buNone/>
            </a:pPr>
            <a:r>
              <a:rPr lang="en-US" sz="2400" b="1" dirty="0">
                <a:solidFill>
                  <a:srgbClr val="1F3864"/>
                </a:solidFill>
                <a:latin typeface="Cambria" pitchFamily="34" charset="0"/>
                <a:ea typeface="Cambria" pitchFamily="34" charset="-122"/>
                <a:cs typeface="Cambria" pitchFamily="34" charset="-120"/>
              </a:rPr>
              <a:t>≈ Rp 820 T</a:t>
            </a:r>
            <a:endParaRPr lang="en-US" sz="2400" dirty="0"/>
          </a:p>
        </p:txBody>
      </p:sp>
      <p:sp>
        <p:nvSpPr>
          <p:cNvPr id="10" name="Text 6"/>
          <p:cNvSpPr txBox="1"/>
          <p:nvPr/>
        </p:nvSpPr>
        <p:spPr>
          <a:xfrm>
            <a:off x="8641080" y="2148840"/>
            <a:ext cx="283464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 year in 2028–30, 2.7–2.9% of GDP (RKAP peak 1.7%)</a:t>
            </a:r>
            <a:endParaRPr lang="en-US" sz="1250" dirty="0"/>
          </a:p>
        </p:txBody>
      </p:sp>
      <p:sp>
        <p:nvSpPr>
          <p:cNvPr id="11" name="Shape 7"/>
          <p:cNvSpPr/>
          <p:nvPr/>
        </p:nvSpPr>
        <p:spPr>
          <a:xfrm>
            <a:off x="8458200" y="2697480"/>
            <a:ext cx="3200400" cy="1207008"/>
          </a:xfrm>
          <a:prstGeom prst="roundRect">
            <a:avLst>
              <a:gd name="adj" fmla="val 6061"/>
            </a:avLst>
          </a:prstGeom>
          <a:solidFill>
            <a:srgbClr val="F4F6FA"/>
          </a:solidFill>
          <a:ln w="12700">
            <a:solidFill>
              <a:srgbClr val="F4F6FA"/>
            </a:solidFill>
            <a:prstDash val="solid"/>
          </a:ln>
        </p:spPr>
      </p:sp>
      <p:sp>
        <p:nvSpPr>
          <p:cNvPr id="12" name="Text 8"/>
          <p:cNvSpPr txBox="1"/>
          <p:nvPr/>
        </p:nvSpPr>
        <p:spPr>
          <a:xfrm>
            <a:off x="8641080" y="2834640"/>
            <a:ext cx="2834640" cy="640080"/>
          </a:xfrm>
          <a:prstGeom prst="rect">
            <a:avLst/>
          </a:prstGeom>
          <a:noFill/>
          <a:ln/>
        </p:spPr>
        <p:txBody>
          <a:bodyPr wrap="square" lIns="0" tIns="0" rIns="0" bIns="0" rtlCol="0" anchor="t">
            <a:normAutofit/>
          </a:bodyPr>
          <a:lstStyle/>
          <a:p>
            <a:pPr indent="0" marL="0">
              <a:buNone/>
            </a:pPr>
            <a:r>
              <a:rPr lang="en-US" sz="2400" b="1" dirty="0">
                <a:solidFill>
                  <a:srgbClr val="9B2C2C"/>
                </a:solidFill>
                <a:latin typeface="Cambria" pitchFamily="34" charset="0"/>
                <a:ea typeface="Cambria" pitchFamily="34" charset="-122"/>
                <a:cs typeface="Cambria" pitchFamily="34" charset="-120"/>
              </a:rPr>
              <a:t>2032 · 2035</a:t>
            </a:r>
            <a:endParaRPr lang="en-US" sz="2400" dirty="0"/>
          </a:p>
        </p:txBody>
      </p:sp>
      <p:sp>
        <p:nvSpPr>
          <p:cNvPr id="13" name="Text 9"/>
          <p:cNvSpPr txBox="1"/>
          <p:nvPr/>
        </p:nvSpPr>
        <p:spPr>
          <a:xfrm>
            <a:off x="8641080" y="3474720"/>
            <a:ext cx="283464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step-downs: RKAP projects end (→ Rp 438 T), defence ends (→ Rp 86 T)</a:t>
            </a:r>
            <a:endParaRPr lang="en-US" sz="1250" dirty="0"/>
          </a:p>
        </p:txBody>
      </p:sp>
      <p:sp>
        <p:nvSpPr>
          <p:cNvPr id="14" name="Shape 10"/>
          <p:cNvSpPr/>
          <p:nvPr/>
        </p:nvSpPr>
        <p:spPr>
          <a:xfrm>
            <a:off x="8458200" y="4023360"/>
            <a:ext cx="3200400" cy="1207008"/>
          </a:xfrm>
          <a:prstGeom prst="roundRect">
            <a:avLst>
              <a:gd name="adj" fmla="val 6061"/>
            </a:avLst>
          </a:prstGeom>
          <a:solidFill>
            <a:srgbClr val="F4F6FA"/>
          </a:solidFill>
          <a:ln w="12700">
            <a:solidFill>
              <a:srgbClr val="F4F6FA"/>
            </a:solidFill>
            <a:prstDash val="solid"/>
          </a:ln>
        </p:spPr>
      </p:sp>
      <p:sp>
        <p:nvSpPr>
          <p:cNvPr id="15" name="Text 11"/>
          <p:cNvSpPr txBox="1"/>
          <p:nvPr/>
        </p:nvSpPr>
        <p:spPr>
          <a:xfrm>
            <a:off x="8641080" y="4160520"/>
            <a:ext cx="2834640" cy="640080"/>
          </a:xfrm>
          <a:prstGeom prst="rect">
            <a:avLst/>
          </a:prstGeom>
          <a:noFill/>
          <a:ln/>
        </p:spPr>
        <p:txBody>
          <a:bodyPr wrap="square" lIns="0" tIns="0" rIns="0" bIns="0" rtlCol="0" anchor="t">
            <a:normAutofit/>
          </a:bodyPr>
          <a:lstStyle/>
          <a:p>
            <a:pPr indent="0" marL="0">
              <a:buNone/>
            </a:pPr>
            <a:r>
              <a:rPr lang="en-US" sz="2400" b="1" dirty="0">
                <a:solidFill>
                  <a:srgbClr val="B8901E"/>
                </a:solidFill>
                <a:latin typeface="Cambria" pitchFamily="34" charset="0"/>
                <a:ea typeface="Cambria" pitchFamily="34" charset="-122"/>
                <a:cs typeface="Cambria" pitchFamily="34" charset="-120"/>
              </a:rPr>
              <a:t>to 2040</a:t>
            </a:r>
            <a:endParaRPr lang="en-US" sz="2400" dirty="0"/>
          </a:p>
        </p:txBody>
      </p:sp>
      <p:sp>
        <p:nvSpPr>
          <p:cNvPr id="16" name="Text 12"/>
          <p:cNvSpPr txBox="1"/>
          <p:nvPr/>
        </p:nvSpPr>
        <p:spPr>
          <a:xfrm>
            <a:off x="8641080" y="4800600"/>
            <a:ext cx="283464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the sea wall alone, ≈ Rp 86 T a year</a:t>
            </a:r>
            <a:endParaRPr lang="en-US" sz="1250" dirty="0"/>
          </a:p>
        </p:txBody>
      </p:sp>
      <p:sp>
        <p:nvSpPr>
          <p:cNvPr id="17" name="Shape 13"/>
          <p:cNvSpPr/>
          <p:nvPr/>
        </p:nvSpPr>
        <p:spPr>
          <a:xfrm>
            <a:off x="548640" y="5394960"/>
            <a:ext cx="11109960" cy="868680"/>
          </a:xfrm>
          <a:prstGeom prst="roundRect">
            <a:avLst>
              <a:gd name="adj" fmla="val 8421"/>
            </a:avLst>
          </a:prstGeom>
          <a:solidFill>
            <a:srgbClr val="EEF2F8"/>
          </a:solidFill>
          <a:ln w="12700">
            <a:solidFill>
              <a:srgbClr val="EEF2F8"/>
            </a:solidFill>
            <a:prstDash val="solid"/>
          </a:ln>
        </p:spPr>
      </p:sp>
      <p:sp>
        <p:nvSpPr>
          <p:cNvPr id="18" name="Text 14"/>
          <p:cNvSpPr txBox="1"/>
          <p:nvPr/>
        </p:nvSpPr>
        <p:spPr>
          <a:xfrm>
            <a:off x="731520" y="5440680"/>
            <a:ext cx="10789920" cy="77724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Reading: </a:t>
            </a:r>
            <a:pPr indent="0" marL="0">
              <a:buNone/>
            </a:pPr>
            <a:r>
              <a:rPr lang="en-US" sz="1250" dirty="0">
                <a:solidFill>
                  <a:srgbClr val="1F2A3C"/>
                </a:solidFill>
                <a:latin typeface="Calibri" pitchFamily="34" charset="0"/>
                <a:ea typeface="Calibri" pitchFamily="34" charset="-122"/>
                <a:cs typeface="Calibri" pitchFamily="34" charset="-120"/>
              </a:rPr>
              <a:t>the October timelines spread spending further than the RKAP (2027–2032), which softens the 2032 drop but does not remove it; the sea wall keeps a floor of activity to 2040.</a:t>
            </a:r>
            <a:endParaRPr lang="en-US" sz="1250" dirty="0"/>
          </a:p>
        </p:txBody>
      </p:sp>
      <p:sp>
        <p:nvSpPr>
          <p:cNvPr id="19" name="Text 15"/>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calculation; GDP from BPS 2025 projected at 5% a year (integrated paper, Figure 2.3).</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2 · TIMING</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A windfall is under way in 2026: capture it now</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7" name="Chart 0" descr="Natural-resource PNBP 2023, 2024 and January-August 2026"/>
          <p:cNvGraphicFramePr/>
          <p:nvPr/>
        </p:nvGraphicFramePr>
        <p:xfrm>
          <a:off x="457200" y="1371600"/>
          <a:ext cx="6309360" cy="493776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7132320" y="1463040"/>
            <a:ext cx="4526280" cy="1463040"/>
          </a:xfrm>
          <a:prstGeom prst="roundRect">
            <a:avLst>
              <a:gd name="adj" fmla="val 5000"/>
            </a:avLst>
          </a:prstGeom>
          <a:solidFill>
            <a:srgbClr val="F4F6FA"/>
          </a:solidFill>
          <a:ln w="12700">
            <a:solidFill>
              <a:srgbClr val="F4F6FA"/>
            </a:solidFill>
            <a:prstDash val="solid"/>
          </a:ln>
        </p:spPr>
      </p:sp>
      <p:sp>
        <p:nvSpPr>
          <p:cNvPr id="9" name="Text 5"/>
          <p:cNvSpPr txBox="1"/>
          <p:nvPr/>
        </p:nvSpPr>
        <p:spPr>
          <a:xfrm>
            <a:off x="7315200" y="1600200"/>
            <a:ext cx="416052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Rp 435.1 T</a:t>
            </a:r>
            <a:endParaRPr lang="en-US" sz="3000" dirty="0"/>
          </a:p>
        </p:txBody>
      </p:sp>
      <p:sp>
        <p:nvSpPr>
          <p:cNvPr id="10" name="Text 6"/>
          <p:cNvSpPr txBox="1"/>
          <p:nvPr/>
        </p:nvSpPr>
        <p:spPr>
          <a:xfrm>
            <a:off x="7315200" y="2240280"/>
            <a:ext cx="416052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total PNBP, Jan–Aug 2026: +41.7% year on year, already 94.8% of the full-year target</a:t>
            </a:r>
            <a:endParaRPr lang="en-US" sz="1250" dirty="0"/>
          </a:p>
        </p:txBody>
      </p:sp>
      <p:sp>
        <p:nvSpPr>
          <p:cNvPr id="11" name="Shape 7"/>
          <p:cNvSpPr/>
          <p:nvPr/>
        </p:nvSpPr>
        <p:spPr>
          <a:xfrm>
            <a:off x="7132320" y="3063240"/>
            <a:ext cx="4526280" cy="1463040"/>
          </a:xfrm>
          <a:prstGeom prst="roundRect">
            <a:avLst>
              <a:gd name="adj" fmla="val 5000"/>
            </a:avLst>
          </a:prstGeom>
          <a:solidFill>
            <a:srgbClr val="F4F6FA"/>
          </a:solidFill>
          <a:ln w="12700">
            <a:solidFill>
              <a:srgbClr val="F4F6FA"/>
            </a:solidFill>
            <a:prstDash val="solid"/>
          </a:ln>
        </p:spPr>
      </p:sp>
      <p:sp>
        <p:nvSpPr>
          <p:cNvPr id="12" name="Text 8"/>
          <p:cNvSpPr txBox="1"/>
          <p:nvPr/>
        </p:nvSpPr>
        <p:spPr>
          <a:xfrm>
            <a:off x="7315200" y="3200400"/>
            <a:ext cx="4160520" cy="640080"/>
          </a:xfrm>
          <a:prstGeom prst="rect">
            <a:avLst/>
          </a:prstGeom>
          <a:noFill/>
          <a:ln/>
        </p:spPr>
        <p:txBody>
          <a:bodyPr wrap="square" lIns="0" tIns="0" rIns="0" bIns="0" rtlCol="0" anchor="t">
            <a:normAutofit/>
          </a:bodyPr>
          <a:lstStyle/>
          <a:p>
            <a:pPr indent="0" marL="0">
              <a:buNone/>
            </a:pPr>
            <a:r>
              <a:rPr lang="en-US" sz="3000" b="1" dirty="0">
                <a:solidFill>
                  <a:srgbClr val="B8901E"/>
                </a:solidFill>
                <a:latin typeface="Cambria" pitchFamily="34" charset="0"/>
                <a:ea typeface="Cambria" pitchFamily="34" charset="-122"/>
                <a:cs typeface="Cambria" pitchFamily="34" charset="-120"/>
              </a:rPr>
              <a:t>Rp 194.6 T</a:t>
            </a:r>
            <a:endParaRPr lang="en-US" sz="3000" dirty="0"/>
          </a:p>
        </p:txBody>
      </p:sp>
      <p:sp>
        <p:nvSpPr>
          <p:cNvPr id="13" name="Text 9"/>
          <p:cNvSpPr txBox="1"/>
          <p:nvPr/>
        </p:nvSpPr>
        <p:spPr>
          <a:xfrm>
            <a:off x="7315200" y="3840480"/>
            <a:ext cx="4160520" cy="5943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natural-resource PNBP in eight months, vs Rp 229.2 T in all of 2024</a:t>
            </a:r>
            <a:endParaRPr lang="en-US" sz="1250" dirty="0"/>
          </a:p>
        </p:txBody>
      </p:sp>
      <p:sp>
        <p:nvSpPr>
          <p:cNvPr id="14" name="Shape 10"/>
          <p:cNvSpPr/>
          <p:nvPr/>
        </p:nvSpPr>
        <p:spPr>
          <a:xfrm>
            <a:off x="7132320" y="4663440"/>
            <a:ext cx="4526280" cy="1600200"/>
          </a:xfrm>
          <a:prstGeom prst="roundRect">
            <a:avLst>
              <a:gd name="adj" fmla="val 4571"/>
            </a:avLst>
          </a:prstGeom>
          <a:solidFill>
            <a:srgbClr val="F7F3E6"/>
          </a:solidFill>
          <a:ln w="12700">
            <a:solidFill>
              <a:srgbClr val="F7F3E6"/>
            </a:solidFill>
            <a:prstDash val="solid"/>
          </a:ln>
        </p:spPr>
      </p:sp>
      <p:sp>
        <p:nvSpPr>
          <p:cNvPr id="15" name="Text 11"/>
          <p:cNvSpPr txBox="1"/>
          <p:nvPr/>
        </p:nvSpPr>
        <p:spPr>
          <a:xfrm>
            <a:off x="7315200" y="4773168"/>
            <a:ext cx="4206240" cy="320040"/>
          </a:xfrm>
          <a:prstGeom prst="rect">
            <a:avLst/>
          </a:prstGeom>
          <a:noFill/>
          <a:ln/>
        </p:spPr>
        <p:txBody>
          <a:bodyPr wrap="square" lIns="0" tIns="0" rIns="0" bIns="0" rtlCol="0" anchor="t"/>
          <a:lstStyle/>
          <a:p>
            <a:pPr indent="0" marL="0">
              <a:buNone/>
            </a:pPr>
            <a:r>
              <a:rPr lang="en-US" sz="1400" b="1" dirty="0">
                <a:solidFill>
                  <a:srgbClr val="B8901E"/>
                </a:solidFill>
                <a:latin typeface="Calibri" pitchFamily="34" charset="0"/>
                <a:ea typeface="Calibri" pitchFamily="34" charset="-122"/>
                <a:cs typeface="Calibri" pitchFamily="34" charset="-120"/>
              </a:rPr>
              <a:t>Recommendation</a:t>
            </a:r>
            <a:endParaRPr lang="en-US" sz="1400" dirty="0"/>
          </a:p>
        </p:txBody>
      </p:sp>
      <p:sp>
        <p:nvSpPr>
          <p:cNvPr id="16" name="Text 12"/>
          <p:cNvSpPr txBox="1"/>
          <p:nvPr/>
        </p:nvSpPr>
        <p:spPr>
          <a:xfrm>
            <a:off x="7315200" y="5120640"/>
            <a:ext cx="4206240" cy="1097280"/>
          </a:xfrm>
          <a:prstGeom prst="rect">
            <a:avLst/>
          </a:prstGeom>
          <a:noFill/>
          <a:ln/>
        </p:spPr>
        <p:txBody>
          <a:bodyPr wrap="square" lIns="0" tIns="0" rIns="0" bIns="0" rtlCol="0" anchor="t"/>
          <a:lstStyle/>
          <a:p>
            <a:pPr indent="0" marL="0">
              <a:buNone/>
            </a:pPr>
            <a:r>
              <a:rPr lang="en-US" sz="1250" dirty="0">
                <a:solidFill>
                  <a:srgbClr val="1F2A3C"/>
                </a:solidFill>
                <a:latin typeface="Calibri" pitchFamily="34" charset="0"/>
                <a:ea typeface="Calibri" pitchFamily="34" charset="-122"/>
                <a:cs typeface="Calibri" pitchFamily="34" charset="-120"/>
              </a:rPr>
              <a:t>Park the excess over the budget assumption in a transitional account that becomes the fund's opening capital, and seed the development window in 2027.</a:t>
            </a:r>
            <a:endParaRPr lang="en-US" sz="1250" dirty="0"/>
          </a:p>
        </p:txBody>
      </p:sp>
      <p:sp>
        <p:nvSpPr>
          <p:cNvPr id="17" name="Text 13"/>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Sources: Media Keuangan (2025) for 2023–2024; DDTC News (2026) citing the Ministry of Finance for Jan–Aug 2026.</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2 · STRUCTURAL STABILISATION</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Import substitution steadies the rupiah, with a catch</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Text 4"/>
          <p:cNvSpPr txBox="1"/>
          <p:nvPr/>
        </p:nvSpPr>
        <p:spPr>
          <a:xfrm>
            <a:off x="548640" y="1417320"/>
            <a:ext cx="5486400" cy="365760"/>
          </a:xfrm>
          <a:prstGeom prst="rect">
            <a:avLst/>
          </a:prstGeom>
          <a:noFill/>
          <a:ln/>
        </p:spPr>
        <p:txBody>
          <a:bodyPr wrap="square" lIns="0" tIns="0" rIns="0" bIns="0" rtlCol="0" anchor="t"/>
          <a:lstStyle/>
          <a:p>
            <a:pPr indent="0" marL="0">
              <a:buNone/>
            </a:pPr>
            <a:r>
              <a:rPr lang="en-US" sz="1600" b="1" dirty="0">
                <a:solidFill>
                  <a:srgbClr val="14213D"/>
                </a:solidFill>
                <a:latin typeface="Calibri" pitchFamily="34" charset="0"/>
                <a:ea typeface="Calibri" pitchFamily="34" charset="-122"/>
                <a:cs typeface="Calibri" pitchFamily="34" charset="-120"/>
              </a:rPr>
              <a:t>The benefit: CDME as an example</a:t>
            </a:r>
            <a:endParaRPr lang="en-US" sz="1600" dirty="0"/>
          </a:p>
        </p:txBody>
      </p:sp>
      <p:sp>
        <p:nvSpPr>
          <p:cNvPr id="8" name="Shape 5"/>
          <p:cNvSpPr/>
          <p:nvPr/>
        </p:nvSpPr>
        <p:spPr>
          <a:xfrm>
            <a:off x="548640" y="1828800"/>
            <a:ext cx="2651760" cy="1600200"/>
          </a:xfrm>
          <a:prstGeom prst="roundRect">
            <a:avLst>
              <a:gd name="adj" fmla="val 4571"/>
            </a:avLst>
          </a:prstGeom>
          <a:solidFill>
            <a:srgbClr val="F4F6FA"/>
          </a:solidFill>
          <a:ln w="12700">
            <a:solidFill>
              <a:srgbClr val="F4F6FA"/>
            </a:solidFill>
            <a:prstDash val="solid"/>
          </a:ln>
        </p:spPr>
      </p:sp>
      <p:sp>
        <p:nvSpPr>
          <p:cNvPr id="9" name="Text 6"/>
          <p:cNvSpPr txBox="1"/>
          <p:nvPr/>
        </p:nvSpPr>
        <p:spPr>
          <a:xfrm>
            <a:off x="731520" y="1965960"/>
            <a:ext cx="2286000" cy="640080"/>
          </a:xfrm>
          <a:prstGeom prst="rect">
            <a:avLst/>
          </a:prstGeom>
          <a:noFill/>
          <a:ln/>
        </p:spPr>
        <p:txBody>
          <a:bodyPr wrap="square" lIns="0" tIns="0" rIns="0" bIns="0" rtlCol="0" anchor="t">
            <a:normAutofit/>
          </a:bodyPr>
          <a:lstStyle/>
          <a:p>
            <a:pPr indent="0" marL="0">
              <a:buNone/>
            </a:pPr>
            <a:r>
              <a:rPr lang="en-US" sz="3000" b="1" dirty="0">
                <a:solidFill>
                  <a:srgbClr val="2E7D4F"/>
                </a:solidFill>
                <a:latin typeface="Cambria" pitchFamily="34" charset="0"/>
                <a:ea typeface="Cambria" pitchFamily="34" charset="-122"/>
                <a:cs typeface="Cambria" pitchFamily="34" charset="-120"/>
              </a:rPr>
              <a:t>US$0.9 bn</a:t>
            </a:r>
            <a:endParaRPr lang="en-US" sz="3000" dirty="0"/>
          </a:p>
        </p:txBody>
      </p:sp>
      <p:sp>
        <p:nvSpPr>
          <p:cNvPr id="10" name="Text 7"/>
          <p:cNvSpPr txBox="1"/>
          <p:nvPr/>
        </p:nvSpPr>
        <p:spPr>
          <a:xfrm>
            <a:off x="731520" y="2606040"/>
            <a:ext cx="2286000" cy="7315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LPG imports saved a year at 20% substitution</a:t>
            </a:r>
            <a:endParaRPr lang="en-US" sz="1250" dirty="0"/>
          </a:p>
        </p:txBody>
      </p:sp>
      <p:sp>
        <p:nvSpPr>
          <p:cNvPr id="11" name="Shape 8"/>
          <p:cNvSpPr/>
          <p:nvPr/>
        </p:nvSpPr>
        <p:spPr>
          <a:xfrm>
            <a:off x="3337560" y="1828800"/>
            <a:ext cx="2651760" cy="1600200"/>
          </a:xfrm>
          <a:prstGeom prst="roundRect">
            <a:avLst>
              <a:gd name="adj" fmla="val 4571"/>
            </a:avLst>
          </a:prstGeom>
          <a:solidFill>
            <a:srgbClr val="F4F6FA"/>
          </a:solidFill>
          <a:ln w="12700">
            <a:solidFill>
              <a:srgbClr val="F4F6FA"/>
            </a:solidFill>
            <a:prstDash val="solid"/>
          </a:ln>
        </p:spPr>
      </p:sp>
      <p:sp>
        <p:nvSpPr>
          <p:cNvPr id="12" name="Text 9"/>
          <p:cNvSpPr txBox="1"/>
          <p:nvPr/>
        </p:nvSpPr>
        <p:spPr>
          <a:xfrm>
            <a:off x="3520440" y="1965960"/>
            <a:ext cx="2286000" cy="640080"/>
          </a:xfrm>
          <a:prstGeom prst="rect">
            <a:avLst/>
          </a:prstGeom>
          <a:noFill/>
          <a:ln/>
        </p:spPr>
        <p:txBody>
          <a:bodyPr wrap="square" lIns="0" tIns="0" rIns="0" bIns="0" rtlCol="0" anchor="t">
            <a:normAutofit/>
          </a:bodyPr>
          <a:lstStyle/>
          <a:p>
            <a:pPr indent="0" marL="0">
              <a:buNone/>
            </a:pPr>
            <a:r>
              <a:rPr lang="en-US" sz="3000" b="1" dirty="0">
                <a:solidFill>
                  <a:srgbClr val="2E7D4F"/>
                </a:solidFill>
                <a:latin typeface="Cambria" pitchFamily="34" charset="0"/>
                <a:ea typeface="Cambria" pitchFamily="34" charset="-122"/>
                <a:cs typeface="Cambria" pitchFamily="34" charset="-120"/>
              </a:rPr>
              <a:t>US$4.5 bn</a:t>
            </a:r>
            <a:endParaRPr lang="en-US" sz="3000" dirty="0"/>
          </a:p>
        </p:txBody>
      </p:sp>
      <p:sp>
        <p:nvSpPr>
          <p:cNvPr id="13" name="Text 10"/>
          <p:cNvSpPr txBox="1"/>
          <p:nvPr/>
        </p:nvSpPr>
        <p:spPr>
          <a:xfrm>
            <a:off x="3520440" y="2606040"/>
            <a:ext cx="2286000" cy="7315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 year at full substitution</a:t>
            </a:r>
            <a:endParaRPr lang="en-US" sz="1250" dirty="0"/>
          </a:p>
        </p:txBody>
      </p:sp>
      <p:sp>
        <p:nvSpPr>
          <p:cNvPr id="14" name="Shape 11"/>
          <p:cNvSpPr/>
          <p:nvPr/>
        </p:nvSpPr>
        <p:spPr>
          <a:xfrm>
            <a:off x="548640" y="3566160"/>
            <a:ext cx="2651760" cy="1600200"/>
          </a:xfrm>
          <a:prstGeom prst="roundRect">
            <a:avLst>
              <a:gd name="adj" fmla="val 4571"/>
            </a:avLst>
          </a:prstGeom>
          <a:solidFill>
            <a:srgbClr val="F4F6FA"/>
          </a:solidFill>
          <a:ln w="12700">
            <a:solidFill>
              <a:srgbClr val="F4F6FA"/>
            </a:solidFill>
            <a:prstDash val="solid"/>
          </a:ln>
        </p:spPr>
      </p:sp>
      <p:sp>
        <p:nvSpPr>
          <p:cNvPr id="15" name="Text 12"/>
          <p:cNvSpPr txBox="1"/>
          <p:nvPr/>
        </p:nvSpPr>
        <p:spPr>
          <a:xfrm>
            <a:off x="731520" y="370332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US$2.88 bn</a:t>
            </a:r>
            <a:endParaRPr lang="en-US" sz="3000" dirty="0"/>
          </a:p>
        </p:txBody>
      </p:sp>
      <p:sp>
        <p:nvSpPr>
          <p:cNvPr id="16" name="Text 13"/>
          <p:cNvSpPr txBox="1"/>
          <p:nvPr/>
        </p:nvSpPr>
        <p:spPr>
          <a:xfrm>
            <a:off x="731520" y="4343400"/>
            <a:ext cx="2286000" cy="7315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capex for 1.4 MTPA</a:t>
            </a:r>
            <a:endParaRPr lang="en-US" sz="1250" dirty="0"/>
          </a:p>
        </p:txBody>
      </p:sp>
      <p:sp>
        <p:nvSpPr>
          <p:cNvPr id="17" name="Shape 14"/>
          <p:cNvSpPr/>
          <p:nvPr/>
        </p:nvSpPr>
        <p:spPr>
          <a:xfrm>
            <a:off x="3337560" y="3566160"/>
            <a:ext cx="2651760" cy="1600200"/>
          </a:xfrm>
          <a:prstGeom prst="roundRect">
            <a:avLst>
              <a:gd name="adj" fmla="val 4571"/>
            </a:avLst>
          </a:prstGeom>
          <a:solidFill>
            <a:srgbClr val="F4F6FA"/>
          </a:solidFill>
          <a:ln w="12700">
            <a:solidFill>
              <a:srgbClr val="F4F6FA"/>
            </a:solidFill>
            <a:prstDash val="solid"/>
          </a:ln>
        </p:spPr>
      </p:sp>
      <p:sp>
        <p:nvSpPr>
          <p:cNvPr id="18" name="Text 15"/>
          <p:cNvSpPr txBox="1"/>
          <p:nvPr/>
        </p:nvSpPr>
        <p:spPr>
          <a:xfrm>
            <a:off x="3520440" y="3703320"/>
            <a:ext cx="22860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 3 years</a:t>
            </a:r>
            <a:endParaRPr lang="en-US" sz="3000" dirty="0"/>
          </a:p>
        </p:txBody>
      </p:sp>
      <p:sp>
        <p:nvSpPr>
          <p:cNvPr id="19" name="Text 16"/>
          <p:cNvSpPr txBox="1"/>
          <p:nvPr/>
        </p:nvSpPr>
        <p:spPr>
          <a:xfrm>
            <a:off x="3520440" y="4343400"/>
            <a:ext cx="2286000" cy="7315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for FX savings to equal capex at 20% substitution</a:t>
            </a:r>
            <a:endParaRPr lang="en-US" sz="1250" dirty="0"/>
          </a:p>
        </p:txBody>
      </p:sp>
      <p:sp>
        <p:nvSpPr>
          <p:cNvPr id="20" name="Text 17"/>
          <p:cNvSpPr txBox="1"/>
          <p:nvPr/>
        </p:nvSpPr>
        <p:spPr>
          <a:xfrm>
            <a:off x="548640" y="5349240"/>
            <a:ext cx="5440680" cy="914400"/>
          </a:xfrm>
          <a:prstGeom prst="rect">
            <a:avLst/>
          </a:prstGeom>
          <a:noFill/>
          <a:ln/>
        </p:spPr>
        <p:txBody>
          <a:bodyPr wrap="square" lIns="0" tIns="0" rIns="0" bIns="0" rtlCol="0" anchor="t"/>
          <a:lstStyle/>
          <a:p>
            <a:pPr indent="0" marL="0">
              <a:buNone/>
            </a:pPr>
            <a:r>
              <a:rPr lang="en-US" sz="1250" i="1" dirty="0">
                <a:solidFill>
                  <a:srgbClr val="1F3864"/>
                </a:solidFill>
                <a:latin typeface="Calibri" pitchFamily="34" charset="0"/>
                <a:ea typeface="Calibri" pitchFamily="34" charset="-122"/>
                <a:cs typeface="Calibri" pitchFamily="34" charset="-120"/>
              </a:rPr>
              <a:t>Refinery, biodiesel and ship components work the same way: each dollar of imports replaced makes the rupiah less dependent on export prices.</a:t>
            </a:r>
            <a:endParaRPr lang="en-US" sz="1250" dirty="0"/>
          </a:p>
        </p:txBody>
      </p:sp>
      <p:sp>
        <p:nvSpPr>
          <p:cNvPr id="21" name="Shape 18"/>
          <p:cNvSpPr/>
          <p:nvPr/>
        </p:nvSpPr>
        <p:spPr>
          <a:xfrm>
            <a:off x="6309360" y="1417320"/>
            <a:ext cx="5349240" cy="4846320"/>
          </a:xfrm>
          <a:prstGeom prst="roundRect">
            <a:avLst>
              <a:gd name="adj" fmla="val 1509"/>
            </a:avLst>
          </a:prstGeom>
          <a:solidFill>
            <a:srgbClr val="F8ECEA"/>
          </a:solidFill>
          <a:ln w="12700">
            <a:solidFill>
              <a:srgbClr val="F8ECEA"/>
            </a:solidFill>
            <a:prstDash val="solid"/>
          </a:ln>
        </p:spPr>
      </p:sp>
      <p:sp>
        <p:nvSpPr>
          <p:cNvPr id="22" name="Text 19"/>
          <p:cNvSpPr txBox="1"/>
          <p:nvPr/>
        </p:nvSpPr>
        <p:spPr>
          <a:xfrm>
            <a:off x="6492240" y="1554480"/>
            <a:ext cx="4937760" cy="365760"/>
          </a:xfrm>
          <a:prstGeom prst="rect">
            <a:avLst/>
          </a:prstGeom>
          <a:noFill/>
          <a:ln/>
        </p:spPr>
        <p:txBody>
          <a:bodyPr wrap="square" lIns="0" tIns="0" rIns="0" bIns="0" rtlCol="0" anchor="t"/>
          <a:lstStyle/>
          <a:p>
            <a:pPr indent="0" marL="0">
              <a:buNone/>
            </a:pPr>
            <a:r>
              <a:rPr lang="en-US" sz="1600" b="1" dirty="0">
                <a:solidFill>
                  <a:srgbClr val="9B2C2C"/>
                </a:solidFill>
                <a:latin typeface="Calibri" pitchFamily="34" charset="0"/>
                <a:ea typeface="Calibri" pitchFamily="34" charset="-122"/>
                <a:cs typeface="Calibri" pitchFamily="34" charset="-120"/>
              </a:rPr>
              <a:t>The catch: correlated risk</a:t>
            </a:r>
            <a:endParaRPr lang="en-US" sz="1600" dirty="0"/>
          </a:p>
        </p:txBody>
      </p:sp>
      <p:sp>
        <p:nvSpPr>
          <p:cNvPr id="23" name="Shape 20"/>
          <p:cNvSpPr/>
          <p:nvPr/>
        </p:nvSpPr>
        <p:spPr>
          <a:xfrm>
            <a:off x="6492240" y="2057400"/>
            <a:ext cx="4983480" cy="621792"/>
          </a:xfrm>
          <a:prstGeom prst="roundRect">
            <a:avLst>
              <a:gd name="adj" fmla="val 11765"/>
            </a:avLst>
          </a:prstGeom>
          <a:solidFill>
            <a:srgbClr val="FFFFFF"/>
          </a:solidFill>
          <a:ln w="12700">
            <a:solidFill>
              <a:srgbClr val="FFFFFF"/>
            </a:solidFill>
            <a:prstDash val="solid"/>
          </a:ln>
        </p:spPr>
      </p:sp>
      <p:sp>
        <p:nvSpPr>
          <p:cNvPr id="24" name="Text 21"/>
          <p:cNvSpPr txBox="1"/>
          <p:nvPr/>
        </p:nvSpPr>
        <p:spPr>
          <a:xfrm>
            <a:off x="6675120" y="2057400"/>
            <a:ext cx="4663440" cy="621792"/>
          </a:xfrm>
          <a:prstGeom prst="rect">
            <a:avLst/>
          </a:prstGeom>
          <a:noFill/>
          <a:ln/>
        </p:spPr>
        <p:txBody>
          <a:bodyPr wrap="square" lIns="0" tIns="0" rIns="0" bIns="0" rtlCol="0" anchor="ctr"/>
          <a:lstStyle/>
          <a:p>
            <a:pPr indent="0" marL="0">
              <a:buNone/>
            </a:pPr>
            <a:r>
              <a:rPr lang="en-US" sz="1250" dirty="0">
                <a:solidFill>
                  <a:srgbClr val="1F2A3C"/>
                </a:solidFill>
                <a:latin typeface="Calibri" pitchFamily="34" charset="0"/>
                <a:ea typeface="Calibri" pitchFamily="34" charset="-122"/>
                <a:cs typeface="Calibri" pitchFamily="34" charset="-120"/>
              </a:rPr>
              <a:t>Coal or nickel price falls</a:t>
            </a:r>
            <a:endParaRPr lang="en-US" sz="1250" dirty="0"/>
          </a:p>
        </p:txBody>
      </p:sp>
      <p:sp>
        <p:nvSpPr>
          <p:cNvPr id="25" name="Shape 22"/>
          <p:cNvSpPr/>
          <p:nvPr/>
        </p:nvSpPr>
        <p:spPr>
          <a:xfrm>
            <a:off x="8823960" y="2688336"/>
            <a:ext cx="320040" cy="201168"/>
          </a:xfrm>
          <a:prstGeom prst="downArrow">
            <a:avLst/>
          </a:prstGeom>
          <a:solidFill>
            <a:srgbClr val="9B2C2C"/>
          </a:solidFill>
          <a:ln w="12700">
            <a:solidFill>
              <a:srgbClr val="9B2C2C"/>
            </a:solidFill>
            <a:prstDash val="solid"/>
          </a:ln>
        </p:spPr>
      </p:sp>
      <p:sp>
        <p:nvSpPr>
          <p:cNvPr id="26" name="Shape 23"/>
          <p:cNvSpPr/>
          <p:nvPr/>
        </p:nvSpPr>
        <p:spPr>
          <a:xfrm>
            <a:off x="6492240" y="2898648"/>
            <a:ext cx="4983480" cy="621792"/>
          </a:xfrm>
          <a:prstGeom prst="roundRect">
            <a:avLst>
              <a:gd name="adj" fmla="val 11765"/>
            </a:avLst>
          </a:prstGeom>
          <a:solidFill>
            <a:srgbClr val="FFFFFF"/>
          </a:solidFill>
          <a:ln w="12700">
            <a:solidFill>
              <a:srgbClr val="FFFFFF"/>
            </a:solidFill>
            <a:prstDash val="solid"/>
          </a:ln>
        </p:spPr>
      </p:sp>
      <p:sp>
        <p:nvSpPr>
          <p:cNvPr id="27" name="Text 24"/>
          <p:cNvSpPr txBox="1"/>
          <p:nvPr/>
        </p:nvSpPr>
        <p:spPr>
          <a:xfrm>
            <a:off x="6675120" y="2898648"/>
            <a:ext cx="4663440" cy="621792"/>
          </a:xfrm>
          <a:prstGeom prst="rect">
            <a:avLst/>
          </a:prstGeom>
          <a:noFill/>
          <a:ln/>
        </p:spPr>
        <p:txBody>
          <a:bodyPr wrap="square" lIns="0" tIns="0" rIns="0" bIns="0" rtlCol="0" anchor="ctr"/>
          <a:lstStyle/>
          <a:p>
            <a:pPr indent="0" marL="0">
              <a:buNone/>
            </a:pPr>
            <a:r>
              <a:rPr lang="en-US" sz="1250" dirty="0">
                <a:solidFill>
                  <a:srgbClr val="1F2A3C"/>
                </a:solidFill>
                <a:latin typeface="Calibri" pitchFamily="34" charset="0"/>
                <a:ea typeface="Calibri" pitchFamily="34" charset="-122"/>
                <a:cs typeface="Calibri" pitchFamily="34" charset="-120"/>
              </a:rPr>
              <a:t>State resource revenue falls; reserve window pays out</a:t>
            </a:r>
            <a:endParaRPr lang="en-US" sz="1250" dirty="0"/>
          </a:p>
        </p:txBody>
      </p:sp>
      <p:sp>
        <p:nvSpPr>
          <p:cNvPr id="28" name="Shape 25"/>
          <p:cNvSpPr/>
          <p:nvPr/>
        </p:nvSpPr>
        <p:spPr>
          <a:xfrm>
            <a:off x="8823960" y="3529584"/>
            <a:ext cx="320040" cy="201168"/>
          </a:xfrm>
          <a:prstGeom prst="downArrow">
            <a:avLst/>
          </a:prstGeom>
          <a:solidFill>
            <a:srgbClr val="9B2C2C"/>
          </a:solidFill>
          <a:ln w="12700">
            <a:solidFill>
              <a:srgbClr val="9B2C2C"/>
            </a:solidFill>
            <a:prstDash val="solid"/>
          </a:ln>
        </p:spPr>
      </p:sp>
      <p:sp>
        <p:nvSpPr>
          <p:cNvPr id="29" name="Shape 26"/>
          <p:cNvSpPr/>
          <p:nvPr/>
        </p:nvSpPr>
        <p:spPr>
          <a:xfrm>
            <a:off x="6492240" y="3739896"/>
            <a:ext cx="4983480" cy="621792"/>
          </a:xfrm>
          <a:prstGeom prst="roundRect">
            <a:avLst>
              <a:gd name="adj" fmla="val 11765"/>
            </a:avLst>
          </a:prstGeom>
          <a:solidFill>
            <a:srgbClr val="FFFFFF"/>
          </a:solidFill>
          <a:ln w="12700">
            <a:solidFill>
              <a:srgbClr val="FFFFFF"/>
            </a:solidFill>
            <a:prstDash val="solid"/>
          </a:ln>
        </p:spPr>
      </p:sp>
      <p:sp>
        <p:nvSpPr>
          <p:cNvPr id="30" name="Text 27"/>
          <p:cNvSpPr txBox="1"/>
          <p:nvPr/>
        </p:nvSpPr>
        <p:spPr>
          <a:xfrm>
            <a:off x="6675120" y="3739896"/>
            <a:ext cx="4663440" cy="621792"/>
          </a:xfrm>
          <a:prstGeom prst="rect">
            <a:avLst/>
          </a:prstGeom>
          <a:noFill/>
          <a:ln/>
        </p:spPr>
        <p:txBody>
          <a:bodyPr wrap="square" lIns="0" tIns="0" rIns="0" bIns="0" rtlCol="0" anchor="ctr"/>
          <a:lstStyle/>
          <a:p>
            <a:pPr indent="0" marL="0">
              <a:buNone/>
            </a:pPr>
            <a:r>
              <a:rPr lang="en-US" sz="1250" dirty="0">
                <a:solidFill>
                  <a:srgbClr val="1F2A3C"/>
                </a:solidFill>
                <a:latin typeface="Calibri" pitchFamily="34" charset="0"/>
                <a:ea typeface="Calibri" pitchFamily="34" charset="-122"/>
                <a:cs typeface="Calibri" pitchFamily="34" charset="-120"/>
              </a:rPr>
              <a:t>Resource-conversion projects earn less; dividends fall</a:t>
            </a:r>
            <a:endParaRPr lang="en-US" sz="1250" dirty="0"/>
          </a:p>
        </p:txBody>
      </p:sp>
      <p:sp>
        <p:nvSpPr>
          <p:cNvPr id="31" name="Shape 28"/>
          <p:cNvSpPr/>
          <p:nvPr/>
        </p:nvSpPr>
        <p:spPr>
          <a:xfrm>
            <a:off x="8823960" y="4370832"/>
            <a:ext cx="320040" cy="201168"/>
          </a:xfrm>
          <a:prstGeom prst="downArrow">
            <a:avLst/>
          </a:prstGeom>
          <a:solidFill>
            <a:srgbClr val="9B2C2C"/>
          </a:solidFill>
          <a:ln w="12700">
            <a:solidFill>
              <a:srgbClr val="9B2C2C"/>
            </a:solidFill>
            <a:prstDash val="solid"/>
          </a:ln>
        </p:spPr>
      </p:sp>
      <p:sp>
        <p:nvSpPr>
          <p:cNvPr id="32" name="Shape 29"/>
          <p:cNvSpPr/>
          <p:nvPr/>
        </p:nvSpPr>
        <p:spPr>
          <a:xfrm>
            <a:off x="6492240" y="4581144"/>
            <a:ext cx="4983480" cy="621792"/>
          </a:xfrm>
          <a:prstGeom prst="roundRect">
            <a:avLst>
              <a:gd name="adj" fmla="val 11765"/>
            </a:avLst>
          </a:prstGeom>
          <a:solidFill>
            <a:srgbClr val="FFFFFF"/>
          </a:solidFill>
          <a:ln w="12700">
            <a:solidFill>
              <a:srgbClr val="FFFFFF"/>
            </a:solidFill>
            <a:prstDash val="solid"/>
          </a:ln>
        </p:spPr>
      </p:sp>
      <p:sp>
        <p:nvSpPr>
          <p:cNvPr id="33" name="Text 30"/>
          <p:cNvSpPr txBox="1"/>
          <p:nvPr/>
        </p:nvSpPr>
        <p:spPr>
          <a:xfrm>
            <a:off x="6675120" y="4581144"/>
            <a:ext cx="4663440" cy="621792"/>
          </a:xfrm>
          <a:prstGeom prst="rect">
            <a:avLst/>
          </a:prstGeom>
          <a:noFill/>
          <a:ln/>
        </p:spPr>
        <p:txBody>
          <a:bodyPr wrap="square" lIns="0" tIns="0" rIns="0" bIns="0" rtlCol="0" anchor="ctr"/>
          <a:lstStyle/>
          <a:p>
            <a:pPr indent="0" marL="0">
              <a:buNone/>
            </a:pPr>
            <a:r>
              <a:rPr lang="en-US" sz="1250" b="1" dirty="0">
                <a:solidFill>
                  <a:srgbClr val="9B2C2C"/>
                </a:solidFill>
                <a:latin typeface="Calibri" pitchFamily="34" charset="0"/>
                <a:ea typeface="Calibri" pitchFamily="34" charset="-122"/>
                <a:cs typeface="Calibri" pitchFamily="34" charset="-120"/>
              </a:rPr>
              <a:t>Fund, budget and projects weaken at the same time</a:t>
            </a:r>
            <a:endParaRPr lang="en-US" sz="1250" dirty="0"/>
          </a:p>
        </p:txBody>
      </p:sp>
      <p:sp>
        <p:nvSpPr>
          <p:cNvPr id="34" name="Text 31"/>
          <p:cNvSpPr txBox="1"/>
          <p:nvPr/>
        </p:nvSpPr>
        <p:spPr>
          <a:xfrm>
            <a:off x="6492240" y="5440680"/>
            <a:ext cx="5029200" cy="777240"/>
          </a:xfrm>
          <a:prstGeom prst="rect">
            <a:avLst/>
          </a:prstGeom>
          <a:noFill/>
          <a:ln/>
        </p:spPr>
        <p:txBody>
          <a:bodyPr wrap="square" lIns="0" tIns="0" rIns="0" bIns="0" rtlCol="0" anchor="t"/>
          <a:lstStyle/>
          <a:p>
            <a:pPr indent="0" marL="0">
              <a:buNone/>
            </a:pPr>
            <a:r>
              <a:rPr lang="en-US" sz="1200" b="1" dirty="0">
                <a:solidFill>
                  <a:srgbClr val="1F3864"/>
                </a:solidFill>
                <a:latin typeface="Calibri" pitchFamily="34" charset="0"/>
                <a:ea typeface="Calibri" pitchFamily="34" charset="-122"/>
                <a:cs typeface="Calibri" pitchFamily="34" charset="-120"/>
              </a:rPr>
              <a:t>Answer: a 35% cap per commodity chain and a share of assets with contracted, price-independent returns (e.g. solar PPAs, labour-intensive manufacturing).</a:t>
            </a:r>
            <a:endParaRPr lang="en-US" sz="1200" dirty="0"/>
          </a:p>
        </p:txBody>
      </p:sp>
      <p:sp>
        <p:nvSpPr>
          <p:cNvPr id="35" name="Text 32"/>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DDMF RKAP 2026, CDME project overview; author's calculation (capex ÷ annual FX saving).</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2 · THE PROPOSAL</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The proposal: one fund with two windows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Architecture of the proposed two-window fund">    </p:cNvPr>
          <p:cNvPicPr>
            <a:picLocks noChangeAspect="1"/>
          </p:cNvPicPr>
          <p:nvPr/>
        </p:nvPicPr>
        <p:blipFill>
          <a:blip r:embed="rId1"/>
          <a:stretch>
            <a:fillRect/>
          </a:stretch>
        </p:blipFill>
        <p:spPr>
          <a:xfrm>
            <a:off x="457200" y="1417320"/>
            <a:ext cx="6675120" cy="4211267"/>
          </a:xfrm>
          <a:prstGeom prst="rect">
            <a:avLst/>
          </a:prstGeom>
        </p:spPr>
      </p:pic>
      <p:sp>
        <p:nvSpPr>
          <p:cNvPr id="8" name="Shape 4"/>
          <p:cNvSpPr/>
          <p:nvPr/>
        </p:nvSpPr>
        <p:spPr>
          <a:xfrm>
            <a:off x="7406640" y="1463040"/>
            <a:ext cx="4297680" cy="1481328"/>
          </a:xfrm>
          <a:prstGeom prst="roundRect">
            <a:avLst>
              <a:gd name="adj" fmla="val 4938"/>
            </a:avLst>
          </a:prstGeom>
          <a:solidFill>
            <a:srgbClr val="F4F6FA"/>
          </a:solidFill>
          <a:ln w="12700">
            <a:solidFill>
              <a:srgbClr val="F4F6FA"/>
            </a:solidFill>
            <a:prstDash val="solid"/>
          </a:ln>
        </p:spPr>
      </p:sp>
      <p:sp>
        <p:nvSpPr>
          <p:cNvPr id="9" name="Shape 5"/>
          <p:cNvSpPr/>
          <p:nvPr/>
        </p:nvSpPr>
        <p:spPr>
          <a:xfrm>
            <a:off x="7589520" y="1645920"/>
            <a:ext cx="237744" cy="237744"/>
          </a:xfrm>
          <a:prstGeom prst="ellipse">
            <a:avLst/>
          </a:prstGeom>
          <a:solidFill>
            <a:srgbClr val="B8901E"/>
          </a:solidFill>
          <a:ln w="12700">
            <a:solidFill>
              <a:srgbClr val="B8901E"/>
            </a:solidFill>
            <a:prstDash val="solid"/>
          </a:ln>
        </p:spPr>
      </p:sp>
      <p:sp>
        <p:nvSpPr>
          <p:cNvPr id="10" name="Text 6"/>
          <p:cNvSpPr txBox="1"/>
          <p:nvPr/>
        </p:nvSpPr>
        <p:spPr>
          <a:xfrm>
            <a:off x="7955280" y="1572768"/>
            <a:ext cx="3657600" cy="365760"/>
          </a:xfrm>
          <a:prstGeom prst="rect">
            <a:avLst/>
          </a:prstGeom>
          <a:noFill/>
          <a:ln/>
        </p:spPr>
        <p:txBody>
          <a:bodyPr wrap="square" lIns="0" tIns="0" rIns="0" bIns="0" rtlCol="0" anchor="t"/>
          <a:lstStyle/>
          <a:p>
            <a:pPr indent="0" marL="0">
              <a:buNone/>
            </a:pPr>
            <a:r>
              <a:rPr lang="en-US" sz="1450" b="1" dirty="0">
                <a:solidFill>
                  <a:srgbClr val="1F2A3C"/>
                </a:solidFill>
                <a:latin typeface="Calibri" pitchFamily="34" charset="0"/>
                <a:ea typeface="Calibri" pitchFamily="34" charset="-122"/>
                <a:cs typeface="Calibri" pitchFamily="34" charset="-120"/>
              </a:rPr>
              <a:t>Reserve window · stabilise</a:t>
            </a:r>
            <a:endParaRPr lang="en-US" sz="1450" dirty="0"/>
          </a:p>
        </p:txBody>
      </p:sp>
      <p:sp>
        <p:nvSpPr>
          <p:cNvPr id="11" name="Text 7"/>
          <p:cNvSpPr txBox="1"/>
          <p:nvPr/>
        </p:nvSpPr>
        <p:spPr>
          <a:xfrm>
            <a:off x="7589520" y="1965960"/>
            <a:ext cx="3977640" cy="93268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Saves revenue above an independent reference price; tops up the budget when prices fall. Liquid foreign assets.</a:t>
            </a:r>
            <a:endParaRPr lang="en-US" sz="1250" dirty="0"/>
          </a:p>
        </p:txBody>
      </p:sp>
      <p:sp>
        <p:nvSpPr>
          <p:cNvPr id="12" name="Shape 8"/>
          <p:cNvSpPr/>
          <p:nvPr/>
        </p:nvSpPr>
        <p:spPr>
          <a:xfrm>
            <a:off x="7406640" y="3090672"/>
            <a:ext cx="4297680" cy="1481328"/>
          </a:xfrm>
          <a:prstGeom prst="roundRect">
            <a:avLst>
              <a:gd name="adj" fmla="val 4938"/>
            </a:avLst>
          </a:prstGeom>
          <a:solidFill>
            <a:srgbClr val="F4F6FA"/>
          </a:solidFill>
          <a:ln w="12700">
            <a:solidFill>
              <a:srgbClr val="F4F6FA"/>
            </a:solidFill>
            <a:prstDash val="solid"/>
          </a:ln>
        </p:spPr>
      </p:sp>
      <p:sp>
        <p:nvSpPr>
          <p:cNvPr id="13" name="Shape 9"/>
          <p:cNvSpPr/>
          <p:nvPr/>
        </p:nvSpPr>
        <p:spPr>
          <a:xfrm>
            <a:off x="7589520" y="3273552"/>
            <a:ext cx="237744" cy="237744"/>
          </a:xfrm>
          <a:prstGeom prst="ellipse">
            <a:avLst/>
          </a:prstGeom>
          <a:solidFill>
            <a:srgbClr val="1F3864"/>
          </a:solidFill>
          <a:ln w="12700">
            <a:solidFill>
              <a:srgbClr val="1F3864"/>
            </a:solidFill>
            <a:prstDash val="solid"/>
          </a:ln>
        </p:spPr>
      </p:sp>
      <p:sp>
        <p:nvSpPr>
          <p:cNvPr id="14" name="Text 10"/>
          <p:cNvSpPr txBox="1"/>
          <p:nvPr/>
        </p:nvSpPr>
        <p:spPr>
          <a:xfrm>
            <a:off x="7955280" y="3200400"/>
            <a:ext cx="3657600" cy="365760"/>
          </a:xfrm>
          <a:prstGeom prst="rect">
            <a:avLst/>
          </a:prstGeom>
          <a:noFill/>
          <a:ln/>
        </p:spPr>
        <p:txBody>
          <a:bodyPr wrap="square" lIns="0" tIns="0" rIns="0" bIns="0" rtlCol="0" anchor="t"/>
          <a:lstStyle/>
          <a:p>
            <a:pPr indent="0" marL="0">
              <a:buNone/>
            </a:pPr>
            <a:r>
              <a:rPr lang="en-US" sz="1450" b="1" dirty="0">
                <a:solidFill>
                  <a:srgbClr val="1F2A3C"/>
                </a:solidFill>
                <a:latin typeface="Calibri" pitchFamily="34" charset="0"/>
                <a:ea typeface="Calibri" pitchFamily="34" charset="-122"/>
                <a:cs typeface="Calibri" pitchFamily="34" charset="-120"/>
              </a:rPr>
              <a:t>Future window · save</a:t>
            </a:r>
            <a:endParaRPr lang="en-US" sz="1450" dirty="0"/>
          </a:p>
        </p:txBody>
      </p:sp>
      <p:sp>
        <p:nvSpPr>
          <p:cNvPr id="15" name="Text 11"/>
          <p:cNvSpPr txBox="1"/>
          <p:nvPr/>
        </p:nvSpPr>
        <p:spPr>
          <a:xfrm>
            <a:off x="7589520" y="3593592"/>
            <a:ext cx="3977640" cy="93268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Fixed share every year; releases only the real return (~3%). Borrowing only in emergencies.</a:t>
            </a:r>
            <a:endParaRPr lang="en-US" sz="1250" dirty="0"/>
          </a:p>
        </p:txBody>
      </p:sp>
      <p:sp>
        <p:nvSpPr>
          <p:cNvPr id="16" name="Shape 12"/>
          <p:cNvSpPr/>
          <p:nvPr/>
        </p:nvSpPr>
        <p:spPr>
          <a:xfrm>
            <a:off x="7406640" y="4718304"/>
            <a:ext cx="4297680" cy="1481328"/>
          </a:xfrm>
          <a:prstGeom prst="roundRect">
            <a:avLst>
              <a:gd name="adj" fmla="val 4938"/>
            </a:avLst>
          </a:prstGeom>
          <a:solidFill>
            <a:srgbClr val="F8ECEA"/>
          </a:solidFill>
          <a:ln w="12700">
            <a:solidFill>
              <a:srgbClr val="F8ECEA"/>
            </a:solidFill>
            <a:prstDash val="solid"/>
          </a:ln>
        </p:spPr>
      </p:sp>
      <p:sp>
        <p:nvSpPr>
          <p:cNvPr id="17" name="Shape 13"/>
          <p:cNvSpPr/>
          <p:nvPr/>
        </p:nvSpPr>
        <p:spPr>
          <a:xfrm>
            <a:off x="7589520" y="4901184"/>
            <a:ext cx="237744" cy="237744"/>
          </a:xfrm>
          <a:prstGeom prst="ellipse">
            <a:avLst/>
          </a:prstGeom>
          <a:solidFill>
            <a:srgbClr val="9B2C2C"/>
          </a:solidFill>
          <a:ln w="12700">
            <a:solidFill>
              <a:srgbClr val="9B2C2C"/>
            </a:solidFill>
            <a:prstDash val="solid"/>
          </a:ln>
        </p:spPr>
      </p:sp>
      <p:sp>
        <p:nvSpPr>
          <p:cNvPr id="18" name="Text 14"/>
          <p:cNvSpPr txBox="1"/>
          <p:nvPr/>
        </p:nvSpPr>
        <p:spPr>
          <a:xfrm>
            <a:off x="7955280" y="4828032"/>
            <a:ext cx="3657600" cy="365760"/>
          </a:xfrm>
          <a:prstGeom prst="rect">
            <a:avLst/>
          </a:prstGeom>
          <a:noFill/>
          <a:ln/>
        </p:spPr>
        <p:txBody>
          <a:bodyPr wrap="square" lIns="0" tIns="0" rIns="0" bIns="0" rtlCol="0" anchor="t"/>
          <a:lstStyle/>
          <a:p>
            <a:pPr indent="0" marL="0">
              <a:buNone/>
            </a:pPr>
            <a:r>
              <a:rPr lang="en-US" sz="1450" b="1" dirty="0">
                <a:solidFill>
                  <a:srgbClr val="1F2A3C"/>
                </a:solidFill>
                <a:latin typeface="Calibri" pitchFamily="34" charset="0"/>
                <a:ea typeface="Calibri" pitchFamily="34" charset="-122"/>
                <a:cs typeface="Calibri" pitchFamily="34" charset="-120"/>
              </a:rPr>
              <a:t>The new question</a:t>
            </a:r>
            <a:endParaRPr lang="en-US" sz="1450" dirty="0"/>
          </a:p>
        </p:txBody>
      </p:sp>
      <p:sp>
        <p:nvSpPr>
          <p:cNvPr id="19" name="Text 15"/>
          <p:cNvSpPr txBox="1"/>
          <p:nvPr/>
        </p:nvSpPr>
        <p:spPr>
          <a:xfrm>
            <a:off x="7589520" y="5221224"/>
            <a:ext cx="3977640" cy="93268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If domestic returns are high, should part of the savings be invested at home, through DDMF, for larger multiplier effects?</a:t>
            </a:r>
            <a:endParaRPr lang="en-US" sz="1250" dirty="0"/>
          </a:p>
        </p:txBody>
      </p:sp>
      <p:sp>
        <p:nvSpPr>
          <p:cNvPr id="20" name="Text 16"/>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Policy Paper 1, Figure 10 and Table 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3 · SAVING AT HOME OR ABROAD</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Saving means converting rent into lasting assets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554480"/>
            <a:ext cx="3017520" cy="1828800"/>
          </a:xfrm>
          <a:prstGeom prst="roundRect">
            <a:avLst>
              <a:gd name="adj" fmla="val 4000"/>
            </a:avLst>
          </a:prstGeom>
          <a:solidFill>
            <a:srgbClr val="1F3864"/>
          </a:solidFill>
          <a:ln w="12700">
            <a:solidFill>
              <a:srgbClr val="1F3864"/>
            </a:solidFill>
            <a:prstDash val="solid"/>
          </a:ln>
        </p:spPr>
      </p:sp>
      <p:sp>
        <p:nvSpPr>
          <p:cNvPr id="8" name="Text 5"/>
          <p:cNvSpPr txBox="1"/>
          <p:nvPr/>
        </p:nvSpPr>
        <p:spPr>
          <a:xfrm>
            <a:off x="731520" y="1691640"/>
            <a:ext cx="2651760" cy="365760"/>
          </a:xfrm>
          <a:prstGeom prst="rect">
            <a:avLst/>
          </a:prstGeom>
          <a:noFill/>
          <a:ln/>
        </p:spPr>
        <p:txBody>
          <a:bodyPr wrap="square" lIns="0" tIns="0" rIns="0" bIns="0" rtlCol="0" anchor="t"/>
          <a:lstStyle/>
          <a:p>
            <a:pPr indent="0" marL="0">
              <a:buNone/>
            </a:pPr>
            <a:r>
              <a:rPr lang="en-US" sz="1500" b="1" dirty="0">
                <a:solidFill>
                  <a:srgbClr val="D4A93A"/>
                </a:solidFill>
                <a:latin typeface="Calibri" pitchFamily="34" charset="0"/>
                <a:ea typeface="Calibri" pitchFamily="34" charset="-122"/>
                <a:cs typeface="Calibri" pitchFamily="34" charset="-120"/>
              </a:rPr>
              <a:t>Depleting natural capital</a:t>
            </a:r>
            <a:endParaRPr lang="en-US" sz="1500" dirty="0"/>
          </a:p>
        </p:txBody>
      </p:sp>
      <p:sp>
        <p:nvSpPr>
          <p:cNvPr id="9" name="Text 6"/>
          <p:cNvSpPr txBox="1"/>
          <p:nvPr/>
        </p:nvSpPr>
        <p:spPr>
          <a:xfrm>
            <a:off x="731520" y="2103120"/>
            <a:ext cx="2651760" cy="10972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Coal, oil and gas, nickel, tin, copper</a:t>
            </a:r>
            <a:endParaRPr lang="en-US" sz="1300" dirty="0"/>
          </a:p>
        </p:txBody>
      </p:sp>
      <p:sp>
        <p:nvSpPr>
          <p:cNvPr id="10" name="Shape 7"/>
          <p:cNvSpPr/>
          <p:nvPr/>
        </p:nvSpPr>
        <p:spPr>
          <a:xfrm>
            <a:off x="3703320" y="2148840"/>
            <a:ext cx="1005840" cy="640080"/>
          </a:xfrm>
          <a:prstGeom prst="rightArrow">
            <a:avLst/>
          </a:prstGeom>
          <a:solidFill>
            <a:srgbClr val="B8901E"/>
          </a:solidFill>
          <a:ln w="12700">
            <a:solidFill>
              <a:srgbClr val="B8901E"/>
            </a:solidFill>
            <a:prstDash val="solid"/>
          </a:ln>
        </p:spPr>
      </p:sp>
      <p:sp>
        <p:nvSpPr>
          <p:cNvPr id="11" name="Text 8"/>
          <p:cNvSpPr txBox="1"/>
          <p:nvPr/>
        </p:nvSpPr>
        <p:spPr>
          <a:xfrm>
            <a:off x="3703320" y="2834640"/>
            <a:ext cx="1005840" cy="274320"/>
          </a:xfrm>
          <a:prstGeom prst="rect">
            <a:avLst/>
          </a:prstGeom>
          <a:noFill/>
          <a:ln/>
        </p:spPr>
        <p:txBody>
          <a:bodyPr wrap="square" lIns="0" tIns="0" rIns="0" bIns="0" rtlCol="0" anchor="t"/>
          <a:lstStyle/>
          <a:p>
            <a:pPr algn="ctr" indent="0" marL="0">
              <a:buNone/>
            </a:pPr>
            <a:r>
              <a:rPr lang="en-US" sz="1100" i="1" dirty="0">
                <a:solidFill>
                  <a:srgbClr val="6B7488"/>
                </a:solidFill>
                <a:latin typeface="Calibri" pitchFamily="34" charset="0"/>
                <a:ea typeface="Calibri" pitchFamily="34" charset="-122"/>
                <a:cs typeface="Calibri" pitchFamily="34" charset="-120"/>
              </a:rPr>
              <a:t>rent</a:t>
            </a:r>
            <a:endParaRPr lang="en-US" sz="1100" dirty="0"/>
          </a:p>
        </p:txBody>
      </p:sp>
      <p:sp>
        <p:nvSpPr>
          <p:cNvPr id="12" name="Shape 9"/>
          <p:cNvSpPr/>
          <p:nvPr/>
        </p:nvSpPr>
        <p:spPr>
          <a:xfrm>
            <a:off x="4846320" y="1417320"/>
            <a:ext cx="6812280" cy="914400"/>
          </a:xfrm>
          <a:prstGeom prst="roundRect">
            <a:avLst>
              <a:gd name="adj" fmla="val 8000"/>
            </a:avLst>
          </a:prstGeom>
          <a:solidFill>
            <a:srgbClr val="F4F6FA"/>
          </a:solidFill>
          <a:ln w="12700">
            <a:solidFill>
              <a:srgbClr val="F4F6FA"/>
            </a:solidFill>
            <a:prstDash val="solid"/>
          </a:ln>
        </p:spPr>
      </p:sp>
      <p:sp>
        <p:nvSpPr>
          <p:cNvPr id="13" name="Shape 10"/>
          <p:cNvSpPr/>
          <p:nvPr/>
        </p:nvSpPr>
        <p:spPr>
          <a:xfrm>
            <a:off x="4846320" y="1417320"/>
            <a:ext cx="91440" cy="914400"/>
          </a:xfrm>
          <a:prstGeom prst="rect">
            <a:avLst/>
          </a:prstGeom>
          <a:solidFill>
            <a:srgbClr val="1F3864"/>
          </a:solidFill>
          <a:ln w="12700">
            <a:solidFill>
              <a:srgbClr val="1F3864"/>
            </a:solidFill>
            <a:prstDash val="solid"/>
          </a:ln>
        </p:spPr>
      </p:sp>
      <p:sp>
        <p:nvSpPr>
          <p:cNvPr id="14" name="Text 11"/>
          <p:cNvSpPr txBox="1"/>
          <p:nvPr/>
        </p:nvSpPr>
        <p:spPr>
          <a:xfrm>
            <a:off x="5074920" y="1490472"/>
            <a:ext cx="3840480" cy="320040"/>
          </a:xfrm>
          <a:prstGeom prst="rect">
            <a:avLst/>
          </a:prstGeom>
          <a:noFill/>
          <a:ln/>
        </p:spPr>
        <p:txBody>
          <a:bodyPr wrap="square" lIns="0" tIns="0" rIns="0" bIns="0" rtlCol="0" anchor="t"/>
          <a:lstStyle/>
          <a:p>
            <a:pPr indent="0" marL="0">
              <a:buNone/>
            </a:pPr>
            <a:r>
              <a:rPr lang="en-US" sz="1400" b="1" dirty="0">
                <a:solidFill>
                  <a:srgbClr val="1F3864"/>
                </a:solidFill>
                <a:latin typeface="Calibri" pitchFamily="34" charset="0"/>
                <a:ea typeface="Calibri" pitchFamily="34" charset="-122"/>
                <a:cs typeface="Calibri" pitchFamily="34" charset="-120"/>
              </a:rPr>
              <a:t>Foreign financial assets</a:t>
            </a:r>
            <a:endParaRPr lang="en-US" sz="1400" dirty="0"/>
          </a:p>
        </p:txBody>
      </p:sp>
      <p:sp>
        <p:nvSpPr>
          <p:cNvPr id="15" name="Text 12"/>
          <p:cNvSpPr txBox="1"/>
          <p:nvPr/>
        </p:nvSpPr>
        <p:spPr>
          <a:xfrm>
            <a:off x="5074920" y="1828800"/>
            <a:ext cx="448056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Norway, Alaska, Kuwait: best when the economy is already capital-rich</a:t>
            </a:r>
            <a:endParaRPr lang="en-US" sz="1200" dirty="0"/>
          </a:p>
        </p:txBody>
      </p:sp>
      <p:sp>
        <p:nvSpPr>
          <p:cNvPr id="16" name="Text 13"/>
          <p:cNvSpPr txBox="1"/>
          <p:nvPr/>
        </p:nvSpPr>
        <p:spPr>
          <a:xfrm>
            <a:off x="9601200" y="1691640"/>
            <a:ext cx="1920240" cy="365760"/>
          </a:xfrm>
          <a:prstGeom prst="rect">
            <a:avLst/>
          </a:prstGeom>
          <a:noFill/>
          <a:ln/>
        </p:spPr>
        <p:txBody>
          <a:bodyPr wrap="square" lIns="0" tIns="0" rIns="0" bIns="0" rtlCol="0" anchor="t"/>
          <a:lstStyle/>
          <a:p>
            <a:pPr algn="r" indent="0" marL="0">
              <a:buNone/>
            </a:pPr>
            <a:r>
              <a:rPr lang="en-US" sz="1200" b="1" dirty="0">
                <a:solidFill>
                  <a:srgbClr val="1F3864"/>
                </a:solidFill>
                <a:latin typeface="Calibri" pitchFamily="34" charset="0"/>
                <a:ea typeface="Calibri" pitchFamily="34" charset="-122"/>
                <a:cs typeface="Calibri" pitchFamily="34" charset="-120"/>
              </a:rPr>
              <a:t>Future window</a:t>
            </a:r>
            <a:endParaRPr lang="en-US" sz="1200" dirty="0"/>
          </a:p>
        </p:txBody>
      </p:sp>
      <p:sp>
        <p:nvSpPr>
          <p:cNvPr id="17" name="Shape 14"/>
          <p:cNvSpPr/>
          <p:nvPr/>
        </p:nvSpPr>
        <p:spPr>
          <a:xfrm>
            <a:off x="4846320" y="2468880"/>
            <a:ext cx="6812280" cy="914400"/>
          </a:xfrm>
          <a:prstGeom prst="roundRect">
            <a:avLst>
              <a:gd name="adj" fmla="val 8000"/>
            </a:avLst>
          </a:prstGeom>
          <a:solidFill>
            <a:srgbClr val="F4F6FA"/>
          </a:solidFill>
          <a:ln w="12700">
            <a:solidFill>
              <a:srgbClr val="F4F6FA"/>
            </a:solidFill>
            <a:prstDash val="solid"/>
          </a:ln>
        </p:spPr>
      </p:sp>
      <p:sp>
        <p:nvSpPr>
          <p:cNvPr id="18" name="Shape 15"/>
          <p:cNvSpPr/>
          <p:nvPr/>
        </p:nvSpPr>
        <p:spPr>
          <a:xfrm>
            <a:off x="4846320" y="2468880"/>
            <a:ext cx="91440" cy="914400"/>
          </a:xfrm>
          <a:prstGeom prst="rect">
            <a:avLst/>
          </a:prstGeom>
          <a:solidFill>
            <a:srgbClr val="B8901E"/>
          </a:solidFill>
          <a:ln w="12700">
            <a:solidFill>
              <a:srgbClr val="B8901E"/>
            </a:solidFill>
            <a:prstDash val="solid"/>
          </a:ln>
        </p:spPr>
      </p:sp>
      <p:sp>
        <p:nvSpPr>
          <p:cNvPr id="19" name="Text 16"/>
          <p:cNvSpPr txBox="1"/>
          <p:nvPr/>
        </p:nvSpPr>
        <p:spPr>
          <a:xfrm>
            <a:off x="5074920" y="2542032"/>
            <a:ext cx="3840480" cy="320040"/>
          </a:xfrm>
          <a:prstGeom prst="rect">
            <a:avLst/>
          </a:prstGeom>
          <a:noFill/>
          <a:ln/>
        </p:spPr>
        <p:txBody>
          <a:bodyPr wrap="square" lIns="0" tIns="0" rIns="0" bIns="0" rtlCol="0" anchor="t"/>
          <a:lstStyle/>
          <a:p>
            <a:pPr indent="0" marL="0">
              <a:buNone/>
            </a:pPr>
            <a:r>
              <a:rPr lang="en-US" sz="1400" b="1" dirty="0">
                <a:solidFill>
                  <a:srgbClr val="B8901E"/>
                </a:solidFill>
                <a:latin typeface="Calibri" pitchFamily="34" charset="0"/>
                <a:ea typeface="Calibri" pitchFamily="34" charset="-122"/>
                <a:cs typeface="Calibri" pitchFamily="34" charset="-120"/>
              </a:rPr>
              <a:t>Domestic productive capital</a:t>
            </a:r>
            <a:endParaRPr lang="en-US" sz="1400" dirty="0"/>
          </a:p>
        </p:txBody>
      </p:sp>
      <p:sp>
        <p:nvSpPr>
          <p:cNvPr id="20" name="Text 17"/>
          <p:cNvSpPr txBox="1"/>
          <p:nvPr/>
        </p:nvSpPr>
        <p:spPr>
          <a:xfrm>
            <a:off x="5074920" y="2880360"/>
            <a:ext cx="448056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Capital-scarce economies: higher returns at home if invested well</a:t>
            </a:r>
            <a:endParaRPr lang="en-US" sz="1200" dirty="0"/>
          </a:p>
        </p:txBody>
      </p:sp>
      <p:sp>
        <p:nvSpPr>
          <p:cNvPr id="21" name="Text 18"/>
          <p:cNvSpPr txBox="1"/>
          <p:nvPr/>
        </p:nvSpPr>
        <p:spPr>
          <a:xfrm>
            <a:off x="9601200" y="2743200"/>
            <a:ext cx="1920240" cy="365760"/>
          </a:xfrm>
          <a:prstGeom prst="rect">
            <a:avLst/>
          </a:prstGeom>
          <a:noFill/>
          <a:ln/>
        </p:spPr>
        <p:txBody>
          <a:bodyPr wrap="square" lIns="0" tIns="0" rIns="0" bIns="0" rtlCol="0" anchor="t"/>
          <a:lstStyle/>
          <a:p>
            <a:pPr algn="r" indent="0" marL="0">
              <a:buNone/>
            </a:pPr>
            <a:r>
              <a:rPr lang="en-US" sz="1200" b="1" dirty="0">
                <a:solidFill>
                  <a:srgbClr val="B8901E"/>
                </a:solidFill>
                <a:latin typeface="Calibri" pitchFamily="34" charset="0"/>
                <a:ea typeface="Calibri" pitchFamily="34" charset="-122"/>
                <a:cs typeface="Calibri" pitchFamily="34" charset="-120"/>
              </a:rPr>
              <a:t>Development window</a:t>
            </a:r>
            <a:endParaRPr lang="en-US" sz="1200" dirty="0"/>
          </a:p>
        </p:txBody>
      </p:sp>
      <p:sp>
        <p:nvSpPr>
          <p:cNvPr id="22" name="Shape 19"/>
          <p:cNvSpPr/>
          <p:nvPr/>
        </p:nvSpPr>
        <p:spPr>
          <a:xfrm>
            <a:off x="4846320" y="3520440"/>
            <a:ext cx="6812280" cy="914400"/>
          </a:xfrm>
          <a:prstGeom prst="roundRect">
            <a:avLst>
              <a:gd name="adj" fmla="val 8000"/>
            </a:avLst>
          </a:prstGeom>
          <a:solidFill>
            <a:srgbClr val="F4F6FA"/>
          </a:solidFill>
          <a:ln w="12700">
            <a:solidFill>
              <a:srgbClr val="F4F6FA"/>
            </a:solidFill>
            <a:prstDash val="solid"/>
          </a:ln>
        </p:spPr>
      </p:sp>
      <p:sp>
        <p:nvSpPr>
          <p:cNvPr id="23" name="Shape 20"/>
          <p:cNvSpPr/>
          <p:nvPr/>
        </p:nvSpPr>
        <p:spPr>
          <a:xfrm>
            <a:off x="4846320" y="3520440"/>
            <a:ext cx="91440" cy="914400"/>
          </a:xfrm>
          <a:prstGeom prst="rect">
            <a:avLst/>
          </a:prstGeom>
          <a:solidFill>
            <a:srgbClr val="9B2C2C"/>
          </a:solidFill>
          <a:ln w="12700">
            <a:solidFill>
              <a:srgbClr val="9B2C2C"/>
            </a:solidFill>
            <a:prstDash val="solid"/>
          </a:ln>
        </p:spPr>
      </p:sp>
      <p:sp>
        <p:nvSpPr>
          <p:cNvPr id="24" name="Text 21"/>
          <p:cNvSpPr txBox="1"/>
          <p:nvPr/>
        </p:nvSpPr>
        <p:spPr>
          <a:xfrm>
            <a:off x="5074920" y="3593592"/>
            <a:ext cx="3840480" cy="320040"/>
          </a:xfrm>
          <a:prstGeom prst="rect">
            <a:avLst/>
          </a:prstGeom>
          <a:noFill/>
          <a:ln/>
        </p:spPr>
        <p:txBody>
          <a:bodyPr wrap="square" lIns="0" tIns="0" rIns="0" bIns="0" rtlCol="0" anchor="t"/>
          <a:lstStyle/>
          <a:p>
            <a:pPr indent="0" marL="0">
              <a:buNone/>
            </a:pPr>
            <a:r>
              <a:rPr lang="en-US" sz="1400" b="1" dirty="0">
                <a:solidFill>
                  <a:srgbClr val="9B2C2C"/>
                </a:solidFill>
                <a:latin typeface="Calibri" pitchFamily="34" charset="0"/>
                <a:ea typeface="Calibri" pitchFamily="34" charset="-122"/>
                <a:cs typeface="Calibri" pitchFamily="34" charset="-120"/>
              </a:rPr>
              <a:t>Consumption</a:t>
            </a:r>
            <a:endParaRPr lang="en-US" sz="1400" dirty="0"/>
          </a:p>
        </p:txBody>
      </p:sp>
      <p:sp>
        <p:nvSpPr>
          <p:cNvPr id="25" name="Text 22"/>
          <p:cNvSpPr txBox="1"/>
          <p:nvPr/>
        </p:nvSpPr>
        <p:spPr>
          <a:xfrm>
            <a:off x="5074920" y="3931920"/>
            <a:ext cx="4480560" cy="45720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Spent as it arrives: the wealth is gone when the resource is</a:t>
            </a:r>
            <a:endParaRPr lang="en-US" sz="1200" dirty="0"/>
          </a:p>
        </p:txBody>
      </p:sp>
      <p:sp>
        <p:nvSpPr>
          <p:cNvPr id="26" name="Text 23"/>
          <p:cNvSpPr txBox="1"/>
          <p:nvPr/>
        </p:nvSpPr>
        <p:spPr>
          <a:xfrm>
            <a:off x="9601200" y="3794760"/>
            <a:ext cx="1920240" cy="365760"/>
          </a:xfrm>
          <a:prstGeom prst="rect">
            <a:avLst/>
          </a:prstGeom>
          <a:noFill/>
          <a:ln/>
        </p:spPr>
        <p:txBody>
          <a:bodyPr wrap="square" lIns="0" tIns="0" rIns="0" bIns="0" rtlCol="0" anchor="t"/>
          <a:lstStyle/>
          <a:p>
            <a:pPr algn="r" indent="0" marL="0">
              <a:buNone/>
            </a:pPr>
            <a:r>
              <a:rPr lang="en-US" sz="1200" b="1" dirty="0">
                <a:solidFill>
                  <a:srgbClr val="9B2C2C"/>
                </a:solidFill>
                <a:latin typeface="Calibri" pitchFamily="34" charset="0"/>
                <a:ea typeface="Calibri" pitchFamily="34" charset="-122"/>
                <a:cs typeface="Calibri" pitchFamily="34" charset="-120"/>
              </a:rPr>
              <a:t>What happens today</a:t>
            </a:r>
            <a:endParaRPr lang="en-US" sz="1200" dirty="0"/>
          </a:p>
        </p:txBody>
      </p:sp>
      <p:sp>
        <p:nvSpPr>
          <p:cNvPr id="27" name="Shape 24"/>
          <p:cNvSpPr/>
          <p:nvPr/>
        </p:nvSpPr>
        <p:spPr>
          <a:xfrm>
            <a:off x="548640" y="4572000"/>
            <a:ext cx="3566160" cy="1691640"/>
          </a:xfrm>
          <a:prstGeom prst="roundRect">
            <a:avLst>
              <a:gd name="adj" fmla="val 4324"/>
            </a:avLst>
          </a:prstGeom>
          <a:solidFill>
            <a:srgbClr val="F4F6FA"/>
          </a:solidFill>
          <a:ln w="12700">
            <a:solidFill>
              <a:srgbClr val="F4F6FA"/>
            </a:solidFill>
            <a:prstDash val="solid"/>
          </a:ln>
        </p:spPr>
      </p:sp>
      <p:sp>
        <p:nvSpPr>
          <p:cNvPr id="28" name="Text 25"/>
          <p:cNvSpPr txBox="1"/>
          <p:nvPr/>
        </p:nvSpPr>
        <p:spPr>
          <a:xfrm>
            <a:off x="731520" y="4709160"/>
            <a:ext cx="3200400" cy="640080"/>
          </a:xfrm>
          <a:prstGeom prst="rect">
            <a:avLst/>
          </a:prstGeom>
          <a:noFill/>
          <a:ln/>
        </p:spPr>
        <p:txBody>
          <a:bodyPr wrap="square" lIns="0" tIns="0" rIns="0" bIns="0" rtlCol="0" anchor="t">
            <a:normAutofit/>
          </a:bodyPr>
          <a:lstStyle/>
          <a:p>
            <a:pPr indent="0" marL="0">
              <a:buNone/>
            </a:pPr>
            <a:r>
              <a:rPr lang="en-US" sz="3000" b="1" dirty="0">
                <a:solidFill>
                  <a:srgbClr val="1F3864"/>
                </a:solidFill>
                <a:latin typeface="Cambria" pitchFamily="34" charset="0"/>
                <a:ea typeface="Cambria" pitchFamily="34" charset="-122"/>
                <a:cs typeface="Cambria" pitchFamily="34" charset="-120"/>
              </a:rPr>
              <a:t>Hartwick (1977)</a:t>
            </a:r>
            <a:endParaRPr lang="en-US" sz="3000" dirty="0"/>
          </a:p>
        </p:txBody>
      </p:sp>
      <p:sp>
        <p:nvSpPr>
          <p:cNvPr id="29" name="Text 26"/>
          <p:cNvSpPr txBox="1"/>
          <p:nvPr/>
        </p:nvSpPr>
        <p:spPr>
          <a:xfrm>
            <a:off x="731520" y="5349240"/>
            <a:ext cx="3200400" cy="8229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reinvest resource rent to keep total wealth constant</a:t>
            </a:r>
            <a:endParaRPr lang="en-US" sz="1250" dirty="0"/>
          </a:p>
        </p:txBody>
      </p:sp>
      <p:sp>
        <p:nvSpPr>
          <p:cNvPr id="30" name="Shape 27"/>
          <p:cNvSpPr/>
          <p:nvPr/>
        </p:nvSpPr>
        <p:spPr>
          <a:xfrm>
            <a:off x="4297680" y="4572000"/>
            <a:ext cx="3566160" cy="1691640"/>
          </a:xfrm>
          <a:prstGeom prst="roundRect">
            <a:avLst>
              <a:gd name="adj" fmla="val 4324"/>
            </a:avLst>
          </a:prstGeom>
          <a:solidFill>
            <a:srgbClr val="F4F6FA"/>
          </a:solidFill>
          <a:ln w="12700">
            <a:solidFill>
              <a:srgbClr val="F4F6FA"/>
            </a:solidFill>
            <a:prstDash val="solid"/>
          </a:ln>
        </p:spPr>
      </p:sp>
      <p:sp>
        <p:nvSpPr>
          <p:cNvPr id="31" name="Text 28"/>
          <p:cNvSpPr txBox="1"/>
          <p:nvPr/>
        </p:nvSpPr>
        <p:spPr>
          <a:xfrm>
            <a:off x="4480560" y="4709160"/>
            <a:ext cx="3200400" cy="640080"/>
          </a:xfrm>
          <a:prstGeom prst="rect">
            <a:avLst/>
          </a:prstGeom>
          <a:noFill/>
          <a:ln/>
        </p:spPr>
        <p:txBody>
          <a:bodyPr wrap="square" lIns="0" tIns="0" rIns="0" bIns="0" rtlCol="0" anchor="t">
            <a:normAutofit/>
          </a:bodyPr>
          <a:lstStyle/>
          <a:p>
            <a:pPr indent="0" marL="0">
              <a:buNone/>
            </a:pPr>
            <a:r>
              <a:rPr lang="en-US" sz="3000" b="1" dirty="0">
                <a:solidFill>
                  <a:srgbClr val="B8901E"/>
                </a:solidFill>
                <a:latin typeface="Cambria" pitchFamily="34" charset="0"/>
                <a:ea typeface="Cambria" pitchFamily="34" charset="-122"/>
                <a:cs typeface="Cambria" pitchFamily="34" charset="-120"/>
              </a:rPr>
              <a:t>Invest at home</a:t>
            </a:r>
            <a:endParaRPr lang="en-US" sz="3000" dirty="0"/>
          </a:p>
        </p:txBody>
      </p:sp>
      <p:sp>
        <p:nvSpPr>
          <p:cNvPr id="32" name="Text 29"/>
          <p:cNvSpPr txBox="1"/>
          <p:nvPr/>
        </p:nvSpPr>
        <p:spPr>
          <a:xfrm>
            <a:off x="4480560" y="5349240"/>
            <a:ext cx="3200400" cy="8229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when capital is scarce (Collier et al., 2010; van der Ploeg &amp; Venables, 2011)</a:t>
            </a:r>
            <a:endParaRPr lang="en-US" sz="1250" dirty="0"/>
          </a:p>
        </p:txBody>
      </p:sp>
      <p:sp>
        <p:nvSpPr>
          <p:cNvPr id="33" name="Shape 30"/>
          <p:cNvSpPr/>
          <p:nvPr/>
        </p:nvSpPr>
        <p:spPr>
          <a:xfrm>
            <a:off x="8046720" y="4572000"/>
            <a:ext cx="3611880" cy="1691640"/>
          </a:xfrm>
          <a:prstGeom prst="roundRect">
            <a:avLst>
              <a:gd name="adj" fmla="val 4324"/>
            </a:avLst>
          </a:prstGeom>
          <a:solidFill>
            <a:srgbClr val="F4F6FA"/>
          </a:solidFill>
          <a:ln w="12700">
            <a:solidFill>
              <a:srgbClr val="F4F6FA"/>
            </a:solidFill>
            <a:prstDash val="solid"/>
          </a:ln>
        </p:spPr>
      </p:sp>
      <p:sp>
        <p:nvSpPr>
          <p:cNvPr id="34" name="Text 31"/>
          <p:cNvSpPr txBox="1"/>
          <p:nvPr/>
        </p:nvSpPr>
        <p:spPr>
          <a:xfrm>
            <a:off x="8229600" y="4709160"/>
            <a:ext cx="3246120" cy="640080"/>
          </a:xfrm>
          <a:prstGeom prst="rect">
            <a:avLst/>
          </a:prstGeom>
          <a:noFill/>
          <a:ln/>
        </p:spPr>
        <p:txBody>
          <a:bodyPr wrap="square" lIns="0" tIns="0" rIns="0" bIns="0" rtlCol="0" anchor="t">
            <a:normAutofit/>
          </a:bodyPr>
          <a:lstStyle/>
          <a:p>
            <a:pPr indent="0" marL="0">
              <a:buNone/>
            </a:pPr>
            <a:r>
              <a:rPr lang="en-US" sz="3000" b="1" dirty="0">
                <a:solidFill>
                  <a:srgbClr val="9B2C2C"/>
                </a:solidFill>
                <a:latin typeface="Cambria" pitchFamily="34" charset="0"/>
                <a:ea typeface="Cambria" pitchFamily="34" charset="-122"/>
                <a:cs typeface="Cambria" pitchFamily="34" charset="-120"/>
              </a:rPr>
              <a:t>≈ 30% lost</a:t>
            </a:r>
            <a:endParaRPr lang="en-US" sz="3000" dirty="0"/>
          </a:p>
        </p:txBody>
      </p:sp>
      <p:sp>
        <p:nvSpPr>
          <p:cNvPr id="35" name="Text 32"/>
          <p:cNvSpPr txBox="1"/>
          <p:nvPr/>
        </p:nvSpPr>
        <p:spPr>
          <a:xfrm>
            <a:off x="8229600" y="5349240"/>
            <a:ext cx="3246120" cy="8229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average efficiency loss in public investment (IMF, 2015): rules matter</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3 · DESIGN</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Three windows: stabilise, invest, save</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Three-window architecture with a development window">    </p:cNvPr>
          <p:cNvPicPr>
            <a:picLocks noChangeAspect="1"/>
          </p:cNvPicPr>
          <p:nvPr/>
        </p:nvPicPr>
        <p:blipFill>
          <a:blip r:embed="rId1"/>
          <a:stretch>
            <a:fillRect/>
          </a:stretch>
        </p:blipFill>
        <p:spPr>
          <a:xfrm>
            <a:off x="365760" y="1371600"/>
            <a:ext cx="7863840" cy="4543552"/>
          </a:xfrm>
          <a:prstGeom prst="rect">
            <a:avLst/>
          </a:prstGeom>
        </p:spPr>
      </p:pic>
      <p:sp>
        <p:nvSpPr>
          <p:cNvPr id="8" name="Shape 4"/>
          <p:cNvSpPr/>
          <p:nvPr/>
        </p:nvSpPr>
        <p:spPr>
          <a:xfrm>
            <a:off x="8412480" y="1463040"/>
            <a:ext cx="3291840" cy="1481328"/>
          </a:xfrm>
          <a:prstGeom prst="roundRect">
            <a:avLst>
              <a:gd name="adj" fmla="val 4938"/>
            </a:avLst>
          </a:prstGeom>
          <a:solidFill>
            <a:srgbClr val="F4F6FA"/>
          </a:solidFill>
          <a:ln w="12700">
            <a:solidFill>
              <a:srgbClr val="F4F6FA"/>
            </a:solidFill>
            <a:prstDash val="solid"/>
          </a:ln>
        </p:spPr>
      </p:sp>
      <p:sp>
        <p:nvSpPr>
          <p:cNvPr id="9" name="Text 5"/>
          <p:cNvSpPr txBox="1"/>
          <p:nvPr/>
        </p:nvSpPr>
        <p:spPr>
          <a:xfrm>
            <a:off x="8595360" y="1572768"/>
            <a:ext cx="2926080" cy="365760"/>
          </a:xfrm>
          <a:prstGeom prst="rect">
            <a:avLst/>
          </a:prstGeom>
          <a:noFill/>
          <a:ln/>
        </p:spPr>
        <p:txBody>
          <a:bodyPr wrap="square" lIns="0" tIns="0" rIns="0" bIns="0" rtlCol="0" anchor="t"/>
          <a:lstStyle/>
          <a:p>
            <a:pPr indent="0" marL="0">
              <a:buNone/>
            </a:pPr>
            <a:r>
              <a:rPr lang="en-US" sz="1450" b="1" dirty="0">
                <a:solidFill>
                  <a:srgbClr val="1F3864"/>
                </a:solidFill>
                <a:latin typeface="Calibri" pitchFamily="34" charset="0"/>
                <a:ea typeface="Calibri" pitchFamily="34" charset="-122"/>
                <a:cs typeface="Calibri" pitchFamily="34" charset="-120"/>
              </a:rPr>
              <a:t>Reserve window</a:t>
            </a:r>
            <a:endParaRPr lang="en-US" sz="1450" dirty="0"/>
          </a:p>
        </p:txBody>
      </p:sp>
      <p:sp>
        <p:nvSpPr>
          <p:cNvPr id="10" name="Text 6"/>
          <p:cNvSpPr txBox="1"/>
          <p:nvPr/>
        </p:nvSpPr>
        <p:spPr>
          <a:xfrm>
            <a:off x="8595360" y="1938528"/>
            <a:ext cx="2971800" cy="9601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Unchanged. Windfall above the reference price; tops up the budget in busts.</a:t>
            </a:r>
            <a:endParaRPr lang="en-US" sz="1200" dirty="0"/>
          </a:p>
        </p:txBody>
      </p:sp>
      <p:sp>
        <p:nvSpPr>
          <p:cNvPr id="11" name="Shape 7"/>
          <p:cNvSpPr/>
          <p:nvPr/>
        </p:nvSpPr>
        <p:spPr>
          <a:xfrm>
            <a:off x="8412480" y="3090672"/>
            <a:ext cx="3291840" cy="1481328"/>
          </a:xfrm>
          <a:prstGeom prst="roundRect">
            <a:avLst>
              <a:gd name="adj" fmla="val 4938"/>
            </a:avLst>
          </a:prstGeom>
          <a:solidFill>
            <a:srgbClr val="F7F3E6"/>
          </a:solidFill>
          <a:ln w="12700">
            <a:solidFill>
              <a:srgbClr val="F7F3E6"/>
            </a:solidFill>
            <a:prstDash val="solid"/>
          </a:ln>
        </p:spPr>
      </p:sp>
      <p:sp>
        <p:nvSpPr>
          <p:cNvPr id="12" name="Text 8"/>
          <p:cNvSpPr txBox="1"/>
          <p:nvPr/>
        </p:nvSpPr>
        <p:spPr>
          <a:xfrm>
            <a:off x="8595360" y="3200400"/>
            <a:ext cx="2926080" cy="365760"/>
          </a:xfrm>
          <a:prstGeom prst="rect">
            <a:avLst/>
          </a:prstGeom>
          <a:noFill/>
          <a:ln/>
        </p:spPr>
        <p:txBody>
          <a:bodyPr wrap="square" lIns="0" tIns="0" rIns="0" bIns="0" rtlCol="0" anchor="t"/>
          <a:lstStyle/>
          <a:p>
            <a:pPr indent="0" marL="0">
              <a:buNone/>
            </a:pPr>
            <a:r>
              <a:rPr lang="en-US" sz="1450" b="1" dirty="0">
                <a:solidFill>
                  <a:srgbClr val="B8901E"/>
                </a:solidFill>
                <a:latin typeface="Calibri" pitchFamily="34" charset="0"/>
                <a:ea typeface="Calibri" pitchFamily="34" charset="-122"/>
                <a:cs typeface="Calibri" pitchFamily="34" charset="-120"/>
              </a:rPr>
              <a:t>Development window</a:t>
            </a:r>
            <a:endParaRPr lang="en-US" sz="1450" dirty="0"/>
          </a:p>
        </p:txBody>
      </p:sp>
      <p:sp>
        <p:nvSpPr>
          <p:cNvPr id="13" name="Text 9"/>
          <p:cNvSpPr txBox="1"/>
          <p:nvPr/>
        </p:nvSpPr>
        <p:spPr>
          <a:xfrm>
            <a:off x="8595360" y="3566160"/>
            <a:ext cx="2971800" cy="9601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Early-years share of long-term savings + capped loan; catalytic equity via DDMF; counter-cyclical.</a:t>
            </a:r>
            <a:endParaRPr lang="en-US" sz="1200" dirty="0"/>
          </a:p>
        </p:txBody>
      </p:sp>
      <p:sp>
        <p:nvSpPr>
          <p:cNvPr id="14" name="Shape 10"/>
          <p:cNvSpPr/>
          <p:nvPr/>
        </p:nvSpPr>
        <p:spPr>
          <a:xfrm>
            <a:off x="8412480" y="4718304"/>
            <a:ext cx="3291840" cy="1481328"/>
          </a:xfrm>
          <a:prstGeom prst="roundRect">
            <a:avLst>
              <a:gd name="adj" fmla="val 4938"/>
            </a:avLst>
          </a:prstGeom>
          <a:solidFill>
            <a:srgbClr val="F4F6FA"/>
          </a:solidFill>
          <a:ln w="12700">
            <a:solidFill>
              <a:srgbClr val="F4F6FA"/>
            </a:solidFill>
            <a:prstDash val="solid"/>
          </a:ln>
        </p:spPr>
      </p:sp>
      <p:sp>
        <p:nvSpPr>
          <p:cNvPr id="15" name="Text 11"/>
          <p:cNvSpPr txBox="1"/>
          <p:nvPr/>
        </p:nvSpPr>
        <p:spPr>
          <a:xfrm>
            <a:off x="8595360" y="4828032"/>
            <a:ext cx="2926080" cy="365760"/>
          </a:xfrm>
          <a:prstGeom prst="rect">
            <a:avLst/>
          </a:prstGeom>
          <a:noFill/>
          <a:ln/>
        </p:spPr>
        <p:txBody>
          <a:bodyPr wrap="square" lIns="0" tIns="0" rIns="0" bIns="0" rtlCol="0" anchor="t"/>
          <a:lstStyle/>
          <a:p>
            <a:pPr indent="0" marL="0">
              <a:buNone/>
            </a:pPr>
            <a:r>
              <a:rPr lang="en-US" sz="1450" b="1" dirty="0">
                <a:solidFill>
                  <a:srgbClr val="1F3864"/>
                </a:solidFill>
                <a:latin typeface="Calibri" pitchFamily="34" charset="0"/>
                <a:ea typeface="Calibri" pitchFamily="34" charset="-122"/>
                <a:cs typeface="Calibri" pitchFamily="34" charset="-120"/>
              </a:rPr>
              <a:t>Future window</a:t>
            </a:r>
            <a:endParaRPr lang="en-US" sz="1450" dirty="0"/>
          </a:p>
        </p:txBody>
      </p:sp>
      <p:sp>
        <p:nvSpPr>
          <p:cNvPr id="16" name="Text 12"/>
          <p:cNvSpPr txBox="1"/>
          <p:nvPr/>
        </p:nvSpPr>
        <p:spPr>
          <a:xfrm>
            <a:off x="8595360" y="5193792"/>
            <a:ext cx="2971800" cy="96012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Fixed share every year; global portfolio; receives recycled dividends and exits.</a:t>
            </a:r>
            <a:endParaRPr lang="en-US" sz="1200" dirty="0"/>
          </a:p>
        </p:txBody>
      </p:sp>
      <p:sp>
        <p:nvSpPr>
          <p:cNvPr id="17" name="Text 13"/>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proposal, extending Figure 10 of Policy Paper 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3 · RULES (1/2)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How much, from where, and for which projects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6035040"/>
                <a:gridCol w="3291840"/>
              </a:tblGrid>
              <a:tr h="67665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Inflow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Long-term savings raised from 25% to 30% of resource PNBP. Development window gets 60% of this flow in 2027–32, 30% in 2033–38, nothing after 2038 unless renewed by Law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Front-loads investment while domestic returns are highest; sunset keeps the future window as the long-run destination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Spending from savings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Borrow up to 5% of the future window's balance a year until 2034, total capped; repaid first from exits; no write-off without a Law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The 'spend from savings' element, bounded on Kuwait's 2026 model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Eligible projects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 70% resource conversion and energy transition; ≤ 30% other, of which the sovereignty tier ≤ 20%; public goods and social infrastructure excluded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A resource fund should convert resource wealth; social assets have no cash flow to recycle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Return floor</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Expected portfolio return ≥ 10-year government bond yield in real terms (DDMF 'sovereign floor', score 1)</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Keeps principal recyclable; below the floor the subsidy belongs in the APBN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Multiplier hurdle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Economic IRR ≥ 10% real, counting FX savings, taxes, jobs and TKDN, verified independently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Captures benefits a financial return misses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67665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Crowding in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 Rp 3.5 of other capital per Rp 1 of fund money (RKAP structure implies 3.8)</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Makes the multiplier explicit and measurable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Percentages are reference points for discussion, not calibrated recommendations.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3 · RULES (2/2)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Caps, instruments, timing and governance</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6035040"/>
                <a:gridCol w="3291840"/>
              </a:tblGrid>
              <a:tr h="77724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Element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Rule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77724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Concentration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 15% of the window in one project; ≤ 35% in one commodity chain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Limits correlated commodity risk</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77724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Instruments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Equity, subordinated debt, capped first-loss only; no guarantees or comfort letters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The RKAP flags contingent liabilities as a key risk</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77724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Disbursement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Stage-gated tranches at feasibility study, financial close and construction milestones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Money follows readiness, not announcements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77724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Counter-cyclical timing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When the reserve window pays out, approved projects may draw up to 1.5× the annual allocation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Fiscal multipliers are larger in downturns (Auerbach &amp; Gorodnichenko, 2012)</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77724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Governance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MoF owns the money; independent Development Window Investment Committee decides; DDMF executes under a mandate agreement; BPK audit; project-level reporting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Keeps the separation principle and adds a contractual channel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Percentages are reference points for discussion, not calibrated recommendations.</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PRECEDENTS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Others invest savings at home, and some got it wrong</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Text 4"/>
          <p:cNvSpPr txBox="1"/>
          <p:nvPr/>
        </p:nvSpPr>
        <p:spPr>
          <a:xfrm>
            <a:off x="548640" y="1417320"/>
            <a:ext cx="5486400" cy="365760"/>
          </a:xfrm>
          <a:prstGeom prst="rect">
            <a:avLst/>
          </a:prstGeom>
          <a:noFill/>
          <a:ln/>
        </p:spPr>
        <p:txBody>
          <a:bodyPr wrap="square" lIns="0" tIns="0" rIns="0" bIns="0" rtlCol="0" anchor="t"/>
          <a:lstStyle/>
          <a:p>
            <a:pPr indent="0" marL="0">
              <a:buNone/>
            </a:pPr>
            <a:r>
              <a:rPr lang="en-US" sz="1600" b="1" dirty="0">
                <a:solidFill>
                  <a:srgbClr val="2E7D4F"/>
                </a:solidFill>
                <a:latin typeface="Calibri" pitchFamily="34" charset="0"/>
                <a:ea typeface="Calibri" pitchFamily="34" charset="-122"/>
                <a:cs typeface="Calibri" pitchFamily="34" charset="-120"/>
              </a:rPr>
              <a:t>Models to follow</a:t>
            </a:r>
            <a:endParaRPr lang="en-US" sz="1600" dirty="0"/>
          </a:p>
        </p:txBody>
      </p:sp>
      <p:sp>
        <p:nvSpPr>
          <p:cNvPr id="8" name="Shape 5"/>
          <p:cNvSpPr/>
          <p:nvPr/>
        </p:nvSpPr>
        <p:spPr>
          <a:xfrm>
            <a:off x="548640" y="1828800"/>
            <a:ext cx="3566160" cy="2057400"/>
          </a:xfrm>
          <a:prstGeom prst="roundRect">
            <a:avLst>
              <a:gd name="adj" fmla="val 3556"/>
            </a:avLst>
          </a:prstGeom>
          <a:solidFill>
            <a:srgbClr val="F4F6FA"/>
          </a:solidFill>
          <a:ln w="12700">
            <a:solidFill>
              <a:srgbClr val="F4F6FA"/>
            </a:solidFill>
            <a:prstDash val="solid"/>
          </a:ln>
        </p:spPr>
      </p:sp>
      <p:sp>
        <p:nvSpPr>
          <p:cNvPr id="9" name="Shape 6"/>
          <p:cNvSpPr/>
          <p:nvPr/>
        </p:nvSpPr>
        <p:spPr>
          <a:xfrm>
            <a:off x="548640" y="1828800"/>
            <a:ext cx="3566160" cy="82296"/>
          </a:xfrm>
          <a:prstGeom prst="rect">
            <a:avLst/>
          </a:prstGeom>
          <a:solidFill>
            <a:srgbClr val="2E7D4F"/>
          </a:solidFill>
          <a:ln w="12700">
            <a:solidFill>
              <a:srgbClr val="2E7D4F"/>
            </a:solidFill>
            <a:prstDash val="solid"/>
          </a:ln>
        </p:spPr>
      </p:sp>
      <p:sp>
        <p:nvSpPr>
          <p:cNvPr id="10" name="Text 7"/>
          <p:cNvSpPr txBox="1"/>
          <p:nvPr/>
        </p:nvSpPr>
        <p:spPr>
          <a:xfrm>
            <a:off x="731520" y="2011680"/>
            <a:ext cx="3200400" cy="365760"/>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Nigeria · NSIA (2011)</a:t>
            </a:r>
            <a:endParaRPr lang="en-US" sz="1450" dirty="0"/>
          </a:p>
        </p:txBody>
      </p:sp>
      <p:sp>
        <p:nvSpPr>
          <p:cNvPr id="11" name="Text 8"/>
          <p:cNvSpPr txBox="1"/>
          <p:nvPr/>
        </p:nvSpPr>
        <p:spPr>
          <a:xfrm>
            <a:off x="731520" y="2423160"/>
            <a:ext cx="3200400" cy="13716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Three funds: stabilisation, future generations and a domestic infrastructure fund</a:t>
            </a:r>
            <a:endParaRPr lang="en-US" sz="1250" dirty="0"/>
          </a:p>
        </p:txBody>
      </p:sp>
      <p:sp>
        <p:nvSpPr>
          <p:cNvPr id="12" name="Shape 9"/>
          <p:cNvSpPr/>
          <p:nvPr/>
        </p:nvSpPr>
        <p:spPr>
          <a:xfrm>
            <a:off x="4297680" y="1828800"/>
            <a:ext cx="3566160" cy="2057400"/>
          </a:xfrm>
          <a:prstGeom prst="roundRect">
            <a:avLst>
              <a:gd name="adj" fmla="val 3556"/>
            </a:avLst>
          </a:prstGeom>
          <a:solidFill>
            <a:srgbClr val="F4F6FA"/>
          </a:solidFill>
          <a:ln w="12700">
            <a:solidFill>
              <a:srgbClr val="F4F6FA"/>
            </a:solidFill>
            <a:prstDash val="solid"/>
          </a:ln>
        </p:spPr>
      </p:sp>
      <p:sp>
        <p:nvSpPr>
          <p:cNvPr id="13" name="Shape 10"/>
          <p:cNvSpPr/>
          <p:nvPr/>
        </p:nvSpPr>
        <p:spPr>
          <a:xfrm>
            <a:off x="4297680" y="1828800"/>
            <a:ext cx="3566160" cy="82296"/>
          </a:xfrm>
          <a:prstGeom prst="rect">
            <a:avLst/>
          </a:prstGeom>
          <a:solidFill>
            <a:srgbClr val="2E7D4F"/>
          </a:solidFill>
          <a:ln w="12700">
            <a:solidFill>
              <a:srgbClr val="2E7D4F"/>
            </a:solidFill>
            <a:prstDash val="solid"/>
          </a:ln>
        </p:spPr>
      </p:sp>
      <p:sp>
        <p:nvSpPr>
          <p:cNvPr id="14" name="Text 11"/>
          <p:cNvSpPr txBox="1"/>
          <p:nvPr/>
        </p:nvSpPr>
        <p:spPr>
          <a:xfrm>
            <a:off x="4480560" y="2011680"/>
            <a:ext cx="3200400" cy="365760"/>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Ireland · ISIF (2014)</a:t>
            </a:r>
            <a:endParaRPr lang="en-US" sz="1450" dirty="0"/>
          </a:p>
        </p:txBody>
      </p:sp>
      <p:sp>
        <p:nvSpPr>
          <p:cNvPr id="15" name="Text 12"/>
          <p:cNvSpPr txBox="1"/>
          <p:nvPr/>
        </p:nvSpPr>
        <p:spPr>
          <a:xfrm>
            <a:off x="4480560" y="2423160"/>
            <a:ext cx="3200400" cy="13716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A pension reserve (savings) fund redirected to domestic investment with a 'double bottom line': return plus economic impact</a:t>
            </a:r>
            <a:endParaRPr lang="en-US" sz="1250" dirty="0"/>
          </a:p>
        </p:txBody>
      </p:sp>
      <p:sp>
        <p:nvSpPr>
          <p:cNvPr id="16" name="Shape 13"/>
          <p:cNvSpPr/>
          <p:nvPr/>
        </p:nvSpPr>
        <p:spPr>
          <a:xfrm>
            <a:off x="8046720" y="1828800"/>
            <a:ext cx="3566160" cy="2057400"/>
          </a:xfrm>
          <a:prstGeom prst="roundRect">
            <a:avLst>
              <a:gd name="adj" fmla="val 3556"/>
            </a:avLst>
          </a:prstGeom>
          <a:solidFill>
            <a:srgbClr val="F4F6FA"/>
          </a:solidFill>
          <a:ln w="12700">
            <a:solidFill>
              <a:srgbClr val="F4F6FA"/>
            </a:solidFill>
            <a:prstDash val="solid"/>
          </a:ln>
        </p:spPr>
      </p:sp>
      <p:sp>
        <p:nvSpPr>
          <p:cNvPr id="17" name="Shape 14"/>
          <p:cNvSpPr/>
          <p:nvPr/>
        </p:nvSpPr>
        <p:spPr>
          <a:xfrm>
            <a:off x="8046720" y="1828800"/>
            <a:ext cx="3566160" cy="82296"/>
          </a:xfrm>
          <a:prstGeom prst="rect">
            <a:avLst/>
          </a:prstGeom>
          <a:solidFill>
            <a:srgbClr val="2E7D4F"/>
          </a:solidFill>
          <a:ln w="12700">
            <a:solidFill>
              <a:srgbClr val="2E7D4F"/>
            </a:solidFill>
            <a:prstDash val="solid"/>
          </a:ln>
        </p:spPr>
      </p:sp>
      <p:sp>
        <p:nvSpPr>
          <p:cNvPr id="18" name="Text 15"/>
          <p:cNvSpPr txBox="1"/>
          <p:nvPr/>
        </p:nvSpPr>
        <p:spPr>
          <a:xfrm>
            <a:off x="8229600" y="2011680"/>
            <a:ext cx="3200400" cy="365760"/>
          </a:xfrm>
          <a:prstGeom prst="rect">
            <a:avLst/>
          </a:prstGeom>
          <a:noFill/>
          <a:ln/>
        </p:spPr>
        <p:txBody>
          <a:bodyPr wrap="square" lIns="0" tIns="0" rIns="0" bIns="0" rtlCol="0" anchor="t"/>
          <a:lstStyle/>
          <a:p>
            <a:pPr indent="0" marL="0">
              <a:buNone/>
            </a:pPr>
            <a:r>
              <a:rPr lang="en-US" sz="1450" b="1" dirty="0">
                <a:solidFill>
                  <a:srgbClr val="14213D"/>
                </a:solidFill>
                <a:latin typeface="Calibri" pitchFamily="34" charset="0"/>
                <a:ea typeface="Calibri" pitchFamily="34" charset="-122"/>
                <a:cs typeface="Calibri" pitchFamily="34" charset="-120"/>
              </a:rPr>
              <a:t>Malaysia · Khazanah Dana Impak</a:t>
            </a:r>
            <a:endParaRPr lang="en-US" sz="1450" dirty="0"/>
          </a:p>
        </p:txBody>
      </p:sp>
      <p:sp>
        <p:nvSpPr>
          <p:cNvPr id="19" name="Text 16"/>
          <p:cNvSpPr txBox="1"/>
          <p:nvPr/>
        </p:nvSpPr>
        <p:spPr>
          <a:xfrm>
            <a:off x="8229600" y="2423160"/>
            <a:ext cx="3200400" cy="13716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Ring-fenced impact capital; return floor = 10-year government bond yield (~3.5%)</a:t>
            </a:r>
            <a:endParaRPr lang="en-US" sz="1250" dirty="0"/>
          </a:p>
        </p:txBody>
      </p:sp>
      <p:sp>
        <p:nvSpPr>
          <p:cNvPr id="20" name="Text 17"/>
          <p:cNvSpPr txBox="1"/>
          <p:nvPr/>
        </p:nvSpPr>
        <p:spPr>
          <a:xfrm>
            <a:off x="548640" y="4069080"/>
            <a:ext cx="5486400" cy="365760"/>
          </a:xfrm>
          <a:prstGeom prst="rect">
            <a:avLst/>
          </a:prstGeom>
          <a:noFill/>
          <a:ln/>
        </p:spPr>
        <p:txBody>
          <a:bodyPr wrap="square" lIns="0" tIns="0" rIns="0" bIns="0" rtlCol="0" anchor="t"/>
          <a:lstStyle/>
          <a:p>
            <a:pPr indent="0" marL="0">
              <a:buNone/>
            </a:pPr>
            <a:r>
              <a:rPr lang="en-US" sz="1600" b="1" dirty="0">
                <a:solidFill>
                  <a:srgbClr val="9B2C2C"/>
                </a:solidFill>
                <a:latin typeface="Calibri" pitchFamily="34" charset="0"/>
                <a:ea typeface="Calibri" pitchFamily="34" charset="-122"/>
                <a:cs typeface="Calibri" pitchFamily="34" charset="-120"/>
              </a:rPr>
              <a:t>Warnings to heed</a:t>
            </a:r>
            <a:endParaRPr lang="en-US" sz="1600" dirty="0"/>
          </a:p>
        </p:txBody>
      </p:sp>
      <p:sp>
        <p:nvSpPr>
          <p:cNvPr id="21" name="Shape 18"/>
          <p:cNvSpPr/>
          <p:nvPr/>
        </p:nvSpPr>
        <p:spPr>
          <a:xfrm>
            <a:off x="548640" y="4480560"/>
            <a:ext cx="5440680" cy="1783080"/>
          </a:xfrm>
          <a:prstGeom prst="roundRect">
            <a:avLst>
              <a:gd name="adj" fmla="val 4103"/>
            </a:avLst>
          </a:prstGeom>
          <a:solidFill>
            <a:srgbClr val="F8ECEA"/>
          </a:solidFill>
          <a:ln w="12700">
            <a:solidFill>
              <a:srgbClr val="F8ECEA"/>
            </a:solidFill>
            <a:prstDash val="solid"/>
          </a:ln>
        </p:spPr>
      </p:sp>
      <p:sp>
        <p:nvSpPr>
          <p:cNvPr id="22" name="Text 19"/>
          <p:cNvSpPr txBox="1"/>
          <p:nvPr/>
        </p:nvSpPr>
        <p:spPr>
          <a:xfrm>
            <a:off x="731520" y="4617720"/>
            <a:ext cx="5029200" cy="365760"/>
          </a:xfrm>
          <a:prstGeom prst="rect">
            <a:avLst/>
          </a:prstGeom>
          <a:noFill/>
          <a:ln/>
        </p:spPr>
        <p:txBody>
          <a:bodyPr wrap="square" lIns="0" tIns="0" rIns="0" bIns="0" rtlCol="0" anchor="t"/>
          <a:lstStyle/>
          <a:p>
            <a:pPr indent="0" marL="0">
              <a:buNone/>
            </a:pPr>
            <a:r>
              <a:rPr lang="en-US" sz="1450" b="1" dirty="0">
                <a:solidFill>
                  <a:srgbClr val="9B2C2C"/>
                </a:solidFill>
                <a:latin typeface="Calibri" pitchFamily="34" charset="0"/>
                <a:ea typeface="Calibri" pitchFamily="34" charset="-122"/>
                <a:cs typeface="Calibri" pitchFamily="34" charset="-120"/>
              </a:rPr>
              <a:t>Timor-Leste · Greater Sunrise (2019)</a:t>
            </a:r>
            <a:endParaRPr lang="en-US" sz="1450" dirty="0"/>
          </a:p>
        </p:txBody>
      </p:sp>
      <p:sp>
        <p:nvSpPr>
          <p:cNvPr id="23" name="Text 20"/>
          <p:cNvSpPr txBox="1"/>
          <p:nvPr/>
        </p:nvSpPr>
        <p:spPr>
          <a:xfrm>
            <a:off x="731520" y="5029200"/>
            <a:ext cx="5029200" cy="1188720"/>
          </a:xfrm>
          <a:prstGeom prst="rect">
            <a:avLst/>
          </a:prstGeom>
          <a:noFill/>
          <a:ln/>
        </p:spPr>
        <p:txBody>
          <a:bodyPr wrap="square" lIns="0" tIns="0" rIns="0" bIns="0" rtlCol="0" anchor="t"/>
          <a:lstStyle/>
          <a:p>
            <a:pPr indent="0" marL="0">
              <a:buNone/>
            </a:pPr>
            <a:r>
              <a:rPr lang="en-US" sz="1250" dirty="0">
                <a:solidFill>
                  <a:srgbClr val="1F2A3C"/>
                </a:solidFill>
                <a:latin typeface="Calibri" pitchFamily="34" charset="0"/>
                <a:ea typeface="Calibri" pitchFamily="34" charset="-122"/>
                <a:cs typeface="Calibri" pitchFamily="34" charset="-120"/>
              </a:rPr>
              <a:t>US$650 million from the Petroleum Fund for a concentrated domestic bet, outside the ESI discipline</a:t>
            </a:r>
            <a:endParaRPr lang="en-US" sz="1250" dirty="0"/>
          </a:p>
        </p:txBody>
      </p:sp>
      <p:sp>
        <p:nvSpPr>
          <p:cNvPr id="24" name="Shape 21"/>
          <p:cNvSpPr/>
          <p:nvPr/>
        </p:nvSpPr>
        <p:spPr>
          <a:xfrm>
            <a:off x="6172200" y="4480560"/>
            <a:ext cx="5440680" cy="1783080"/>
          </a:xfrm>
          <a:prstGeom prst="roundRect">
            <a:avLst>
              <a:gd name="adj" fmla="val 4103"/>
            </a:avLst>
          </a:prstGeom>
          <a:solidFill>
            <a:srgbClr val="F8ECEA"/>
          </a:solidFill>
          <a:ln w="12700">
            <a:solidFill>
              <a:srgbClr val="F8ECEA"/>
            </a:solidFill>
            <a:prstDash val="solid"/>
          </a:ln>
        </p:spPr>
      </p:sp>
      <p:sp>
        <p:nvSpPr>
          <p:cNvPr id="25" name="Text 22"/>
          <p:cNvSpPr txBox="1"/>
          <p:nvPr/>
        </p:nvSpPr>
        <p:spPr>
          <a:xfrm>
            <a:off x="6355080" y="4617720"/>
            <a:ext cx="5029200" cy="365760"/>
          </a:xfrm>
          <a:prstGeom prst="rect">
            <a:avLst/>
          </a:prstGeom>
          <a:noFill/>
          <a:ln/>
        </p:spPr>
        <p:txBody>
          <a:bodyPr wrap="square" lIns="0" tIns="0" rIns="0" bIns="0" rtlCol="0" anchor="t"/>
          <a:lstStyle/>
          <a:p>
            <a:pPr indent="0" marL="0">
              <a:buNone/>
            </a:pPr>
            <a:r>
              <a:rPr lang="en-US" sz="1450" b="1" dirty="0">
                <a:solidFill>
                  <a:srgbClr val="9B2C2C"/>
                </a:solidFill>
                <a:latin typeface="Calibri" pitchFamily="34" charset="0"/>
                <a:ea typeface="Calibri" pitchFamily="34" charset="-122"/>
                <a:cs typeface="Calibri" pitchFamily="34" charset="-120"/>
              </a:rPr>
              <a:t>Malaysia · 1MDB</a:t>
            </a:r>
            <a:endParaRPr lang="en-US" sz="1450" dirty="0"/>
          </a:p>
        </p:txBody>
      </p:sp>
      <p:sp>
        <p:nvSpPr>
          <p:cNvPr id="26" name="Text 23"/>
          <p:cNvSpPr txBox="1"/>
          <p:nvPr/>
        </p:nvSpPr>
        <p:spPr>
          <a:xfrm>
            <a:off x="6355080" y="5029200"/>
            <a:ext cx="5029200" cy="1188720"/>
          </a:xfrm>
          <a:prstGeom prst="rect">
            <a:avLst/>
          </a:prstGeom>
          <a:noFill/>
          <a:ln/>
        </p:spPr>
        <p:txBody>
          <a:bodyPr wrap="square" lIns="0" tIns="0" rIns="0" bIns="0" rtlCol="0" anchor="t"/>
          <a:lstStyle/>
          <a:p>
            <a:pPr indent="0" marL="0">
              <a:buNone/>
            </a:pPr>
            <a:r>
              <a:rPr lang="en-US" sz="1250" dirty="0">
                <a:solidFill>
                  <a:srgbClr val="1F2A3C"/>
                </a:solidFill>
                <a:latin typeface="Calibri" pitchFamily="34" charset="0"/>
                <a:ea typeface="Calibri" pitchFamily="34" charset="-122"/>
                <a:cs typeface="Calibri" pitchFamily="34" charset="-120"/>
              </a:rPr>
              <a:t>A state investment vehicle that escaped oversight: the case for independent committees, audit and disclosure</a:t>
            </a:r>
            <a:endParaRPr lang="en-US" sz="1250" dirty="0"/>
          </a:p>
        </p:txBody>
      </p:sp>
      <p:sp>
        <p:nvSpPr>
          <p:cNvPr id="27" name="Text 2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Sources: NSIA Act 2011; ISIF (National Treasury Management Agency (Amendment) Act 2014); DDMF RKAP 2026; EITI; US Department of Justice (1MDB).</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THE PROJECT GATE</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Six tests every project must pass before any money moves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554480"/>
            <a:ext cx="3566160" cy="2057400"/>
          </a:xfrm>
          <a:prstGeom prst="roundRect">
            <a:avLst>
              <a:gd name="adj" fmla="val 3556"/>
            </a:avLst>
          </a:prstGeom>
          <a:solidFill>
            <a:srgbClr val="F4F6FA"/>
          </a:solidFill>
          <a:ln w="12700">
            <a:solidFill>
              <a:srgbClr val="F4F6FA"/>
            </a:solidFill>
            <a:prstDash val="solid"/>
          </a:ln>
        </p:spPr>
      </p:sp>
      <p:sp>
        <p:nvSpPr>
          <p:cNvPr id="8" name="Shape 5"/>
          <p:cNvSpPr/>
          <p:nvPr/>
        </p:nvSpPr>
        <p:spPr>
          <a:xfrm>
            <a:off x="777240" y="1783080"/>
            <a:ext cx="731520" cy="731520"/>
          </a:xfrm>
          <a:prstGeom prst="ellipse">
            <a:avLst/>
          </a:prstGeom>
          <a:solidFill>
            <a:srgbClr val="1F3864"/>
          </a:solidFill>
          <a:ln w="12700">
            <a:solidFill>
              <a:srgbClr val="1F3864"/>
            </a:solidFill>
            <a:prstDash val="solid"/>
          </a:ln>
        </p:spPr>
      </p:sp>
      <p:sp>
        <p:nvSpPr>
          <p:cNvPr id="9" name="Text 6"/>
          <p:cNvSpPr txBox="1"/>
          <p:nvPr/>
        </p:nvSpPr>
        <p:spPr>
          <a:xfrm>
            <a:off x="77724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10" name="Text 7"/>
          <p:cNvSpPr txBox="1"/>
          <p:nvPr/>
        </p:nvSpPr>
        <p:spPr>
          <a:xfrm>
            <a:off x="1691640" y="192024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Resource or sovereignty link</a:t>
            </a:r>
            <a:endParaRPr lang="en-US" sz="1700" dirty="0"/>
          </a:p>
        </p:txBody>
      </p:sp>
      <p:sp>
        <p:nvSpPr>
          <p:cNvPr id="11" name="Text 8"/>
          <p:cNvSpPr txBox="1"/>
          <p:nvPr/>
        </p:nvSpPr>
        <p:spPr>
          <a:xfrm>
            <a:off x="777240" y="265176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Converts resource wealth or replaces imports (≥ 70%), or builds the defence-industrial base (≤ 20%)</a:t>
            </a:r>
            <a:endParaRPr lang="en-US" sz="1300" dirty="0"/>
          </a:p>
        </p:txBody>
      </p:sp>
      <p:sp>
        <p:nvSpPr>
          <p:cNvPr id="12" name="Shape 9"/>
          <p:cNvSpPr/>
          <p:nvPr/>
        </p:nvSpPr>
        <p:spPr>
          <a:xfrm>
            <a:off x="4297680" y="1554480"/>
            <a:ext cx="3566160" cy="2057400"/>
          </a:xfrm>
          <a:prstGeom prst="roundRect">
            <a:avLst>
              <a:gd name="adj" fmla="val 3556"/>
            </a:avLst>
          </a:prstGeom>
          <a:solidFill>
            <a:srgbClr val="F4F6FA"/>
          </a:solidFill>
          <a:ln w="12700">
            <a:solidFill>
              <a:srgbClr val="F4F6FA"/>
            </a:solidFill>
            <a:prstDash val="solid"/>
          </a:ln>
        </p:spPr>
      </p:sp>
      <p:sp>
        <p:nvSpPr>
          <p:cNvPr id="13" name="Shape 10"/>
          <p:cNvSpPr/>
          <p:nvPr/>
        </p:nvSpPr>
        <p:spPr>
          <a:xfrm>
            <a:off x="4526280" y="1783080"/>
            <a:ext cx="731520" cy="731520"/>
          </a:xfrm>
          <a:prstGeom prst="ellipse">
            <a:avLst/>
          </a:prstGeom>
          <a:solidFill>
            <a:srgbClr val="1F3864"/>
          </a:solidFill>
          <a:ln w="12700">
            <a:solidFill>
              <a:srgbClr val="1F3864"/>
            </a:solidFill>
            <a:prstDash val="solid"/>
          </a:ln>
        </p:spPr>
      </p:sp>
      <p:sp>
        <p:nvSpPr>
          <p:cNvPr id="14" name="Text 11"/>
          <p:cNvSpPr txBox="1"/>
          <p:nvPr/>
        </p:nvSpPr>
        <p:spPr>
          <a:xfrm>
            <a:off x="452628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5" name="Text 12"/>
          <p:cNvSpPr txBox="1"/>
          <p:nvPr/>
        </p:nvSpPr>
        <p:spPr>
          <a:xfrm>
            <a:off x="5440680" y="192024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Return floor</a:t>
            </a:r>
            <a:endParaRPr lang="en-US" sz="1700" dirty="0"/>
          </a:p>
        </p:txBody>
      </p:sp>
      <p:sp>
        <p:nvSpPr>
          <p:cNvPr id="16" name="Text 13"/>
          <p:cNvSpPr txBox="1"/>
          <p:nvPr/>
        </p:nvSpPr>
        <p:spPr>
          <a:xfrm>
            <a:off x="4526280" y="265176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Real financial return ≥ 10-year SBN yield at portfolio level</a:t>
            </a:r>
            <a:endParaRPr lang="en-US" sz="1300" dirty="0"/>
          </a:p>
        </p:txBody>
      </p:sp>
      <p:sp>
        <p:nvSpPr>
          <p:cNvPr id="17" name="Shape 14"/>
          <p:cNvSpPr/>
          <p:nvPr/>
        </p:nvSpPr>
        <p:spPr>
          <a:xfrm>
            <a:off x="8046720" y="1554480"/>
            <a:ext cx="3566160" cy="2057400"/>
          </a:xfrm>
          <a:prstGeom prst="roundRect">
            <a:avLst>
              <a:gd name="adj" fmla="val 3556"/>
            </a:avLst>
          </a:prstGeom>
          <a:solidFill>
            <a:srgbClr val="F4F6FA"/>
          </a:solidFill>
          <a:ln w="12700">
            <a:solidFill>
              <a:srgbClr val="F4F6FA"/>
            </a:solidFill>
            <a:prstDash val="solid"/>
          </a:ln>
        </p:spPr>
      </p:sp>
      <p:sp>
        <p:nvSpPr>
          <p:cNvPr id="18" name="Shape 15"/>
          <p:cNvSpPr/>
          <p:nvPr/>
        </p:nvSpPr>
        <p:spPr>
          <a:xfrm>
            <a:off x="8275320" y="1783080"/>
            <a:ext cx="731520" cy="731520"/>
          </a:xfrm>
          <a:prstGeom prst="ellipse">
            <a:avLst/>
          </a:prstGeom>
          <a:solidFill>
            <a:srgbClr val="1F3864"/>
          </a:solidFill>
          <a:ln w="12700">
            <a:solidFill>
              <a:srgbClr val="1F3864"/>
            </a:solidFill>
            <a:prstDash val="solid"/>
          </a:ln>
        </p:spPr>
      </p:sp>
      <p:sp>
        <p:nvSpPr>
          <p:cNvPr id="19" name="Text 16"/>
          <p:cNvSpPr txBox="1"/>
          <p:nvPr/>
        </p:nvSpPr>
        <p:spPr>
          <a:xfrm>
            <a:off x="8275320" y="178308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20" name="Text 17"/>
          <p:cNvSpPr txBox="1"/>
          <p:nvPr/>
        </p:nvSpPr>
        <p:spPr>
          <a:xfrm>
            <a:off x="9189720" y="192024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Multiplier</a:t>
            </a:r>
            <a:endParaRPr lang="en-US" sz="1700" dirty="0"/>
          </a:p>
        </p:txBody>
      </p:sp>
      <p:sp>
        <p:nvSpPr>
          <p:cNvPr id="21" name="Text 18"/>
          <p:cNvSpPr txBox="1"/>
          <p:nvPr/>
        </p:nvSpPr>
        <p:spPr>
          <a:xfrm>
            <a:off x="8275320" y="265176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Economic IRR ≥ 10% real, independently verified</a:t>
            </a:r>
            <a:endParaRPr lang="en-US" sz="1300" dirty="0"/>
          </a:p>
        </p:txBody>
      </p:sp>
      <p:sp>
        <p:nvSpPr>
          <p:cNvPr id="22" name="Shape 19"/>
          <p:cNvSpPr/>
          <p:nvPr/>
        </p:nvSpPr>
        <p:spPr>
          <a:xfrm>
            <a:off x="548640" y="3794760"/>
            <a:ext cx="3566160" cy="2057400"/>
          </a:xfrm>
          <a:prstGeom prst="roundRect">
            <a:avLst>
              <a:gd name="adj" fmla="val 3556"/>
            </a:avLst>
          </a:prstGeom>
          <a:solidFill>
            <a:srgbClr val="F4F6FA"/>
          </a:solidFill>
          <a:ln w="12700">
            <a:solidFill>
              <a:srgbClr val="F4F6FA"/>
            </a:solidFill>
            <a:prstDash val="solid"/>
          </a:ln>
        </p:spPr>
      </p:sp>
      <p:sp>
        <p:nvSpPr>
          <p:cNvPr id="23" name="Shape 20"/>
          <p:cNvSpPr/>
          <p:nvPr/>
        </p:nvSpPr>
        <p:spPr>
          <a:xfrm>
            <a:off x="777240" y="4023360"/>
            <a:ext cx="731520" cy="731520"/>
          </a:xfrm>
          <a:prstGeom prst="ellipse">
            <a:avLst/>
          </a:prstGeom>
          <a:solidFill>
            <a:srgbClr val="1F3864"/>
          </a:solidFill>
          <a:ln w="12700">
            <a:solidFill>
              <a:srgbClr val="1F3864"/>
            </a:solidFill>
            <a:prstDash val="solid"/>
          </a:ln>
        </p:spPr>
      </p:sp>
      <p:sp>
        <p:nvSpPr>
          <p:cNvPr id="24" name="Text 21"/>
          <p:cNvSpPr txBox="1"/>
          <p:nvPr/>
        </p:nvSpPr>
        <p:spPr>
          <a:xfrm>
            <a:off x="777240" y="40233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5" name="Text 22"/>
          <p:cNvSpPr txBox="1"/>
          <p:nvPr/>
        </p:nvSpPr>
        <p:spPr>
          <a:xfrm>
            <a:off x="1691640" y="416052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Crowding in</a:t>
            </a:r>
            <a:endParaRPr lang="en-US" sz="1700" dirty="0"/>
          </a:p>
        </p:txBody>
      </p:sp>
      <p:sp>
        <p:nvSpPr>
          <p:cNvPr id="26" name="Text 23"/>
          <p:cNvSpPr txBox="1"/>
          <p:nvPr/>
        </p:nvSpPr>
        <p:spPr>
          <a:xfrm>
            <a:off x="777240" y="489204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 Rp 3.5 of other capital for every Rp 1 from the fund</a:t>
            </a:r>
            <a:endParaRPr lang="en-US" sz="1300" dirty="0"/>
          </a:p>
        </p:txBody>
      </p:sp>
      <p:sp>
        <p:nvSpPr>
          <p:cNvPr id="27" name="Shape 24"/>
          <p:cNvSpPr/>
          <p:nvPr/>
        </p:nvSpPr>
        <p:spPr>
          <a:xfrm>
            <a:off x="4297680" y="3794760"/>
            <a:ext cx="3566160" cy="2057400"/>
          </a:xfrm>
          <a:prstGeom prst="roundRect">
            <a:avLst>
              <a:gd name="adj" fmla="val 3556"/>
            </a:avLst>
          </a:prstGeom>
          <a:solidFill>
            <a:srgbClr val="F4F6FA"/>
          </a:solidFill>
          <a:ln w="12700">
            <a:solidFill>
              <a:srgbClr val="F4F6FA"/>
            </a:solidFill>
            <a:prstDash val="solid"/>
          </a:ln>
        </p:spPr>
      </p:sp>
      <p:sp>
        <p:nvSpPr>
          <p:cNvPr id="28" name="Shape 25"/>
          <p:cNvSpPr/>
          <p:nvPr/>
        </p:nvSpPr>
        <p:spPr>
          <a:xfrm>
            <a:off x="4526280" y="4023360"/>
            <a:ext cx="731520" cy="731520"/>
          </a:xfrm>
          <a:prstGeom prst="ellipse">
            <a:avLst/>
          </a:prstGeom>
          <a:solidFill>
            <a:srgbClr val="1F3864"/>
          </a:solidFill>
          <a:ln w="12700">
            <a:solidFill>
              <a:srgbClr val="1F3864"/>
            </a:solidFill>
            <a:prstDash val="solid"/>
          </a:ln>
        </p:spPr>
      </p:sp>
      <p:sp>
        <p:nvSpPr>
          <p:cNvPr id="29" name="Text 26"/>
          <p:cNvSpPr txBox="1"/>
          <p:nvPr/>
        </p:nvSpPr>
        <p:spPr>
          <a:xfrm>
            <a:off x="4526280" y="40233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5</a:t>
            </a:r>
            <a:endParaRPr lang="en-US" sz="2600" dirty="0"/>
          </a:p>
        </p:txBody>
      </p:sp>
      <p:sp>
        <p:nvSpPr>
          <p:cNvPr id="30" name="Text 27"/>
          <p:cNvSpPr txBox="1"/>
          <p:nvPr/>
        </p:nvSpPr>
        <p:spPr>
          <a:xfrm>
            <a:off x="5440680" y="416052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Concentration</a:t>
            </a:r>
            <a:endParaRPr lang="en-US" sz="1700" dirty="0"/>
          </a:p>
        </p:txBody>
      </p:sp>
      <p:sp>
        <p:nvSpPr>
          <p:cNvPr id="31" name="Text 28"/>
          <p:cNvSpPr txBox="1"/>
          <p:nvPr/>
        </p:nvSpPr>
        <p:spPr>
          <a:xfrm>
            <a:off x="4526280" y="489204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 15% per project, ≤ 35% per commodity chain; no guarantees</a:t>
            </a:r>
            <a:endParaRPr lang="en-US" sz="1300" dirty="0"/>
          </a:p>
        </p:txBody>
      </p:sp>
      <p:sp>
        <p:nvSpPr>
          <p:cNvPr id="32" name="Shape 29"/>
          <p:cNvSpPr/>
          <p:nvPr/>
        </p:nvSpPr>
        <p:spPr>
          <a:xfrm>
            <a:off x="8046720" y="3794760"/>
            <a:ext cx="3566160" cy="2057400"/>
          </a:xfrm>
          <a:prstGeom prst="roundRect">
            <a:avLst>
              <a:gd name="adj" fmla="val 3556"/>
            </a:avLst>
          </a:prstGeom>
          <a:solidFill>
            <a:srgbClr val="F4F6FA"/>
          </a:solidFill>
          <a:ln w="12700">
            <a:solidFill>
              <a:srgbClr val="F4F6FA"/>
            </a:solidFill>
            <a:prstDash val="solid"/>
          </a:ln>
        </p:spPr>
      </p:sp>
      <p:sp>
        <p:nvSpPr>
          <p:cNvPr id="33" name="Shape 30"/>
          <p:cNvSpPr/>
          <p:nvPr/>
        </p:nvSpPr>
        <p:spPr>
          <a:xfrm>
            <a:off x="8275320" y="4023360"/>
            <a:ext cx="731520" cy="731520"/>
          </a:xfrm>
          <a:prstGeom prst="ellipse">
            <a:avLst/>
          </a:prstGeom>
          <a:solidFill>
            <a:srgbClr val="B8901E"/>
          </a:solidFill>
          <a:ln w="12700">
            <a:solidFill>
              <a:srgbClr val="B8901E"/>
            </a:solidFill>
            <a:prstDash val="solid"/>
          </a:ln>
        </p:spPr>
      </p:sp>
      <p:sp>
        <p:nvSpPr>
          <p:cNvPr id="34" name="Text 31"/>
          <p:cNvSpPr txBox="1"/>
          <p:nvPr/>
        </p:nvSpPr>
        <p:spPr>
          <a:xfrm>
            <a:off x="8275320" y="40233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a:t>
            </a:r>
            <a:endParaRPr lang="en-US" sz="2600" dirty="0"/>
          </a:p>
        </p:txBody>
      </p:sp>
      <p:sp>
        <p:nvSpPr>
          <p:cNvPr id="35" name="Text 32"/>
          <p:cNvSpPr txBox="1"/>
          <p:nvPr/>
        </p:nvSpPr>
        <p:spPr>
          <a:xfrm>
            <a:off x="9189720" y="4160520"/>
            <a:ext cx="2286000" cy="457200"/>
          </a:xfrm>
          <a:prstGeom prst="rect">
            <a:avLst/>
          </a:prstGeom>
          <a:noFill/>
          <a:ln/>
        </p:spPr>
        <p:txBody>
          <a:bodyPr wrap="square" lIns="0" tIns="0" rIns="0" bIns="0" rtlCol="0" anchor="t"/>
          <a:lstStyle/>
          <a:p>
            <a:pPr indent="0" marL="0">
              <a:buNone/>
            </a:pPr>
            <a:r>
              <a:rPr lang="en-US" sz="1700" b="1" dirty="0">
                <a:solidFill>
                  <a:srgbClr val="14213D"/>
                </a:solidFill>
                <a:latin typeface="Calibri" pitchFamily="34" charset="0"/>
                <a:ea typeface="Calibri" pitchFamily="34" charset="-122"/>
                <a:cs typeface="Calibri" pitchFamily="34" charset="-120"/>
              </a:rPr>
              <a:t>Measured impact</a:t>
            </a:r>
            <a:endParaRPr lang="en-US" sz="1700" dirty="0"/>
          </a:p>
        </p:txBody>
      </p:sp>
      <p:sp>
        <p:nvSpPr>
          <p:cNvPr id="36" name="Text 33"/>
          <p:cNvSpPr txBox="1"/>
          <p:nvPr/>
        </p:nvSpPr>
        <p:spPr>
          <a:xfrm>
            <a:off x="8275320" y="4892040"/>
            <a:ext cx="3154680" cy="868680"/>
          </a:xfrm>
          <a:prstGeom prst="rect">
            <a:avLst/>
          </a:prstGeom>
          <a:noFill/>
          <a:ln/>
        </p:spPr>
        <p:txBody>
          <a:bodyPr wrap="square" lIns="0" tIns="0" rIns="0" bIns="0" rtlCol="0" anchor="t"/>
          <a:lstStyle/>
          <a:p>
            <a:pPr indent="0" marL="0">
              <a:buNone/>
            </a:pPr>
            <a:r>
              <a:rPr lang="en-US" sz="1300" dirty="0">
                <a:solidFill>
                  <a:srgbClr val="4A5568"/>
                </a:solidFill>
                <a:latin typeface="Calibri" pitchFamily="34" charset="0"/>
                <a:ea typeface="Calibri" pitchFamily="34" charset="-122"/>
                <a:cs typeface="Calibri" pitchFamily="34" charset="-120"/>
              </a:rPr>
              <a:t>Quantified baseline and targets for jobs, TKDN, FX and emissions</a:t>
            </a:r>
            <a:endParaRPr lang="en-US" sz="1300" dirty="0"/>
          </a:p>
        </p:txBody>
      </p:sp>
      <p:sp>
        <p:nvSpPr>
          <p:cNvPr id="37" name="Text 3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Test 6 responds to the RKAP 2026, where every development-impact KPI target is currently zero.</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DEFENCE AND SOVEREIGNTY</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Rp 2,125 T for defence: build at home, use resource dollars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371600"/>
            <a:ext cx="2926080" cy="1828800"/>
          </a:xfrm>
          <a:prstGeom prst="roundRect">
            <a:avLst>
              <a:gd name="adj" fmla="val 4000"/>
            </a:avLst>
          </a:prstGeom>
          <a:solidFill>
            <a:srgbClr val="F4F6FA"/>
          </a:solidFill>
          <a:ln w="12700">
            <a:solidFill>
              <a:srgbClr val="F4F6FA"/>
            </a:solidFill>
            <a:prstDash val="solid"/>
          </a:ln>
        </p:spPr>
      </p:sp>
      <p:sp>
        <p:nvSpPr>
          <p:cNvPr id="8" name="Text 5"/>
          <p:cNvSpPr txBox="1"/>
          <p:nvPr/>
        </p:nvSpPr>
        <p:spPr>
          <a:xfrm>
            <a:off x="731520" y="1508760"/>
            <a:ext cx="2560320" cy="640080"/>
          </a:xfrm>
          <a:prstGeom prst="rect">
            <a:avLst/>
          </a:prstGeom>
          <a:noFill/>
          <a:ln/>
        </p:spPr>
        <p:txBody>
          <a:bodyPr wrap="square" lIns="0" tIns="0" rIns="0" bIns="0" rtlCol="0" anchor="t">
            <a:normAutofit/>
          </a:bodyPr>
          <a:lstStyle/>
          <a:p>
            <a:pPr indent="0" marL="0">
              <a:buNone/>
            </a:pPr>
            <a:r>
              <a:rPr lang="en-US" sz="2200" b="1" dirty="0">
                <a:solidFill>
                  <a:srgbClr val="1F3864"/>
                </a:solidFill>
                <a:latin typeface="Cambria" pitchFamily="34" charset="0"/>
                <a:ea typeface="Cambria" pitchFamily="34" charset="-122"/>
                <a:cs typeface="Cambria" pitchFamily="34" charset="-120"/>
              </a:rPr>
              <a:t>Rp 2,125 T</a:t>
            </a:r>
            <a:endParaRPr lang="en-US" sz="2200" dirty="0"/>
          </a:p>
        </p:txBody>
      </p:sp>
      <p:sp>
        <p:nvSpPr>
          <p:cNvPr id="9" name="Text 6"/>
          <p:cNvSpPr txBox="1"/>
          <p:nvPr/>
        </p:nvSpPr>
        <p:spPr>
          <a:xfrm>
            <a:off x="731520" y="2148840"/>
            <a:ext cx="2560320" cy="9601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2027–34: submarines, USV, fast attack craft, carrier Sriwijaya refit, fighter squadrons, MRO</a:t>
            </a:r>
            <a:endParaRPr lang="en-US" sz="1250" dirty="0"/>
          </a:p>
        </p:txBody>
      </p:sp>
      <p:sp>
        <p:nvSpPr>
          <p:cNvPr id="10" name="Shape 7"/>
          <p:cNvSpPr/>
          <p:nvPr/>
        </p:nvSpPr>
        <p:spPr>
          <a:xfrm>
            <a:off x="3611880" y="1371600"/>
            <a:ext cx="2926080" cy="1828800"/>
          </a:xfrm>
          <a:prstGeom prst="roundRect">
            <a:avLst>
              <a:gd name="adj" fmla="val 4000"/>
            </a:avLst>
          </a:prstGeom>
          <a:solidFill>
            <a:srgbClr val="F4F6FA"/>
          </a:solidFill>
          <a:ln w="12700">
            <a:solidFill>
              <a:srgbClr val="F4F6FA"/>
            </a:solidFill>
            <a:prstDash val="solid"/>
          </a:ln>
        </p:spPr>
      </p:sp>
      <p:sp>
        <p:nvSpPr>
          <p:cNvPr id="11" name="Text 8"/>
          <p:cNvSpPr txBox="1"/>
          <p:nvPr/>
        </p:nvSpPr>
        <p:spPr>
          <a:xfrm>
            <a:off x="3794760" y="1508760"/>
            <a:ext cx="2560320" cy="640080"/>
          </a:xfrm>
          <a:prstGeom prst="rect">
            <a:avLst/>
          </a:prstGeom>
          <a:noFill/>
          <a:ln/>
        </p:spPr>
        <p:txBody>
          <a:bodyPr wrap="square" lIns="0" tIns="0" rIns="0" bIns="0" rtlCol="0" anchor="t">
            <a:normAutofit/>
          </a:bodyPr>
          <a:lstStyle/>
          <a:p>
            <a:pPr indent="0" marL="0">
              <a:buNone/>
            </a:pPr>
            <a:r>
              <a:rPr lang="en-US" sz="2200" b="1" dirty="0">
                <a:solidFill>
                  <a:srgbClr val="9B2C2C"/>
                </a:solidFill>
                <a:latin typeface="Cambria" pitchFamily="34" charset="0"/>
                <a:ea typeface="Cambria" pitchFamily="34" charset="-122"/>
                <a:cs typeface="Cambria" pitchFamily="34" charset="-120"/>
              </a:rPr>
              <a:t>≈ Rp 266 T / yr</a:t>
            </a:r>
            <a:endParaRPr lang="en-US" sz="2200" dirty="0"/>
          </a:p>
        </p:txBody>
      </p:sp>
      <p:sp>
        <p:nvSpPr>
          <p:cNvPr id="12" name="Text 9"/>
          <p:cNvSpPr txBox="1"/>
          <p:nvPr/>
        </p:nvSpPr>
        <p:spPr>
          <a:xfrm>
            <a:off x="3794760" y="2148840"/>
            <a:ext cx="2560320" cy="9601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 1% of GDP, vs Kemhan 2026 budget Rp 187 T (alutsista Rp 84.5 T)</a:t>
            </a:r>
            <a:endParaRPr lang="en-US" sz="1250" dirty="0"/>
          </a:p>
        </p:txBody>
      </p:sp>
      <p:sp>
        <p:nvSpPr>
          <p:cNvPr id="13" name="Shape 10"/>
          <p:cNvSpPr/>
          <p:nvPr/>
        </p:nvSpPr>
        <p:spPr>
          <a:xfrm>
            <a:off x="548640" y="3337560"/>
            <a:ext cx="2926080" cy="1828800"/>
          </a:xfrm>
          <a:prstGeom prst="roundRect">
            <a:avLst>
              <a:gd name="adj" fmla="val 4000"/>
            </a:avLst>
          </a:prstGeom>
          <a:solidFill>
            <a:srgbClr val="F4F6FA"/>
          </a:solidFill>
          <a:ln w="12700">
            <a:solidFill>
              <a:srgbClr val="F4F6FA"/>
            </a:solidFill>
            <a:prstDash val="solid"/>
          </a:ln>
        </p:spPr>
      </p:sp>
      <p:sp>
        <p:nvSpPr>
          <p:cNvPr id="14" name="Text 11"/>
          <p:cNvSpPr txBox="1"/>
          <p:nvPr/>
        </p:nvSpPr>
        <p:spPr>
          <a:xfrm>
            <a:off x="731520" y="3474720"/>
            <a:ext cx="2560320" cy="640080"/>
          </a:xfrm>
          <a:prstGeom prst="rect">
            <a:avLst/>
          </a:prstGeom>
          <a:noFill/>
          <a:ln/>
        </p:spPr>
        <p:txBody>
          <a:bodyPr wrap="square" lIns="0" tIns="0" rIns="0" bIns="0" rtlCol="0" anchor="t">
            <a:normAutofit/>
          </a:bodyPr>
          <a:lstStyle/>
          <a:p>
            <a:pPr indent="0" marL="0">
              <a:buNone/>
            </a:pPr>
            <a:r>
              <a:rPr lang="en-US" sz="2200" b="1" dirty="0">
                <a:solidFill>
                  <a:srgbClr val="9B2C2C"/>
                </a:solidFill>
                <a:latin typeface="Cambria" pitchFamily="34" charset="0"/>
                <a:ea typeface="Cambria" pitchFamily="34" charset="-122"/>
                <a:cs typeface="Cambria" pitchFamily="34" charset="-120"/>
              </a:rPr>
              <a:t>US$ 72 bn</a:t>
            </a:r>
            <a:endParaRPr lang="en-US" sz="2200" dirty="0"/>
          </a:p>
        </p:txBody>
      </p:sp>
      <p:sp>
        <p:nvSpPr>
          <p:cNvPr id="15" name="Text 12"/>
          <p:cNvSpPr txBox="1"/>
          <p:nvPr/>
        </p:nvSpPr>
        <p:spPr>
          <a:xfrm>
            <a:off x="731520" y="4114800"/>
            <a:ext cx="2560320" cy="9601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imported at 40% domestic content; US$ 48 bn at 60%</a:t>
            </a:r>
            <a:endParaRPr lang="en-US" sz="1250" dirty="0"/>
          </a:p>
        </p:txBody>
      </p:sp>
      <p:sp>
        <p:nvSpPr>
          <p:cNvPr id="16" name="Shape 13"/>
          <p:cNvSpPr/>
          <p:nvPr/>
        </p:nvSpPr>
        <p:spPr>
          <a:xfrm>
            <a:off x="3611880" y="3337560"/>
            <a:ext cx="2926080" cy="1828800"/>
          </a:xfrm>
          <a:prstGeom prst="roundRect">
            <a:avLst>
              <a:gd name="adj" fmla="val 4000"/>
            </a:avLst>
          </a:prstGeom>
          <a:solidFill>
            <a:srgbClr val="F4F6FA"/>
          </a:solidFill>
          <a:ln w="12700">
            <a:solidFill>
              <a:srgbClr val="F4F6FA"/>
            </a:solidFill>
            <a:prstDash val="solid"/>
          </a:ln>
        </p:spPr>
      </p:sp>
      <p:sp>
        <p:nvSpPr>
          <p:cNvPr id="17" name="Text 14"/>
          <p:cNvSpPr txBox="1"/>
          <p:nvPr/>
        </p:nvSpPr>
        <p:spPr>
          <a:xfrm>
            <a:off x="3794760" y="3474720"/>
            <a:ext cx="2560320" cy="640080"/>
          </a:xfrm>
          <a:prstGeom prst="rect">
            <a:avLst/>
          </a:prstGeom>
          <a:noFill/>
          <a:ln/>
        </p:spPr>
        <p:txBody>
          <a:bodyPr wrap="square" lIns="0" tIns="0" rIns="0" bIns="0" rtlCol="0" anchor="t">
            <a:normAutofit/>
          </a:bodyPr>
          <a:lstStyle/>
          <a:p>
            <a:pPr indent="0" marL="0">
              <a:buNone/>
            </a:pPr>
            <a:r>
              <a:rPr lang="en-US" sz="2200" b="1" dirty="0">
                <a:solidFill>
                  <a:srgbClr val="3E7C7B"/>
                </a:solidFill>
                <a:latin typeface="Cambria" pitchFamily="34" charset="0"/>
                <a:ea typeface="Cambria" pitchFamily="34" charset="-122"/>
                <a:cs typeface="Cambria" pitchFamily="34" charset="-120"/>
              </a:rPr>
              <a:t>7.0 m</a:t>
            </a:r>
            <a:endParaRPr lang="en-US" sz="2200" dirty="0"/>
          </a:p>
        </p:txBody>
      </p:sp>
      <p:sp>
        <p:nvSpPr>
          <p:cNvPr id="18" name="Text 15"/>
          <p:cNvSpPr txBox="1"/>
          <p:nvPr/>
        </p:nvSpPr>
        <p:spPr>
          <a:xfrm>
            <a:off x="3794760" y="4114800"/>
            <a:ext cx="2560320" cy="96012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job-years; +1.7 m for every 10 points of domestic content</a:t>
            </a:r>
            <a:endParaRPr lang="en-US" sz="1250" dirty="0"/>
          </a:p>
        </p:txBody>
      </p:sp>
      <p:sp>
        <p:nvSpPr>
          <p:cNvPr id="19" name="Shape 16"/>
          <p:cNvSpPr/>
          <p:nvPr/>
        </p:nvSpPr>
        <p:spPr>
          <a:xfrm>
            <a:off x="6766560" y="1371600"/>
            <a:ext cx="4892040" cy="4892040"/>
          </a:xfrm>
          <a:prstGeom prst="roundRect">
            <a:avLst>
              <a:gd name="adj" fmla="val 1495"/>
            </a:avLst>
          </a:prstGeom>
          <a:solidFill>
            <a:srgbClr val="F7F3E6"/>
          </a:solidFill>
          <a:ln w="12700">
            <a:solidFill>
              <a:srgbClr val="F7F3E6"/>
            </a:solidFill>
            <a:prstDash val="solid"/>
          </a:ln>
        </p:spPr>
      </p:sp>
      <p:sp>
        <p:nvSpPr>
          <p:cNvPr id="20" name="Text 17"/>
          <p:cNvSpPr txBox="1"/>
          <p:nvPr/>
        </p:nvSpPr>
        <p:spPr>
          <a:xfrm>
            <a:off x="6949440" y="1481328"/>
            <a:ext cx="4572000" cy="365760"/>
          </a:xfrm>
          <a:prstGeom prst="rect">
            <a:avLst/>
          </a:prstGeom>
          <a:noFill/>
          <a:ln/>
        </p:spPr>
        <p:txBody>
          <a:bodyPr wrap="square" lIns="0" tIns="0" rIns="0" bIns="0" rtlCol="0" anchor="t"/>
          <a:lstStyle/>
          <a:p>
            <a:pPr indent="0" marL="0">
              <a:buNone/>
            </a:pPr>
            <a:r>
              <a:rPr lang="en-US" sz="1600" b="1" dirty="0">
                <a:solidFill>
                  <a:srgbClr val="B8901E"/>
                </a:solidFill>
                <a:latin typeface="Calibri" pitchFamily="34" charset="0"/>
                <a:ea typeface="Calibri" pitchFamily="34" charset="-122"/>
                <a:cs typeface="Calibri" pitchFamily="34" charset="-120"/>
              </a:rPr>
              <a:t>Rules for the defence programme</a:t>
            </a:r>
            <a:endParaRPr lang="en-US" sz="1600" dirty="0"/>
          </a:p>
        </p:txBody>
      </p:sp>
      <p:sp>
        <p:nvSpPr>
          <p:cNvPr id="21" name="Text 18"/>
          <p:cNvSpPr txBox="1"/>
          <p:nvPr/>
        </p:nvSpPr>
        <p:spPr>
          <a:xfrm>
            <a:off x="6949440" y="1920240"/>
            <a:ext cx="4572000" cy="429768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Fund holds only the domestic industrial share (yards, components, MRO) within the 20% sovereignty tier; platforms, crews and operations stay on the APBN</a:t>
            </a:r>
            <a:endParaRPr lang="en-US" sz="1200" dirty="0"/>
          </a:p>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Imported share financed by loans funded by retained resource export proceeds (DHE SDA), not foreign loans</a:t>
            </a:r>
            <a:endParaRPr lang="en-US" sz="1200" dirty="0"/>
          </a:p>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Domestic-content target 60%: submarines and fast attack craft at domestic yards; MRO at home; offsets under Law 16/2012; KKIP endorsement</a:t>
            </a:r>
            <a:endParaRPr lang="en-US" sz="1200" dirty="0"/>
          </a:p>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SME suppliers brought in through Develop–Off-taker–Certification–Upgrading programmes</a:t>
            </a:r>
            <a:endParaRPr lang="en-US" sz="1200" dirty="0"/>
          </a:p>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Confirm additionality against the existing alutsista budget; phase deliveries to keep defence imports ≤ US$ 7 bn a year</a:t>
            </a:r>
            <a:endParaRPr lang="en-US" sz="1200" dirty="0"/>
          </a:p>
          <a:p>
            <a:pPr marL="203200" indent="-203200">
              <a:spcAft>
                <a:spcPts val="600"/>
              </a:spcAft>
              <a:buSzPct val="100000"/>
              <a:buChar char="•"/>
            </a:pPr>
            <a:r>
              <a:rPr lang="en-US" sz="1200" dirty="0">
                <a:solidFill>
                  <a:srgbClr val="1F2A3C"/>
                </a:solidFill>
                <a:latin typeface="Calibri" pitchFamily="34" charset="0"/>
                <a:ea typeface="Calibri" pitchFamily="34" charset="-122"/>
                <a:cs typeface="Calibri" pitchFamily="34" charset="-120"/>
              </a:rPr>
              <a:t>Equity only, no guarantees; classified details to DPR Commission I and BPK in closed session</a:t>
            </a:r>
            <a:endParaRPr lang="en-US" sz="1200" dirty="0"/>
          </a:p>
        </p:txBody>
      </p:sp>
      <p:sp>
        <p:nvSpPr>
          <p:cNvPr id="22" name="Text 19"/>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Sources: October 2026 figures; CNBC Indonesia (2026) and ASPI (2026) on the Kemhan budget; Law 16/2012; Triantama (2026); author's model (integrated paper, Sections 2.5, 7.3, 8.5, 10.3).</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ILLUSTRATIVE SIMULATION</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Saving only versus aggressive, 2027–2050</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Illustrative simulation of fund assets and development equity">    </p:cNvPr>
          <p:cNvPicPr>
            <a:picLocks noChangeAspect="1"/>
          </p:cNvPicPr>
          <p:nvPr/>
        </p:nvPicPr>
        <p:blipFill>
          <a:blip r:embed="rId1"/>
          <a:stretch>
            <a:fillRect/>
          </a:stretch>
        </p:blipFill>
        <p:spPr>
          <a:xfrm>
            <a:off x="365760" y="1371600"/>
            <a:ext cx="8138160" cy="3255264"/>
          </a:xfrm>
          <a:prstGeom prst="rect">
            <a:avLst/>
          </a:prstGeom>
        </p:spPr>
      </p:pic>
      <p:sp>
        <p:nvSpPr>
          <p:cNvPr id="8" name="Shape 4"/>
          <p:cNvSpPr/>
          <p:nvPr/>
        </p:nvSpPr>
        <p:spPr>
          <a:xfrm>
            <a:off x="8686800" y="1463040"/>
            <a:ext cx="3017520" cy="4800600"/>
          </a:xfrm>
          <a:prstGeom prst="roundRect">
            <a:avLst>
              <a:gd name="adj" fmla="val 2424"/>
            </a:avLst>
          </a:prstGeom>
          <a:solidFill>
            <a:srgbClr val="F4F6FA"/>
          </a:solidFill>
          <a:ln w="12700">
            <a:solidFill>
              <a:srgbClr val="F4F6FA"/>
            </a:solidFill>
            <a:prstDash val="solid"/>
          </a:ln>
        </p:spPr>
      </p:sp>
      <p:sp>
        <p:nvSpPr>
          <p:cNvPr id="9" name="Text 5"/>
          <p:cNvSpPr txBox="1"/>
          <p:nvPr/>
        </p:nvSpPr>
        <p:spPr>
          <a:xfrm>
            <a:off x="8869680" y="1600200"/>
            <a:ext cx="274320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Assumptions</a:t>
            </a:r>
            <a:endParaRPr lang="en-US" sz="1500" dirty="0"/>
          </a:p>
        </p:txBody>
      </p:sp>
      <p:sp>
        <p:nvSpPr>
          <p:cNvPr id="10" name="Text 6"/>
          <p:cNvSpPr txBox="1"/>
          <p:nvPr/>
        </p:nvSpPr>
        <p:spPr>
          <a:xfrm>
            <a:off x="8869680" y="2011680"/>
            <a:ext cx="2743200" cy="41148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Resource PNBP Rp 250 T a year, falling 2% a year after 2030</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Future window earns 4% real; 3% of balance to the budget each year</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Development equity yields 4.5% real from year 5; exited over years 10–15</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Constant 2026 prices; taxes and GDP effects excluded</a:t>
            </a:r>
            <a:endParaRPr lang="en-US" sz="1250" dirty="0"/>
          </a:p>
        </p:txBody>
      </p:sp>
      <p:sp>
        <p:nvSpPr>
          <p:cNvPr id="11" name="Shape 7"/>
          <p:cNvSpPr/>
          <p:nvPr/>
        </p:nvSpPr>
        <p:spPr>
          <a:xfrm>
            <a:off x="548640" y="5212080"/>
            <a:ext cx="7863840" cy="1051560"/>
          </a:xfrm>
          <a:prstGeom prst="roundRect">
            <a:avLst>
              <a:gd name="adj" fmla="val 6957"/>
            </a:avLst>
          </a:prstGeom>
          <a:solidFill>
            <a:srgbClr val="EEF2F8"/>
          </a:solidFill>
          <a:ln w="12700">
            <a:solidFill>
              <a:srgbClr val="EEF2F8"/>
            </a:solidFill>
            <a:prstDash val="solid"/>
          </a:ln>
        </p:spPr>
      </p:sp>
      <p:sp>
        <p:nvSpPr>
          <p:cNvPr id="12" name="Text 8"/>
          <p:cNvSpPr txBox="1"/>
          <p:nvPr/>
        </p:nvSpPr>
        <p:spPr>
          <a:xfrm>
            <a:off x="731520" y="5257800"/>
            <a:ext cx="7498080" cy="96012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Reading: </a:t>
            </a:r>
            <a:pPr indent="0" marL="0">
              <a:buNone/>
            </a:pPr>
            <a:r>
              <a:rPr lang="en-US" sz="1300" dirty="0">
                <a:solidFill>
                  <a:srgbClr val="1F2A3C"/>
                </a:solidFill>
                <a:latin typeface="Calibri" pitchFamily="34" charset="0"/>
                <a:ea typeface="Calibri" pitchFamily="34" charset="-122"/>
                <a:cs typeface="Calibri" pitchFamily="34" charset="-120"/>
              </a:rPr>
              <a:t>the aggressive path gives up about Rp 36 T of budget draws to 2035, deploys Rp 428 T of equity and mobilises about Rp 2,039 T of investment; total fund assets in 2050 are higher (Rp 1,845 T against Rp 1,438 T).</a:t>
            </a:r>
            <a:endParaRPr lang="en-US" sz="1300" dirty="0"/>
          </a:p>
        </p:txBody>
      </p:sp>
      <p:sp>
        <p:nvSpPr>
          <p:cNvPr id="13" name="Text 9"/>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illustrative model. Parameters are assumptions to show trade-offs, not forecasts.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FUNDING</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Natural resources can fund about half of the pipeline</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Resource-first funding stack, 2027–2034">    </p:cNvPr>
          <p:cNvPicPr>
            <a:picLocks noChangeAspect="1"/>
          </p:cNvPicPr>
          <p:nvPr/>
        </p:nvPicPr>
        <p:blipFill>
          <a:blip r:embed="rId1"/>
          <a:stretch>
            <a:fillRect/>
          </a:stretch>
        </p:blipFill>
        <p:spPr>
          <a:xfrm>
            <a:off x="365760" y="1325880"/>
            <a:ext cx="7955280" cy="3818534"/>
          </a:xfrm>
          <a:prstGeom prst="rect">
            <a:avLst/>
          </a:prstGeom>
        </p:spPr>
      </p:pic>
      <p:sp>
        <p:nvSpPr>
          <p:cNvPr id="8" name="Shape 4"/>
          <p:cNvSpPr/>
          <p:nvPr/>
        </p:nvSpPr>
        <p:spPr>
          <a:xfrm>
            <a:off x="8549640" y="1371600"/>
            <a:ext cx="3108960" cy="1207008"/>
          </a:xfrm>
          <a:prstGeom prst="roundRect">
            <a:avLst>
              <a:gd name="adj" fmla="val 6061"/>
            </a:avLst>
          </a:prstGeom>
          <a:solidFill>
            <a:srgbClr val="F4F6FA"/>
          </a:solidFill>
          <a:ln w="12700">
            <a:solidFill>
              <a:srgbClr val="F4F6FA"/>
            </a:solidFill>
            <a:prstDash val="solid"/>
          </a:ln>
        </p:spPr>
      </p:sp>
      <p:sp>
        <p:nvSpPr>
          <p:cNvPr id="9" name="Text 5"/>
          <p:cNvSpPr txBox="1"/>
          <p:nvPr/>
        </p:nvSpPr>
        <p:spPr>
          <a:xfrm>
            <a:off x="8732520" y="1508760"/>
            <a:ext cx="2743200" cy="640080"/>
          </a:xfrm>
          <a:prstGeom prst="rect">
            <a:avLst/>
          </a:prstGeom>
          <a:noFill/>
          <a:ln/>
        </p:spPr>
        <p:txBody>
          <a:bodyPr wrap="square" lIns="0" tIns="0" rIns="0" bIns="0" rtlCol="0" anchor="t">
            <a:normAutofit/>
          </a:bodyPr>
          <a:lstStyle/>
          <a:p>
            <a:pPr indent="0" marL="0">
              <a:buNone/>
            </a:pPr>
            <a:r>
              <a:rPr lang="en-US" sz="2600" b="1" dirty="0">
                <a:solidFill>
                  <a:srgbClr val="B8901E"/>
                </a:solidFill>
                <a:latin typeface="Cambria" pitchFamily="34" charset="0"/>
                <a:ea typeface="Cambria" pitchFamily="34" charset="-122"/>
                <a:cs typeface="Cambria" pitchFamily="34" charset="-120"/>
              </a:rPr>
              <a:t>54%</a:t>
            </a:r>
            <a:endParaRPr lang="en-US" sz="2600" dirty="0"/>
          </a:p>
        </p:txBody>
      </p:sp>
      <p:sp>
        <p:nvSpPr>
          <p:cNvPr id="10" name="Text 6"/>
          <p:cNvSpPr txBox="1"/>
          <p:nvPr/>
        </p:nvSpPr>
        <p:spPr>
          <a:xfrm>
            <a:off x="8732520" y="214884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funded by natural resources: Rp 1,178 T cash + Rp 1,459 T resource-backed debt</a:t>
            </a:r>
            <a:endParaRPr lang="en-US" sz="1250" dirty="0"/>
          </a:p>
        </p:txBody>
      </p:sp>
      <p:sp>
        <p:nvSpPr>
          <p:cNvPr id="11" name="Shape 7"/>
          <p:cNvSpPr/>
          <p:nvPr/>
        </p:nvSpPr>
        <p:spPr>
          <a:xfrm>
            <a:off x="8549640" y="2697480"/>
            <a:ext cx="3108960" cy="1207008"/>
          </a:xfrm>
          <a:prstGeom prst="roundRect">
            <a:avLst>
              <a:gd name="adj" fmla="val 6061"/>
            </a:avLst>
          </a:prstGeom>
          <a:solidFill>
            <a:srgbClr val="F4F6FA"/>
          </a:solidFill>
          <a:ln w="12700">
            <a:solidFill>
              <a:srgbClr val="F4F6FA"/>
            </a:solidFill>
            <a:prstDash val="solid"/>
          </a:ln>
        </p:spPr>
      </p:sp>
      <p:sp>
        <p:nvSpPr>
          <p:cNvPr id="12" name="Text 8"/>
          <p:cNvSpPr txBox="1"/>
          <p:nvPr/>
        </p:nvSpPr>
        <p:spPr>
          <a:xfrm>
            <a:off x="8732520" y="2834640"/>
            <a:ext cx="2743200" cy="640080"/>
          </a:xfrm>
          <a:prstGeom prst="rect">
            <a:avLst/>
          </a:prstGeom>
          <a:noFill/>
          <a:ln/>
        </p:spPr>
        <p:txBody>
          <a:bodyPr wrap="square" lIns="0" tIns="0" rIns="0" bIns="0" rtlCol="0" anchor="t">
            <a:normAutofit/>
          </a:bodyPr>
          <a:lstStyle/>
          <a:p>
            <a:pPr indent="0" marL="0">
              <a:buNone/>
            </a:pPr>
            <a:r>
              <a:rPr lang="en-US" sz="2600" b="1" dirty="0">
                <a:solidFill>
                  <a:srgbClr val="3E7C7B"/>
                </a:solidFill>
                <a:latin typeface="Cambria" pitchFamily="34" charset="0"/>
                <a:ea typeface="Cambria" pitchFamily="34" charset="-122"/>
                <a:cs typeface="Cambria" pitchFamily="34" charset="-120"/>
              </a:rPr>
              <a:t>74%</a:t>
            </a:r>
            <a:endParaRPr lang="en-US" sz="2600" dirty="0"/>
          </a:p>
        </p:txBody>
      </p:sp>
      <p:sp>
        <p:nvSpPr>
          <p:cNvPr id="13" name="Text 9"/>
          <p:cNvSpPr txBox="1"/>
          <p:nvPr/>
        </p:nvSpPr>
        <p:spPr>
          <a:xfrm>
            <a:off x="8732520" y="347472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resource-anchored, with partners drawn into commercial projects (Rp 996 T)</a:t>
            </a:r>
            <a:endParaRPr lang="en-US" sz="1250" dirty="0"/>
          </a:p>
        </p:txBody>
      </p:sp>
      <p:sp>
        <p:nvSpPr>
          <p:cNvPr id="14" name="Shape 10"/>
          <p:cNvSpPr/>
          <p:nvPr/>
        </p:nvSpPr>
        <p:spPr>
          <a:xfrm>
            <a:off x="8549640" y="4023360"/>
            <a:ext cx="3108960" cy="1207008"/>
          </a:xfrm>
          <a:prstGeom prst="roundRect">
            <a:avLst>
              <a:gd name="adj" fmla="val 6061"/>
            </a:avLst>
          </a:prstGeom>
          <a:solidFill>
            <a:srgbClr val="F4F6FA"/>
          </a:solidFill>
          <a:ln w="12700">
            <a:solidFill>
              <a:srgbClr val="F4F6FA"/>
            </a:solidFill>
            <a:prstDash val="solid"/>
          </a:ln>
        </p:spPr>
      </p:sp>
      <p:sp>
        <p:nvSpPr>
          <p:cNvPr id="15" name="Text 11"/>
          <p:cNvSpPr txBox="1"/>
          <p:nvPr/>
        </p:nvSpPr>
        <p:spPr>
          <a:xfrm>
            <a:off x="8732520" y="4160520"/>
            <a:ext cx="2743200" cy="640080"/>
          </a:xfrm>
          <a:prstGeom prst="rect">
            <a:avLst/>
          </a:prstGeom>
          <a:noFill/>
          <a:ln/>
        </p:spPr>
        <p:txBody>
          <a:bodyPr wrap="square" lIns="0" tIns="0" rIns="0" bIns="0" rtlCol="0" anchor="t">
            <a:normAutofit/>
          </a:bodyPr>
          <a:lstStyle/>
          <a:p>
            <a:pPr indent="0" marL="0">
              <a:buNone/>
            </a:pPr>
            <a:r>
              <a:rPr lang="en-US" sz="2600" b="1" dirty="0">
                <a:solidFill>
                  <a:srgbClr val="6B7488"/>
                </a:solidFill>
                <a:latin typeface="Cambria" pitchFamily="34" charset="0"/>
                <a:ea typeface="Cambria" pitchFamily="34" charset="-122"/>
                <a:cs typeface="Cambria" pitchFamily="34" charset="-120"/>
              </a:rPr>
              <a:t>26%</a:t>
            </a:r>
            <a:endParaRPr lang="en-US" sz="2600" dirty="0"/>
          </a:p>
        </p:txBody>
      </p:sp>
      <p:sp>
        <p:nvSpPr>
          <p:cNvPr id="16" name="Text 12"/>
          <p:cNvSpPr txBox="1"/>
          <p:nvPr/>
        </p:nvSpPr>
        <p:spPr>
          <a:xfrm>
            <a:off x="8732520" y="480060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remainder from APBN, KPBU and export credit (Rp 1,249 T)</a:t>
            </a:r>
            <a:endParaRPr lang="en-US" sz="1250" dirty="0"/>
          </a:p>
        </p:txBody>
      </p:sp>
      <p:sp>
        <p:nvSpPr>
          <p:cNvPr id="17" name="Shape 13"/>
          <p:cNvSpPr/>
          <p:nvPr/>
        </p:nvSpPr>
        <p:spPr>
          <a:xfrm>
            <a:off x="548640" y="5349240"/>
            <a:ext cx="11109960" cy="914400"/>
          </a:xfrm>
          <a:prstGeom prst="roundRect">
            <a:avLst>
              <a:gd name="adj" fmla="val 8000"/>
            </a:avLst>
          </a:prstGeom>
          <a:solidFill>
            <a:srgbClr val="EEF2F8"/>
          </a:solidFill>
          <a:ln w="12700">
            <a:solidFill>
              <a:srgbClr val="EEF2F8"/>
            </a:solidFill>
            <a:prstDash val="solid"/>
          </a:ln>
        </p:spPr>
      </p:sp>
      <p:sp>
        <p:nvSpPr>
          <p:cNvPr id="18" name="Text 14"/>
          <p:cNvSpPr txBox="1"/>
          <p:nvPr/>
        </p:nvSpPr>
        <p:spPr>
          <a:xfrm>
            <a:off x="731520" y="5394960"/>
            <a:ext cx="10789920" cy="822960"/>
          </a:xfrm>
          <a:prstGeom prst="rect">
            <a:avLst/>
          </a:prstGeom>
          <a:noFill/>
          <a:ln/>
        </p:spPr>
        <p:txBody>
          <a:bodyPr wrap="square" lIns="0" tIns="0" rIns="0" bIns="0" rtlCol="0" anchor="ctr"/>
          <a:lstStyle/>
          <a:p>
            <a:pPr indent="0" marL="0">
              <a:buNone/>
            </a:pPr>
            <a:r>
              <a:rPr lang="en-US" sz="1200" b="1" dirty="0">
                <a:solidFill>
                  <a:srgbClr val="1F3864"/>
                </a:solidFill>
                <a:latin typeface="Calibri" pitchFamily="34" charset="0"/>
                <a:ea typeface="Calibri" pitchFamily="34" charset="-122"/>
                <a:cs typeface="Calibri" pitchFamily="34" charset="-120"/>
              </a:rPr>
              <a:t>Basis: </a:t>
            </a:r>
            <a:pPr indent="0" marL="0">
              <a:buNone/>
            </a:pPr>
            <a:r>
              <a:rPr lang="en-US" sz="1200" dirty="0">
                <a:solidFill>
                  <a:srgbClr val="1F2A3C"/>
                </a:solidFill>
                <a:latin typeface="Calibri" pitchFamily="34" charset="0"/>
                <a:ea typeface="Calibri" pitchFamily="34" charset="-122"/>
                <a:cs typeface="Calibri" pitchFamily="34" charset="-120"/>
              </a:rPr>
              <a:t>resource PNBP Rp 283.4 T in the RAPBN 2027; coal duty simulations Rp 11.7–19 T a year; SOE dividends Rp 142.3 T in 2025; DHE SDA retained US$ 22.9 bn in Mar–Apr 2025. All flows illustrative and to be confirmed with MoF, BI and Danantara.</a:t>
            </a:r>
            <a:endParaRPr lang="en-US" sz="1200" dirty="0"/>
          </a:p>
        </p:txBody>
      </p:sp>
      <p:sp>
        <p:nvSpPr>
          <p:cNvPr id="19" name="Text 15"/>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funding model (integrated paper, Section 10.3, Figure 10.3 and Table 10.2).</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FUNDING RULES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Commercial equity first, public goods next, defence last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834640"/>
                <a:gridCol w="1554480"/>
                <a:gridCol w="1645920"/>
              </a:tblGrid>
              <a:tr h="475488">
                <a:tc>
                  <a:txBody>
                    <a:bodyPr/>
                    <a:lstStyle/>
                    <a:p>
                      <a:pPr indent="0" marL="0">
                        <a:buNone/>
                      </a:pP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Current rule</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Maximised rule</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Save / to development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30% / 60%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40% / 80%</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Development window 2027–34 (Rp 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398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708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Resource cash (Rp 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868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1,178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Resource money incl. backed debt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2,327 (48%)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2,637 (54%)</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Resource-anchored with partners</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74%</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Budget gives up a year (Rp T)</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83</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200" dirty="0">
                          <a:solidFill>
                            <a:srgbClr val="9B2C2C"/>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75488">
                <a:tc>
                  <a:txBody>
                    <a:bodyPr/>
                    <a:lstStyle/>
                    <a:p>
                      <a:pPr indent="0" marL="0">
                        <a:buNone/>
                      </a:pPr>
                      <a:r>
                        <a:rPr lang="en-US" sz="1200" b="1" dirty="0">
                          <a:solidFill>
                            <a:srgbClr val="1F2A3C"/>
                          </a:solidFill>
                          <a:latin typeface="Calibri" pitchFamily="34" charset="0"/>
                          <a:ea typeface="Calibri" pitchFamily="34" charset="-122"/>
                          <a:cs typeface="Calibri" pitchFamily="34" charset="-120"/>
                        </a:rPr>
                        <a:t>Future window share of PNBP</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1F2A3C"/>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00" dirty="0">
                          <a:solidFill>
                            <a:srgbClr val="9B2C2C"/>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Shape 4"/>
          <p:cNvSpPr/>
          <p:nvPr/>
        </p:nvSpPr>
        <p:spPr>
          <a:xfrm>
            <a:off x="6812280" y="1371600"/>
            <a:ext cx="4846320" cy="1261872"/>
          </a:xfrm>
          <a:prstGeom prst="roundRect">
            <a:avLst>
              <a:gd name="adj" fmla="val 5797"/>
            </a:avLst>
          </a:prstGeom>
          <a:solidFill>
            <a:srgbClr val="F4F6FA"/>
          </a:solidFill>
          <a:ln w="12700">
            <a:solidFill>
              <a:srgbClr val="F4F6FA"/>
            </a:solidFill>
            <a:prstDash val="solid"/>
          </a:ln>
        </p:spPr>
      </p:sp>
      <p:sp>
        <p:nvSpPr>
          <p:cNvPr id="9" name="Shape 5"/>
          <p:cNvSpPr/>
          <p:nvPr/>
        </p:nvSpPr>
        <p:spPr>
          <a:xfrm>
            <a:off x="6812280" y="1371600"/>
            <a:ext cx="91440" cy="1261872"/>
          </a:xfrm>
          <a:prstGeom prst="rect">
            <a:avLst/>
          </a:prstGeom>
          <a:solidFill>
            <a:srgbClr val="1F3864"/>
          </a:solidFill>
          <a:ln w="12700">
            <a:solidFill>
              <a:srgbClr val="1F3864"/>
            </a:solidFill>
            <a:prstDash val="solid"/>
          </a:ln>
        </p:spPr>
      </p:sp>
      <p:sp>
        <p:nvSpPr>
          <p:cNvPr id="10" name="Text 6"/>
          <p:cNvSpPr txBox="1"/>
          <p:nvPr/>
        </p:nvSpPr>
        <p:spPr>
          <a:xfrm>
            <a:off x="7040880" y="1463040"/>
            <a:ext cx="3017520" cy="320040"/>
          </a:xfrm>
          <a:prstGeom prst="rect">
            <a:avLst/>
          </a:prstGeom>
          <a:noFill/>
          <a:ln/>
        </p:spPr>
        <p:txBody>
          <a:bodyPr wrap="square" lIns="0" tIns="0" rIns="0" bIns="0" rtlCol="0" anchor="t"/>
          <a:lstStyle/>
          <a:p>
            <a:pPr indent="0" marL="0">
              <a:buNone/>
            </a:pPr>
            <a:r>
              <a:rPr lang="en-US" sz="1400" b="1" dirty="0">
                <a:solidFill>
                  <a:srgbClr val="1F3864"/>
                </a:solidFill>
                <a:latin typeface="Calibri" pitchFamily="34" charset="0"/>
                <a:ea typeface="Calibri" pitchFamily="34" charset="-122"/>
                <a:cs typeface="Calibri" pitchFamily="34" charset="-120"/>
              </a:rPr>
              <a:t>1 · Commercial equity</a:t>
            </a:r>
            <a:endParaRPr lang="en-US" sz="1400" dirty="0"/>
          </a:p>
        </p:txBody>
      </p:sp>
      <p:sp>
        <p:nvSpPr>
          <p:cNvPr id="11" name="Text 7"/>
          <p:cNvSpPr txBox="1"/>
          <p:nvPr/>
        </p:nvSpPr>
        <p:spPr>
          <a:xfrm>
            <a:off x="9966960" y="1463040"/>
            <a:ext cx="1554480" cy="320040"/>
          </a:xfrm>
          <a:prstGeom prst="rect">
            <a:avLst/>
          </a:prstGeom>
          <a:noFill/>
          <a:ln/>
        </p:spPr>
        <p:txBody>
          <a:bodyPr wrap="square" lIns="0" tIns="0" rIns="0" bIns="0" rtlCol="0" anchor="t"/>
          <a:lstStyle/>
          <a:p>
            <a:pPr algn="r" indent="0" marL="0">
              <a:buNone/>
            </a:pPr>
            <a:r>
              <a:rPr lang="en-US" sz="1400" b="1" dirty="0">
                <a:solidFill>
                  <a:srgbClr val="14213D"/>
                </a:solidFill>
                <a:latin typeface="Calibri" pitchFamily="34" charset="0"/>
                <a:ea typeface="Calibri" pitchFamily="34" charset="-122"/>
                <a:cs typeface="Calibri" pitchFamily="34" charset="-120"/>
              </a:rPr>
              <a:t>Rp 265 T</a:t>
            </a:r>
            <a:endParaRPr lang="en-US" sz="1400" dirty="0"/>
          </a:p>
        </p:txBody>
      </p:sp>
      <p:sp>
        <p:nvSpPr>
          <p:cNvPr id="12" name="Text 8"/>
          <p:cNvSpPr txBox="1"/>
          <p:nvPr/>
        </p:nvSpPr>
        <p:spPr>
          <a:xfrm>
            <a:off x="7040880" y="1828800"/>
            <a:ext cx="4480560" cy="77724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21% equity in resource processing, manufacturing, defence industry and technology; recycled on exit</a:t>
            </a:r>
            <a:endParaRPr lang="en-US" sz="1150" dirty="0"/>
          </a:p>
        </p:txBody>
      </p:sp>
      <p:sp>
        <p:nvSpPr>
          <p:cNvPr id="13" name="Shape 9"/>
          <p:cNvSpPr/>
          <p:nvPr/>
        </p:nvSpPr>
        <p:spPr>
          <a:xfrm>
            <a:off x="6812280" y="2743200"/>
            <a:ext cx="4846320" cy="1261872"/>
          </a:xfrm>
          <a:prstGeom prst="roundRect">
            <a:avLst>
              <a:gd name="adj" fmla="val 5797"/>
            </a:avLst>
          </a:prstGeom>
          <a:solidFill>
            <a:srgbClr val="F4F6FA"/>
          </a:solidFill>
          <a:ln w="12700">
            <a:solidFill>
              <a:srgbClr val="F4F6FA"/>
            </a:solidFill>
            <a:prstDash val="solid"/>
          </a:ln>
        </p:spPr>
      </p:sp>
      <p:sp>
        <p:nvSpPr>
          <p:cNvPr id="14" name="Shape 10"/>
          <p:cNvSpPr/>
          <p:nvPr/>
        </p:nvSpPr>
        <p:spPr>
          <a:xfrm>
            <a:off x="6812280" y="2743200"/>
            <a:ext cx="91440" cy="1261872"/>
          </a:xfrm>
          <a:prstGeom prst="rect">
            <a:avLst/>
          </a:prstGeom>
          <a:solidFill>
            <a:srgbClr val="B8901E"/>
          </a:solidFill>
          <a:ln w="12700">
            <a:solidFill>
              <a:srgbClr val="B8901E"/>
            </a:solidFill>
            <a:prstDash val="solid"/>
          </a:ln>
        </p:spPr>
      </p:sp>
      <p:sp>
        <p:nvSpPr>
          <p:cNvPr id="15" name="Text 11"/>
          <p:cNvSpPr txBox="1"/>
          <p:nvPr/>
        </p:nvSpPr>
        <p:spPr>
          <a:xfrm>
            <a:off x="7040880" y="2834640"/>
            <a:ext cx="3017520" cy="320040"/>
          </a:xfrm>
          <a:prstGeom prst="rect">
            <a:avLst/>
          </a:prstGeom>
          <a:noFill/>
          <a:ln/>
        </p:spPr>
        <p:txBody>
          <a:bodyPr wrap="square" lIns="0" tIns="0" rIns="0" bIns="0" rtlCol="0" anchor="t"/>
          <a:lstStyle/>
          <a:p>
            <a:pPr indent="0" marL="0">
              <a:buNone/>
            </a:pPr>
            <a:r>
              <a:rPr lang="en-US" sz="1400" b="1" dirty="0">
                <a:solidFill>
                  <a:srgbClr val="8A6A12"/>
                </a:solidFill>
                <a:latin typeface="Calibri" pitchFamily="34" charset="0"/>
                <a:ea typeface="Calibri" pitchFamily="34" charset="-122"/>
                <a:cs typeface="Calibri" pitchFamily="34" charset="-120"/>
              </a:rPr>
              <a:t>2 · Public goods</a:t>
            </a:r>
            <a:endParaRPr lang="en-US" sz="1400" dirty="0"/>
          </a:p>
        </p:txBody>
      </p:sp>
      <p:sp>
        <p:nvSpPr>
          <p:cNvPr id="16" name="Text 12"/>
          <p:cNvSpPr txBox="1"/>
          <p:nvPr/>
        </p:nvSpPr>
        <p:spPr>
          <a:xfrm>
            <a:off x="9966960" y="2834640"/>
            <a:ext cx="1554480" cy="320040"/>
          </a:xfrm>
          <a:prstGeom prst="rect">
            <a:avLst/>
          </a:prstGeom>
          <a:noFill/>
          <a:ln/>
        </p:spPr>
        <p:txBody>
          <a:bodyPr wrap="square" lIns="0" tIns="0" rIns="0" bIns="0" rtlCol="0" anchor="t"/>
          <a:lstStyle/>
          <a:p>
            <a:pPr algn="r" indent="0" marL="0">
              <a:buNone/>
            </a:pPr>
            <a:r>
              <a:rPr lang="en-US" sz="1400" b="1" dirty="0">
                <a:solidFill>
                  <a:srgbClr val="14213D"/>
                </a:solidFill>
                <a:latin typeface="Calibri" pitchFamily="34" charset="0"/>
                <a:ea typeface="Calibri" pitchFamily="34" charset="-122"/>
                <a:cs typeface="Calibri" pitchFamily="34" charset="-120"/>
              </a:rPr>
              <a:t>Rp 449 T</a:t>
            </a:r>
            <a:endParaRPr lang="en-US" sz="1400" dirty="0"/>
          </a:p>
        </p:txBody>
      </p:sp>
      <p:sp>
        <p:nvSpPr>
          <p:cNvPr id="17" name="Text 13"/>
          <p:cNvSpPr txBox="1"/>
          <p:nvPr/>
        </p:nvSpPr>
        <p:spPr>
          <a:xfrm>
            <a:off x="7040880" y="3200400"/>
            <a:ext cx="4480560" cy="77724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30% of infrastructure and sea-wall cost; the rest from resource-revenue bonds, KPBU and APBN</a:t>
            </a:r>
            <a:endParaRPr lang="en-US" sz="1150" dirty="0"/>
          </a:p>
        </p:txBody>
      </p:sp>
      <p:sp>
        <p:nvSpPr>
          <p:cNvPr id="18" name="Shape 14"/>
          <p:cNvSpPr/>
          <p:nvPr/>
        </p:nvSpPr>
        <p:spPr>
          <a:xfrm>
            <a:off x="6812280" y="4114800"/>
            <a:ext cx="4846320" cy="1261872"/>
          </a:xfrm>
          <a:prstGeom prst="roundRect">
            <a:avLst>
              <a:gd name="adj" fmla="val 5797"/>
            </a:avLst>
          </a:prstGeom>
          <a:solidFill>
            <a:srgbClr val="F4F6FA"/>
          </a:solidFill>
          <a:ln w="12700">
            <a:solidFill>
              <a:srgbClr val="F4F6FA"/>
            </a:solidFill>
            <a:prstDash val="solid"/>
          </a:ln>
        </p:spPr>
      </p:sp>
      <p:sp>
        <p:nvSpPr>
          <p:cNvPr id="19" name="Shape 15"/>
          <p:cNvSpPr/>
          <p:nvPr/>
        </p:nvSpPr>
        <p:spPr>
          <a:xfrm>
            <a:off x="6812280" y="4114800"/>
            <a:ext cx="91440" cy="1261872"/>
          </a:xfrm>
          <a:prstGeom prst="rect">
            <a:avLst/>
          </a:prstGeom>
          <a:solidFill>
            <a:srgbClr val="9B2C2C"/>
          </a:solidFill>
          <a:ln w="12700">
            <a:solidFill>
              <a:srgbClr val="9B2C2C"/>
            </a:solidFill>
            <a:prstDash val="solid"/>
          </a:ln>
        </p:spPr>
      </p:sp>
      <p:sp>
        <p:nvSpPr>
          <p:cNvPr id="20" name="Text 16"/>
          <p:cNvSpPr txBox="1"/>
          <p:nvPr/>
        </p:nvSpPr>
        <p:spPr>
          <a:xfrm>
            <a:off x="7040880" y="4206240"/>
            <a:ext cx="3017520" cy="320040"/>
          </a:xfrm>
          <a:prstGeom prst="rect">
            <a:avLst/>
          </a:prstGeom>
          <a:noFill/>
          <a:ln/>
        </p:spPr>
        <p:txBody>
          <a:bodyPr wrap="square" lIns="0" tIns="0" rIns="0" bIns="0" rtlCol="0" anchor="t"/>
          <a:lstStyle/>
          <a:p>
            <a:pPr indent="0" marL="0">
              <a:buNone/>
            </a:pPr>
            <a:r>
              <a:rPr lang="en-US" sz="1400" b="1" dirty="0">
                <a:solidFill>
                  <a:srgbClr val="9B2C2C"/>
                </a:solidFill>
                <a:latin typeface="Calibri" pitchFamily="34" charset="0"/>
                <a:ea typeface="Calibri" pitchFamily="34" charset="-122"/>
                <a:cs typeface="Calibri" pitchFamily="34" charset="-120"/>
              </a:rPr>
              <a:t>3 · Defence domestic share</a:t>
            </a:r>
            <a:endParaRPr lang="en-US" sz="1400" dirty="0"/>
          </a:p>
        </p:txBody>
      </p:sp>
      <p:sp>
        <p:nvSpPr>
          <p:cNvPr id="21" name="Text 17"/>
          <p:cNvSpPr txBox="1"/>
          <p:nvPr/>
        </p:nvSpPr>
        <p:spPr>
          <a:xfrm>
            <a:off x="9966960" y="4206240"/>
            <a:ext cx="1554480" cy="320040"/>
          </a:xfrm>
          <a:prstGeom prst="rect">
            <a:avLst/>
          </a:prstGeom>
          <a:noFill/>
          <a:ln/>
        </p:spPr>
        <p:txBody>
          <a:bodyPr wrap="square" lIns="0" tIns="0" rIns="0" bIns="0" rtlCol="0" anchor="t"/>
          <a:lstStyle/>
          <a:p>
            <a:pPr algn="r" indent="0" marL="0">
              <a:buNone/>
            </a:pPr>
            <a:r>
              <a:rPr lang="en-US" sz="1400" b="1" dirty="0">
                <a:solidFill>
                  <a:srgbClr val="14213D"/>
                </a:solidFill>
                <a:latin typeface="Calibri" pitchFamily="34" charset="0"/>
                <a:ea typeface="Calibri" pitchFamily="34" charset="-122"/>
                <a:cs typeface="Calibri" pitchFamily="34" charset="-120"/>
              </a:rPr>
              <a:t>Rp 464 T</a:t>
            </a:r>
            <a:endParaRPr lang="en-US" sz="1400" dirty="0"/>
          </a:p>
        </p:txBody>
      </p:sp>
      <p:sp>
        <p:nvSpPr>
          <p:cNvPr id="22" name="Text 18"/>
          <p:cNvSpPr txBox="1"/>
          <p:nvPr/>
        </p:nvSpPr>
        <p:spPr>
          <a:xfrm>
            <a:off x="7040880" y="4572000"/>
            <a:ext cx="4480560" cy="777240"/>
          </a:xfrm>
          <a:prstGeom prst="rect">
            <a:avLst/>
          </a:prstGeom>
          <a:noFill/>
          <a:ln/>
        </p:spPr>
        <p:txBody>
          <a:bodyPr wrap="square" lIns="0" tIns="0" rIns="0" bIns="0" rtlCol="0" anchor="t"/>
          <a:lstStyle/>
          <a:p>
            <a:pPr indent="0" marL="0">
              <a:buNone/>
            </a:pPr>
            <a:r>
              <a:rPr lang="en-US" sz="1150" dirty="0">
                <a:solidFill>
                  <a:srgbClr val="4A5568"/>
                </a:solidFill>
                <a:latin typeface="Calibri" pitchFamily="34" charset="0"/>
                <a:ea typeface="Calibri" pitchFamily="34" charset="-122"/>
                <a:cs typeface="Calibri" pitchFamily="34" charset="-120"/>
              </a:rPr>
              <a:t>≤ Rp 142 T from the window (20% tier); rest from earmarked windfall, coal duty and royalty via the defence budget</a:t>
            </a:r>
            <a:endParaRPr lang="en-US" sz="1150" dirty="0"/>
          </a:p>
        </p:txBody>
      </p:sp>
      <p:sp>
        <p:nvSpPr>
          <p:cNvPr id="23" name="Shape 19"/>
          <p:cNvSpPr/>
          <p:nvPr/>
        </p:nvSpPr>
        <p:spPr>
          <a:xfrm>
            <a:off x="548640" y="5349240"/>
            <a:ext cx="11109960" cy="914400"/>
          </a:xfrm>
          <a:prstGeom prst="roundRect">
            <a:avLst>
              <a:gd name="adj" fmla="val 8000"/>
            </a:avLst>
          </a:prstGeom>
          <a:solidFill>
            <a:srgbClr val="F8ECEA"/>
          </a:solidFill>
          <a:ln w="12700">
            <a:solidFill>
              <a:srgbClr val="F8ECEA"/>
            </a:solidFill>
            <a:prstDash val="solid"/>
          </a:ln>
        </p:spPr>
      </p:sp>
      <p:sp>
        <p:nvSpPr>
          <p:cNvPr id="24" name="Text 20"/>
          <p:cNvSpPr txBox="1"/>
          <p:nvPr/>
        </p:nvSpPr>
        <p:spPr>
          <a:xfrm>
            <a:off x="731520" y="5394960"/>
            <a:ext cx="10789920" cy="82296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Safeguards: </a:t>
            </a:r>
            <a:pPr indent="0" marL="0">
              <a:buNone/>
            </a:pPr>
            <a:r>
              <a:rPr lang="en-US" sz="1250" dirty="0">
                <a:solidFill>
                  <a:srgbClr val="1F2A3C"/>
                </a:solidFill>
                <a:latin typeface="Calibri" pitchFamily="34" charset="0"/>
                <a:ea typeface="Calibri" pitchFamily="34" charset="-122"/>
                <a:cs typeface="Calibri" pitchFamily="34" charset="-120"/>
              </a:rPr>
              <a:t>maximised rule for 2027–2034 only, then back to 30% and 60/30; same caps, gate and sunset as the development window; resource-backed debt serviced from future PNBP or project cash, with a published debt ceiling.</a:t>
            </a:r>
            <a:endParaRPr lang="en-US" sz="1250" dirty="0"/>
          </a:p>
        </p:txBody>
      </p:sp>
      <p:sp>
        <p:nvSpPr>
          <p:cNvPr id="25" name="Text 21"/>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funding model (integrated paper, Section 10.3).</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ECONOMIC EFFECTS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The pipeline lifts GDP by about 2.2% at its peak and 0.9% for good</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GDP level effect by cluster, 2027–2045">    </p:cNvPr>
          <p:cNvPicPr>
            <a:picLocks noChangeAspect="1"/>
          </p:cNvPicPr>
          <p:nvPr/>
        </p:nvPicPr>
        <p:blipFill>
          <a:blip r:embed="rId1"/>
          <a:stretch>
            <a:fillRect/>
          </a:stretch>
        </p:blipFill>
        <p:spPr>
          <a:xfrm>
            <a:off x="365760" y="1325880"/>
            <a:ext cx="7680960" cy="3395793"/>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7498080" cy="914400"/>
        </p:xfrm>
        <a:graphic>
          <a:graphicData uri="http://schemas.openxmlformats.org/drawingml/2006/table">
            <a:tbl>
              <a:tblPr/>
              <a:tblGrid>
                <a:gridCol w="2377440"/>
                <a:gridCol w="1737360"/>
                <a:gridCol w="1691640"/>
                <a:gridCol w="1691640"/>
              </a:tblGrid>
              <a:tr h="301752">
                <a:tc>
                  <a:txBody>
                    <a:bodyPr/>
                    <a:lstStyle/>
                    <a:p>
                      <a:pPr indent="0" marL="0">
                        <a:buNone/>
                      </a:pP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Industry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0175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Investment (Rp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4,914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5,396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Peak GDP effect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1.94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2.20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0175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Permanent (Rp T a year)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396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68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464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Imports (US$ bn)</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110.9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13.2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124.1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9" name="Shape 4"/>
          <p:cNvSpPr/>
          <p:nvPr/>
        </p:nvSpPr>
        <p:spPr>
          <a:xfrm>
            <a:off x="8321040" y="1325880"/>
            <a:ext cx="3337560" cy="1152144"/>
          </a:xfrm>
          <a:prstGeom prst="roundRect">
            <a:avLst>
              <a:gd name="adj" fmla="val 6349"/>
            </a:avLst>
          </a:prstGeom>
          <a:solidFill>
            <a:srgbClr val="F4F6FA"/>
          </a:solidFill>
          <a:ln w="12700">
            <a:solidFill>
              <a:srgbClr val="F4F6FA"/>
            </a:solidFill>
            <a:prstDash val="solid"/>
          </a:ln>
        </p:spPr>
      </p:sp>
      <p:sp>
        <p:nvSpPr>
          <p:cNvPr id="10" name="Text 5"/>
          <p:cNvSpPr txBox="1"/>
          <p:nvPr/>
        </p:nvSpPr>
        <p:spPr>
          <a:xfrm>
            <a:off x="8503920" y="1463040"/>
            <a:ext cx="2971800" cy="640080"/>
          </a:xfrm>
          <a:prstGeom prst="rect">
            <a:avLst/>
          </a:prstGeom>
          <a:noFill/>
          <a:ln/>
        </p:spPr>
        <p:txBody>
          <a:bodyPr wrap="square" lIns="0" tIns="0" rIns="0" bIns="0" rtlCol="0" anchor="t">
            <a:normAutofit/>
          </a:bodyPr>
          <a:lstStyle/>
          <a:p>
            <a:pPr indent="0" marL="0">
              <a:buNone/>
            </a:pPr>
            <a:r>
              <a:rPr lang="en-US" sz="2400" b="1" dirty="0">
                <a:solidFill>
                  <a:srgbClr val="1F3864"/>
                </a:solidFill>
                <a:latin typeface="Cambria" pitchFamily="34" charset="0"/>
                <a:ea typeface="Cambria" pitchFamily="34" charset="-122"/>
                <a:cs typeface="Cambria" pitchFamily="34" charset="-120"/>
              </a:rPr>
              <a:t>+2.2%</a:t>
            </a:r>
            <a:endParaRPr lang="en-US" sz="2400" dirty="0"/>
          </a:p>
        </p:txBody>
      </p:sp>
      <p:sp>
        <p:nvSpPr>
          <p:cNvPr id="11" name="Text 6"/>
          <p:cNvSpPr txBox="1"/>
          <p:nvPr/>
        </p:nvSpPr>
        <p:spPr>
          <a:xfrm>
            <a:off x="8503920" y="2103120"/>
            <a:ext cx="2971800" cy="283464"/>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GDP at the 2031 peak (2.9% with IMF-level efficiency)</a:t>
            </a:r>
            <a:endParaRPr lang="en-US" sz="1250" dirty="0"/>
          </a:p>
        </p:txBody>
      </p:sp>
      <p:sp>
        <p:nvSpPr>
          <p:cNvPr id="12" name="Shape 7"/>
          <p:cNvSpPr/>
          <p:nvPr/>
        </p:nvSpPr>
        <p:spPr>
          <a:xfrm>
            <a:off x="8321040" y="2587752"/>
            <a:ext cx="3337560" cy="1152144"/>
          </a:xfrm>
          <a:prstGeom prst="roundRect">
            <a:avLst>
              <a:gd name="adj" fmla="val 6349"/>
            </a:avLst>
          </a:prstGeom>
          <a:solidFill>
            <a:srgbClr val="F4F6FA"/>
          </a:solidFill>
          <a:ln w="12700">
            <a:solidFill>
              <a:srgbClr val="F4F6FA"/>
            </a:solidFill>
            <a:prstDash val="solid"/>
          </a:ln>
        </p:spPr>
      </p:sp>
      <p:sp>
        <p:nvSpPr>
          <p:cNvPr id="13" name="Text 8"/>
          <p:cNvSpPr txBox="1"/>
          <p:nvPr/>
        </p:nvSpPr>
        <p:spPr>
          <a:xfrm>
            <a:off x="8503920" y="2724912"/>
            <a:ext cx="2971800" cy="640080"/>
          </a:xfrm>
          <a:prstGeom prst="rect">
            <a:avLst/>
          </a:prstGeom>
          <a:noFill/>
          <a:ln/>
        </p:spPr>
        <p:txBody>
          <a:bodyPr wrap="square" lIns="0" tIns="0" rIns="0" bIns="0" rtlCol="0" anchor="t">
            <a:normAutofit/>
          </a:bodyPr>
          <a:lstStyle/>
          <a:p>
            <a:pPr indent="0" marL="0">
              <a:buNone/>
            </a:pPr>
            <a:r>
              <a:rPr lang="en-US" sz="2400" b="1" dirty="0">
                <a:solidFill>
                  <a:srgbClr val="B8901E"/>
                </a:solidFill>
                <a:latin typeface="Cambria" pitchFamily="34" charset="0"/>
                <a:ea typeface="Cambria" pitchFamily="34" charset="-122"/>
                <a:cs typeface="Cambria" pitchFamily="34" charset="-120"/>
              </a:rPr>
              <a:t>+0.61 pp</a:t>
            </a:r>
            <a:endParaRPr lang="en-US" sz="2400" dirty="0"/>
          </a:p>
        </p:txBody>
      </p:sp>
      <p:sp>
        <p:nvSpPr>
          <p:cNvPr id="14" name="Text 9"/>
          <p:cNvSpPr txBox="1"/>
          <p:nvPr/>
        </p:nvSpPr>
        <p:spPr>
          <a:xfrm>
            <a:off x="8503920" y="3364992"/>
            <a:ext cx="2971800" cy="283464"/>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growth a year on average in 2027–30 (+0.46 in 2029)</a:t>
            </a:r>
            <a:endParaRPr lang="en-US" sz="1250" dirty="0"/>
          </a:p>
        </p:txBody>
      </p:sp>
      <p:sp>
        <p:nvSpPr>
          <p:cNvPr id="15" name="Shape 10"/>
          <p:cNvSpPr/>
          <p:nvPr/>
        </p:nvSpPr>
        <p:spPr>
          <a:xfrm>
            <a:off x="8321040" y="3849624"/>
            <a:ext cx="3337560" cy="1152144"/>
          </a:xfrm>
          <a:prstGeom prst="roundRect">
            <a:avLst>
              <a:gd name="adj" fmla="val 6349"/>
            </a:avLst>
          </a:prstGeom>
          <a:solidFill>
            <a:srgbClr val="F4F6FA"/>
          </a:solidFill>
          <a:ln w="12700">
            <a:solidFill>
              <a:srgbClr val="F4F6FA"/>
            </a:solidFill>
            <a:prstDash val="solid"/>
          </a:ln>
        </p:spPr>
      </p:sp>
      <p:sp>
        <p:nvSpPr>
          <p:cNvPr id="16" name="Text 11"/>
          <p:cNvSpPr txBox="1"/>
          <p:nvPr/>
        </p:nvSpPr>
        <p:spPr>
          <a:xfrm>
            <a:off x="8503920" y="3986784"/>
            <a:ext cx="2971800" cy="640080"/>
          </a:xfrm>
          <a:prstGeom prst="rect">
            <a:avLst/>
          </a:prstGeom>
          <a:noFill/>
          <a:ln/>
        </p:spPr>
        <p:txBody>
          <a:bodyPr wrap="square" lIns="0" tIns="0" rIns="0" bIns="0" rtlCol="0" anchor="t">
            <a:normAutofit/>
          </a:bodyPr>
          <a:lstStyle/>
          <a:p>
            <a:pPr indent="0" marL="0">
              <a:buNone/>
            </a:pPr>
            <a:r>
              <a:rPr lang="en-US" sz="2400" b="1" dirty="0">
                <a:solidFill>
                  <a:srgbClr val="3E7C7B"/>
                </a:solidFill>
                <a:latin typeface="Cambria" pitchFamily="34" charset="0"/>
                <a:ea typeface="Cambria" pitchFamily="34" charset="-122"/>
                <a:cs typeface="Cambria" pitchFamily="34" charset="-120"/>
              </a:rPr>
              <a:t>+0.9%</a:t>
            </a:r>
            <a:endParaRPr lang="en-US" sz="2400" dirty="0"/>
          </a:p>
        </p:txBody>
      </p:sp>
      <p:sp>
        <p:nvSpPr>
          <p:cNvPr id="17" name="Text 12"/>
          <p:cNvSpPr txBox="1"/>
          <p:nvPr/>
        </p:nvSpPr>
        <p:spPr>
          <a:xfrm>
            <a:off x="8503920" y="4626864"/>
            <a:ext cx="2971800" cy="283464"/>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GDP for good: Rp 464 T a year</a:t>
            </a:r>
            <a:endParaRPr lang="en-US" sz="1250" dirty="0"/>
          </a:p>
        </p:txBody>
      </p:sp>
      <p:sp>
        <p:nvSpPr>
          <p:cNvPr id="18" name="Shape 13"/>
          <p:cNvSpPr/>
          <p:nvPr/>
        </p:nvSpPr>
        <p:spPr>
          <a:xfrm>
            <a:off x="8321040" y="5111496"/>
            <a:ext cx="3337560" cy="1152144"/>
          </a:xfrm>
          <a:prstGeom prst="roundRect">
            <a:avLst>
              <a:gd name="adj" fmla="val 6349"/>
            </a:avLst>
          </a:prstGeom>
          <a:solidFill>
            <a:srgbClr val="F4F6FA"/>
          </a:solidFill>
          <a:ln w="12700">
            <a:solidFill>
              <a:srgbClr val="F4F6FA"/>
            </a:solidFill>
            <a:prstDash val="solid"/>
          </a:ln>
        </p:spPr>
      </p:sp>
      <p:sp>
        <p:nvSpPr>
          <p:cNvPr id="19" name="Text 14"/>
          <p:cNvSpPr txBox="1"/>
          <p:nvPr/>
        </p:nvSpPr>
        <p:spPr>
          <a:xfrm>
            <a:off x="8503920" y="5248656"/>
            <a:ext cx="2971800" cy="640080"/>
          </a:xfrm>
          <a:prstGeom prst="rect">
            <a:avLst/>
          </a:prstGeom>
          <a:noFill/>
          <a:ln/>
        </p:spPr>
        <p:txBody>
          <a:bodyPr wrap="square" lIns="0" tIns="0" rIns="0" bIns="0" rtlCol="0" anchor="t">
            <a:normAutofit/>
          </a:bodyPr>
          <a:lstStyle/>
          <a:p>
            <a:pPr indent="0" marL="0">
              <a:buNone/>
            </a:pPr>
            <a:r>
              <a:rPr lang="en-US" sz="2400" b="1" dirty="0">
                <a:solidFill>
                  <a:srgbClr val="9B2C2C"/>
                </a:solidFill>
                <a:latin typeface="Cambria" pitchFamily="34" charset="0"/>
                <a:ea typeface="Cambria" pitchFamily="34" charset="-122"/>
                <a:cs typeface="Cambria" pitchFamily="34" charset="-120"/>
              </a:rPr>
              <a:t>−0.82 pp</a:t>
            </a:r>
            <a:endParaRPr lang="en-US" sz="2400" dirty="0"/>
          </a:p>
        </p:txBody>
      </p:sp>
      <p:sp>
        <p:nvSpPr>
          <p:cNvPr id="20" name="Text 15"/>
          <p:cNvSpPr txBox="1"/>
          <p:nvPr/>
        </p:nvSpPr>
        <p:spPr>
          <a:xfrm>
            <a:off x="8503920" y="5888736"/>
            <a:ext cx="2971800" cy="283464"/>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growth in 2032 as RKAP projects end</a:t>
            </a:r>
            <a:endParaRPr lang="en-US" sz="1250" dirty="0"/>
          </a:p>
        </p:txBody>
      </p:sp>
      <p:sp>
        <p:nvSpPr>
          <p:cNvPr id="21" name="Text 16"/>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cluster model (integrated paper, Chapter 8 and Appendix B); IMF (2026) public-investment multipliers for Indonesia. Illustrative.</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PER RUPIAH AND SENSITIVITY</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Defence domestic content is the largest single lever</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286000"/>
                <a:gridCol w="822960"/>
                <a:gridCol w="822960"/>
                <a:gridCol w="914400"/>
                <a:gridCol w="914400"/>
                <a:gridCol w="914400"/>
              </a:tblGrid>
              <a:tr h="45720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Per Rp 1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GDP yr 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GDP yr 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Lasting a yr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Imports US$ m</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Job-years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Resource processing &amp; energy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0.39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4,649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Infrastructure &amp; social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0.57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1.37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6,439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Giant Sea Wall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0.61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1.46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0.09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5,925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9B2C2C"/>
                          </a:solidFill>
                          <a:latin typeface="Calibri" pitchFamily="34" charset="0"/>
                          <a:ea typeface="Calibri" pitchFamily="34" charset="-122"/>
                          <a:cs typeface="Calibri" pitchFamily="34" charset="-120"/>
                        </a:rPr>
                        <a:t>Defence platforms &amp; MRO</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0.69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9B2C2C"/>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9B2C2C"/>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3,291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Manufacturing</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0.36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0.86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5,759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Digital infrastructure</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0.60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4,470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Tech Corridor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0.54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5,925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Shape 4"/>
          <p:cNvSpPr/>
          <p:nvPr/>
        </p:nvSpPr>
        <p:spPr>
          <a:xfrm>
            <a:off x="7452360" y="1371600"/>
            <a:ext cx="4206240" cy="3657600"/>
          </a:xfrm>
          <a:prstGeom prst="roundRect">
            <a:avLst>
              <a:gd name="adj" fmla="val 2000"/>
            </a:avLst>
          </a:prstGeom>
          <a:solidFill>
            <a:srgbClr val="F4F6FA"/>
          </a:solidFill>
          <a:ln w="12700">
            <a:solidFill>
              <a:srgbClr val="F4F6FA"/>
            </a:solidFill>
            <a:prstDash val="solid"/>
          </a:ln>
        </p:spPr>
      </p:sp>
      <p:sp>
        <p:nvSpPr>
          <p:cNvPr id="9" name="Text 5"/>
          <p:cNvSpPr txBox="1"/>
          <p:nvPr/>
        </p:nvSpPr>
        <p:spPr>
          <a:xfrm>
            <a:off x="7635240" y="1463040"/>
            <a:ext cx="3840480" cy="365760"/>
          </a:xfrm>
          <a:prstGeom prst="rect">
            <a:avLst/>
          </a:prstGeom>
          <a:noFill/>
          <a:ln/>
        </p:spPr>
        <p:txBody>
          <a:bodyPr wrap="square" lIns="0" tIns="0" rIns="0" bIns="0" rtlCol="0" anchor="t"/>
          <a:lstStyle/>
          <a:p>
            <a:pPr indent="0" marL="0">
              <a:buNone/>
            </a:pPr>
            <a:r>
              <a:rPr lang="en-US" sz="1400" b="1" dirty="0">
                <a:solidFill>
                  <a:srgbClr val="14213D"/>
                </a:solidFill>
                <a:latin typeface="Calibri" pitchFamily="34" charset="0"/>
                <a:ea typeface="Calibri" pitchFamily="34" charset="-122"/>
                <a:cs typeface="Calibri" pitchFamily="34" charset="-120"/>
              </a:rPr>
              <a:t>Sensitivity: added growth and imports</a:t>
            </a:r>
            <a:endParaRPr lang="en-US" sz="1400" dirty="0"/>
          </a:p>
        </p:txBody>
      </p:sp>
      <p:graphicFrame>
        <p:nvGraphicFramePr>
          <p:cNvPr id="45" name="Table 1"/>
          <p:cNvGraphicFramePr>
            <a:graphicFrameLocks noGrp="1"/>
          </p:cNvGraphicFramePr>
          <p:nvPr>
            <p:extLst>
              <p:ext uri="{D42A27DB-BD31-4B8C-83A1-F6EECF244321}">
                <p14:modId xmlns:p14="http://schemas.microsoft.com/office/powerpoint/2010/main" val="1579011935"/>
              </p:ext>
            </p:extLst>
          </p:nvPr>
        </p:nvGraphicFramePr>
        <p:xfrm>
          <a:off x="7589520" y="1920240"/>
          <a:ext cx="3931920" cy="914400"/>
        </p:xfrm>
        <a:graphic>
          <a:graphicData uri="http://schemas.openxmlformats.org/drawingml/2006/table">
            <a:tbl>
              <a:tblPr/>
              <a:tblGrid>
                <a:gridCol w="1600200"/>
                <a:gridCol w="731520"/>
                <a:gridCol w="731520"/>
                <a:gridCol w="868680"/>
              </a:tblGrid>
              <a:tr h="43891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Variant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2029 pp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Peak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US$ bn</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3891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Base case</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0.46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2.20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Defence content 60%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0.51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2.48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2E7D4F"/>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3891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Sea wall by 2034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0.51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2.49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3891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Both</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0.56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2.78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38912">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IMF efficiency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0.60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2.86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124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11" name="Shape 6"/>
          <p:cNvSpPr/>
          <p:nvPr/>
        </p:nvSpPr>
        <p:spPr>
          <a:xfrm>
            <a:off x="548640" y="5257800"/>
            <a:ext cx="11109960" cy="1005840"/>
          </a:xfrm>
          <a:prstGeom prst="roundRect">
            <a:avLst>
              <a:gd name="adj" fmla="val 7273"/>
            </a:avLst>
          </a:prstGeom>
          <a:solidFill>
            <a:srgbClr val="F7F3E6"/>
          </a:solidFill>
          <a:ln w="12700">
            <a:solidFill>
              <a:srgbClr val="F7F3E6"/>
            </a:solidFill>
            <a:prstDash val="solid"/>
          </a:ln>
        </p:spPr>
      </p:sp>
      <p:sp>
        <p:nvSpPr>
          <p:cNvPr id="12" name="Text 7"/>
          <p:cNvSpPr txBox="1"/>
          <p:nvPr/>
        </p:nvSpPr>
        <p:spPr>
          <a:xfrm>
            <a:off x="731520" y="5303520"/>
            <a:ext cx="10789920" cy="91440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Three levers that cost nothing extra: </a:t>
            </a:r>
            <a:pPr indent="0" marL="0">
              <a:buNone/>
            </a:pPr>
            <a:r>
              <a:rPr lang="en-US" sz="1250" dirty="0">
                <a:solidFill>
                  <a:srgbClr val="1F2A3C"/>
                </a:solidFill>
                <a:latin typeface="Calibri" pitchFamily="34" charset="0"/>
                <a:ea typeface="Calibri" pitchFamily="34" charset="-122"/>
                <a:cs typeface="Calibri" pitchFamily="34" charset="-120"/>
              </a:rPr>
              <a:t>raise defence domestic content to 60% (submarines and fast attack craft at domestic yards, MRO at home); close the efficiency gap (+30% on the effect); and phase the sea wall so it does not compete with the 2028–30 peak for the budget.</a:t>
            </a:r>
            <a:endParaRPr lang="en-US" sz="1250" dirty="0"/>
          </a:p>
        </p:txBody>
      </p:sp>
      <p:sp>
        <p:nvSpPr>
          <p:cNvPr id="13" name="Text 8"/>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calculation (integrated paper, Tables 8.4–8.5; job-years from Appendix F).</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JOBS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4.0 million jobs at the peak; unemployment down to about 3.7%</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Jobs supported by year and the open unemployment rate, 2027–2037">    </p:cNvPr>
          <p:cNvPicPr>
            <a:picLocks noChangeAspect="1"/>
          </p:cNvPicPr>
          <p:nvPr/>
        </p:nvPicPr>
        <p:blipFill>
          <a:blip r:embed="rId1"/>
          <a:stretch>
            <a:fillRect/>
          </a:stretch>
        </p:blipFill>
        <p:spPr>
          <a:xfrm>
            <a:off x="365760" y="1325880"/>
            <a:ext cx="7955280" cy="3760678"/>
          </a:xfrm>
          <a:prstGeom prst="rect">
            <a:avLst/>
          </a:prstGeom>
        </p:spPr>
      </p:pic>
      <p:sp>
        <p:nvSpPr>
          <p:cNvPr id="8" name="Shape 4"/>
          <p:cNvSpPr/>
          <p:nvPr/>
        </p:nvSpPr>
        <p:spPr>
          <a:xfrm>
            <a:off x="8549640" y="1325880"/>
            <a:ext cx="3108960" cy="1005840"/>
          </a:xfrm>
          <a:prstGeom prst="roundRect">
            <a:avLst>
              <a:gd name="adj" fmla="val 7273"/>
            </a:avLst>
          </a:prstGeom>
          <a:solidFill>
            <a:srgbClr val="F4F6FA"/>
          </a:solidFill>
          <a:ln w="12700">
            <a:solidFill>
              <a:srgbClr val="F4F6FA"/>
            </a:solidFill>
            <a:prstDash val="solid"/>
          </a:ln>
        </p:spPr>
      </p:sp>
      <p:sp>
        <p:nvSpPr>
          <p:cNvPr id="9" name="Text 5"/>
          <p:cNvSpPr txBox="1"/>
          <p:nvPr/>
        </p:nvSpPr>
        <p:spPr>
          <a:xfrm>
            <a:off x="8732520" y="1463040"/>
            <a:ext cx="2743200" cy="640080"/>
          </a:xfrm>
          <a:prstGeom prst="rect">
            <a:avLst/>
          </a:prstGeom>
          <a:noFill/>
          <a:ln/>
        </p:spPr>
        <p:txBody>
          <a:bodyPr wrap="square" lIns="0" tIns="0" rIns="0" bIns="0" rtlCol="0" anchor="t">
            <a:normAutofit/>
          </a:bodyPr>
          <a:lstStyle/>
          <a:p>
            <a:pPr indent="0" marL="0">
              <a:buNone/>
            </a:pPr>
            <a:r>
              <a:rPr lang="en-US" sz="2200" b="1" dirty="0">
                <a:solidFill>
                  <a:srgbClr val="1F3864"/>
                </a:solidFill>
                <a:latin typeface="Cambria" pitchFamily="34" charset="0"/>
                <a:ea typeface="Cambria" pitchFamily="34" charset="-122"/>
                <a:cs typeface="Cambria" pitchFamily="34" charset="-120"/>
              </a:rPr>
              <a:t>25.5 m</a:t>
            </a:r>
            <a:endParaRPr lang="en-US" sz="2200" dirty="0"/>
          </a:p>
        </p:txBody>
      </p:sp>
      <p:sp>
        <p:nvSpPr>
          <p:cNvPr id="10" name="Text 6"/>
          <p:cNvSpPr txBox="1"/>
          <p:nvPr/>
        </p:nvSpPr>
        <p:spPr>
          <a:xfrm>
            <a:off x="8732520" y="2103120"/>
            <a:ext cx="2743200" cy="1371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job-years in construction (direct, suppliers, induced)</a:t>
            </a:r>
            <a:endParaRPr lang="en-US" sz="1250" dirty="0"/>
          </a:p>
        </p:txBody>
      </p:sp>
      <p:sp>
        <p:nvSpPr>
          <p:cNvPr id="11" name="Shape 7"/>
          <p:cNvSpPr/>
          <p:nvPr/>
        </p:nvSpPr>
        <p:spPr>
          <a:xfrm>
            <a:off x="8549640" y="2368296"/>
            <a:ext cx="3108960" cy="1005840"/>
          </a:xfrm>
          <a:prstGeom prst="roundRect">
            <a:avLst>
              <a:gd name="adj" fmla="val 7273"/>
            </a:avLst>
          </a:prstGeom>
          <a:solidFill>
            <a:srgbClr val="F4F6FA"/>
          </a:solidFill>
          <a:ln w="12700">
            <a:solidFill>
              <a:srgbClr val="F4F6FA"/>
            </a:solidFill>
            <a:prstDash val="solid"/>
          </a:ln>
        </p:spPr>
      </p:sp>
      <p:sp>
        <p:nvSpPr>
          <p:cNvPr id="12" name="Text 8"/>
          <p:cNvSpPr txBox="1"/>
          <p:nvPr/>
        </p:nvSpPr>
        <p:spPr>
          <a:xfrm>
            <a:off x="8732520" y="2505456"/>
            <a:ext cx="2743200" cy="640080"/>
          </a:xfrm>
          <a:prstGeom prst="rect">
            <a:avLst/>
          </a:prstGeom>
          <a:noFill/>
          <a:ln/>
        </p:spPr>
        <p:txBody>
          <a:bodyPr wrap="square" lIns="0" tIns="0" rIns="0" bIns="0" rtlCol="0" anchor="t">
            <a:normAutofit/>
          </a:bodyPr>
          <a:lstStyle/>
          <a:p>
            <a:pPr indent="0" marL="0">
              <a:buNone/>
            </a:pPr>
            <a:r>
              <a:rPr lang="en-US" sz="2200" b="1" dirty="0">
                <a:solidFill>
                  <a:srgbClr val="B8901E"/>
                </a:solidFill>
                <a:latin typeface="Cambria" pitchFamily="34" charset="0"/>
                <a:ea typeface="Cambria" pitchFamily="34" charset="-122"/>
                <a:cs typeface="Cambria" pitchFamily="34" charset="-120"/>
              </a:rPr>
              <a:t>4.0 m</a:t>
            </a:r>
            <a:endParaRPr lang="en-US" sz="2200" dirty="0"/>
          </a:p>
        </p:txBody>
      </p:sp>
      <p:sp>
        <p:nvSpPr>
          <p:cNvPr id="13" name="Text 9"/>
          <p:cNvSpPr txBox="1"/>
          <p:nvPr/>
        </p:nvSpPr>
        <p:spPr>
          <a:xfrm>
            <a:off x="8732520" y="3145536"/>
            <a:ext cx="2743200" cy="1371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jobs at the 2029 peak</a:t>
            </a:r>
            <a:endParaRPr lang="en-US" sz="1250" dirty="0"/>
          </a:p>
        </p:txBody>
      </p:sp>
      <p:sp>
        <p:nvSpPr>
          <p:cNvPr id="14" name="Shape 10"/>
          <p:cNvSpPr/>
          <p:nvPr/>
        </p:nvSpPr>
        <p:spPr>
          <a:xfrm>
            <a:off x="8549640" y="3410712"/>
            <a:ext cx="3108960" cy="1005840"/>
          </a:xfrm>
          <a:prstGeom prst="roundRect">
            <a:avLst>
              <a:gd name="adj" fmla="val 7273"/>
            </a:avLst>
          </a:prstGeom>
          <a:solidFill>
            <a:srgbClr val="F4F6FA"/>
          </a:solidFill>
          <a:ln w="12700">
            <a:solidFill>
              <a:srgbClr val="F4F6FA"/>
            </a:solidFill>
            <a:prstDash val="solid"/>
          </a:ln>
        </p:spPr>
      </p:sp>
      <p:sp>
        <p:nvSpPr>
          <p:cNvPr id="15" name="Text 11"/>
          <p:cNvSpPr txBox="1"/>
          <p:nvPr/>
        </p:nvSpPr>
        <p:spPr>
          <a:xfrm>
            <a:off x="8732520" y="3547872"/>
            <a:ext cx="2743200" cy="640080"/>
          </a:xfrm>
          <a:prstGeom prst="rect">
            <a:avLst/>
          </a:prstGeom>
          <a:noFill/>
          <a:ln/>
        </p:spPr>
        <p:txBody>
          <a:bodyPr wrap="square" lIns="0" tIns="0" rIns="0" bIns="0" rtlCol="0" anchor="t">
            <a:normAutofit/>
          </a:bodyPr>
          <a:lstStyle/>
          <a:p>
            <a:pPr indent="0" marL="0">
              <a:buNone/>
            </a:pPr>
            <a:r>
              <a:rPr lang="en-US" sz="2200" b="1" dirty="0">
                <a:solidFill>
                  <a:srgbClr val="9B2C2C"/>
                </a:solidFill>
                <a:latin typeface="Cambria" pitchFamily="34" charset="0"/>
                <a:ea typeface="Cambria" pitchFamily="34" charset="-122"/>
                <a:cs typeface="Cambria" pitchFamily="34" charset="-120"/>
              </a:rPr>
              <a:t>4.7% → 3.7%</a:t>
            </a:r>
            <a:endParaRPr lang="en-US" sz="2200" dirty="0"/>
          </a:p>
        </p:txBody>
      </p:sp>
      <p:sp>
        <p:nvSpPr>
          <p:cNvPr id="16" name="Text 12"/>
          <p:cNvSpPr txBox="1"/>
          <p:nvPr/>
        </p:nvSpPr>
        <p:spPr>
          <a:xfrm>
            <a:off x="8732520" y="4187952"/>
            <a:ext cx="2743200" cy="1371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unemployment 2028–30 (range 3.3–4.1%)</a:t>
            </a:r>
            <a:endParaRPr lang="en-US" sz="1250" dirty="0"/>
          </a:p>
        </p:txBody>
      </p:sp>
      <p:sp>
        <p:nvSpPr>
          <p:cNvPr id="17" name="Shape 13"/>
          <p:cNvSpPr/>
          <p:nvPr/>
        </p:nvSpPr>
        <p:spPr>
          <a:xfrm>
            <a:off x="8549640" y="4453128"/>
            <a:ext cx="3108960" cy="1005840"/>
          </a:xfrm>
          <a:prstGeom prst="roundRect">
            <a:avLst>
              <a:gd name="adj" fmla="val 7273"/>
            </a:avLst>
          </a:prstGeom>
          <a:solidFill>
            <a:srgbClr val="F4F6FA"/>
          </a:solidFill>
          <a:ln w="12700">
            <a:solidFill>
              <a:srgbClr val="F4F6FA"/>
            </a:solidFill>
            <a:prstDash val="solid"/>
          </a:ln>
        </p:spPr>
      </p:sp>
      <p:sp>
        <p:nvSpPr>
          <p:cNvPr id="18" name="Text 14"/>
          <p:cNvSpPr txBox="1"/>
          <p:nvPr/>
        </p:nvSpPr>
        <p:spPr>
          <a:xfrm>
            <a:off x="8732520" y="4590288"/>
            <a:ext cx="2743200" cy="640080"/>
          </a:xfrm>
          <a:prstGeom prst="rect">
            <a:avLst/>
          </a:prstGeom>
          <a:noFill/>
          <a:ln/>
        </p:spPr>
        <p:txBody>
          <a:bodyPr wrap="square" lIns="0" tIns="0" rIns="0" bIns="0" rtlCol="0" anchor="t">
            <a:normAutofit/>
          </a:bodyPr>
          <a:lstStyle/>
          <a:p>
            <a:pPr indent="0" marL="0">
              <a:buNone/>
            </a:pPr>
            <a:r>
              <a:rPr lang="en-US" sz="2200" b="1" dirty="0">
                <a:solidFill>
                  <a:srgbClr val="3E7C7B"/>
                </a:solidFill>
                <a:latin typeface="Cambria" pitchFamily="34" charset="0"/>
                <a:ea typeface="Cambria" pitchFamily="34" charset="-122"/>
                <a:cs typeface="Cambria" pitchFamily="34" charset="-120"/>
              </a:rPr>
              <a:t>1.4 m</a:t>
            </a:r>
            <a:endParaRPr lang="en-US" sz="2200" dirty="0"/>
          </a:p>
        </p:txBody>
      </p:sp>
      <p:sp>
        <p:nvSpPr>
          <p:cNvPr id="19" name="Text 15"/>
          <p:cNvSpPr txBox="1"/>
          <p:nvPr/>
        </p:nvSpPr>
        <p:spPr>
          <a:xfrm>
            <a:off x="8732520" y="5230368"/>
            <a:ext cx="2743200" cy="13716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lasting jobs after construction</a:t>
            </a:r>
            <a:endParaRPr lang="en-US" sz="1250" dirty="0"/>
          </a:p>
        </p:txBody>
      </p:sp>
      <p:sp>
        <p:nvSpPr>
          <p:cNvPr id="20" name="Shape 16"/>
          <p:cNvSpPr/>
          <p:nvPr/>
        </p:nvSpPr>
        <p:spPr>
          <a:xfrm>
            <a:off x="548640" y="5577840"/>
            <a:ext cx="11109960" cy="749808"/>
          </a:xfrm>
          <a:prstGeom prst="roundRect">
            <a:avLst>
              <a:gd name="adj" fmla="val 9756"/>
            </a:avLst>
          </a:prstGeom>
          <a:solidFill>
            <a:srgbClr val="EEF2F8"/>
          </a:solidFill>
          <a:ln w="12700">
            <a:solidFill>
              <a:srgbClr val="EEF2F8"/>
            </a:solidFill>
            <a:prstDash val="solid"/>
          </a:ln>
        </p:spPr>
      </p:sp>
      <p:sp>
        <p:nvSpPr>
          <p:cNvPr id="21" name="Text 17"/>
          <p:cNvSpPr txBox="1"/>
          <p:nvPr/>
        </p:nvSpPr>
        <p:spPr>
          <a:xfrm>
            <a:off x="731520" y="5596128"/>
            <a:ext cx="10789920" cy="713232"/>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Reading: </a:t>
            </a:r>
            <a:pPr indent="0" marL="0">
              <a:buNone/>
            </a:pPr>
            <a:r>
              <a:rPr lang="en-US" sz="1250" dirty="0">
                <a:solidFill>
                  <a:srgbClr val="1F2A3C"/>
                </a:solidFill>
                <a:latin typeface="Calibri" pitchFamily="34" charset="0"/>
                <a:ea typeface="Calibri" pitchFamily="34" charset="-122"/>
                <a:cs typeface="Calibri" pitchFamily="34" charset="-120"/>
              </a:rPr>
              <a:t>jobs supported, not all new jobs. About 1 m jobs end in 2032 with the RKAP projects and 0.6 m in 2035 with the defence programme; the successor pipeline protects jobs as well as growth.</a:t>
            </a:r>
            <a:endParaRPr lang="en-US" sz="1250" dirty="0"/>
          </a:p>
        </p:txBody>
      </p:sp>
      <p:sp>
        <p:nvSpPr>
          <p:cNvPr id="22" name="Text 18"/>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employment model (integrated paper, Section 8.7 and Appendix F); ERIA (2023) PSN input-output coefficients; BPS Sakernas Feb 2026.</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JOBS AND CONSUMPTION</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The sea wall and defence employ the most; wages feed consumption</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Construction job-years and labour intensity for the 15 projects with most jobs">    </p:cNvPr>
          <p:cNvPicPr>
            <a:picLocks noChangeAspect="1"/>
          </p:cNvPicPr>
          <p:nvPr/>
        </p:nvPicPr>
        <p:blipFill>
          <a:blip r:embed="rId1"/>
          <a:stretch>
            <a:fillRect/>
          </a:stretch>
        </p:blipFill>
        <p:spPr>
          <a:xfrm>
            <a:off x="365760" y="1325880"/>
            <a:ext cx="7223760" cy="3732276"/>
          </a:xfrm>
          <a:prstGeom prst="rect">
            <a:avLst/>
          </a:prstGeom>
        </p:spPr>
      </p:pic>
      <p:sp>
        <p:nvSpPr>
          <p:cNvPr id="8" name="Shape 4"/>
          <p:cNvSpPr/>
          <p:nvPr/>
        </p:nvSpPr>
        <p:spPr>
          <a:xfrm>
            <a:off x="7772400" y="1325880"/>
            <a:ext cx="3886200" cy="4206240"/>
          </a:xfrm>
          <a:prstGeom prst="roundRect">
            <a:avLst>
              <a:gd name="adj" fmla="val 1882"/>
            </a:avLst>
          </a:prstGeom>
          <a:solidFill>
            <a:srgbClr val="F4F6FA"/>
          </a:solidFill>
          <a:ln w="12700">
            <a:solidFill>
              <a:srgbClr val="F4F6FA"/>
            </a:solidFill>
            <a:prstDash val="solid"/>
          </a:ln>
        </p:spPr>
      </p:sp>
      <p:sp>
        <p:nvSpPr>
          <p:cNvPr id="9" name="Text 5"/>
          <p:cNvSpPr txBox="1"/>
          <p:nvPr/>
        </p:nvSpPr>
        <p:spPr>
          <a:xfrm>
            <a:off x="7955280" y="1444752"/>
            <a:ext cx="356616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The consumption loop, 2029 peak</a:t>
            </a:r>
            <a:endParaRPr lang="en-US" sz="1500" dirty="0"/>
          </a:p>
        </p:txBody>
      </p:sp>
      <p:sp>
        <p:nvSpPr>
          <p:cNvPr id="10" name="Text 6"/>
          <p:cNvSpPr txBox="1"/>
          <p:nvPr/>
        </p:nvSpPr>
        <p:spPr>
          <a:xfrm>
            <a:off x="7955280" y="1901952"/>
            <a:ext cx="1463040" cy="365760"/>
          </a:xfrm>
          <a:prstGeom prst="rect">
            <a:avLst/>
          </a:prstGeom>
          <a:noFill/>
          <a:ln/>
        </p:spPr>
        <p:txBody>
          <a:bodyPr wrap="square" lIns="0" tIns="0" rIns="0" bIns="0" rtlCol="0" anchor="t"/>
          <a:lstStyle/>
          <a:p>
            <a:pPr indent="0" marL="0">
              <a:buNone/>
            </a:pPr>
            <a:r>
              <a:rPr lang="en-US" sz="1700" b="1" dirty="0">
                <a:solidFill>
                  <a:srgbClr val="1F3864"/>
                </a:solidFill>
                <a:latin typeface="Cambria" pitchFamily="34" charset="0"/>
                <a:ea typeface="Cambria" pitchFamily="34" charset="-122"/>
                <a:cs typeface="Cambria" pitchFamily="34" charset="-120"/>
              </a:rPr>
              <a:t>≈ 3.0 m</a:t>
            </a:r>
            <a:endParaRPr lang="en-US" sz="1700" dirty="0"/>
          </a:p>
        </p:txBody>
      </p:sp>
      <p:sp>
        <p:nvSpPr>
          <p:cNvPr id="11" name="Text 7"/>
          <p:cNvSpPr txBox="1"/>
          <p:nvPr/>
        </p:nvSpPr>
        <p:spPr>
          <a:xfrm>
            <a:off x="9464040" y="1947672"/>
            <a:ext cx="210312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on-site and supplier jobs</a:t>
            </a:r>
            <a:endParaRPr lang="en-US" sz="1200" dirty="0"/>
          </a:p>
        </p:txBody>
      </p:sp>
      <p:sp>
        <p:nvSpPr>
          <p:cNvPr id="12" name="Text 8"/>
          <p:cNvSpPr txBox="1"/>
          <p:nvPr/>
        </p:nvSpPr>
        <p:spPr>
          <a:xfrm>
            <a:off x="7955280" y="2587752"/>
            <a:ext cx="1463040" cy="365760"/>
          </a:xfrm>
          <a:prstGeom prst="rect">
            <a:avLst/>
          </a:prstGeom>
          <a:noFill/>
          <a:ln/>
        </p:spPr>
        <p:txBody>
          <a:bodyPr wrap="square" lIns="0" tIns="0" rIns="0" bIns="0" rtlCol="0" anchor="t"/>
          <a:lstStyle/>
          <a:p>
            <a:pPr indent="0" marL="0">
              <a:buNone/>
            </a:pPr>
            <a:r>
              <a:rPr lang="en-US" sz="1700" b="1" dirty="0">
                <a:solidFill>
                  <a:srgbClr val="1F3864"/>
                </a:solidFill>
                <a:latin typeface="Cambria" pitchFamily="34" charset="0"/>
                <a:ea typeface="Cambria" pitchFamily="34" charset="-122"/>
                <a:cs typeface="Cambria" pitchFamily="34" charset="-120"/>
              </a:rPr>
              <a:t>≈ Rp 119 T</a:t>
            </a:r>
            <a:endParaRPr lang="en-US" sz="1700" dirty="0"/>
          </a:p>
        </p:txBody>
      </p:sp>
      <p:sp>
        <p:nvSpPr>
          <p:cNvPr id="13" name="Text 9"/>
          <p:cNvSpPr txBox="1"/>
          <p:nvPr/>
        </p:nvSpPr>
        <p:spPr>
          <a:xfrm>
            <a:off x="9464040" y="2633472"/>
            <a:ext cx="210312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wages a year (Rp 3.33 m a month)</a:t>
            </a:r>
            <a:endParaRPr lang="en-US" sz="1200" dirty="0"/>
          </a:p>
        </p:txBody>
      </p:sp>
      <p:sp>
        <p:nvSpPr>
          <p:cNvPr id="14" name="Text 10"/>
          <p:cNvSpPr txBox="1"/>
          <p:nvPr/>
        </p:nvSpPr>
        <p:spPr>
          <a:xfrm>
            <a:off x="7955280" y="3273552"/>
            <a:ext cx="1463040" cy="365760"/>
          </a:xfrm>
          <a:prstGeom prst="rect">
            <a:avLst/>
          </a:prstGeom>
          <a:noFill/>
          <a:ln/>
        </p:spPr>
        <p:txBody>
          <a:bodyPr wrap="square" lIns="0" tIns="0" rIns="0" bIns="0" rtlCol="0" anchor="t"/>
          <a:lstStyle/>
          <a:p>
            <a:pPr indent="0" marL="0">
              <a:buNone/>
            </a:pPr>
            <a:r>
              <a:rPr lang="en-US" sz="1700" b="1" dirty="0">
                <a:solidFill>
                  <a:srgbClr val="1F3864"/>
                </a:solidFill>
                <a:latin typeface="Cambria" pitchFamily="34" charset="0"/>
                <a:ea typeface="Cambria" pitchFamily="34" charset="-122"/>
                <a:cs typeface="Cambria" pitchFamily="34" charset="-120"/>
              </a:rPr>
              <a:t>Rp 59–95 T</a:t>
            </a:r>
            <a:endParaRPr lang="en-US" sz="1700" dirty="0"/>
          </a:p>
        </p:txBody>
      </p:sp>
      <p:sp>
        <p:nvSpPr>
          <p:cNvPr id="15" name="Text 11"/>
          <p:cNvSpPr txBox="1"/>
          <p:nvPr/>
        </p:nvSpPr>
        <p:spPr>
          <a:xfrm>
            <a:off x="9464040" y="3319272"/>
            <a:ext cx="210312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genuinely new household income</a:t>
            </a:r>
            <a:endParaRPr lang="en-US" sz="1200" dirty="0"/>
          </a:p>
        </p:txBody>
      </p:sp>
      <p:sp>
        <p:nvSpPr>
          <p:cNvPr id="16" name="Text 12"/>
          <p:cNvSpPr txBox="1"/>
          <p:nvPr/>
        </p:nvSpPr>
        <p:spPr>
          <a:xfrm>
            <a:off x="7955280" y="3959352"/>
            <a:ext cx="1463040" cy="365760"/>
          </a:xfrm>
          <a:prstGeom prst="rect">
            <a:avLst/>
          </a:prstGeom>
          <a:noFill/>
          <a:ln/>
        </p:spPr>
        <p:txBody>
          <a:bodyPr wrap="square" lIns="0" tIns="0" rIns="0" bIns="0" rtlCol="0" anchor="t"/>
          <a:lstStyle/>
          <a:p>
            <a:pPr indent="0" marL="0">
              <a:buNone/>
            </a:pPr>
            <a:r>
              <a:rPr lang="en-US" sz="1700" b="1" dirty="0">
                <a:solidFill>
                  <a:srgbClr val="1F3864"/>
                </a:solidFill>
                <a:latin typeface="Cambria" pitchFamily="34" charset="0"/>
                <a:ea typeface="Cambria" pitchFamily="34" charset="-122"/>
                <a:cs typeface="Cambria" pitchFamily="34" charset="-120"/>
              </a:rPr>
              <a:t>Rp 45–81 T</a:t>
            </a:r>
            <a:endParaRPr lang="en-US" sz="1700" dirty="0"/>
          </a:p>
        </p:txBody>
      </p:sp>
      <p:sp>
        <p:nvSpPr>
          <p:cNvPr id="17" name="Text 13"/>
          <p:cNvSpPr txBox="1"/>
          <p:nvPr/>
        </p:nvSpPr>
        <p:spPr>
          <a:xfrm>
            <a:off x="9464040" y="4005072"/>
            <a:ext cx="210312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extra consumption</a:t>
            </a:r>
            <a:endParaRPr lang="en-US" sz="1200" dirty="0"/>
          </a:p>
        </p:txBody>
      </p:sp>
      <p:sp>
        <p:nvSpPr>
          <p:cNvPr id="18" name="Text 14"/>
          <p:cNvSpPr txBox="1"/>
          <p:nvPr/>
        </p:nvSpPr>
        <p:spPr>
          <a:xfrm>
            <a:off x="7955280" y="4645152"/>
            <a:ext cx="1463040" cy="365760"/>
          </a:xfrm>
          <a:prstGeom prst="rect">
            <a:avLst/>
          </a:prstGeom>
          <a:noFill/>
          <a:ln/>
        </p:spPr>
        <p:txBody>
          <a:bodyPr wrap="square" lIns="0" tIns="0" rIns="0" bIns="0" rtlCol="0" anchor="t"/>
          <a:lstStyle/>
          <a:p>
            <a:pPr indent="0" marL="0">
              <a:buNone/>
            </a:pPr>
            <a:r>
              <a:rPr lang="en-US" sz="1700" b="1" dirty="0">
                <a:solidFill>
                  <a:srgbClr val="3E7C7B"/>
                </a:solidFill>
                <a:latin typeface="Cambria" pitchFamily="34" charset="0"/>
                <a:ea typeface="Cambria" pitchFamily="34" charset="-122"/>
                <a:cs typeface="Cambria" pitchFamily="34" charset="-120"/>
              </a:rPr>
              <a:t>+0.3–0.6%</a:t>
            </a:r>
            <a:endParaRPr lang="en-US" sz="1700" dirty="0"/>
          </a:p>
        </p:txBody>
      </p:sp>
      <p:sp>
        <p:nvSpPr>
          <p:cNvPr id="19" name="Text 15"/>
          <p:cNvSpPr txBox="1"/>
          <p:nvPr/>
        </p:nvSpPr>
        <p:spPr>
          <a:xfrm>
            <a:off x="9464040" y="4690872"/>
            <a:ext cx="2103120" cy="54864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GDP after further rounds</a:t>
            </a:r>
            <a:endParaRPr lang="en-US" sz="1200" dirty="0"/>
          </a:p>
        </p:txBody>
      </p:sp>
      <p:sp>
        <p:nvSpPr>
          <p:cNvPr id="20" name="Text 16"/>
          <p:cNvSpPr txBox="1"/>
          <p:nvPr/>
        </p:nvSpPr>
        <p:spPr>
          <a:xfrm>
            <a:off x="7955280" y="5074920"/>
            <a:ext cx="3566160" cy="411480"/>
          </a:xfrm>
          <a:prstGeom prst="rect">
            <a:avLst/>
          </a:prstGeom>
          <a:noFill/>
          <a:ln/>
        </p:spPr>
        <p:txBody>
          <a:bodyPr wrap="square" lIns="0" tIns="0" rIns="0" bIns="0" rtlCol="0" anchor="t"/>
          <a:lstStyle/>
          <a:p>
            <a:pPr indent="0" marL="0">
              <a:buNone/>
            </a:pPr>
            <a:r>
              <a:rPr lang="en-US" sz="1100" i="1" dirty="0">
                <a:solidFill>
                  <a:srgbClr val="6B7488"/>
                </a:solidFill>
                <a:latin typeface="Calibri" pitchFamily="34" charset="0"/>
                <a:ea typeface="Calibri" pitchFamily="34" charset="-122"/>
                <a:cs typeface="Calibri" pitchFamily="34" charset="-120"/>
              </a:rPr>
              <a:t>Already inside the IMF multipliers: it explains them, not extra growth.</a:t>
            </a:r>
            <a:endParaRPr lang="en-US" sz="1100" dirty="0"/>
          </a:p>
        </p:txBody>
      </p:sp>
      <p:sp>
        <p:nvSpPr>
          <p:cNvPr id="21" name="Shape 17"/>
          <p:cNvSpPr/>
          <p:nvPr/>
        </p:nvSpPr>
        <p:spPr>
          <a:xfrm>
            <a:off x="548640" y="5623560"/>
            <a:ext cx="11109960" cy="685800"/>
          </a:xfrm>
          <a:prstGeom prst="roundRect">
            <a:avLst>
              <a:gd name="adj" fmla="val 10667"/>
            </a:avLst>
          </a:prstGeom>
          <a:solidFill>
            <a:srgbClr val="EEF2F8"/>
          </a:solidFill>
          <a:ln w="12700">
            <a:solidFill>
              <a:srgbClr val="EEF2F8"/>
            </a:solidFill>
            <a:prstDash val="solid"/>
          </a:ln>
        </p:spPr>
      </p:sp>
      <p:sp>
        <p:nvSpPr>
          <p:cNvPr id="22" name="Text 18"/>
          <p:cNvSpPr txBox="1"/>
          <p:nvPr/>
        </p:nvSpPr>
        <p:spPr>
          <a:xfrm>
            <a:off x="731520" y="5650992"/>
            <a:ext cx="10789920" cy="64008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Defence: </a:t>
            </a:r>
            <a:pPr indent="0" marL="0">
              <a:buNone/>
            </a:pPr>
            <a:r>
              <a:rPr lang="en-US" sz="1250" dirty="0">
                <a:solidFill>
                  <a:srgbClr val="1F2A3C"/>
                </a:solidFill>
                <a:latin typeface="Calibri" pitchFamily="34" charset="0"/>
                <a:ea typeface="Calibri" pitchFamily="34" charset="-122"/>
                <a:cs typeface="Calibri" pitchFamily="34" charset="-120"/>
              </a:rPr>
              <a:t>7.0 m job-years but only 3,291 per Rp 1 T, because most of the money buys imports. Build submarines and fast attack craft at domestic yards and keep MRO at home; hire locally so wages become Indonesian consumption.</a:t>
            </a:r>
            <a:endParaRPr lang="en-US" sz="1250" dirty="0"/>
          </a:p>
        </p:txBody>
      </p:sp>
      <p:sp>
        <p:nvSpPr>
          <p:cNvPr id="23" name="Text 19"/>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integrated paper, Sections 8.7–8.8; BPS average wage Aug 2025.</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PROJECT SCREEN (1/2)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The resource-conversion core goes first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560320"/>
                <a:gridCol w="1005840"/>
                <a:gridCol w="1737360"/>
                <a:gridCol w="5760720"/>
              </a:tblGrid>
              <a:tr h="58521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Project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Equity (Rp 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Conditions or reason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PLTS 100 GW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48.6</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2E7D4F"/>
                          </a:solidFill>
                          <a:latin typeface="Calibri" pitchFamily="34" charset="0"/>
                          <a:ea typeface="Calibri" pitchFamily="34" charset="-122"/>
                          <a:cs typeface="Calibri" pitchFamily="34" charset="-120"/>
                        </a:rPr>
                        <a:t>Anchor</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Main coal-transition asset. 10 GW tranches after the hybrid-tariff regulation; link to domestic PV and silica; demand risk (Trina's unused 3 GW)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CDME (coal to DME)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9.7</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B8901E"/>
                          </a:solidFill>
                          <a:latin typeface="Calibri" pitchFamily="34" charset="0"/>
                          <a:ea typeface="Calibri" pitchFamily="34" charset="-122"/>
                          <a:cs typeface="Calibri" pitchFamily="34" charset="-120"/>
                        </a:rPr>
                        <a:t>Conditional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US$0.9 bn/yr FX saving at 20%. Needs take-or-pay offtake, a DME price rule vs subsidised LPG, a carbon-cost test and a time-limited mandate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Tarsius Ph.1 and Anoa (rare earths)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2E7D4F"/>
                          </a:solidFill>
                          <a:latin typeface="Calibri" pitchFamily="34" charset="0"/>
                          <a:ea typeface="Calibri" pitchFamily="34" charset="-122"/>
                          <a:cs typeface="Calibri" pitchFamily="34" charset="-120"/>
                        </a:rPr>
                        <a:t>Eligible, pull forward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Small tickets; pilot built; MIND ID, PT Timah and Perminas cooperating; start of a mine-to-magnet chain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Al, Fe, Ni, Mn metals; Copper; Silica</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17.7</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2E7D4F"/>
                          </a:solidFill>
                          <a:latin typeface="Calibri" pitchFamily="34" charset="0"/>
                          <a:ea typeface="Calibri" pitchFamily="34" charset="-122"/>
                          <a:cs typeface="Calibri" pitchFamily="34" charset="-120"/>
                        </a:rPr>
                        <a:t>Eligible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Deepens nickel and copper chains; subject to the 35% commodity cap and a feasibility study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Refinery; CPE; Biodiesel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39.4</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B8901E"/>
                          </a:solidFill>
                          <a:latin typeface="Calibri" pitchFamily="34" charset="0"/>
                          <a:ea typeface="Calibri" pitchFamily="34" charset="-122"/>
                          <a:cs typeface="Calibri" pitchFamily="34" charset="-120"/>
                        </a:rPr>
                        <a:t>Conditional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Import substitution. Biodiesel only alongside BPDP levy reform, to avoid a second subsidy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EV Power Pack (maritime)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2E7D4F"/>
                          </a:solidFill>
                          <a:latin typeface="Calibri" pitchFamily="34" charset="0"/>
                          <a:ea typeface="Calibri" pitchFamily="34" charset="-122"/>
                          <a:cs typeface="Calibri" pitchFamily="34" charset="-120"/>
                        </a:rPr>
                        <a:t>Eligible, priority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Nickel link and ship-import substitution; near PT PAL's shipyard; needs captive demand from SOEs and ministries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85216">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Textile ecosystem</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18.7</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B8901E"/>
                          </a:solidFill>
                          <a:latin typeface="Calibri" pitchFamily="34" charset="0"/>
                          <a:ea typeface="Calibri" pitchFamily="34" charset="-122"/>
                          <a:cs typeface="Calibri" pitchFamily="34" charset="-120"/>
                        </a:rPr>
                        <a:t>Conditional (≤ 30% tier)</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No resource link but a high employment multiplier; machine modernisation through co-financing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first screen based on DDMF RKAP 2026 project overviews; not an investment appraisal.</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PROJECT SCREEN (2/2)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Defence splits, technology is staged, public goods stay on budget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560320"/>
                <a:gridCol w="1005840"/>
                <a:gridCol w="1920240"/>
                <a:gridCol w="557784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Project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Equity (Rp 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Conditions or reason</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Shipyard &amp; ship components</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2E7D4F"/>
                          </a:solidFill>
                          <a:latin typeface="Calibri" pitchFamily="34" charset="0"/>
                          <a:ea typeface="Calibri" pitchFamily="34" charset="-122"/>
                          <a:cs typeface="Calibri" pitchFamily="34" charset="-120"/>
                        </a:rPr>
                        <a:t>Eligible, priority (sovereignty)</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Localises yard capacity and components; tranches tied to the vessel backlog, TKDN milestones and SME supplier development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Defence modernisation (Rp 2,125 T) *</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446.2</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B8901E"/>
                          </a:solidFill>
                          <a:latin typeface="Calibri" pitchFamily="34" charset="0"/>
                          <a:ea typeface="Calibri" pitchFamily="34" charset="-122"/>
                          <a:cs typeface="Calibri" pitchFamily="34" charset="-120"/>
                        </a:rPr>
                        <a:t>Split: industry share only</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Domestic yards, components and MRO within the 20% tier; platforms on the APBN; imports financed by DHE SDA loans, not foreign loans; 60% domestic-content target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MOBNAS &amp; MOLINAS</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5.3</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9B2C2C"/>
                          </a:solidFill>
                          <a:latin typeface="Calibri" pitchFamily="34" charset="0"/>
                          <a:ea typeface="Calibri" pitchFamily="34" charset="-122"/>
                          <a:cs typeface="Calibri" pitchFamily="34" charset="-120"/>
                        </a:rPr>
                        <a:t>High risk, capped</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Behind schedule, land not secured, partner not appointed; strict stage-gating</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Tech Corridor</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39.2</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9B2C2C"/>
                          </a:solidFill>
                          <a:latin typeface="Calibri" pitchFamily="34" charset="0"/>
                          <a:ea typeface="Calibri" pitchFamily="34" charset="-122"/>
                          <a:cs typeface="Calibri" pitchFamily="34" charset="-120"/>
                        </a:rPr>
                        <a:t>Not yet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Scope, milestones and support still to be determined</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Data Centre; AI and IT programme *</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52.5</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B8901E"/>
                          </a:solidFill>
                          <a:latin typeface="Calibri" pitchFamily="34" charset="0"/>
                          <a:ea typeface="Calibri" pitchFamily="34" charset="-122"/>
                          <a:cs typeface="Calibri" pitchFamily="34" charset="-120"/>
                        </a:rPr>
                        <a:t>Conditional</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Commercial tranches only (shared compute, sovereign cloud) with anchor public demand; public systems and skills on budget; renewable power</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Quantum; semiconductors *</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7.3</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B8901E"/>
                          </a:solidFill>
                          <a:latin typeface="Calibri" pitchFamily="34" charset="0"/>
                          <a:ea typeface="Calibri" pitchFamily="34" charset="-122"/>
                          <a:cs typeface="Calibri" pitchFamily="34" charset="-120"/>
                        </a:rPr>
                        <a:t>Conditional / redesign</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Quantum as staged research partnerships; back-end semiconductors and power devices with an anchor offtaker</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Biosimilar &amp; pharma; E-commerce</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2.1</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6B7488"/>
                          </a:solidFill>
                          <a:latin typeface="Calibri" pitchFamily="34" charset="0"/>
                          <a:ea typeface="Calibri" pitchFamily="34" charset="-122"/>
                          <a:cs typeface="Calibri" pitchFamily="34" charset="-120"/>
                        </a:rPr>
                        <a:t>Outside the fund</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On hold or commercial: DDMF's own capital or private investors</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Waste, landfill mining, RDF</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6B7488"/>
                          </a:solidFill>
                          <a:latin typeface="Calibri" pitchFamily="34" charset="0"/>
                          <a:ea typeface="Calibri" pitchFamily="34" charset="-122"/>
                          <a:cs typeface="Calibri" pitchFamily="34" charset="-120"/>
                        </a:rPr>
                        <a:t>Outside the fund</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Regional public services: regional endowment or budget; RDF may qualify later as a coal substitute</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Housing, schools, STEM university, smart cities, water, fishing villages</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207.2</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3864"/>
                          </a:solidFill>
                          <a:latin typeface="Calibri" pitchFamily="34" charset="0"/>
                          <a:ea typeface="Calibri" pitchFamily="34" charset="-122"/>
                          <a:cs typeface="Calibri" pitchFamily="34" charset="-120"/>
                        </a:rPr>
                        <a:t>Budget route</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No cash flow to recycle: APBN, SBSN or KPBU, supported by the future window's annual return</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1F2A3C"/>
                          </a:solidFill>
                          <a:latin typeface="Calibri" pitchFamily="34" charset="0"/>
                          <a:ea typeface="Calibri" pitchFamily="34" charset="-122"/>
                          <a:cs typeface="Calibri" pitchFamily="34" charset="-120"/>
                        </a:rPr>
                        <a:t>Giant Sea Wall (Rp 1,200 T) *</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252.0</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3864"/>
                          </a:solidFill>
                          <a:latin typeface="Calibri" pitchFamily="34" charset="0"/>
                          <a:ea typeface="Calibri" pitchFamily="34" charset="-122"/>
                          <a:cs typeface="Calibri" pitchFamily="34" charset="-120"/>
                        </a:rPr>
                        <a:t>Budget route, resource-backed</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50" dirty="0">
                          <a:solidFill>
                            <a:srgbClr val="1F2A3C"/>
                          </a:solidFill>
                          <a:latin typeface="Calibri" pitchFamily="34" charset="0"/>
                          <a:ea typeface="Calibri" pitchFamily="34" charset="-122"/>
                          <a:cs typeface="Calibri" pitchFamily="34" charset="-120"/>
                        </a:rPr>
                        <a:t>APBN, KPBU availability payments and resource-revenue bonds; up to 30% from resource cash; stage by segment</a:t>
                      </a:r>
                      <a:endParaRPr lang="en-US" sz="10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Equity figures are DDMF equity estimates in the RKAP 2026; * October 2026 figures with 21% equity assumed.</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4 · DUE DILIGENCE</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Four high-risk projects need redesign</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1280160"/>
                <a:gridCol w="3291840"/>
                <a:gridCol w="1645920"/>
                <a:gridCol w="30175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Project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Rp T (equity)</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Key finding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Redesign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96012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Textile ecosystem</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89.0 (18.7)</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Cotton ~100% imported; mills at 30–50% utilisation; Sritex bankrupt, 60 firms closed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B8901E"/>
                          </a:solidFill>
                          <a:latin typeface="Calibri" pitchFamily="34" charset="0"/>
                          <a:ea typeface="Calibri" pitchFamily="34" charset="-122"/>
                          <a:cs typeface="Calibri" pitchFamily="34" charset="-120"/>
                        </a:rPr>
                        <a:t>Restructure, don't build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Buy and modernise distressed mills; viscose-based fabric; tranches tied to utilisation and trade enforcement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96012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Biosimilar &amp; pharma</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8.9 (1.9)</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70–90% of APIs imported; 3 EPO producers already; 66 trials in 2024</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B8901E"/>
                          </a:solidFill>
                          <a:latin typeface="Calibri" pitchFamily="34" charset="0"/>
                          <a:ea typeface="Calibri" pitchFamily="34" charset="-122"/>
                          <a:cs typeface="Calibri" pitchFamily="34" charset="-120"/>
                        </a:rPr>
                        <a:t>Conditional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mAbs and insulin with a tech partner; priority APIs; trial capacity via INA-CRC</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96012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Semiconductors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15.0 (3.1)</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Imports ~US$4.9 bn, fragmented; a fab costs US$35–43 bn vs ~US$0.8 bn available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9B2C2C"/>
                          </a:solidFill>
                          <a:latin typeface="Calibri" pitchFamily="34" charset="0"/>
                          <a:ea typeface="Calibri" pitchFamily="34" charset="-122"/>
                          <a:cs typeface="Calibri" pitchFamily="34" charset="-120"/>
                        </a:rPr>
                        <a:t>Redesign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OSAT and power devices with an anchor offtaker; silica materials; chip-design talent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960120">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E-commerce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1.0 (0.2)</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Shopee 54% + TikTok-Tokopedia 38%; Bukalapak and Blanja exited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9B2C2C"/>
                          </a:solidFill>
                          <a:latin typeface="Calibri" pitchFamily="34" charset="0"/>
                          <a:ea typeface="Calibri" pitchFamily="34" charset="-122"/>
                          <a:cs typeface="Calibri" pitchFamily="34" charset="-120"/>
                        </a:rPr>
                        <a:t>High death-on-arrival risk</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B2G/B2B MSME platform: consolidate PaDi UMKM and e-Katalog; supply-chain finance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Sources: USDA/Databoks; APSyFI; BenarNews; GPFI; WHO (2026); BPOM Reg. 8/2024; Kemenperin (2026); WSTS; BCG; Momentum Works; e-Conomy SEA 2025; Telkom; LKPP.</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GROWTH BRIDGE</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Resources and the pipeline lift growth to about 6.9%, not 8%</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Waterfall chart of the growth bridge for 2029">    </p:cNvPr>
          <p:cNvPicPr>
            <a:picLocks noChangeAspect="1"/>
          </p:cNvPicPr>
          <p:nvPr/>
        </p:nvPicPr>
        <p:blipFill>
          <a:blip r:embed="rId1"/>
          <a:stretch>
            <a:fillRect/>
          </a:stretch>
        </p:blipFill>
        <p:spPr>
          <a:xfrm>
            <a:off x="365760" y="1371600"/>
            <a:ext cx="7955280" cy="3760678"/>
          </a:xfrm>
          <a:prstGeom prst="rect">
            <a:avLst/>
          </a:prstGeom>
        </p:spPr>
      </p:pic>
      <p:sp>
        <p:nvSpPr>
          <p:cNvPr id="8" name="Shape 4"/>
          <p:cNvSpPr/>
          <p:nvPr/>
        </p:nvSpPr>
        <p:spPr>
          <a:xfrm>
            <a:off x="8549640" y="1417320"/>
            <a:ext cx="3108960" cy="1207008"/>
          </a:xfrm>
          <a:prstGeom prst="roundRect">
            <a:avLst>
              <a:gd name="adj" fmla="val 6061"/>
            </a:avLst>
          </a:prstGeom>
          <a:solidFill>
            <a:srgbClr val="F4F6FA"/>
          </a:solidFill>
          <a:ln w="12700">
            <a:solidFill>
              <a:srgbClr val="F4F6FA"/>
            </a:solidFill>
            <a:prstDash val="solid"/>
          </a:ln>
        </p:spPr>
      </p:sp>
      <p:sp>
        <p:nvSpPr>
          <p:cNvPr id="9" name="Text 5"/>
          <p:cNvSpPr txBox="1"/>
          <p:nvPr/>
        </p:nvSpPr>
        <p:spPr>
          <a:xfrm>
            <a:off x="8732520" y="1554480"/>
            <a:ext cx="2743200" cy="640080"/>
          </a:xfrm>
          <a:prstGeom prst="rect">
            <a:avLst/>
          </a:prstGeom>
          <a:noFill/>
          <a:ln/>
        </p:spPr>
        <p:txBody>
          <a:bodyPr wrap="square" lIns="0" tIns="0" rIns="0" bIns="0" rtlCol="0" anchor="t">
            <a:normAutofit/>
          </a:bodyPr>
          <a:lstStyle/>
          <a:p>
            <a:pPr indent="0" marL="0">
              <a:buNone/>
            </a:pPr>
            <a:r>
              <a:rPr lang="en-US" sz="2600" b="1" dirty="0">
                <a:solidFill>
                  <a:srgbClr val="B8901E"/>
                </a:solidFill>
                <a:latin typeface="Cambria" pitchFamily="34" charset="0"/>
                <a:ea typeface="Cambria" pitchFamily="34" charset="-122"/>
                <a:cs typeface="Cambria" pitchFamily="34" charset="-120"/>
              </a:rPr>
              <a:t>6.37%</a:t>
            </a:r>
            <a:endParaRPr lang="en-US" sz="2600" dirty="0"/>
          </a:p>
        </p:txBody>
      </p:sp>
      <p:sp>
        <p:nvSpPr>
          <p:cNvPr id="10" name="Text 6"/>
          <p:cNvSpPr txBox="1"/>
          <p:nvPr/>
        </p:nvSpPr>
        <p:spPr>
          <a:xfrm>
            <a:off x="8732520" y="219456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growth in 2029 from resource levers and the pipeline (+0.46 pp)</a:t>
            </a:r>
            <a:endParaRPr lang="en-US" sz="1250" dirty="0"/>
          </a:p>
        </p:txBody>
      </p:sp>
      <p:sp>
        <p:nvSpPr>
          <p:cNvPr id="11" name="Shape 7"/>
          <p:cNvSpPr/>
          <p:nvPr/>
        </p:nvSpPr>
        <p:spPr>
          <a:xfrm>
            <a:off x="8549640" y="2743200"/>
            <a:ext cx="3108960" cy="1207008"/>
          </a:xfrm>
          <a:prstGeom prst="roundRect">
            <a:avLst>
              <a:gd name="adj" fmla="val 6061"/>
            </a:avLst>
          </a:prstGeom>
          <a:solidFill>
            <a:srgbClr val="F4F6FA"/>
          </a:solidFill>
          <a:ln w="12700">
            <a:solidFill>
              <a:srgbClr val="F4F6FA"/>
            </a:solidFill>
            <a:prstDash val="solid"/>
          </a:ln>
        </p:spPr>
      </p:sp>
      <p:sp>
        <p:nvSpPr>
          <p:cNvPr id="12" name="Text 8"/>
          <p:cNvSpPr txBox="1"/>
          <p:nvPr/>
        </p:nvSpPr>
        <p:spPr>
          <a:xfrm>
            <a:off x="8732520" y="2880360"/>
            <a:ext cx="2743200" cy="640080"/>
          </a:xfrm>
          <a:prstGeom prst="rect">
            <a:avLst/>
          </a:prstGeom>
          <a:noFill/>
          <a:ln/>
        </p:spPr>
        <p:txBody>
          <a:bodyPr wrap="square" lIns="0" tIns="0" rIns="0" bIns="0" rtlCol="0" anchor="t">
            <a:normAutofit/>
          </a:bodyPr>
          <a:lstStyle/>
          <a:p>
            <a:pPr indent="0" marL="0">
              <a:buNone/>
            </a:pPr>
            <a:r>
              <a:rPr lang="en-US" sz="2600" b="1" dirty="0">
                <a:solidFill>
                  <a:srgbClr val="3E7C7B"/>
                </a:solidFill>
                <a:latin typeface="Cambria" pitchFamily="34" charset="0"/>
                <a:ea typeface="Cambria" pitchFamily="34" charset="-122"/>
                <a:cs typeface="Cambria" pitchFamily="34" charset="-120"/>
              </a:rPr>
              <a:t>6.90%</a:t>
            </a:r>
            <a:endParaRPr lang="en-US" sz="2600" dirty="0"/>
          </a:p>
        </p:txBody>
      </p:sp>
      <p:sp>
        <p:nvSpPr>
          <p:cNvPr id="13" name="Text 9"/>
          <p:cNvSpPr txBox="1"/>
          <p:nvPr/>
        </p:nvSpPr>
        <p:spPr>
          <a:xfrm>
            <a:off x="8732520" y="352044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with better investment efficiency (ICOR 5.6 → 5.1)</a:t>
            </a:r>
            <a:endParaRPr lang="en-US" sz="1250" dirty="0"/>
          </a:p>
        </p:txBody>
      </p:sp>
      <p:sp>
        <p:nvSpPr>
          <p:cNvPr id="14" name="Shape 10"/>
          <p:cNvSpPr/>
          <p:nvPr/>
        </p:nvSpPr>
        <p:spPr>
          <a:xfrm>
            <a:off x="8549640" y="4069080"/>
            <a:ext cx="3108960" cy="1207008"/>
          </a:xfrm>
          <a:prstGeom prst="roundRect">
            <a:avLst>
              <a:gd name="adj" fmla="val 6061"/>
            </a:avLst>
          </a:prstGeom>
          <a:solidFill>
            <a:srgbClr val="F4F6FA"/>
          </a:solidFill>
          <a:ln w="12700">
            <a:solidFill>
              <a:srgbClr val="F4F6FA"/>
            </a:solidFill>
            <a:prstDash val="solid"/>
          </a:ln>
        </p:spPr>
      </p:sp>
      <p:sp>
        <p:nvSpPr>
          <p:cNvPr id="15" name="Text 11"/>
          <p:cNvSpPr txBox="1"/>
          <p:nvPr/>
        </p:nvSpPr>
        <p:spPr>
          <a:xfrm>
            <a:off x="8732520" y="4206240"/>
            <a:ext cx="2743200" cy="640080"/>
          </a:xfrm>
          <a:prstGeom prst="rect">
            <a:avLst/>
          </a:prstGeom>
          <a:noFill/>
          <a:ln/>
        </p:spPr>
        <p:txBody>
          <a:bodyPr wrap="square" lIns="0" tIns="0" rIns="0" bIns="0" rtlCol="0" anchor="t">
            <a:normAutofit/>
          </a:bodyPr>
          <a:lstStyle/>
          <a:p>
            <a:pPr indent="0" marL="0">
              <a:buNone/>
            </a:pPr>
            <a:r>
              <a:rPr lang="en-US" sz="2600" b="1" dirty="0">
                <a:solidFill>
                  <a:srgbClr val="9B2C2C"/>
                </a:solidFill>
                <a:latin typeface="Cambria" pitchFamily="34" charset="0"/>
                <a:ea typeface="Cambria" pitchFamily="34" charset="-122"/>
                <a:cs typeface="Cambria" pitchFamily="34" charset="-120"/>
              </a:rPr>
              <a:t>1.10 pp</a:t>
            </a:r>
            <a:endParaRPr lang="en-US" sz="2600" dirty="0"/>
          </a:p>
        </p:txBody>
      </p:sp>
      <p:sp>
        <p:nvSpPr>
          <p:cNvPr id="16" name="Text 12"/>
          <p:cNvSpPr txBox="1"/>
          <p:nvPr/>
        </p:nvSpPr>
        <p:spPr>
          <a:xfrm>
            <a:off x="8732520" y="4846320"/>
            <a:ext cx="2743200" cy="338328"/>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gap to 8%: needs an ICOR of about 4.3</a:t>
            </a:r>
            <a:endParaRPr lang="en-US" sz="1250" dirty="0"/>
          </a:p>
        </p:txBody>
      </p:sp>
      <p:sp>
        <p:nvSpPr>
          <p:cNvPr id="17" name="Shape 13"/>
          <p:cNvSpPr/>
          <p:nvPr/>
        </p:nvSpPr>
        <p:spPr>
          <a:xfrm>
            <a:off x="548640" y="5440680"/>
            <a:ext cx="11109960" cy="868680"/>
          </a:xfrm>
          <a:prstGeom prst="roundRect">
            <a:avLst>
              <a:gd name="adj" fmla="val 8421"/>
            </a:avLst>
          </a:prstGeom>
          <a:solidFill>
            <a:srgbClr val="EEF2F8"/>
          </a:solidFill>
          <a:ln w="12700">
            <a:solidFill>
              <a:srgbClr val="EEF2F8"/>
            </a:solidFill>
            <a:prstDash val="solid"/>
          </a:ln>
        </p:spPr>
      </p:sp>
      <p:sp>
        <p:nvSpPr>
          <p:cNvPr id="18" name="Text 14"/>
          <p:cNvSpPr txBox="1"/>
          <p:nvPr/>
        </p:nvSpPr>
        <p:spPr>
          <a:xfrm>
            <a:off x="731520" y="5486400"/>
            <a:ext cx="10789920" cy="77724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Reading: </a:t>
            </a:r>
            <a:pPr indent="0" marL="0">
              <a:buNone/>
            </a:pPr>
            <a:r>
              <a:rPr lang="en-US" sz="1300" dirty="0">
                <a:solidFill>
                  <a:srgbClr val="1F2A3C"/>
                </a:solidFill>
                <a:latin typeface="Calibri" pitchFamily="34" charset="0"/>
                <a:ea typeface="Calibri" pitchFamily="34" charset="-122"/>
                <a:cs typeface="Calibri" pitchFamily="34" charset="-120"/>
              </a:rPr>
              <a:t>the pipeline is 2.6× the RKAP's, but adds only +0.46 pp in 2029 (RKAP +0.34): defence equipment is imported and the sea wall adds little capacity. Investment reaches 32.5% of GDP, so efficiency, not money, is what is missing.</a:t>
            </a:r>
            <a:endParaRPr lang="en-US" sz="1300" dirty="0"/>
          </a:p>
        </p:txBody>
      </p:sp>
      <p:sp>
        <p:nvSpPr>
          <p:cNvPr id="19" name="Text 15"/>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calculation (integrated paper, Chapter 11 and Appendix E); BPS 2025–2026; BKPM 2026. Illustrative.</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THREE ROUTES TO 8%</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Three ways to reach 8% by 2029, each with one very hard assumption</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Map of investment ratio against ICOR with the three scenarios on the 8% line">    </p:cNvPr>
          <p:cNvPicPr>
            <a:picLocks noChangeAspect="1"/>
          </p:cNvPicPr>
          <p:nvPr/>
        </p:nvPicPr>
        <p:blipFill>
          <a:blip r:embed="rId1"/>
          <a:stretch>
            <a:fillRect/>
          </a:stretch>
        </p:blipFill>
        <p:spPr>
          <a:xfrm>
            <a:off x="365760" y="1371600"/>
            <a:ext cx="5760720" cy="3291840"/>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49240" cy="914400"/>
        </p:xfrm>
        <a:graphic>
          <a:graphicData uri="http://schemas.openxmlformats.org/drawingml/2006/table">
            <a:tbl>
              <a:tblPr/>
              <a:tblGrid>
                <a:gridCol w="1783080"/>
                <a:gridCol w="1188720"/>
                <a:gridCol w="1188720"/>
                <a:gridCol w="1188720"/>
              </a:tblGrid>
              <a:tr h="457200">
                <a:tc>
                  <a:txBody>
                    <a:bodyPr/>
                    <a:lstStyle/>
                    <a:p>
                      <a:pPr indent="0" marL="0">
                        <a:buNone/>
                      </a:pP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S1 Efficiency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S2 Big push</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S3 Industry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Investment, % GDP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38.5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34.5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ICOR (2029)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3.95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Growth 26/27/28/29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5.3/5.8/6.6/8.0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6.3/6.9/7.5/8.0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5.5/6.1/6.9/8.0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Extra investment 2029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Rp 834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Rp 3,058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Rp 1,765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Investment growth</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8.9%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15.3%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Manufacturing growth</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B8901E"/>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Current account 2029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9B2C2C"/>
                          </a:solidFill>
                          <a:latin typeface="Calibri" pitchFamily="34" charset="0"/>
                          <a:ea typeface="Calibri" pitchFamily="34" charset="-122"/>
                          <a:cs typeface="Calibri" pitchFamily="34" charset="-120"/>
                        </a:rPr>
                        <a:t>−3.8%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Resource contribution</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+1.3 pp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+2.0 pp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+1.5 pp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9"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calculation (integrated paper, Chapter 12). Illustrative scenarios, not forecasts. Current account assumes extra saving of 1.5, 6.0 and 4.0 pp of GDP.</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WHAT EACH ROUTE DEMANDS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Efficiency, money or manufacturing: the choice is which risk to carry</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417320"/>
            <a:ext cx="3566160" cy="4846320"/>
          </a:xfrm>
          <a:prstGeom prst="roundRect">
            <a:avLst>
              <a:gd name="adj" fmla="val 2051"/>
            </a:avLst>
          </a:prstGeom>
          <a:solidFill>
            <a:srgbClr val="F4F6FA"/>
          </a:solidFill>
          <a:ln w="12700">
            <a:solidFill>
              <a:srgbClr val="F4F6FA"/>
            </a:solidFill>
            <a:prstDash val="solid"/>
          </a:ln>
        </p:spPr>
      </p:sp>
      <p:sp>
        <p:nvSpPr>
          <p:cNvPr id="8" name="Shape 5"/>
          <p:cNvSpPr/>
          <p:nvPr/>
        </p:nvSpPr>
        <p:spPr>
          <a:xfrm>
            <a:off x="548640" y="1417320"/>
            <a:ext cx="3566160" cy="91440"/>
          </a:xfrm>
          <a:prstGeom prst="rect">
            <a:avLst/>
          </a:prstGeom>
          <a:solidFill>
            <a:srgbClr val="3E7C7B"/>
          </a:solidFill>
          <a:ln w="12700">
            <a:solidFill>
              <a:srgbClr val="3E7C7B"/>
            </a:solidFill>
            <a:prstDash val="solid"/>
          </a:ln>
        </p:spPr>
      </p:sp>
      <p:sp>
        <p:nvSpPr>
          <p:cNvPr id="9" name="Text 6"/>
          <p:cNvSpPr txBox="1"/>
          <p:nvPr/>
        </p:nvSpPr>
        <p:spPr>
          <a:xfrm>
            <a:off x="731520" y="1600200"/>
            <a:ext cx="3200400" cy="365760"/>
          </a:xfrm>
          <a:prstGeom prst="rect">
            <a:avLst/>
          </a:prstGeom>
          <a:noFill/>
          <a:ln/>
        </p:spPr>
        <p:txBody>
          <a:bodyPr wrap="square" lIns="0" tIns="0" rIns="0" bIns="0" rtlCol="0" anchor="t"/>
          <a:lstStyle/>
          <a:p>
            <a:pPr indent="0" marL="0">
              <a:buNone/>
            </a:pPr>
            <a:r>
              <a:rPr lang="en-US" sz="1600" b="1" dirty="0">
                <a:solidFill>
                  <a:srgbClr val="3E7C7B"/>
                </a:solidFill>
                <a:latin typeface="Calibri" pitchFamily="34" charset="0"/>
                <a:ea typeface="Calibri" pitchFamily="34" charset="-122"/>
                <a:cs typeface="Calibri" pitchFamily="34" charset="-120"/>
              </a:rPr>
              <a:t>S1 · Efficiency first</a:t>
            </a:r>
            <a:endParaRPr lang="en-US" sz="1600" dirty="0"/>
          </a:p>
        </p:txBody>
      </p:sp>
      <p:sp>
        <p:nvSpPr>
          <p:cNvPr id="10" name="Text 7"/>
          <p:cNvSpPr txBox="1"/>
          <p:nvPr/>
        </p:nvSpPr>
        <p:spPr>
          <a:xfrm>
            <a:off x="731520" y="205740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HARDEST ASSUMPTION</a:t>
            </a:r>
            <a:endParaRPr lang="en-US" sz="1000" dirty="0"/>
          </a:p>
        </p:txBody>
      </p:sp>
      <p:sp>
        <p:nvSpPr>
          <p:cNvPr id="11" name="Text 8"/>
          <p:cNvSpPr txBox="1"/>
          <p:nvPr/>
        </p:nvSpPr>
        <p:spPr>
          <a:xfrm>
            <a:off x="731520" y="2304288"/>
            <a:ext cx="3200400" cy="548640"/>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ICOR 3.95 in four years (Singapore level)</a:t>
            </a:r>
            <a:endParaRPr lang="en-US" sz="1350" dirty="0"/>
          </a:p>
        </p:txBody>
      </p:sp>
      <p:sp>
        <p:nvSpPr>
          <p:cNvPr id="12" name="Text 9"/>
          <p:cNvSpPr txBox="1"/>
          <p:nvPr/>
        </p:nvSpPr>
        <p:spPr>
          <a:xfrm>
            <a:off x="731520" y="292608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WHAT IT TAKES</a:t>
            </a:r>
            <a:endParaRPr lang="en-US" sz="1000" dirty="0"/>
          </a:p>
        </p:txBody>
      </p:sp>
      <p:sp>
        <p:nvSpPr>
          <p:cNvPr id="13" name="Text 10"/>
          <p:cNvSpPr txBox="1"/>
          <p:nvPr/>
        </p:nvSpPr>
        <p:spPr>
          <a:xfrm>
            <a:off x="731520" y="3200400"/>
            <a:ext cx="3200400" cy="18288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Logistics cost 14.3% → 8–9% of GDP</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Licences in days, not months</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SOEs run for returns under Danantara</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Every project through the six-test gate</a:t>
            </a:r>
            <a:endParaRPr lang="en-US" sz="1250" dirty="0"/>
          </a:p>
        </p:txBody>
      </p:sp>
      <p:sp>
        <p:nvSpPr>
          <p:cNvPr id="14" name="Text 11"/>
          <p:cNvSpPr txBox="1"/>
          <p:nvPr/>
        </p:nvSpPr>
        <p:spPr>
          <a:xfrm>
            <a:off x="731520" y="512064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MAIN RISK</a:t>
            </a:r>
            <a:endParaRPr lang="en-US" sz="1000" dirty="0"/>
          </a:p>
        </p:txBody>
      </p:sp>
      <p:sp>
        <p:nvSpPr>
          <p:cNvPr id="15" name="Text 12"/>
          <p:cNvSpPr txBox="1"/>
          <p:nvPr/>
        </p:nvSpPr>
        <p:spPr>
          <a:xfrm>
            <a:off x="731520" y="5376672"/>
            <a:ext cx="3200400" cy="777240"/>
          </a:xfrm>
          <a:prstGeom prst="rect">
            <a:avLst/>
          </a:prstGeom>
          <a:noFill/>
          <a:ln/>
        </p:spPr>
        <p:txBody>
          <a:bodyPr wrap="square" lIns="0" tIns="0" rIns="0" bIns="0" rtlCol="0" anchor="t"/>
          <a:lstStyle/>
          <a:p>
            <a:pPr indent="0" marL="0">
              <a:buNone/>
            </a:pPr>
            <a:r>
              <a:rPr lang="en-US" sz="1250" dirty="0">
                <a:solidFill>
                  <a:srgbClr val="9B2C2C"/>
                </a:solidFill>
                <a:latin typeface="Calibri" pitchFamily="34" charset="0"/>
                <a:ea typeface="Calibri" pitchFamily="34" charset="-122"/>
                <a:cs typeface="Calibri" pitchFamily="34" charset="-120"/>
              </a:rPr>
              <a:t>Reform politics: if reforms stall, growth stays near 6%</a:t>
            </a:r>
            <a:endParaRPr lang="en-US" sz="1250" dirty="0"/>
          </a:p>
        </p:txBody>
      </p:sp>
      <p:sp>
        <p:nvSpPr>
          <p:cNvPr id="16" name="Shape 13"/>
          <p:cNvSpPr/>
          <p:nvPr/>
        </p:nvSpPr>
        <p:spPr>
          <a:xfrm>
            <a:off x="4297680" y="1417320"/>
            <a:ext cx="3566160" cy="4846320"/>
          </a:xfrm>
          <a:prstGeom prst="roundRect">
            <a:avLst>
              <a:gd name="adj" fmla="val 2051"/>
            </a:avLst>
          </a:prstGeom>
          <a:solidFill>
            <a:srgbClr val="F4F6FA"/>
          </a:solidFill>
          <a:ln w="12700">
            <a:solidFill>
              <a:srgbClr val="F4F6FA"/>
            </a:solidFill>
            <a:prstDash val="solid"/>
          </a:ln>
        </p:spPr>
      </p:sp>
      <p:sp>
        <p:nvSpPr>
          <p:cNvPr id="17" name="Shape 14"/>
          <p:cNvSpPr/>
          <p:nvPr/>
        </p:nvSpPr>
        <p:spPr>
          <a:xfrm>
            <a:off x="4297680" y="1417320"/>
            <a:ext cx="3566160" cy="91440"/>
          </a:xfrm>
          <a:prstGeom prst="rect">
            <a:avLst/>
          </a:prstGeom>
          <a:solidFill>
            <a:srgbClr val="9B2C2C"/>
          </a:solidFill>
          <a:ln w="12700">
            <a:solidFill>
              <a:srgbClr val="9B2C2C"/>
            </a:solidFill>
            <a:prstDash val="solid"/>
          </a:ln>
        </p:spPr>
      </p:sp>
      <p:sp>
        <p:nvSpPr>
          <p:cNvPr id="18" name="Text 15"/>
          <p:cNvSpPr txBox="1"/>
          <p:nvPr/>
        </p:nvSpPr>
        <p:spPr>
          <a:xfrm>
            <a:off x="4480560" y="1600200"/>
            <a:ext cx="3200400" cy="365760"/>
          </a:xfrm>
          <a:prstGeom prst="rect">
            <a:avLst/>
          </a:prstGeom>
          <a:noFill/>
          <a:ln/>
        </p:spPr>
        <p:txBody>
          <a:bodyPr wrap="square" lIns="0" tIns="0" rIns="0" bIns="0" rtlCol="0" anchor="t"/>
          <a:lstStyle/>
          <a:p>
            <a:pPr indent="0" marL="0">
              <a:buNone/>
            </a:pPr>
            <a:r>
              <a:rPr lang="en-US" sz="1600" b="1" dirty="0">
                <a:solidFill>
                  <a:srgbClr val="9B2C2C"/>
                </a:solidFill>
                <a:latin typeface="Calibri" pitchFamily="34" charset="0"/>
                <a:ea typeface="Calibri" pitchFamily="34" charset="-122"/>
                <a:cs typeface="Calibri" pitchFamily="34" charset="-120"/>
              </a:rPr>
              <a:t>S2 · Big push</a:t>
            </a:r>
            <a:endParaRPr lang="en-US" sz="1600" dirty="0"/>
          </a:p>
        </p:txBody>
      </p:sp>
      <p:sp>
        <p:nvSpPr>
          <p:cNvPr id="19" name="Text 16"/>
          <p:cNvSpPr txBox="1"/>
          <p:nvPr/>
        </p:nvSpPr>
        <p:spPr>
          <a:xfrm>
            <a:off x="4480560" y="205740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HARDEST ASSUMPTION</a:t>
            </a:r>
            <a:endParaRPr lang="en-US" sz="1000" dirty="0"/>
          </a:p>
        </p:txBody>
      </p:sp>
      <p:sp>
        <p:nvSpPr>
          <p:cNvPr id="20" name="Text 17"/>
          <p:cNvSpPr txBox="1"/>
          <p:nvPr/>
        </p:nvSpPr>
        <p:spPr>
          <a:xfrm>
            <a:off x="4480560" y="2304288"/>
            <a:ext cx="3200400" cy="548640"/>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Investment +15% a year to 38.5% of GDP</a:t>
            </a:r>
            <a:endParaRPr lang="en-US" sz="1350" dirty="0"/>
          </a:p>
        </p:txBody>
      </p:sp>
      <p:sp>
        <p:nvSpPr>
          <p:cNvPr id="21" name="Text 18"/>
          <p:cNvSpPr txBox="1"/>
          <p:nvPr/>
        </p:nvSpPr>
        <p:spPr>
          <a:xfrm>
            <a:off x="4480560" y="292608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WHAT IT TAKES</a:t>
            </a:r>
            <a:endParaRPr lang="en-US" sz="1000" dirty="0"/>
          </a:p>
        </p:txBody>
      </p:sp>
      <p:sp>
        <p:nvSpPr>
          <p:cNvPr id="22" name="Text 19"/>
          <p:cNvSpPr txBox="1"/>
          <p:nvPr/>
        </p:nvSpPr>
        <p:spPr>
          <a:xfrm>
            <a:off x="4480560" y="3200400"/>
            <a:ext cx="3200400" cy="18288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Pipeline held at its peak to 2035</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Downstreaming at twice the roadmap pace</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Fund 80/20 split; loans up to 10%</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Saving +6 pp; FDI +2 pp of GDP</a:t>
            </a:r>
            <a:endParaRPr lang="en-US" sz="1250" dirty="0"/>
          </a:p>
        </p:txBody>
      </p:sp>
      <p:sp>
        <p:nvSpPr>
          <p:cNvPr id="23" name="Text 20"/>
          <p:cNvSpPr txBox="1"/>
          <p:nvPr/>
        </p:nvSpPr>
        <p:spPr>
          <a:xfrm>
            <a:off x="4480560" y="512064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MAIN RISK</a:t>
            </a:r>
            <a:endParaRPr lang="en-US" sz="1000" dirty="0"/>
          </a:p>
        </p:txBody>
      </p:sp>
      <p:sp>
        <p:nvSpPr>
          <p:cNvPr id="24" name="Text 21"/>
          <p:cNvSpPr txBox="1"/>
          <p:nvPr/>
        </p:nvSpPr>
        <p:spPr>
          <a:xfrm>
            <a:off x="4480560" y="5376672"/>
            <a:ext cx="3200400" cy="777240"/>
          </a:xfrm>
          <a:prstGeom prst="rect">
            <a:avLst/>
          </a:prstGeom>
          <a:noFill/>
          <a:ln/>
        </p:spPr>
        <p:txBody>
          <a:bodyPr wrap="square" lIns="0" tIns="0" rIns="0" bIns="0" rtlCol="0" anchor="t"/>
          <a:lstStyle/>
          <a:p>
            <a:pPr indent="0" marL="0">
              <a:buNone/>
            </a:pPr>
            <a:r>
              <a:rPr lang="en-US" sz="1250" dirty="0">
                <a:solidFill>
                  <a:srgbClr val="9B2C2C"/>
                </a:solidFill>
                <a:latin typeface="Calibri" pitchFamily="34" charset="0"/>
                <a:ea typeface="Calibri" pitchFamily="34" charset="-122"/>
                <a:cs typeface="Calibri" pitchFamily="34" charset="-120"/>
              </a:rPr>
              <a:t>Current account near −3.8% of GDP; inflation, credit, waste</a:t>
            </a:r>
            <a:endParaRPr lang="en-US" sz="1250" dirty="0"/>
          </a:p>
        </p:txBody>
      </p:sp>
      <p:sp>
        <p:nvSpPr>
          <p:cNvPr id="25" name="Shape 22"/>
          <p:cNvSpPr/>
          <p:nvPr/>
        </p:nvSpPr>
        <p:spPr>
          <a:xfrm>
            <a:off x="8046720" y="1417320"/>
            <a:ext cx="3566160" cy="4846320"/>
          </a:xfrm>
          <a:prstGeom prst="roundRect">
            <a:avLst>
              <a:gd name="adj" fmla="val 2051"/>
            </a:avLst>
          </a:prstGeom>
          <a:solidFill>
            <a:srgbClr val="F4F6FA"/>
          </a:solidFill>
          <a:ln w="12700">
            <a:solidFill>
              <a:srgbClr val="F4F6FA"/>
            </a:solidFill>
            <a:prstDash val="solid"/>
          </a:ln>
        </p:spPr>
      </p:sp>
      <p:sp>
        <p:nvSpPr>
          <p:cNvPr id="26" name="Shape 23"/>
          <p:cNvSpPr/>
          <p:nvPr/>
        </p:nvSpPr>
        <p:spPr>
          <a:xfrm>
            <a:off x="8046720" y="1417320"/>
            <a:ext cx="3566160" cy="91440"/>
          </a:xfrm>
          <a:prstGeom prst="rect">
            <a:avLst/>
          </a:prstGeom>
          <a:solidFill>
            <a:srgbClr val="B8901E"/>
          </a:solidFill>
          <a:ln w="12700">
            <a:solidFill>
              <a:srgbClr val="B8901E"/>
            </a:solidFill>
            <a:prstDash val="solid"/>
          </a:ln>
        </p:spPr>
      </p:sp>
      <p:sp>
        <p:nvSpPr>
          <p:cNvPr id="27" name="Text 24"/>
          <p:cNvSpPr txBox="1"/>
          <p:nvPr/>
        </p:nvSpPr>
        <p:spPr>
          <a:xfrm>
            <a:off x="8229600" y="1600200"/>
            <a:ext cx="3200400" cy="365760"/>
          </a:xfrm>
          <a:prstGeom prst="rect">
            <a:avLst/>
          </a:prstGeom>
          <a:noFill/>
          <a:ln/>
        </p:spPr>
        <p:txBody>
          <a:bodyPr wrap="square" lIns="0" tIns="0" rIns="0" bIns="0" rtlCol="0" anchor="t"/>
          <a:lstStyle/>
          <a:p>
            <a:pPr indent="0" marL="0">
              <a:buNone/>
            </a:pPr>
            <a:r>
              <a:rPr lang="en-US" sz="1600" b="1" dirty="0">
                <a:solidFill>
                  <a:srgbClr val="8A6A12"/>
                </a:solidFill>
                <a:latin typeface="Calibri" pitchFamily="34" charset="0"/>
                <a:ea typeface="Calibri" pitchFamily="34" charset="-122"/>
                <a:cs typeface="Calibri" pitchFamily="34" charset="-120"/>
              </a:rPr>
              <a:t>S3 · Industrial &amp; export leap</a:t>
            </a:r>
            <a:endParaRPr lang="en-US" sz="1600" dirty="0"/>
          </a:p>
        </p:txBody>
      </p:sp>
      <p:sp>
        <p:nvSpPr>
          <p:cNvPr id="28" name="Text 25"/>
          <p:cNvSpPr txBox="1"/>
          <p:nvPr/>
        </p:nvSpPr>
        <p:spPr>
          <a:xfrm>
            <a:off x="8229600" y="205740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HARDEST ASSUMPTION</a:t>
            </a:r>
            <a:endParaRPr lang="en-US" sz="1000" dirty="0"/>
          </a:p>
        </p:txBody>
      </p:sp>
      <p:sp>
        <p:nvSpPr>
          <p:cNvPr id="29" name="Text 26"/>
          <p:cNvSpPr txBox="1"/>
          <p:nvPr/>
        </p:nvSpPr>
        <p:spPr>
          <a:xfrm>
            <a:off x="8229600" y="2304288"/>
            <a:ext cx="3200400" cy="548640"/>
          </a:xfrm>
          <a:prstGeom prst="rect">
            <a:avLst/>
          </a:prstGeom>
          <a:noFill/>
          <a:ln/>
        </p:spPr>
        <p:txBody>
          <a:bodyPr wrap="square" lIns="0" tIns="0" rIns="0" bIns="0" rtlCol="0" anchor="t"/>
          <a:lstStyle/>
          <a:p>
            <a:pPr indent="0" marL="0">
              <a:buNone/>
            </a:pPr>
            <a:r>
              <a:rPr lang="en-US" sz="1350" b="1" dirty="0">
                <a:solidFill>
                  <a:srgbClr val="14213D"/>
                </a:solidFill>
                <a:latin typeface="Calibri" pitchFamily="34" charset="0"/>
                <a:ea typeface="Calibri" pitchFamily="34" charset="-122"/>
                <a:cs typeface="Calibri" pitchFamily="34" charset="-120"/>
              </a:rPr>
              <a:t>Manufacturing +11.5% a year (share → 22%)</a:t>
            </a:r>
            <a:endParaRPr lang="en-US" sz="1350" dirty="0"/>
          </a:p>
        </p:txBody>
      </p:sp>
      <p:sp>
        <p:nvSpPr>
          <p:cNvPr id="30" name="Text 27"/>
          <p:cNvSpPr txBox="1"/>
          <p:nvPr/>
        </p:nvSpPr>
        <p:spPr>
          <a:xfrm>
            <a:off x="8229600" y="292608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WHAT IT TAKES</a:t>
            </a:r>
            <a:endParaRPr lang="en-US" sz="1000" dirty="0"/>
          </a:p>
        </p:txBody>
      </p:sp>
      <p:sp>
        <p:nvSpPr>
          <p:cNvPr id="31" name="Text 28"/>
          <p:cNvSpPr txBox="1"/>
          <p:nvPr/>
        </p:nvSpPr>
        <p:spPr>
          <a:xfrm>
            <a:off x="8229600" y="3200400"/>
            <a:ext cx="3200400" cy="1828800"/>
          </a:xfrm>
          <a:prstGeom prst="rect">
            <a:avLst/>
          </a:prstGeom>
          <a:noFill/>
          <a:ln/>
        </p:spPr>
        <p:txBody>
          <a:bodyPr wrap="square" lIns="0" tIns="0" rIns="0" bIns="0" rtlCol="0" anchor="t"/>
          <a:lstStyle/>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Nickel → battery materials, cells, EVs</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Aluminium, copper cable, oleochemicals</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Shipbuilding and defence as exports</a:t>
            </a:r>
            <a:endParaRPr lang="en-US" sz="1250" dirty="0"/>
          </a:p>
          <a:p>
            <a:pPr marL="203200" indent="-203200">
              <a:spcAft>
                <a:spcPts val="600"/>
              </a:spcAft>
              <a:buSzPct val="100000"/>
              <a:buChar char="•"/>
            </a:pPr>
            <a:r>
              <a:rPr lang="en-US" sz="1250" dirty="0">
                <a:solidFill>
                  <a:srgbClr val="1F2A3C"/>
                </a:solidFill>
                <a:latin typeface="Calibri" pitchFamily="34" charset="0"/>
                <a:ea typeface="Calibri" pitchFamily="34" charset="-122"/>
                <a:cs typeface="Calibri" pitchFamily="34" charset="-120"/>
              </a:rPr>
              <a:t>SME suppliers through DOCK-UP</a:t>
            </a:r>
            <a:endParaRPr lang="en-US" sz="1250" dirty="0"/>
          </a:p>
        </p:txBody>
      </p:sp>
      <p:sp>
        <p:nvSpPr>
          <p:cNvPr id="32" name="Text 29"/>
          <p:cNvSpPr txBox="1"/>
          <p:nvPr/>
        </p:nvSpPr>
        <p:spPr>
          <a:xfrm>
            <a:off x="8229600" y="5120640"/>
            <a:ext cx="3200400" cy="274320"/>
          </a:xfrm>
          <a:prstGeom prst="rect">
            <a:avLst/>
          </a:prstGeom>
          <a:noFill/>
          <a:ln/>
        </p:spPr>
        <p:txBody>
          <a:bodyPr wrap="square" lIns="0" tIns="0" rIns="0" bIns="0" rtlCol="0" anchor="t"/>
          <a:lstStyle/>
          <a:p>
            <a:pPr indent="0" marL="0">
              <a:buNone/>
            </a:pPr>
            <a:r>
              <a:rPr lang="en-US" sz="1000" b="1" spc="200" kern="0" dirty="0">
                <a:solidFill>
                  <a:srgbClr val="6B7488"/>
                </a:solidFill>
                <a:latin typeface="Calibri" pitchFamily="34" charset="0"/>
                <a:ea typeface="Calibri" pitchFamily="34" charset="-122"/>
                <a:cs typeface="Calibri" pitchFamily="34" charset="-120"/>
              </a:rPr>
              <a:t>MAIN RISK</a:t>
            </a:r>
            <a:endParaRPr lang="en-US" sz="1000" dirty="0"/>
          </a:p>
        </p:txBody>
      </p:sp>
      <p:sp>
        <p:nvSpPr>
          <p:cNvPr id="33" name="Text 30"/>
          <p:cNvSpPr txBox="1"/>
          <p:nvPr/>
        </p:nvSpPr>
        <p:spPr>
          <a:xfrm>
            <a:off x="8229600" y="5376672"/>
            <a:ext cx="3200400" cy="777240"/>
          </a:xfrm>
          <a:prstGeom prst="rect">
            <a:avLst/>
          </a:prstGeom>
          <a:noFill/>
          <a:ln/>
        </p:spPr>
        <p:txBody>
          <a:bodyPr wrap="square" lIns="0" tIns="0" rIns="0" bIns="0" rtlCol="0" anchor="t"/>
          <a:lstStyle/>
          <a:p>
            <a:pPr indent="0" marL="0">
              <a:buNone/>
            </a:pPr>
            <a:r>
              <a:rPr lang="en-US" sz="1250" dirty="0">
                <a:solidFill>
                  <a:srgbClr val="9B2C2C"/>
                </a:solidFill>
                <a:latin typeface="Calibri" pitchFamily="34" charset="0"/>
                <a:ea typeface="Calibri" pitchFamily="34" charset="-122"/>
                <a:cs typeface="Calibri" pitchFamily="34" charset="-120"/>
              </a:rPr>
              <a:t>Global demand, trade frictions, nickel prices, skills</a:t>
            </a:r>
            <a:endParaRPr lang="en-US" sz="1250" dirty="0"/>
          </a:p>
        </p:txBody>
      </p:sp>
      <p:sp>
        <p:nvSpPr>
          <p:cNvPr id="34" name="Text 31"/>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integrated paper, Sections 12.2–12.4; Katadata (2025) for the logistics target; Bisnis (2025) for the ICOR path.</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RECOMMENDED PATH</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Recommended: industrial leap, 33.5% investment, ICOR 4.2–4.3</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pic>
        <p:nvPicPr>
          <p:cNvPr id="7" name="Image 0" descr="Growth paths of the three scenarios and the resource-led path, 2025–2030">    </p:cNvPr>
          <p:cNvPicPr>
            <a:picLocks noChangeAspect="1"/>
          </p:cNvPicPr>
          <p:nvPr/>
        </p:nvPicPr>
        <p:blipFill>
          <a:blip r:embed="rId1"/>
          <a:stretch>
            <a:fillRect/>
          </a:stretch>
        </p:blipFill>
        <p:spPr>
          <a:xfrm>
            <a:off x="365760" y="1371600"/>
            <a:ext cx="6583680" cy="3135086"/>
          </a:xfrm>
          <a:prstGeom prst="rect">
            <a:avLst/>
          </a:prstGeom>
        </p:spPr>
      </p:pic>
      <p:sp>
        <p:nvSpPr>
          <p:cNvPr id="8" name="Shape 4"/>
          <p:cNvSpPr/>
          <p:nvPr/>
        </p:nvSpPr>
        <p:spPr>
          <a:xfrm>
            <a:off x="7178040" y="1417320"/>
            <a:ext cx="4480560" cy="1463040"/>
          </a:xfrm>
          <a:prstGeom prst="roundRect">
            <a:avLst>
              <a:gd name="adj" fmla="val 5000"/>
            </a:avLst>
          </a:prstGeom>
          <a:solidFill>
            <a:srgbClr val="F4F6FA"/>
          </a:solidFill>
          <a:ln w="12700">
            <a:solidFill>
              <a:srgbClr val="F4F6FA"/>
            </a:solidFill>
            <a:prstDash val="solid"/>
          </a:ln>
        </p:spPr>
      </p:sp>
      <p:sp>
        <p:nvSpPr>
          <p:cNvPr id="9" name="Shape 5"/>
          <p:cNvSpPr/>
          <p:nvPr/>
        </p:nvSpPr>
        <p:spPr>
          <a:xfrm>
            <a:off x="7178040" y="1417320"/>
            <a:ext cx="91440" cy="1463040"/>
          </a:xfrm>
          <a:prstGeom prst="rect">
            <a:avLst/>
          </a:prstGeom>
          <a:solidFill>
            <a:srgbClr val="1F3864"/>
          </a:solidFill>
          <a:ln w="12700">
            <a:solidFill>
              <a:srgbClr val="1F3864"/>
            </a:solidFill>
            <a:prstDash val="solid"/>
          </a:ln>
        </p:spPr>
      </p:sp>
      <p:sp>
        <p:nvSpPr>
          <p:cNvPr id="10" name="Text 6"/>
          <p:cNvSpPr txBox="1"/>
          <p:nvPr/>
        </p:nvSpPr>
        <p:spPr>
          <a:xfrm>
            <a:off x="7406640" y="1527048"/>
            <a:ext cx="4114800" cy="365760"/>
          </a:xfrm>
          <a:prstGeom prst="rect">
            <a:avLst/>
          </a:prstGeom>
          <a:noFill/>
          <a:ln/>
        </p:spPr>
        <p:txBody>
          <a:bodyPr wrap="square" lIns="0" tIns="0" rIns="0" bIns="0" rtlCol="0" anchor="t"/>
          <a:lstStyle/>
          <a:p>
            <a:pPr indent="0" marL="0">
              <a:buNone/>
            </a:pPr>
            <a:r>
              <a:rPr lang="en-US" sz="1500" b="1" dirty="0">
                <a:solidFill>
                  <a:srgbClr val="1F3864"/>
                </a:solidFill>
                <a:latin typeface="Calibri" pitchFamily="34" charset="0"/>
                <a:ea typeface="Calibri" pitchFamily="34" charset="-122"/>
                <a:cs typeface="Calibri" pitchFamily="34" charset="-120"/>
              </a:rPr>
              <a:t>2026–27 · Fix and prepare</a:t>
            </a:r>
            <a:endParaRPr lang="en-US" sz="1500" dirty="0"/>
          </a:p>
        </p:txBody>
      </p:sp>
      <p:sp>
        <p:nvSpPr>
          <p:cNvPr id="11" name="Text 7"/>
          <p:cNvSpPr txBox="1"/>
          <p:nvPr/>
        </p:nvSpPr>
        <p:spPr>
          <a:xfrm>
            <a:off x="7406640" y="1892808"/>
            <a:ext cx="4114800" cy="9144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Restore mining output; pass the fund Law; start logistics, licensing and SOE reforms; prepare bankable industrial projects</a:t>
            </a:r>
            <a:endParaRPr lang="en-US" sz="1250" dirty="0"/>
          </a:p>
        </p:txBody>
      </p:sp>
      <p:sp>
        <p:nvSpPr>
          <p:cNvPr id="12" name="Shape 8"/>
          <p:cNvSpPr/>
          <p:nvPr/>
        </p:nvSpPr>
        <p:spPr>
          <a:xfrm>
            <a:off x="7178040" y="3017520"/>
            <a:ext cx="4480560" cy="1463040"/>
          </a:xfrm>
          <a:prstGeom prst="roundRect">
            <a:avLst>
              <a:gd name="adj" fmla="val 5000"/>
            </a:avLst>
          </a:prstGeom>
          <a:solidFill>
            <a:srgbClr val="F4F6FA"/>
          </a:solidFill>
          <a:ln w="12700">
            <a:solidFill>
              <a:srgbClr val="F4F6FA"/>
            </a:solidFill>
            <a:prstDash val="solid"/>
          </a:ln>
        </p:spPr>
      </p:sp>
      <p:sp>
        <p:nvSpPr>
          <p:cNvPr id="13" name="Shape 9"/>
          <p:cNvSpPr/>
          <p:nvPr/>
        </p:nvSpPr>
        <p:spPr>
          <a:xfrm>
            <a:off x="7178040" y="3017520"/>
            <a:ext cx="91440" cy="1463040"/>
          </a:xfrm>
          <a:prstGeom prst="rect">
            <a:avLst/>
          </a:prstGeom>
          <a:solidFill>
            <a:srgbClr val="B8901E"/>
          </a:solidFill>
          <a:ln w="12700">
            <a:solidFill>
              <a:srgbClr val="B8901E"/>
            </a:solidFill>
            <a:prstDash val="solid"/>
          </a:ln>
        </p:spPr>
      </p:sp>
      <p:sp>
        <p:nvSpPr>
          <p:cNvPr id="14" name="Text 10"/>
          <p:cNvSpPr txBox="1"/>
          <p:nvPr/>
        </p:nvSpPr>
        <p:spPr>
          <a:xfrm>
            <a:off x="7406640" y="3127248"/>
            <a:ext cx="4114800" cy="365760"/>
          </a:xfrm>
          <a:prstGeom prst="rect">
            <a:avLst/>
          </a:prstGeom>
          <a:noFill/>
          <a:ln/>
        </p:spPr>
        <p:txBody>
          <a:bodyPr wrap="square" lIns="0" tIns="0" rIns="0" bIns="0" rtlCol="0" anchor="t"/>
          <a:lstStyle/>
          <a:p>
            <a:pPr indent="0" marL="0">
              <a:buNone/>
            </a:pPr>
            <a:r>
              <a:rPr lang="en-US" sz="1500" b="1" dirty="0">
                <a:solidFill>
                  <a:srgbClr val="8A6A12"/>
                </a:solidFill>
                <a:latin typeface="Calibri" pitchFamily="34" charset="0"/>
                <a:ea typeface="Calibri" pitchFamily="34" charset="-122"/>
                <a:cs typeface="Calibri" pitchFamily="34" charset="-120"/>
              </a:rPr>
              <a:t>2027–29 · Build</a:t>
            </a:r>
            <a:endParaRPr lang="en-US" sz="1500" dirty="0"/>
          </a:p>
        </p:txBody>
      </p:sp>
      <p:sp>
        <p:nvSpPr>
          <p:cNvPr id="15" name="Text 11"/>
          <p:cNvSpPr txBox="1"/>
          <p:nvPr/>
        </p:nvSpPr>
        <p:spPr>
          <a:xfrm>
            <a:off x="7406640" y="3493008"/>
            <a:ext cx="4114800" cy="9144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Run the pipeline through the gate, funded resources-first; downstream towards Rp 1,000 T a year; defence content to 60%; deficit below 2.5% of GDP</a:t>
            </a:r>
            <a:endParaRPr lang="en-US" sz="1250" dirty="0"/>
          </a:p>
        </p:txBody>
      </p:sp>
      <p:sp>
        <p:nvSpPr>
          <p:cNvPr id="16" name="Shape 12"/>
          <p:cNvSpPr/>
          <p:nvPr/>
        </p:nvSpPr>
        <p:spPr>
          <a:xfrm>
            <a:off x="7178040" y="4617720"/>
            <a:ext cx="4480560" cy="1463040"/>
          </a:xfrm>
          <a:prstGeom prst="roundRect">
            <a:avLst>
              <a:gd name="adj" fmla="val 5000"/>
            </a:avLst>
          </a:prstGeom>
          <a:solidFill>
            <a:srgbClr val="F4F6FA"/>
          </a:solidFill>
          <a:ln w="12700">
            <a:solidFill>
              <a:srgbClr val="F4F6FA"/>
            </a:solidFill>
            <a:prstDash val="solid"/>
          </a:ln>
        </p:spPr>
      </p:sp>
      <p:sp>
        <p:nvSpPr>
          <p:cNvPr id="17" name="Shape 13"/>
          <p:cNvSpPr/>
          <p:nvPr/>
        </p:nvSpPr>
        <p:spPr>
          <a:xfrm>
            <a:off x="7178040" y="4617720"/>
            <a:ext cx="91440" cy="1463040"/>
          </a:xfrm>
          <a:prstGeom prst="rect">
            <a:avLst/>
          </a:prstGeom>
          <a:solidFill>
            <a:srgbClr val="3E7C7B"/>
          </a:solidFill>
          <a:ln w="12700">
            <a:solidFill>
              <a:srgbClr val="3E7C7B"/>
            </a:solidFill>
            <a:prstDash val="solid"/>
          </a:ln>
        </p:spPr>
      </p:sp>
      <p:sp>
        <p:nvSpPr>
          <p:cNvPr id="18" name="Text 14"/>
          <p:cNvSpPr txBox="1"/>
          <p:nvPr/>
        </p:nvSpPr>
        <p:spPr>
          <a:xfrm>
            <a:off x="7406640" y="4727448"/>
            <a:ext cx="4114800" cy="365760"/>
          </a:xfrm>
          <a:prstGeom prst="rect">
            <a:avLst/>
          </a:prstGeom>
          <a:noFill/>
          <a:ln/>
        </p:spPr>
        <p:txBody>
          <a:bodyPr wrap="square" lIns="0" tIns="0" rIns="0" bIns="0" rtlCol="0" anchor="t"/>
          <a:lstStyle/>
          <a:p>
            <a:pPr indent="0" marL="0">
              <a:buNone/>
            </a:pPr>
            <a:r>
              <a:rPr lang="en-US" sz="1500" b="1" dirty="0">
                <a:solidFill>
                  <a:srgbClr val="3E7C7B"/>
                </a:solidFill>
                <a:latin typeface="Calibri" pitchFamily="34" charset="0"/>
                <a:ea typeface="Calibri" pitchFamily="34" charset="-122"/>
                <a:cs typeface="Calibri" pitchFamily="34" charset="-120"/>
              </a:rPr>
              <a:t>2029–32 · Sustain</a:t>
            </a:r>
            <a:endParaRPr lang="en-US" sz="1500" dirty="0"/>
          </a:p>
        </p:txBody>
      </p:sp>
      <p:sp>
        <p:nvSpPr>
          <p:cNvPr id="19" name="Text 15"/>
          <p:cNvSpPr txBox="1"/>
          <p:nvPr/>
        </p:nvSpPr>
        <p:spPr>
          <a:xfrm>
            <a:off x="7406640" y="5093208"/>
            <a:ext cx="4114800" cy="914400"/>
          </a:xfrm>
          <a:prstGeom prst="rect">
            <a:avLst/>
          </a:prstGeom>
          <a:noFill/>
          <a:ln/>
        </p:spPr>
        <p:txBody>
          <a:bodyPr wrap="square" lIns="0" tIns="0" rIns="0" bIns="0" rtlCol="0" anchor="t"/>
          <a:lstStyle/>
          <a:p>
            <a:pPr indent="0" marL="0">
              <a:buNone/>
            </a:pPr>
            <a:r>
              <a:rPr lang="en-US" sz="1250" dirty="0">
                <a:solidFill>
                  <a:srgbClr val="4A5568"/>
                </a:solidFill>
                <a:latin typeface="Calibri" pitchFamily="34" charset="0"/>
                <a:ea typeface="Calibri" pitchFamily="34" charset="-122"/>
                <a:cs typeface="Calibri" pitchFamily="34" charset="-120"/>
              </a:rPr>
              <a:t>Launch the successor pipeline before the 2032 drop; export from the new capacity; review and taper the development window</a:t>
            </a:r>
            <a:endParaRPr lang="en-US" sz="1250" dirty="0"/>
          </a:p>
        </p:txBody>
      </p:sp>
      <p:sp>
        <p:nvSpPr>
          <p:cNvPr id="20" name="Shape 16"/>
          <p:cNvSpPr/>
          <p:nvPr/>
        </p:nvSpPr>
        <p:spPr>
          <a:xfrm>
            <a:off x="548640" y="4846320"/>
            <a:ext cx="6400800" cy="1417320"/>
          </a:xfrm>
          <a:prstGeom prst="roundRect">
            <a:avLst>
              <a:gd name="adj" fmla="val 5161"/>
            </a:avLst>
          </a:prstGeom>
          <a:solidFill>
            <a:srgbClr val="EEF2F8"/>
          </a:solidFill>
          <a:ln w="12700">
            <a:solidFill>
              <a:srgbClr val="EEF2F8"/>
            </a:solidFill>
            <a:prstDash val="solid"/>
          </a:ln>
        </p:spPr>
      </p:sp>
      <p:sp>
        <p:nvSpPr>
          <p:cNvPr id="21" name="Text 17"/>
          <p:cNvSpPr txBox="1"/>
          <p:nvPr/>
        </p:nvSpPr>
        <p:spPr>
          <a:xfrm>
            <a:off x="731520" y="4919472"/>
            <a:ext cx="6035040" cy="1280160"/>
          </a:xfrm>
          <a:prstGeom prst="rect">
            <a:avLst/>
          </a:prstGeom>
          <a:noFill/>
          <a:ln/>
        </p:spPr>
        <p:txBody>
          <a:bodyPr wrap="square" lIns="0" tIns="0" rIns="0" bIns="0" rtlCol="0" anchor="ctr"/>
          <a:lstStyle/>
          <a:p>
            <a:pPr indent="0" marL="0">
              <a:buNone/>
            </a:pPr>
            <a:r>
              <a:rPr lang="en-US" sz="1300" b="1" dirty="0">
                <a:solidFill>
                  <a:srgbClr val="1F3864"/>
                </a:solidFill>
                <a:latin typeface="Calibri" pitchFamily="34" charset="0"/>
                <a:ea typeface="Calibri" pitchFamily="34" charset="-122"/>
                <a:cs typeface="Calibri" pitchFamily="34" charset="-120"/>
              </a:rPr>
              <a:t>33.5 ÷ 4.2 ≈ 8.0. </a:t>
            </a:r>
            <a:pPr indent="0" marL="0">
              <a:buNone/>
            </a:pPr>
            <a:r>
              <a:rPr lang="en-US" sz="1300" dirty="0">
                <a:solidFill>
                  <a:srgbClr val="1F2A3C"/>
                </a:solidFill>
                <a:latin typeface="Calibri" pitchFamily="34" charset="0"/>
                <a:ea typeface="Calibri" pitchFamily="34" charset="-122"/>
                <a:cs typeface="Calibri" pitchFamily="34" charset="-120"/>
              </a:rPr>
              <a:t>With the updated pipeline, investment already reaches about 32.5% of GDP in 2029; the missing piece is efficiency. Indonesia grew 7–8% a year in the mid-1990s with investment of roughly 30% of GDP.</a:t>
            </a:r>
            <a:endParaRPr lang="en-US" sz="1300" dirty="0"/>
          </a:p>
        </p:txBody>
      </p:sp>
      <p:sp>
        <p:nvSpPr>
          <p:cNvPr id="22" name="Text 18"/>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integrated paper, Section 12.6; World Bank WDI for the 1990s. Illustrative.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ROADMAP</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From windfall capture in 2026 to sunset review in 2038</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822960" y="2011680"/>
            <a:ext cx="10607040" cy="0"/>
          </a:xfrm>
          <a:prstGeom prst="line">
            <a:avLst/>
          </a:prstGeom>
          <a:noFill/>
          <a:ln w="25400">
            <a:solidFill>
              <a:srgbClr val="1F3864"/>
            </a:solidFill>
            <a:prstDash val="solid"/>
          </a:ln>
        </p:spPr>
      </p:sp>
      <p:sp>
        <p:nvSpPr>
          <p:cNvPr id="8" name="Shape 5"/>
          <p:cNvSpPr/>
          <p:nvPr/>
        </p:nvSpPr>
        <p:spPr>
          <a:xfrm>
            <a:off x="822960" y="1938528"/>
            <a:ext cx="0" cy="146304"/>
          </a:xfrm>
          <a:prstGeom prst="line">
            <a:avLst/>
          </a:prstGeom>
          <a:noFill/>
          <a:ln w="19050">
            <a:solidFill>
              <a:srgbClr val="1F3864"/>
            </a:solidFill>
            <a:prstDash val="solid"/>
          </a:ln>
        </p:spPr>
      </p:sp>
      <p:sp>
        <p:nvSpPr>
          <p:cNvPr id="9" name="Text 6"/>
          <p:cNvSpPr txBox="1"/>
          <p:nvPr/>
        </p:nvSpPr>
        <p:spPr>
          <a:xfrm>
            <a:off x="457200"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2026</a:t>
            </a:r>
            <a:endParaRPr lang="en-US" sz="1100" dirty="0"/>
          </a:p>
        </p:txBody>
      </p:sp>
      <p:sp>
        <p:nvSpPr>
          <p:cNvPr id="10" name="Shape 7"/>
          <p:cNvSpPr/>
          <p:nvPr/>
        </p:nvSpPr>
        <p:spPr>
          <a:xfrm>
            <a:off x="2338251" y="1938528"/>
            <a:ext cx="0" cy="146304"/>
          </a:xfrm>
          <a:prstGeom prst="line">
            <a:avLst/>
          </a:prstGeom>
          <a:noFill/>
          <a:ln w="19050">
            <a:solidFill>
              <a:srgbClr val="1F3864"/>
            </a:solidFill>
            <a:prstDash val="solid"/>
          </a:ln>
        </p:spPr>
      </p:sp>
      <p:sp>
        <p:nvSpPr>
          <p:cNvPr id="11" name="Text 8"/>
          <p:cNvSpPr txBox="1"/>
          <p:nvPr/>
        </p:nvSpPr>
        <p:spPr>
          <a:xfrm>
            <a:off x="1972491"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2028</a:t>
            </a:r>
            <a:endParaRPr lang="en-US" sz="1100" dirty="0"/>
          </a:p>
        </p:txBody>
      </p:sp>
      <p:sp>
        <p:nvSpPr>
          <p:cNvPr id="12" name="Shape 9"/>
          <p:cNvSpPr/>
          <p:nvPr/>
        </p:nvSpPr>
        <p:spPr>
          <a:xfrm>
            <a:off x="3853543" y="1938528"/>
            <a:ext cx="0" cy="146304"/>
          </a:xfrm>
          <a:prstGeom prst="line">
            <a:avLst/>
          </a:prstGeom>
          <a:noFill/>
          <a:ln w="19050">
            <a:solidFill>
              <a:srgbClr val="1F3864"/>
            </a:solidFill>
            <a:prstDash val="solid"/>
          </a:ln>
        </p:spPr>
      </p:sp>
      <p:sp>
        <p:nvSpPr>
          <p:cNvPr id="13" name="Text 10"/>
          <p:cNvSpPr txBox="1"/>
          <p:nvPr/>
        </p:nvSpPr>
        <p:spPr>
          <a:xfrm>
            <a:off x="3487783"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2030</a:t>
            </a:r>
            <a:endParaRPr lang="en-US" sz="1100" dirty="0"/>
          </a:p>
        </p:txBody>
      </p:sp>
      <p:sp>
        <p:nvSpPr>
          <p:cNvPr id="14" name="Shape 11"/>
          <p:cNvSpPr/>
          <p:nvPr/>
        </p:nvSpPr>
        <p:spPr>
          <a:xfrm>
            <a:off x="5368834" y="1938528"/>
            <a:ext cx="0" cy="146304"/>
          </a:xfrm>
          <a:prstGeom prst="line">
            <a:avLst/>
          </a:prstGeom>
          <a:noFill/>
          <a:ln w="19050">
            <a:solidFill>
              <a:srgbClr val="1F3864"/>
            </a:solidFill>
            <a:prstDash val="solid"/>
          </a:ln>
        </p:spPr>
      </p:sp>
      <p:sp>
        <p:nvSpPr>
          <p:cNvPr id="15" name="Text 12"/>
          <p:cNvSpPr txBox="1"/>
          <p:nvPr/>
        </p:nvSpPr>
        <p:spPr>
          <a:xfrm>
            <a:off x="5003074"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2032</a:t>
            </a:r>
            <a:endParaRPr lang="en-US" sz="1100" dirty="0"/>
          </a:p>
        </p:txBody>
      </p:sp>
      <p:sp>
        <p:nvSpPr>
          <p:cNvPr id="16" name="Shape 13"/>
          <p:cNvSpPr/>
          <p:nvPr/>
        </p:nvSpPr>
        <p:spPr>
          <a:xfrm>
            <a:off x="6884126" y="1938528"/>
            <a:ext cx="0" cy="146304"/>
          </a:xfrm>
          <a:prstGeom prst="line">
            <a:avLst/>
          </a:prstGeom>
          <a:noFill/>
          <a:ln w="19050">
            <a:solidFill>
              <a:srgbClr val="1F3864"/>
            </a:solidFill>
            <a:prstDash val="solid"/>
          </a:ln>
        </p:spPr>
      </p:sp>
      <p:sp>
        <p:nvSpPr>
          <p:cNvPr id="17" name="Text 14"/>
          <p:cNvSpPr txBox="1"/>
          <p:nvPr/>
        </p:nvSpPr>
        <p:spPr>
          <a:xfrm>
            <a:off x="6518366"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2034</a:t>
            </a:r>
            <a:endParaRPr lang="en-US" sz="1100" dirty="0"/>
          </a:p>
        </p:txBody>
      </p:sp>
      <p:sp>
        <p:nvSpPr>
          <p:cNvPr id="18" name="Shape 15"/>
          <p:cNvSpPr/>
          <p:nvPr/>
        </p:nvSpPr>
        <p:spPr>
          <a:xfrm>
            <a:off x="8399417" y="1938528"/>
            <a:ext cx="0" cy="146304"/>
          </a:xfrm>
          <a:prstGeom prst="line">
            <a:avLst/>
          </a:prstGeom>
          <a:noFill/>
          <a:ln w="19050">
            <a:solidFill>
              <a:srgbClr val="1F3864"/>
            </a:solidFill>
            <a:prstDash val="solid"/>
          </a:ln>
        </p:spPr>
      </p:sp>
      <p:sp>
        <p:nvSpPr>
          <p:cNvPr id="19" name="Text 16"/>
          <p:cNvSpPr txBox="1"/>
          <p:nvPr/>
        </p:nvSpPr>
        <p:spPr>
          <a:xfrm>
            <a:off x="8033657"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2036</a:t>
            </a:r>
            <a:endParaRPr lang="en-US" sz="1100" dirty="0"/>
          </a:p>
        </p:txBody>
      </p:sp>
      <p:sp>
        <p:nvSpPr>
          <p:cNvPr id="20" name="Shape 17"/>
          <p:cNvSpPr/>
          <p:nvPr/>
        </p:nvSpPr>
        <p:spPr>
          <a:xfrm>
            <a:off x="9914709" y="1938528"/>
            <a:ext cx="0" cy="146304"/>
          </a:xfrm>
          <a:prstGeom prst="line">
            <a:avLst/>
          </a:prstGeom>
          <a:noFill/>
          <a:ln w="19050">
            <a:solidFill>
              <a:srgbClr val="1F3864"/>
            </a:solidFill>
            <a:prstDash val="solid"/>
          </a:ln>
        </p:spPr>
      </p:sp>
      <p:sp>
        <p:nvSpPr>
          <p:cNvPr id="21" name="Text 18"/>
          <p:cNvSpPr txBox="1"/>
          <p:nvPr/>
        </p:nvSpPr>
        <p:spPr>
          <a:xfrm>
            <a:off x="9548949"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2038</a:t>
            </a:r>
            <a:endParaRPr lang="en-US" sz="1100" dirty="0"/>
          </a:p>
        </p:txBody>
      </p:sp>
      <p:sp>
        <p:nvSpPr>
          <p:cNvPr id="22" name="Shape 19"/>
          <p:cNvSpPr/>
          <p:nvPr/>
        </p:nvSpPr>
        <p:spPr>
          <a:xfrm>
            <a:off x="11430000" y="1938528"/>
            <a:ext cx="0" cy="146304"/>
          </a:xfrm>
          <a:prstGeom prst="line">
            <a:avLst/>
          </a:prstGeom>
          <a:noFill/>
          <a:ln w="19050">
            <a:solidFill>
              <a:srgbClr val="1F3864"/>
            </a:solidFill>
            <a:prstDash val="solid"/>
          </a:ln>
        </p:spPr>
      </p:sp>
      <p:sp>
        <p:nvSpPr>
          <p:cNvPr id="23" name="Text 20"/>
          <p:cNvSpPr txBox="1"/>
          <p:nvPr/>
        </p:nvSpPr>
        <p:spPr>
          <a:xfrm>
            <a:off x="11064240" y="1600200"/>
            <a:ext cx="731520" cy="274320"/>
          </a:xfrm>
          <a:prstGeom prst="rect">
            <a:avLst/>
          </a:prstGeom>
          <a:noFill/>
          <a:ln/>
        </p:spPr>
        <p:txBody>
          <a:bodyPr wrap="square" lIns="0" tIns="0" rIns="0" bIns="0" rtlCol="0" anchor="t"/>
          <a:lstStyle/>
          <a:p>
            <a:pPr algn="ctr" indent="0" marL="0">
              <a:buNone/>
            </a:pPr>
            <a:r>
              <a:rPr lang="en-US" sz="1100" dirty="0">
                <a:solidFill>
                  <a:srgbClr val="4A5568"/>
                </a:solidFill>
                <a:latin typeface="Calibri" pitchFamily="34" charset="0"/>
                <a:ea typeface="Calibri" pitchFamily="34" charset="-122"/>
                <a:cs typeface="Calibri" pitchFamily="34" charset="-120"/>
              </a:rPr>
              <a:t>2040</a:t>
            </a:r>
            <a:endParaRPr lang="en-US" sz="1100" dirty="0"/>
          </a:p>
        </p:txBody>
      </p:sp>
      <p:sp>
        <p:nvSpPr>
          <p:cNvPr id="24" name="Shape 21"/>
          <p:cNvSpPr/>
          <p:nvPr/>
        </p:nvSpPr>
        <p:spPr>
          <a:xfrm>
            <a:off x="1353312" y="2331720"/>
            <a:ext cx="1742585" cy="365760"/>
          </a:xfrm>
          <a:prstGeom prst="roundRect">
            <a:avLst>
              <a:gd name="adj" fmla="val 25000"/>
            </a:avLst>
          </a:prstGeom>
          <a:solidFill>
            <a:srgbClr val="D4A93A"/>
          </a:solidFill>
          <a:ln w="12700">
            <a:solidFill>
              <a:srgbClr val="D4A93A"/>
            </a:solidFill>
            <a:prstDash val="solid"/>
          </a:ln>
        </p:spPr>
      </p:sp>
      <p:sp>
        <p:nvSpPr>
          <p:cNvPr id="25" name="Text 22"/>
          <p:cNvSpPr txBox="1"/>
          <p:nvPr/>
        </p:nvSpPr>
        <p:spPr>
          <a:xfrm>
            <a:off x="3187337" y="2331720"/>
            <a:ext cx="4114800" cy="365760"/>
          </a:xfrm>
          <a:prstGeom prst="rect">
            <a:avLst/>
          </a:prstGeom>
          <a:noFill/>
          <a:ln/>
        </p:spPr>
        <p:txBody>
          <a:bodyPr wrap="square" lIns="0" tIns="0" rIns="0" bIns="0" rtlCol="0" anchor="ctr"/>
          <a:lstStyle/>
          <a:p>
            <a:pPr algn="l" indent="0" marL="0">
              <a:buNone/>
            </a:pPr>
            <a:r>
              <a:rPr lang="en-US" sz="1150" b="1" dirty="0">
                <a:solidFill>
                  <a:srgbClr val="1F2A3C"/>
                </a:solidFill>
                <a:latin typeface="Calibri" pitchFamily="34" charset="0"/>
                <a:ea typeface="Calibri" pitchFamily="34" charset="-122"/>
                <a:cs typeface="Calibri" pitchFamily="34" charset="-120"/>
              </a:rPr>
              <a:t>Transitional account (2026 windfall)</a:t>
            </a:r>
            <a:endParaRPr lang="en-US" sz="1150" dirty="0"/>
          </a:p>
        </p:txBody>
      </p:sp>
      <p:sp>
        <p:nvSpPr>
          <p:cNvPr id="26" name="Shape 23"/>
          <p:cNvSpPr/>
          <p:nvPr/>
        </p:nvSpPr>
        <p:spPr>
          <a:xfrm>
            <a:off x="1580606" y="2807208"/>
            <a:ext cx="757646" cy="365760"/>
          </a:xfrm>
          <a:prstGeom prst="roundRect">
            <a:avLst>
              <a:gd name="adj" fmla="val 25000"/>
            </a:avLst>
          </a:prstGeom>
          <a:solidFill>
            <a:srgbClr val="1F3864"/>
          </a:solidFill>
          <a:ln w="12700">
            <a:solidFill>
              <a:srgbClr val="1F3864"/>
            </a:solidFill>
            <a:prstDash val="solid"/>
          </a:ln>
        </p:spPr>
      </p:sp>
      <p:sp>
        <p:nvSpPr>
          <p:cNvPr id="27" name="Text 24"/>
          <p:cNvSpPr txBox="1"/>
          <p:nvPr/>
        </p:nvSpPr>
        <p:spPr>
          <a:xfrm>
            <a:off x="2429691" y="2807208"/>
            <a:ext cx="4114800" cy="365760"/>
          </a:xfrm>
          <a:prstGeom prst="rect">
            <a:avLst/>
          </a:prstGeom>
          <a:noFill/>
          <a:ln/>
        </p:spPr>
        <p:txBody>
          <a:bodyPr wrap="square" lIns="0" tIns="0" rIns="0" bIns="0" rtlCol="0" anchor="ctr"/>
          <a:lstStyle/>
          <a:p>
            <a:pPr algn="l" indent="0" marL="0">
              <a:buNone/>
            </a:pPr>
            <a:r>
              <a:rPr lang="en-US" sz="1150" b="1" dirty="0">
                <a:solidFill>
                  <a:srgbClr val="1F2A3C"/>
                </a:solidFill>
                <a:latin typeface="Calibri" pitchFamily="34" charset="0"/>
                <a:ea typeface="Calibri" pitchFamily="34" charset="-122"/>
                <a:cs typeface="Calibri" pitchFamily="34" charset="-120"/>
              </a:rPr>
              <a:t>Recalibration, draft Law, DDMF mandate</a:t>
            </a:r>
            <a:endParaRPr lang="en-US" sz="1150" dirty="0"/>
          </a:p>
        </p:txBody>
      </p:sp>
      <p:sp>
        <p:nvSpPr>
          <p:cNvPr id="28" name="Shape 25"/>
          <p:cNvSpPr/>
          <p:nvPr/>
        </p:nvSpPr>
        <p:spPr>
          <a:xfrm>
            <a:off x="2338251" y="3282696"/>
            <a:ext cx="757646" cy="365760"/>
          </a:xfrm>
          <a:prstGeom prst="roundRect">
            <a:avLst>
              <a:gd name="adj" fmla="val 25000"/>
            </a:avLst>
          </a:prstGeom>
          <a:solidFill>
            <a:srgbClr val="1F3864"/>
          </a:solidFill>
          <a:ln w="12700">
            <a:solidFill>
              <a:srgbClr val="1F3864"/>
            </a:solidFill>
            <a:prstDash val="solid"/>
          </a:ln>
        </p:spPr>
      </p:sp>
      <p:sp>
        <p:nvSpPr>
          <p:cNvPr id="29" name="Text 26"/>
          <p:cNvSpPr txBox="1"/>
          <p:nvPr/>
        </p:nvSpPr>
        <p:spPr>
          <a:xfrm>
            <a:off x="3187337" y="3282696"/>
            <a:ext cx="4114800" cy="365760"/>
          </a:xfrm>
          <a:prstGeom prst="rect">
            <a:avLst/>
          </a:prstGeom>
          <a:noFill/>
          <a:ln/>
        </p:spPr>
        <p:txBody>
          <a:bodyPr wrap="square" lIns="0" tIns="0" rIns="0" bIns="0" rtlCol="0" anchor="ctr"/>
          <a:lstStyle/>
          <a:p>
            <a:pPr algn="l" indent="0" marL="0">
              <a:buNone/>
            </a:pPr>
            <a:r>
              <a:rPr lang="en-US" sz="1150" b="1" dirty="0">
                <a:solidFill>
                  <a:srgbClr val="1F2A3C"/>
                </a:solidFill>
                <a:latin typeface="Calibri" pitchFamily="34" charset="0"/>
                <a:ea typeface="Calibri" pitchFamily="34" charset="-122"/>
                <a:cs typeface="Calibri" pitchFamily="34" charset="-120"/>
              </a:rPr>
              <a:t>Law enacted; committee set up</a:t>
            </a:r>
            <a:endParaRPr lang="en-US" sz="1150" dirty="0"/>
          </a:p>
        </p:txBody>
      </p:sp>
      <p:sp>
        <p:nvSpPr>
          <p:cNvPr id="30" name="Shape 27"/>
          <p:cNvSpPr/>
          <p:nvPr/>
        </p:nvSpPr>
        <p:spPr>
          <a:xfrm>
            <a:off x="1580606" y="3758184"/>
            <a:ext cx="4545874" cy="365760"/>
          </a:xfrm>
          <a:prstGeom prst="roundRect">
            <a:avLst>
              <a:gd name="adj" fmla="val 25000"/>
            </a:avLst>
          </a:prstGeom>
          <a:solidFill>
            <a:srgbClr val="B8901E"/>
          </a:solidFill>
          <a:ln w="12700">
            <a:solidFill>
              <a:srgbClr val="B8901E"/>
            </a:solidFill>
            <a:prstDash val="solid"/>
          </a:ln>
        </p:spPr>
      </p:sp>
      <p:sp>
        <p:nvSpPr>
          <p:cNvPr id="31" name="Text 28"/>
          <p:cNvSpPr txBox="1"/>
          <p:nvPr/>
        </p:nvSpPr>
        <p:spPr>
          <a:xfrm>
            <a:off x="1690334" y="3758184"/>
            <a:ext cx="4362994" cy="36576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Development window: 60% share</a:t>
            </a:r>
            <a:endParaRPr lang="en-US" sz="1150" dirty="0"/>
          </a:p>
        </p:txBody>
      </p:sp>
      <p:sp>
        <p:nvSpPr>
          <p:cNvPr id="32" name="Shape 29"/>
          <p:cNvSpPr/>
          <p:nvPr/>
        </p:nvSpPr>
        <p:spPr>
          <a:xfrm>
            <a:off x="6126480" y="4233672"/>
            <a:ext cx="4545874" cy="365760"/>
          </a:xfrm>
          <a:prstGeom prst="roundRect">
            <a:avLst>
              <a:gd name="adj" fmla="val 25000"/>
            </a:avLst>
          </a:prstGeom>
          <a:solidFill>
            <a:srgbClr val="C9A650"/>
          </a:solidFill>
          <a:ln w="12700">
            <a:solidFill>
              <a:srgbClr val="C9A650"/>
            </a:solidFill>
            <a:prstDash val="solid"/>
          </a:ln>
        </p:spPr>
      </p:sp>
      <p:sp>
        <p:nvSpPr>
          <p:cNvPr id="33" name="Text 30"/>
          <p:cNvSpPr txBox="1"/>
          <p:nvPr/>
        </p:nvSpPr>
        <p:spPr>
          <a:xfrm>
            <a:off x="6236208" y="4233672"/>
            <a:ext cx="4362994" cy="36576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Development window: 30% share</a:t>
            </a:r>
            <a:endParaRPr lang="en-US" sz="1150" dirty="0"/>
          </a:p>
        </p:txBody>
      </p:sp>
      <p:sp>
        <p:nvSpPr>
          <p:cNvPr id="34" name="Shape 31"/>
          <p:cNvSpPr/>
          <p:nvPr/>
        </p:nvSpPr>
        <p:spPr>
          <a:xfrm>
            <a:off x="1580606" y="4709160"/>
            <a:ext cx="6061166" cy="365760"/>
          </a:xfrm>
          <a:prstGeom prst="roundRect">
            <a:avLst>
              <a:gd name="adj" fmla="val 25000"/>
            </a:avLst>
          </a:prstGeom>
          <a:solidFill>
            <a:srgbClr val="9B2C2C"/>
          </a:solidFill>
          <a:ln w="12700">
            <a:solidFill>
              <a:srgbClr val="9B2C2C"/>
            </a:solidFill>
            <a:prstDash val="solid"/>
          </a:ln>
        </p:spPr>
      </p:sp>
      <p:sp>
        <p:nvSpPr>
          <p:cNvPr id="35" name="Text 32"/>
          <p:cNvSpPr txBox="1"/>
          <p:nvPr/>
        </p:nvSpPr>
        <p:spPr>
          <a:xfrm>
            <a:off x="1690334" y="4709160"/>
            <a:ext cx="5878286" cy="365760"/>
          </a:xfrm>
          <a:prstGeom prst="rect">
            <a:avLst/>
          </a:prstGeom>
          <a:noFill/>
          <a:ln/>
        </p:spPr>
        <p:txBody>
          <a:bodyPr wrap="square" lIns="0" tIns="0" rIns="0" bIns="0" rtlCol="0" anchor="ctr"/>
          <a:lstStyle/>
          <a:p>
            <a:pPr algn="l" indent="0" marL="0">
              <a:buNone/>
            </a:pPr>
            <a:r>
              <a:rPr lang="en-US" sz="1150" b="1" dirty="0">
                <a:solidFill>
                  <a:srgbClr val="FFFFFF"/>
                </a:solidFill>
                <a:latin typeface="Calibri" pitchFamily="34" charset="0"/>
                <a:ea typeface="Calibri" pitchFamily="34" charset="-122"/>
                <a:cs typeface="Calibri" pitchFamily="34" charset="-120"/>
              </a:rPr>
              <a:t>Loan facility (≤ 5% of future window)</a:t>
            </a:r>
            <a:endParaRPr lang="en-US" sz="1150" dirty="0"/>
          </a:p>
        </p:txBody>
      </p:sp>
      <p:sp>
        <p:nvSpPr>
          <p:cNvPr id="36" name="Shape 33"/>
          <p:cNvSpPr/>
          <p:nvPr/>
        </p:nvSpPr>
        <p:spPr>
          <a:xfrm>
            <a:off x="9157063" y="5184648"/>
            <a:ext cx="2272937" cy="365760"/>
          </a:xfrm>
          <a:prstGeom prst="roundRect">
            <a:avLst>
              <a:gd name="adj" fmla="val 25000"/>
            </a:avLst>
          </a:prstGeom>
          <a:solidFill>
            <a:srgbClr val="3E7C7B"/>
          </a:solidFill>
          <a:ln w="12700">
            <a:solidFill>
              <a:srgbClr val="3E7C7B"/>
            </a:solidFill>
            <a:prstDash val="solid"/>
          </a:ln>
        </p:spPr>
      </p:sp>
      <p:sp>
        <p:nvSpPr>
          <p:cNvPr id="37" name="Text 34"/>
          <p:cNvSpPr txBox="1"/>
          <p:nvPr/>
        </p:nvSpPr>
        <p:spPr>
          <a:xfrm>
            <a:off x="4950823" y="5184648"/>
            <a:ext cx="4114800" cy="365760"/>
          </a:xfrm>
          <a:prstGeom prst="rect">
            <a:avLst/>
          </a:prstGeom>
          <a:noFill/>
          <a:ln/>
        </p:spPr>
        <p:txBody>
          <a:bodyPr wrap="square" lIns="0" tIns="0" rIns="0" bIns="0" rtlCol="0" anchor="ctr"/>
          <a:lstStyle/>
          <a:p>
            <a:pPr algn="r" indent="0" marL="0">
              <a:buNone/>
            </a:pPr>
            <a:r>
              <a:rPr lang="en-US" sz="1150" b="1" dirty="0">
                <a:solidFill>
                  <a:srgbClr val="1F2A3C"/>
                </a:solidFill>
                <a:latin typeface="Calibri" pitchFamily="34" charset="0"/>
                <a:ea typeface="Calibri" pitchFamily="34" charset="-122"/>
                <a:cs typeface="Calibri" pitchFamily="34" charset="-120"/>
              </a:rPr>
              <a:t>Exits recycled to future window</a:t>
            </a:r>
            <a:endParaRPr lang="en-US" sz="1150" dirty="0"/>
          </a:p>
        </p:txBody>
      </p:sp>
      <p:sp>
        <p:nvSpPr>
          <p:cNvPr id="38" name="Shape 35"/>
          <p:cNvSpPr/>
          <p:nvPr/>
        </p:nvSpPr>
        <p:spPr>
          <a:xfrm>
            <a:off x="2977025" y="1892808"/>
            <a:ext cx="237744" cy="237744"/>
          </a:xfrm>
          <a:prstGeom prst="diamond">
            <a:avLst/>
          </a:prstGeom>
          <a:solidFill>
            <a:srgbClr val="9B2C2C"/>
          </a:solidFill>
          <a:ln w="12700">
            <a:solidFill>
              <a:srgbClr val="FFFFFF"/>
            </a:solidFill>
            <a:prstDash val="solid"/>
          </a:ln>
        </p:spPr>
      </p:sp>
      <p:sp>
        <p:nvSpPr>
          <p:cNvPr id="39" name="Text 36"/>
          <p:cNvSpPr txBox="1"/>
          <p:nvPr/>
        </p:nvSpPr>
        <p:spPr>
          <a:xfrm>
            <a:off x="2272937" y="5715000"/>
            <a:ext cx="1645920" cy="320040"/>
          </a:xfrm>
          <a:prstGeom prst="rect">
            <a:avLst/>
          </a:prstGeom>
          <a:noFill/>
          <a:ln/>
        </p:spPr>
        <p:txBody>
          <a:bodyPr wrap="square" lIns="0" tIns="0" rIns="0" bIns="0" rtlCol="0" anchor="t"/>
          <a:lstStyle/>
          <a:p>
            <a:pPr algn="ctr" indent="0" marL="0">
              <a:buNone/>
            </a:pPr>
            <a:r>
              <a:rPr lang="en-US" sz="1150" b="1" dirty="0">
                <a:solidFill>
                  <a:srgbClr val="9B2C2C"/>
                </a:solidFill>
                <a:latin typeface="Calibri" pitchFamily="34" charset="0"/>
                <a:ea typeface="Calibri" pitchFamily="34" charset="-122"/>
                <a:cs typeface="Calibri" pitchFamily="34" charset="-120"/>
              </a:rPr>
              <a:t>First deposits</a:t>
            </a:r>
            <a:endParaRPr lang="en-US" sz="1150" dirty="0"/>
          </a:p>
        </p:txBody>
      </p:sp>
      <p:sp>
        <p:nvSpPr>
          <p:cNvPr id="40" name="Shape 37"/>
          <p:cNvSpPr/>
          <p:nvPr/>
        </p:nvSpPr>
        <p:spPr>
          <a:xfrm>
            <a:off x="3095897" y="2148840"/>
            <a:ext cx="0" cy="3611880"/>
          </a:xfrm>
          <a:prstGeom prst="line">
            <a:avLst/>
          </a:prstGeom>
          <a:noFill/>
          <a:ln w="12700">
            <a:solidFill>
              <a:srgbClr val="9B2C2C"/>
            </a:solidFill>
            <a:prstDash val="dash"/>
          </a:ln>
        </p:spPr>
      </p:sp>
      <p:sp>
        <p:nvSpPr>
          <p:cNvPr id="41" name="Shape 38"/>
          <p:cNvSpPr/>
          <p:nvPr/>
        </p:nvSpPr>
        <p:spPr>
          <a:xfrm>
            <a:off x="5249962" y="1892808"/>
            <a:ext cx="237744" cy="237744"/>
          </a:xfrm>
          <a:prstGeom prst="diamond">
            <a:avLst/>
          </a:prstGeom>
          <a:solidFill>
            <a:srgbClr val="9B2C2C"/>
          </a:solidFill>
          <a:ln w="12700">
            <a:solidFill>
              <a:srgbClr val="FFFFFF"/>
            </a:solidFill>
            <a:prstDash val="solid"/>
          </a:ln>
        </p:spPr>
      </p:sp>
      <p:sp>
        <p:nvSpPr>
          <p:cNvPr id="42" name="Text 39"/>
          <p:cNvSpPr txBox="1"/>
          <p:nvPr/>
        </p:nvSpPr>
        <p:spPr>
          <a:xfrm>
            <a:off x="4545874" y="5715000"/>
            <a:ext cx="1645920" cy="320040"/>
          </a:xfrm>
          <a:prstGeom prst="rect">
            <a:avLst/>
          </a:prstGeom>
          <a:noFill/>
          <a:ln/>
        </p:spPr>
        <p:txBody>
          <a:bodyPr wrap="square" lIns="0" tIns="0" rIns="0" bIns="0" rtlCol="0" anchor="t"/>
          <a:lstStyle/>
          <a:p>
            <a:pPr algn="ctr" indent="0" marL="0">
              <a:buNone/>
            </a:pPr>
            <a:r>
              <a:rPr lang="en-US" sz="1150" b="1" dirty="0">
                <a:solidFill>
                  <a:srgbClr val="9B2C2C"/>
                </a:solidFill>
                <a:latin typeface="Calibri" pitchFamily="34" charset="0"/>
                <a:ea typeface="Calibri" pitchFamily="34" charset="-122"/>
                <a:cs typeface="Calibri" pitchFamily="34" charset="-120"/>
              </a:rPr>
              <a:t>First full review</a:t>
            </a:r>
            <a:endParaRPr lang="en-US" sz="1150" dirty="0"/>
          </a:p>
        </p:txBody>
      </p:sp>
      <p:sp>
        <p:nvSpPr>
          <p:cNvPr id="43" name="Shape 40"/>
          <p:cNvSpPr/>
          <p:nvPr/>
        </p:nvSpPr>
        <p:spPr>
          <a:xfrm>
            <a:off x="5368834" y="2148840"/>
            <a:ext cx="0" cy="3611880"/>
          </a:xfrm>
          <a:prstGeom prst="line">
            <a:avLst/>
          </a:prstGeom>
          <a:noFill/>
          <a:ln w="12700">
            <a:solidFill>
              <a:srgbClr val="9B2C2C"/>
            </a:solidFill>
            <a:prstDash val="dash"/>
          </a:ln>
        </p:spPr>
      </p:sp>
      <p:sp>
        <p:nvSpPr>
          <p:cNvPr id="44" name="Shape 41"/>
          <p:cNvSpPr/>
          <p:nvPr/>
        </p:nvSpPr>
        <p:spPr>
          <a:xfrm>
            <a:off x="9795837" y="1892808"/>
            <a:ext cx="237744" cy="237744"/>
          </a:xfrm>
          <a:prstGeom prst="diamond">
            <a:avLst/>
          </a:prstGeom>
          <a:solidFill>
            <a:srgbClr val="9B2C2C"/>
          </a:solidFill>
          <a:ln w="12700">
            <a:solidFill>
              <a:srgbClr val="FFFFFF"/>
            </a:solidFill>
            <a:prstDash val="solid"/>
          </a:ln>
        </p:spPr>
      </p:sp>
      <p:sp>
        <p:nvSpPr>
          <p:cNvPr id="45" name="Text 42"/>
          <p:cNvSpPr txBox="1"/>
          <p:nvPr/>
        </p:nvSpPr>
        <p:spPr>
          <a:xfrm>
            <a:off x="9091749" y="5715000"/>
            <a:ext cx="1645920" cy="320040"/>
          </a:xfrm>
          <a:prstGeom prst="rect">
            <a:avLst/>
          </a:prstGeom>
          <a:noFill/>
          <a:ln/>
        </p:spPr>
        <p:txBody>
          <a:bodyPr wrap="square" lIns="0" tIns="0" rIns="0" bIns="0" rtlCol="0" anchor="t"/>
          <a:lstStyle/>
          <a:p>
            <a:pPr algn="ctr" indent="0" marL="0">
              <a:buNone/>
            </a:pPr>
            <a:r>
              <a:rPr lang="en-US" sz="1150" b="1" dirty="0">
                <a:solidFill>
                  <a:srgbClr val="9B2C2C"/>
                </a:solidFill>
                <a:latin typeface="Calibri" pitchFamily="34" charset="0"/>
                <a:ea typeface="Calibri" pitchFamily="34" charset="-122"/>
                <a:cs typeface="Calibri" pitchFamily="34" charset="-120"/>
              </a:rPr>
              <a:t>Sunset review</a:t>
            </a:r>
            <a:endParaRPr lang="en-US" sz="1150" dirty="0"/>
          </a:p>
        </p:txBody>
      </p:sp>
      <p:sp>
        <p:nvSpPr>
          <p:cNvPr id="46" name="Shape 43"/>
          <p:cNvSpPr/>
          <p:nvPr/>
        </p:nvSpPr>
        <p:spPr>
          <a:xfrm>
            <a:off x="9914709" y="2148840"/>
            <a:ext cx="0" cy="3611880"/>
          </a:xfrm>
          <a:prstGeom prst="line">
            <a:avLst/>
          </a:prstGeom>
          <a:noFill/>
          <a:ln w="12700">
            <a:solidFill>
              <a:srgbClr val="9B2C2C"/>
            </a:solidFill>
            <a:prstDash val="dash"/>
          </a:ln>
        </p:spPr>
      </p:sp>
      <p:sp>
        <p:nvSpPr>
          <p:cNvPr id="47" name="Text 4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Indicative; depends on the legislative calendar. Builds on the working plan in Policy Paper 1.</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MONITOR</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A public dashboard with triggers agreed in advance</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2926080"/>
                <a:gridCol w="914400"/>
                <a:gridCol w="1280160"/>
                <a:gridCol w="3703320"/>
                <a:gridCol w="2286000"/>
              </a:tblGrid>
              <a:tr h="352044">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Indicator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2029 target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Red flag</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Real GDP growth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6% for four quarters after 2027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Bappenas, BPS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Investment, PMTB (% of GDP)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28.8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33–34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30% in 2027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Bappenas, BKPM</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Open unemployment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3.7–4.0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Above 4.5% in 2028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Manpower, BPS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ICOR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4.3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Above 5.0 in 2028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Bappenas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Manufacturing growth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10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7% in 2028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Ministry of Industry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Downstream investment (Rp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584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1,000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700 in 2027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BKPM</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Logistics cost (% of GDP)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14.3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Above 12% in 2028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Coordinating Ministry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Current account (% of GDP)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−2.5%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Bank Indonesia</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Pipeline funded by resources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50%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40%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MoF, Danantara</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52044">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Defence domestic content (%)</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60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Below 45% in 2028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Kemhan, KKIP</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Shape 4"/>
          <p:cNvSpPr/>
          <p:nvPr/>
        </p:nvSpPr>
        <p:spPr>
          <a:xfrm>
            <a:off x="548640" y="5349240"/>
            <a:ext cx="11109960" cy="914400"/>
          </a:xfrm>
          <a:prstGeom prst="roundRect">
            <a:avLst>
              <a:gd name="adj" fmla="val 8000"/>
            </a:avLst>
          </a:prstGeom>
          <a:solidFill>
            <a:srgbClr val="F8ECEA"/>
          </a:solidFill>
          <a:ln w="12700">
            <a:solidFill>
              <a:srgbClr val="F8ECEA"/>
            </a:solidFill>
            <a:prstDash val="solid"/>
          </a:ln>
        </p:spPr>
      </p:sp>
      <p:sp>
        <p:nvSpPr>
          <p:cNvPr id="9" name="Text 5"/>
          <p:cNvSpPr txBox="1"/>
          <p:nvPr/>
        </p:nvSpPr>
        <p:spPr>
          <a:xfrm>
            <a:off x="731520" y="5394960"/>
            <a:ext cx="10789920" cy="822960"/>
          </a:xfrm>
          <a:prstGeom prst="rect">
            <a:avLst/>
          </a:prstGeom>
          <a:noFill/>
          <a:ln/>
        </p:spPr>
        <p:txBody>
          <a:bodyPr wrap="square" lIns="0" tIns="0" rIns="0" bIns="0" rtlCol="0" anchor="ctr"/>
          <a:lstStyle/>
          <a:p>
            <a:pPr indent="0" marL="0">
              <a:buNone/>
            </a:pPr>
            <a:r>
              <a:rPr lang="en-US" sz="1250" b="1" dirty="0">
                <a:solidFill>
                  <a:srgbClr val="1F3864"/>
                </a:solidFill>
                <a:latin typeface="Calibri" pitchFamily="34" charset="0"/>
                <a:ea typeface="Calibri" pitchFamily="34" charset="-122"/>
                <a:cs typeface="Calibri" pitchFamily="34" charset="-120"/>
              </a:rPr>
              <a:t>Pre-agreed responses: </a:t>
            </a:r>
            <a:pPr indent="0" marL="0">
              <a:buNone/>
            </a:pPr>
            <a:r>
              <a:rPr lang="en-US" sz="1250" dirty="0">
                <a:solidFill>
                  <a:srgbClr val="1F2A3C"/>
                </a:solidFill>
                <a:latin typeface="Calibri" pitchFamily="34" charset="0"/>
                <a:ea typeface="Calibri" pitchFamily="34" charset="-122"/>
                <a:cs typeface="Calibri" pitchFamily="34" charset="-120"/>
              </a:rPr>
              <a:t>deficit above 2.5% of GDP → slow drawdowns and re-phase import-heavy projects; ICOR above 5.0 in 2028 → freeze projects not through the gate; inflation above 3.5% → re-phase construction; growth below 6% → reassess, don't add spending.</a:t>
            </a:r>
            <a:endParaRPr lang="en-US" sz="1250" dirty="0"/>
          </a:p>
        </p:txBody>
      </p:sp>
      <p:sp>
        <p:nvSpPr>
          <p:cNvPr id="10" name="Text 6"/>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integrated paper, Chapter 14 (Table 14.1 and Section 14.2); 2025 values from BPS, BKPM, Bank Indonesia and the Coordinating Ministry.</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RISKS AND SAFEGUARDS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Every major risk has a rule written against it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4389120"/>
                <a:gridCol w="4023360"/>
              </a:tblGrid>
              <a:tr h="512064">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Evidence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Safeguard</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Correlated commodity exposure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Project and state revenue both fall when coal or nickel prices fall</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35% commodity cap; assets with contracted returns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Stranded coal assets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DME may be uncompetitive against LPG; coal demand declining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Time-limited CDME mandate; carbon-cost test; solar as anchor</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Contingent liabilities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RKAP lists guarantees, comfort letters, bailout pressure; Athens AP</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No guarantees; defence via equity only, availability payments on APBN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Defence-specific risks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Single buyer; export controls; limits on technology transfer; classified information</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Multi-year contracts; offsets; 20% tier cap; closed-session reporting to DPR Commission I and BPK</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Exceptions become the rule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Timor-Leste: withdrawals above the ESI almost every year since 2009</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Caps in the Law; 2038 sunset; extension only by Law</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Capture and misuse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1MDB; costly subsidised lending elsewhere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Independent committee; BPK audit; project disclosure; Santiago Principles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Absorptive capacity, Dutch disease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 30% efficiency loss (IMF, 2015); rupiah pressure</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Stage-gating; readiness-based disbursement; counter-cyclical timing</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12064">
                <a:tc>
                  <a:txBody>
                    <a:bodyPr/>
                    <a:lstStyle/>
                    <a:p>
                      <a:pPr indent="0" marL="0">
                        <a:buNone/>
                      </a:pPr>
                      <a:r>
                        <a:rPr lang="en-US" sz="1150" b="1" dirty="0">
                          <a:solidFill>
                            <a:srgbClr val="1F2A3C"/>
                          </a:solidFill>
                          <a:latin typeface="Calibri" pitchFamily="34" charset="0"/>
                          <a:ea typeface="Calibri" pitchFamily="34" charset="-122"/>
                          <a:cs typeface="Calibri" pitchFamily="34" charset="-120"/>
                        </a:rPr>
                        <a:t>Unmeasured impact</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All RKAP 2026 impact KPIs have zero targets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50" dirty="0">
                          <a:solidFill>
                            <a:srgbClr val="1F2A3C"/>
                          </a:solidFill>
                          <a:latin typeface="Calibri" pitchFamily="34" charset="0"/>
                          <a:ea typeface="Calibri" pitchFamily="34" charset="-122"/>
                          <a:cs typeface="Calibri" pitchFamily="34" charset="-120"/>
                        </a:rPr>
                        <a:t>No disbursement without quantified baselines</a:t>
                      </a:r>
                      <a:endParaRPr lang="en-US" sz="115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author's assessment.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PART 5 · RECOMMENDATIONS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Eight decisions to take</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Shape 4"/>
          <p:cNvSpPr/>
          <p:nvPr/>
        </p:nvSpPr>
        <p:spPr>
          <a:xfrm>
            <a:off x="548640" y="1463040"/>
            <a:ext cx="5440680" cy="1078992"/>
          </a:xfrm>
          <a:prstGeom prst="roundRect">
            <a:avLst>
              <a:gd name="adj" fmla="val 6780"/>
            </a:avLst>
          </a:prstGeom>
          <a:solidFill>
            <a:srgbClr val="F4F6FA"/>
          </a:solidFill>
          <a:ln w="12700">
            <a:solidFill>
              <a:srgbClr val="F4F6FA"/>
            </a:solidFill>
            <a:prstDash val="solid"/>
          </a:ln>
        </p:spPr>
      </p:sp>
      <p:sp>
        <p:nvSpPr>
          <p:cNvPr id="8" name="Shape 5"/>
          <p:cNvSpPr/>
          <p:nvPr/>
        </p:nvSpPr>
        <p:spPr>
          <a:xfrm>
            <a:off x="713232" y="1682496"/>
            <a:ext cx="640080" cy="640080"/>
          </a:xfrm>
          <a:prstGeom prst="ellipse">
            <a:avLst/>
          </a:prstGeom>
          <a:solidFill>
            <a:srgbClr val="1F3864"/>
          </a:solidFill>
          <a:ln w="12700">
            <a:solidFill>
              <a:srgbClr val="1F3864"/>
            </a:solidFill>
            <a:prstDash val="solid"/>
          </a:ln>
        </p:spPr>
      </p:sp>
      <p:sp>
        <p:nvSpPr>
          <p:cNvPr id="9" name="Text 6"/>
          <p:cNvSpPr txBox="1"/>
          <p:nvPr/>
        </p:nvSpPr>
        <p:spPr>
          <a:xfrm>
            <a:off x="713232" y="1682496"/>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7"/>
          <p:cNvSpPr txBox="1"/>
          <p:nvPr/>
        </p:nvSpPr>
        <p:spPr>
          <a:xfrm>
            <a:off x="1508760" y="1572768"/>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One Law, three windows</a:t>
            </a:r>
            <a:endParaRPr lang="en-US" sz="1500" dirty="0"/>
          </a:p>
        </p:txBody>
      </p:sp>
      <p:sp>
        <p:nvSpPr>
          <p:cNvPr id="11" name="Text 8"/>
          <p:cNvSpPr txBox="1"/>
          <p:nvPr/>
        </p:nvSpPr>
        <p:spPr>
          <a:xfrm>
            <a:off x="1508760" y="1920240"/>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Reserve stabilises, development invests, future saves; development window sunsets in 2038</a:t>
            </a:r>
            <a:endParaRPr lang="en-US" sz="1200" dirty="0"/>
          </a:p>
        </p:txBody>
      </p:sp>
      <p:sp>
        <p:nvSpPr>
          <p:cNvPr id="12" name="Shape 9"/>
          <p:cNvSpPr/>
          <p:nvPr/>
        </p:nvSpPr>
        <p:spPr>
          <a:xfrm>
            <a:off x="548640" y="2679192"/>
            <a:ext cx="5440680" cy="1078992"/>
          </a:xfrm>
          <a:prstGeom prst="roundRect">
            <a:avLst>
              <a:gd name="adj" fmla="val 6780"/>
            </a:avLst>
          </a:prstGeom>
          <a:solidFill>
            <a:srgbClr val="F4F6FA"/>
          </a:solidFill>
          <a:ln w="12700">
            <a:solidFill>
              <a:srgbClr val="F4F6FA"/>
            </a:solidFill>
            <a:prstDash val="solid"/>
          </a:ln>
        </p:spPr>
      </p:sp>
      <p:sp>
        <p:nvSpPr>
          <p:cNvPr id="13" name="Shape 10"/>
          <p:cNvSpPr/>
          <p:nvPr/>
        </p:nvSpPr>
        <p:spPr>
          <a:xfrm>
            <a:off x="713232" y="2898648"/>
            <a:ext cx="640080" cy="640080"/>
          </a:xfrm>
          <a:prstGeom prst="ellipse">
            <a:avLst/>
          </a:prstGeom>
          <a:solidFill>
            <a:srgbClr val="1F3864"/>
          </a:solidFill>
          <a:ln w="12700">
            <a:solidFill>
              <a:srgbClr val="1F3864"/>
            </a:solidFill>
            <a:prstDash val="solid"/>
          </a:ln>
        </p:spPr>
      </p:sp>
      <p:sp>
        <p:nvSpPr>
          <p:cNvPr id="14" name="Text 11"/>
          <p:cNvSpPr txBox="1"/>
          <p:nvPr/>
        </p:nvSpPr>
        <p:spPr>
          <a:xfrm>
            <a:off x="713232" y="28986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2"/>
          <p:cNvSpPr txBox="1"/>
          <p:nvPr/>
        </p:nvSpPr>
        <p:spPr>
          <a:xfrm>
            <a:off x="1508760" y="2788920"/>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Capture the 2026 windfall</a:t>
            </a:r>
            <a:endParaRPr lang="en-US" sz="1500" dirty="0"/>
          </a:p>
        </p:txBody>
      </p:sp>
      <p:sp>
        <p:nvSpPr>
          <p:cNvPr id="16" name="Text 13"/>
          <p:cNvSpPr txBox="1"/>
          <p:nvPr/>
        </p:nvSpPr>
        <p:spPr>
          <a:xfrm>
            <a:off x="1508760" y="3136392"/>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Park the excess over the budget assumption in a transitional account; seed the window in 2027</a:t>
            </a:r>
            <a:endParaRPr lang="en-US" sz="1200" dirty="0"/>
          </a:p>
        </p:txBody>
      </p:sp>
      <p:sp>
        <p:nvSpPr>
          <p:cNvPr id="17" name="Shape 14"/>
          <p:cNvSpPr/>
          <p:nvPr/>
        </p:nvSpPr>
        <p:spPr>
          <a:xfrm>
            <a:off x="548640" y="3895344"/>
            <a:ext cx="5440680" cy="1078992"/>
          </a:xfrm>
          <a:prstGeom prst="roundRect">
            <a:avLst>
              <a:gd name="adj" fmla="val 6780"/>
            </a:avLst>
          </a:prstGeom>
          <a:solidFill>
            <a:srgbClr val="F4F6FA"/>
          </a:solidFill>
          <a:ln w="12700">
            <a:solidFill>
              <a:srgbClr val="F4F6FA"/>
            </a:solidFill>
            <a:prstDash val="solid"/>
          </a:ln>
        </p:spPr>
      </p:sp>
      <p:sp>
        <p:nvSpPr>
          <p:cNvPr id="18" name="Shape 15"/>
          <p:cNvSpPr/>
          <p:nvPr/>
        </p:nvSpPr>
        <p:spPr>
          <a:xfrm>
            <a:off x="713232" y="4114800"/>
            <a:ext cx="640080" cy="640080"/>
          </a:xfrm>
          <a:prstGeom prst="ellipse">
            <a:avLst/>
          </a:prstGeom>
          <a:solidFill>
            <a:srgbClr val="1F3864"/>
          </a:solidFill>
          <a:ln w="12700">
            <a:solidFill>
              <a:srgbClr val="1F3864"/>
            </a:solidFill>
            <a:prstDash val="solid"/>
          </a:ln>
        </p:spPr>
      </p:sp>
      <p:sp>
        <p:nvSpPr>
          <p:cNvPr id="19" name="Text 16"/>
          <p:cNvSpPr txBox="1"/>
          <p:nvPr/>
        </p:nvSpPr>
        <p:spPr>
          <a:xfrm>
            <a:off x="713232" y="4114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0" name="Text 17"/>
          <p:cNvSpPr txBox="1"/>
          <p:nvPr/>
        </p:nvSpPr>
        <p:spPr>
          <a:xfrm>
            <a:off x="1508760" y="4005072"/>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A mandate, not the money</a:t>
            </a:r>
            <a:endParaRPr lang="en-US" sz="1500" dirty="0"/>
          </a:p>
        </p:txBody>
      </p:sp>
      <p:sp>
        <p:nvSpPr>
          <p:cNvPr id="21" name="Text 18"/>
          <p:cNvSpPr txBox="1"/>
          <p:nvPr/>
        </p:nvSpPr>
        <p:spPr>
          <a:xfrm>
            <a:off x="1508760" y="4352544"/>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DDMF originates and executes; the fund's committee approves each disbursement</a:t>
            </a:r>
            <a:endParaRPr lang="en-US" sz="1200" dirty="0"/>
          </a:p>
        </p:txBody>
      </p:sp>
      <p:sp>
        <p:nvSpPr>
          <p:cNvPr id="22" name="Shape 19"/>
          <p:cNvSpPr/>
          <p:nvPr/>
        </p:nvSpPr>
        <p:spPr>
          <a:xfrm>
            <a:off x="548640" y="5111496"/>
            <a:ext cx="5440680" cy="1078992"/>
          </a:xfrm>
          <a:prstGeom prst="roundRect">
            <a:avLst>
              <a:gd name="adj" fmla="val 6780"/>
            </a:avLst>
          </a:prstGeom>
          <a:solidFill>
            <a:srgbClr val="F4F6FA"/>
          </a:solidFill>
          <a:ln w="12700">
            <a:solidFill>
              <a:srgbClr val="F4F6FA"/>
            </a:solidFill>
            <a:prstDash val="solid"/>
          </a:ln>
        </p:spPr>
      </p:sp>
      <p:sp>
        <p:nvSpPr>
          <p:cNvPr id="23" name="Shape 20"/>
          <p:cNvSpPr/>
          <p:nvPr/>
        </p:nvSpPr>
        <p:spPr>
          <a:xfrm>
            <a:off x="713232" y="5330952"/>
            <a:ext cx="640080" cy="640080"/>
          </a:xfrm>
          <a:prstGeom prst="ellipse">
            <a:avLst/>
          </a:prstGeom>
          <a:solidFill>
            <a:srgbClr val="1F3864"/>
          </a:solidFill>
          <a:ln w="12700">
            <a:solidFill>
              <a:srgbClr val="1F3864"/>
            </a:solidFill>
            <a:prstDash val="solid"/>
          </a:ln>
        </p:spPr>
      </p:sp>
      <p:sp>
        <p:nvSpPr>
          <p:cNvPr id="24" name="Text 21"/>
          <p:cNvSpPr txBox="1"/>
          <p:nvPr/>
        </p:nvSpPr>
        <p:spPr>
          <a:xfrm>
            <a:off x="713232" y="533095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5" name="Text 22"/>
          <p:cNvSpPr txBox="1"/>
          <p:nvPr/>
        </p:nvSpPr>
        <p:spPr>
          <a:xfrm>
            <a:off x="1508760" y="5221224"/>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Start with the core</a:t>
            </a:r>
            <a:endParaRPr lang="en-US" sz="1500" dirty="0"/>
          </a:p>
        </p:txBody>
      </p:sp>
      <p:sp>
        <p:nvSpPr>
          <p:cNvPr id="26" name="Text 23"/>
          <p:cNvSpPr txBox="1"/>
          <p:nvPr/>
        </p:nvSpPr>
        <p:spPr>
          <a:xfrm>
            <a:off x="1508760" y="5568696"/>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PLTS in tranches, rare earths, metals, copper, silica; CDME, refinery, CPE, biodiesel when conditions are met</a:t>
            </a:r>
            <a:endParaRPr lang="en-US" sz="1200" dirty="0"/>
          </a:p>
        </p:txBody>
      </p:sp>
      <p:sp>
        <p:nvSpPr>
          <p:cNvPr id="27" name="Shape 24"/>
          <p:cNvSpPr/>
          <p:nvPr/>
        </p:nvSpPr>
        <p:spPr>
          <a:xfrm>
            <a:off x="6217920" y="1463040"/>
            <a:ext cx="5440680" cy="1078992"/>
          </a:xfrm>
          <a:prstGeom prst="roundRect">
            <a:avLst>
              <a:gd name="adj" fmla="val 6780"/>
            </a:avLst>
          </a:prstGeom>
          <a:solidFill>
            <a:srgbClr val="F4F6FA"/>
          </a:solidFill>
          <a:ln w="12700">
            <a:solidFill>
              <a:srgbClr val="F4F6FA"/>
            </a:solidFill>
            <a:prstDash val="solid"/>
          </a:ln>
        </p:spPr>
      </p:sp>
      <p:sp>
        <p:nvSpPr>
          <p:cNvPr id="28" name="Shape 25"/>
          <p:cNvSpPr/>
          <p:nvPr/>
        </p:nvSpPr>
        <p:spPr>
          <a:xfrm>
            <a:off x="6382512" y="1682496"/>
            <a:ext cx="640080" cy="640080"/>
          </a:xfrm>
          <a:prstGeom prst="ellipse">
            <a:avLst/>
          </a:prstGeom>
          <a:solidFill>
            <a:srgbClr val="1F3864"/>
          </a:solidFill>
          <a:ln w="12700">
            <a:solidFill>
              <a:srgbClr val="1F3864"/>
            </a:solidFill>
            <a:prstDash val="solid"/>
          </a:ln>
        </p:spPr>
      </p:sp>
      <p:sp>
        <p:nvSpPr>
          <p:cNvPr id="29" name="Text 26"/>
          <p:cNvSpPr txBox="1"/>
          <p:nvPr/>
        </p:nvSpPr>
        <p:spPr>
          <a:xfrm>
            <a:off x="6382512" y="1682496"/>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0" name="Text 27"/>
          <p:cNvSpPr txBox="1"/>
          <p:nvPr/>
        </p:nvSpPr>
        <p:spPr>
          <a:xfrm>
            <a:off x="7178040" y="1572768"/>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Public goods on the budget</a:t>
            </a:r>
            <a:endParaRPr lang="en-US" sz="1500" dirty="0"/>
          </a:p>
        </p:txBody>
      </p:sp>
      <p:sp>
        <p:nvSpPr>
          <p:cNvPr id="31" name="Text 28"/>
          <p:cNvSpPr txBox="1"/>
          <p:nvPr/>
        </p:nvSpPr>
        <p:spPr>
          <a:xfrm>
            <a:off x="7178040" y="1920240"/>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Housing, schools, sea walls, water via APBN, SBSN or KPBU; platform purchases and availability payments too</a:t>
            </a:r>
            <a:endParaRPr lang="en-US" sz="1200" dirty="0"/>
          </a:p>
        </p:txBody>
      </p:sp>
      <p:sp>
        <p:nvSpPr>
          <p:cNvPr id="32" name="Shape 29"/>
          <p:cNvSpPr/>
          <p:nvPr/>
        </p:nvSpPr>
        <p:spPr>
          <a:xfrm>
            <a:off x="6217920" y="2679192"/>
            <a:ext cx="5440680" cy="1078992"/>
          </a:xfrm>
          <a:prstGeom prst="roundRect">
            <a:avLst>
              <a:gd name="adj" fmla="val 6780"/>
            </a:avLst>
          </a:prstGeom>
          <a:solidFill>
            <a:srgbClr val="F4F6FA"/>
          </a:solidFill>
          <a:ln w="12700">
            <a:solidFill>
              <a:srgbClr val="F4F6FA"/>
            </a:solidFill>
            <a:prstDash val="solid"/>
          </a:ln>
        </p:spPr>
      </p:sp>
      <p:sp>
        <p:nvSpPr>
          <p:cNvPr id="33" name="Shape 30"/>
          <p:cNvSpPr/>
          <p:nvPr/>
        </p:nvSpPr>
        <p:spPr>
          <a:xfrm>
            <a:off x="6382512" y="2898648"/>
            <a:ext cx="640080" cy="640080"/>
          </a:xfrm>
          <a:prstGeom prst="ellipse">
            <a:avLst/>
          </a:prstGeom>
          <a:solidFill>
            <a:srgbClr val="1F3864"/>
          </a:solidFill>
          <a:ln w="12700">
            <a:solidFill>
              <a:srgbClr val="1F3864"/>
            </a:solidFill>
            <a:prstDash val="solid"/>
          </a:ln>
        </p:spPr>
      </p:sp>
      <p:sp>
        <p:nvSpPr>
          <p:cNvPr id="34" name="Text 31"/>
          <p:cNvSpPr txBox="1"/>
          <p:nvPr/>
        </p:nvSpPr>
        <p:spPr>
          <a:xfrm>
            <a:off x="6382512" y="2898648"/>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35" name="Text 32"/>
          <p:cNvSpPr txBox="1"/>
          <p:nvPr/>
        </p:nvSpPr>
        <p:spPr>
          <a:xfrm>
            <a:off x="7178040" y="2788920"/>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Require measurable impact</a:t>
            </a:r>
            <a:endParaRPr lang="en-US" sz="1500" dirty="0"/>
          </a:p>
        </p:txBody>
      </p:sp>
      <p:sp>
        <p:nvSpPr>
          <p:cNvPr id="36" name="Text 33"/>
          <p:cNvSpPr txBox="1"/>
          <p:nvPr/>
        </p:nvSpPr>
        <p:spPr>
          <a:xfrm>
            <a:off x="7178040" y="3136392"/>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Quantified baselines and targets for jobs, value added, TKDN, imports and emissions, reported publicly</a:t>
            </a:r>
            <a:endParaRPr lang="en-US" sz="1200" dirty="0"/>
          </a:p>
        </p:txBody>
      </p:sp>
      <p:sp>
        <p:nvSpPr>
          <p:cNvPr id="37" name="Shape 34"/>
          <p:cNvSpPr/>
          <p:nvPr/>
        </p:nvSpPr>
        <p:spPr>
          <a:xfrm>
            <a:off x="6217920" y="3895344"/>
            <a:ext cx="5440680" cy="1078992"/>
          </a:xfrm>
          <a:prstGeom prst="roundRect">
            <a:avLst>
              <a:gd name="adj" fmla="val 6780"/>
            </a:avLst>
          </a:prstGeom>
          <a:solidFill>
            <a:srgbClr val="F4F6FA"/>
          </a:solidFill>
          <a:ln w="12700">
            <a:solidFill>
              <a:srgbClr val="F4F6FA"/>
            </a:solidFill>
            <a:prstDash val="solid"/>
          </a:ln>
        </p:spPr>
      </p:sp>
      <p:sp>
        <p:nvSpPr>
          <p:cNvPr id="38" name="Shape 35"/>
          <p:cNvSpPr/>
          <p:nvPr/>
        </p:nvSpPr>
        <p:spPr>
          <a:xfrm>
            <a:off x="6382512" y="4114800"/>
            <a:ext cx="640080" cy="640080"/>
          </a:xfrm>
          <a:prstGeom prst="ellipse">
            <a:avLst/>
          </a:prstGeom>
          <a:solidFill>
            <a:srgbClr val="1F3864"/>
          </a:solidFill>
          <a:ln w="12700">
            <a:solidFill>
              <a:srgbClr val="1F3864"/>
            </a:solidFill>
            <a:prstDash val="solid"/>
          </a:ln>
        </p:spPr>
      </p:sp>
      <p:sp>
        <p:nvSpPr>
          <p:cNvPr id="39" name="Text 36"/>
          <p:cNvSpPr txBox="1"/>
          <p:nvPr/>
        </p:nvSpPr>
        <p:spPr>
          <a:xfrm>
            <a:off x="6382512" y="41148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0" name="Text 37"/>
          <p:cNvSpPr txBox="1"/>
          <p:nvPr/>
        </p:nvSpPr>
        <p:spPr>
          <a:xfrm>
            <a:off x="7178040" y="4005072"/>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Recalibrate in 2027</a:t>
            </a:r>
            <a:endParaRPr lang="en-US" sz="1500" dirty="0"/>
          </a:p>
        </p:txBody>
      </p:sp>
      <p:sp>
        <p:nvSpPr>
          <p:cNvPr id="41" name="Text 38"/>
          <p:cNvSpPr txBox="1"/>
          <p:nvPr/>
        </p:nvSpPr>
        <p:spPr>
          <a:xfrm>
            <a:off x="7178040" y="4352544"/>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Test the 30% rate, 60/30/0 split, loan cap and return floor against scenarios, incl. a coal price collapse</a:t>
            </a:r>
            <a:endParaRPr lang="en-US" sz="1200" dirty="0"/>
          </a:p>
        </p:txBody>
      </p:sp>
      <p:sp>
        <p:nvSpPr>
          <p:cNvPr id="42" name="Shape 39"/>
          <p:cNvSpPr/>
          <p:nvPr/>
        </p:nvSpPr>
        <p:spPr>
          <a:xfrm>
            <a:off x="6217920" y="5111496"/>
            <a:ext cx="5440680" cy="1078992"/>
          </a:xfrm>
          <a:prstGeom prst="roundRect">
            <a:avLst>
              <a:gd name="adj" fmla="val 6780"/>
            </a:avLst>
          </a:prstGeom>
          <a:solidFill>
            <a:srgbClr val="F7F3E6"/>
          </a:solidFill>
          <a:ln w="12700">
            <a:solidFill>
              <a:srgbClr val="F7F3E6"/>
            </a:solidFill>
            <a:prstDash val="solid"/>
          </a:ln>
        </p:spPr>
      </p:sp>
      <p:sp>
        <p:nvSpPr>
          <p:cNvPr id="43" name="Shape 40"/>
          <p:cNvSpPr/>
          <p:nvPr/>
        </p:nvSpPr>
        <p:spPr>
          <a:xfrm>
            <a:off x="6382512" y="5330952"/>
            <a:ext cx="640080" cy="640080"/>
          </a:xfrm>
          <a:prstGeom prst="ellipse">
            <a:avLst/>
          </a:prstGeom>
          <a:solidFill>
            <a:srgbClr val="B8901E"/>
          </a:solidFill>
          <a:ln w="12700">
            <a:solidFill>
              <a:srgbClr val="1F3864"/>
            </a:solidFill>
            <a:prstDash val="solid"/>
          </a:ln>
        </p:spPr>
      </p:sp>
      <p:sp>
        <p:nvSpPr>
          <p:cNvPr id="44" name="Text 41"/>
          <p:cNvSpPr txBox="1"/>
          <p:nvPr/>
        </p:nvSpPr>
        <p:spPr>
          <a:xfrm>
            <a:off x="6382512" y="533095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5" name="Text 42"/>
          <p:cNvSpPr txBox="1"/>
          <p:nvPr/>
        </p:nvSpPr>
        <p:spPr>
          <a:xfrm>
            <a:off x="7178040" y="5221224"/>
            <a:ext cx="4389120" cy="365760"/>
          </a:xfrm>
          <a:prstGeom prst="rect">
            <a:avLst/>
          </a:prstGeom>
          <a:noFill/>
          <a:ln/>
        </p:spPr>
        <p:txBody>
          <a:bodyPr wrap="square" lIns="0" tIns="0" rIns="0" bIns="0" rtlCol="0" anchor="t"/>
          <a:lstStyle/>
          <a:p>
            <a:pPr indent="0" marL="0">
              <a:buNone/>
            </a:pPr>
            <a:r>
              <a:rPr lang="en-US" sz="1500" b="1" dirty="0">
                <a:solidFill>
                  <a:srgbClr val="14213D"/>
                </a:solidFill>
                <a:latin typeface="Calibri" pitchFamily="34" charset="0"/>
                <a:ea typeface="Calibri" pitchFamily="34" charset="-122"/>
                <a:cs typeface="Calibri" pitchFamily="34" charset="-120"/>
              </a:rPr>
              <a:t>Create a sovereignty tier</a:t>
            </a:r>
            <a:endParaRPr lang="en-US" sz="1500" dirty="0"/>
          </a:p>
        </p:txBody>
      </p:sp>
      <p:sp>
        <p:nvSpPr>
          <p:cNvPr id="46" name="Text 43"/>
          <p:cNvSpPr txBox="1"/>
          <p:nvPr/>
        </p:nvSpPr>
        <p:spPr>
          <a:xfrm>
            <a:off x="7178040" y="5568696"/>
            <a:ext cx="4389120" cy="594360"/>
          </a:xfrm>
          <a:prstGeom prst="rect">
            <a:avLst/>
          </a:prstGeom>
          <a:noFill/>
          <a:ln/>
        </p:spPr>
        <p:txBody>
          <a:bodyPr wrap="square" lIns="0" tIns="0" rIns="0" bIns="0" rtlCol="0" anchor="t"/>
          <a:lstStyle/>
          <a:p>
            <a:pPr indent="0" marL="0">
              <a:buNone/>
            </a:pPr>
            <a:r>
              <a:rPr lang="en-US" sz="1200" dirty="0">
                <a:solidFill>
                  <a:srgbClr val="4A5568"/>
                </a:solidFill>
                <a:latin typeface="Calibri" pitchFamily="34" charset="0"/>
                <a:ea typeface="Calibri" pitchFamily="34" charset="-122"/>
                <a:cs typeface="Calibri" pitchFamily="34" charset="-120"/>
              </a:rPr>
              <a:t>Shipyards and alutsista join the priority list (15 projects); defence-industrial base ≤ 20% of the window, via domestic yards and SMEs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213D"/>
        </a:solidFill>
      </p:bgPr>
    </p:bg>
    <p:spTree>
      <p:nvGrpSpPr>
        <p:cNvPr id="1" name=""/>
        <p:cNvGrpSpPr/>
        <p:nvPr/>
      </p:nvGrpSpPr>
      <p:grpSpPr>
        <a:xfrm>
          <a:off x="0" y="0"/>
          <a:ext cx="0" cy="0"/>
          <a:chOff x="0" y="0"/>
          <a:chExt cx="0" cy="0"/>
        </a:xfrm>
      </p:grpSpPr>
      <p:pic>
        <p:nvPicPr>
          <p:cNvPr id="2" name="Image 0" descr="Illustration of a solar farm, processing plant and shipyard">    </p:cNvPr>
          <p:cNvPicPr>
            <a:picLocks noChangeAspect="1"/>
          </p:cNvPicPr>
          <p:nvPr/>
        </p:nvPicPr>
        <p:blipFill>
          <a:blip r:embed="rId1"/>
          <a:stretch>
            <a:fillRect/>
          </a:stretch>
        </p:blipFill>
        <p:spPr>
          <a:xfrm>
            <a:off x="7223760" y="0"/>
            <a:ext cx="4965192" cy="4874916"/>
          </a:xfrm>
          <a:prstGeom prst="rect">
            <a:avLst/>
          </a:prstGeom>
        </p:spPr>
      </p:pic>
      <p:sp>
        <p:nvSpPr>
          <p:cNvPr id="3" name="Shape 0"/>
          <p:cNvSpPr/>
          <p:nvPr/>
        </p:nvSpPr>
        <p:spPr>
          <a:xfrm>
            <a:off x="0" y="0"/>
            <a:ext cx="7406640" cy="6858000"/>
          </a:xfrm>
          <a:prstGeom prst="rect">
            <a:avLst/>
          </a:prstGeom>
          <a:solidFill>
            <a:srgbClr val="14213D"/>
          </a:solidFill>
          <a:ln w="12700">
            <a:solidFill>
              <a:srgbClr val="14213D"/>
            </a:solidFill>
            <a:prstDash val="solid"/>
          </a:ln>
        </p:spPr>
      </p:sp>
      <p:sp>
        <p:nvSpPr>
          <p:cNvPr id="4" name="Text 1"/>
          <p:cNvSpPr txBox="1"/>
          <p:nvPr/>
        </p:nvSpPr>
        <p:spPr>
          <a:xfrm>
            <a:off x="731520" y="731520"/>
            <a:ext cx="6400800" cy="320040"/>
          </a:xfrm>
          <a:prstGeom prst="rect">
            <a:avLst/>
          </a:prstGeom>
          <a:noFill/>
          <a:ln/>
        </p:spPr>
        <p:txBody>
          <a:bodyPr wrap="square" lIns="0" tIns="0" rIns="0" bIns="0" rtlCol="0" anchor="t"/>
          <a:lstStyle/>
          <a:p>
            <a:pPr indent="0" marL="0">
              <a:buNone/>
            </a:pPr>
            <a:r>
              <a:rPr lang="en-US" sz="1200" b="1" spc="300" kern="0" dirty="0">
                <a:solidFill>
                  <a:srgbClr val="D4A93A"/>
                </a:solidFill>
                <a:latin typeface="Calibri" pitchFamily="34" charset="0"/>
                <a:ea typeface="Calibri" pitchFamily="34" charset="-122"/>
                <a:cs typeface="Calibri" pitchFamily="34" charset="-120"/>
              </a:rPr>
              <a:t>THE RECOMMENDATION IN ONE PARAGRAPH</a:t>
            </a:r>
            <a:endParaRPr lang="en-US" sz="1200" dirty="0"/>
          </a:p>
        </p:txBody>
      </p:sp>
      <p:sp>
        <p:nvSpPr>
          <p:cNvPr id="5" name="Text 2"/>
          <p:cNvSpPr txBox="1"/>
          <p:nvPr/>
        </p:nvSpPr>
        <p:spPr>
          <a:xfrm>
            <a:off x="731520" y="1143000"/>
            <a:ext cx="6400800" cy="9144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Stabilise, save, invest and grow</a:t>
            </a:r>
            <a:endParaRPr lang="en-US" sz="3200" dirty="0"/>
          </a:p>
        </p:txBody>
      </p:sp>
      <p:sp>
        <p:nvSpPr>
          <p:cNvPr id="6" name="Text 3"/>
          <p:cNvSpPr txBox="1"/>
          <p:nvPr/>
        </p:nvSpPr>
        <p:spPr>
          <a:xfrm>
            <a:off x="731520" y="2194560"/>
            <a:ext cx="6400800" cy="3108960"/>
          </a:xfrm>
          <a:prstGeom prst="rect">
            <a:avLst/>
          </a:prstGeom>
          <a:noFill/>
          <a:ln/>
        </p:spPr>
        <p:txBody>
          <a:bodyPr wrap="square" lIns="0" tIns="0" rIns="0" bIns="0" rtlCol="0" anchor="t"/>
          <a:lstStyle/>
          <a:p>
            <a:pPr indent="0" marL="0">
              <a:buNone/>
            </a:pPr>
            <a:r>
              <a:rPr lang="en-US" sz="1500" dirty="0">
                <a:solidFill>
                  <a:srgbClr val="D6DCE6"/>
                </a:solidFill>
                <a:latin typeface="Calibri" pitchFamily="34" charset="0"/>
                <a:ea typeface="Calibri" pitchFamily="34" charset="-122"/>
                <a:cs typeface="Calibri" pitchFamily="34" charset="-120"/>
              </a:rPr>
              <a:t>Stabilise with the reserve window, save with the future window, and invest a time-limited, rule-bound share of the savings through a development window. Organise the Rp 5,396 T pipeline in Industry, Technology and Finance; fund it natural-resources first, for about half its cost; build defence at home. Use it as one engine of an industrial leap with efficiency discipline: investment of about a third of GDP and an ICOR near 4.2–4.3. Run it on a public dashboard with responses agreed in advance.</a:t>
            </a:r>
            <a:endParaRPr lang="en-US" sz="1500" dirty="0"/>
          </a:p>
        </p:txBody>
      </p:sp>
      <p:sp>
        <p:nvSpPr>
          <p:cNvPr id="7" name="Shape 4"/>
          <p:cNvSpPr/>
          <p:nvPr/>
        </p:nvSpPr>
        <p:spPr>
          <a:xfrm>
            <a:off x="731520" y="5532120"/>
            <a:ext cx="1325880" cy="411480"/>
          </a:xfrm>
          <a:prstGeom prst="roundRect">
            <a:avLst>
              <a:gd name="adj" fmla="val 48889"/>
            </a:avLst>
          </a:prstGeom>
          <a:solidFill>
            <a:srgbClr val="3A4E78"/>
          </a:solidFill>
          <a:ln w="12700">
            <a:solidFill>
              <a:srgbClr val="3A4E78"/>
            </a:solidFill>
            <a:prstDash val="solid"/>
          </a:ln>
        </p:spPr>
      </p:sp>
      <p:sp>
        <p:nvSpPr>
          <p:cNvPr id="8" name="Text 5"/>
          <p:cNvSpPr txBox="1"/>
          <p:nvPr/>
        </p:nvSpPr>
        <p:spPr>
          <a:xfrm>
            <a:off x="731520" y="5532120"/>
            <a:ext cx="13258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Stabilise</a:t>
            </a:r>
            <a:endParaRPr lang="en-US" sz="1300" dirty="0"/>
          </a:p>
        </p:txBody>
      </p:sp>
      <p:sp>
        <p:nvSpPr>
          <p:cNvPr id="9" name="Shape 6"/>
          <p:cNvSpPr/>
          <p:nvPr/>
        </p:nvSpPr>
        <p:spPr>
          <a:xfrm>
            <a:off x="2194560" y="5532120"/>
            <a:ext cx="1325880" cy="411480"/>
          </a:xfrm>
          <a:prstGeom prst="roundRect">
            <a:avLst>
              <a:gd name="adj" fmla="val 48889"/>
            </a:avLst>
          </a:prstGeom>
          <a:solidFill>
            <a:srgbClr val="3A4E78"/>
          </a:solidFill>
          <a:ln w="12700">
            <a:solidFill>
              <a:srgbClr val="3A4E78"/>
            </a:solidFill>
            <a:prstDash val="solid"/>
          </a:ln>
        </p:spPr>
      </p:sp>
      <p:sp>
        <p:nvSpPr>
          <p:cNvPr id="10" name="Text 7"/>
          <p:cNvSpPr txBox="1"/>
          <p:nvPr/>
        </p:nvSpPr>
        <p:spPr>
          <a:xfrm>
            <a:off x="2194560" y="5532120"/>
            <a:ext cx="13258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Save</a:t>
            </a:r>
            <a:endParaRPr lang="en-US" sz="1300" dirty="0"/>
          </a:p>
        </p:txBody>
      </p:sp>
      <p:sp>
        <p:nvSpPr>
          <p:cNvPr id="11" name="Shape 8"/>
          <p:cNvSpPr/>
          <p:nvPr/>
        </p:nvSpPr>
        <p:spPr>
          <a:xfrm>
            <a:off x="3657600" y="5532120"/>
            <a:ext cx="1325880" cy="411480"/>
          </a:xfrm>
          <a:prstGeom prst="roundRect">
            <a:avLst>
              <a:gd name="adj" fmla="val 48889"/>
            </a:avLst>
          </a:prstGeom>
          <a:solidFill>
            <a:srgbClr val="B8901E"/>
          </a:solidFill>
          <a:ln w="12700">
            <a:solidFill>
              <a:srgbClr val="B8901E"/>
            </a:solidFill>
            <a:prstDash val="solid"/>
          </a:ln>
        </p:spPr>
      </p:sp>
      <p:sp>
        <p:nvSpPr>
          <p:cNvPr id="12" name="Text 9"/>
          <p:cNvSpPr txBox="1"/>
          <p:nvPr/>
        </p:nvSpPr>
        <p:spPr>
          <a:xfrm>
            <a:off x="3657600" y="5532120"/>
            <a:ext cx="132588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Invest</a:t>
            </a:r>
            <a:endParaRPr lang="en-US" sz="1300" dirty="0"/>
          </a:p>
        </p:txBody>
      </p:sp>
      <p:sp>
        <p:nvSpPr>
          <p:cNvPr id="13" name="Shape 10"/>
          <p:cNvSpPr/>
          <p:nvPr/>
        </p:nvSpPr>
        <p:spPr>
          <a:xfrm>
            <a:off x="5120640" y="5532120"/>
            <a:ext cx="1325880" cy="411480"/>
          </a:xfrm>
          <a:prstGeom prst="roundRect">
            <a:avLst>
              <a:gd name="adj" fmla="val 48889"/>
            </a:avLst>
          </a:prstGeom>
          <a:solidFill>
            <a:srgbClr val="D4A93A"/>
          </a:solidFill>
          <a:ln w="12700">
            <a:solidFill>
              <a:srgbClr val="D4A93A"/>
            </a:solidFill>
            <a:prstDash val="solid"/>
          </a:ln>
        </p:spPr>
      </p:sp>
      <p:sp>
        <p:nvSpPr>
          <p:cNvPr id="14" name="Text 11"/>
          <p:cNvSpPr txBox="1"/>
          <p:nvPr/>
        </p:nvSpPr>
        <p:spPr>
          <a:xfrm>
            <a:off x="5120640" y="5532120"/>
            <a:ext cx="1325880" cy="41148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Grow</a:t>
            </a:r>
            <a:endParaRPr lang="en-US" sz="1300" dirty="0"/>
          </a:p>
        </p:txBody>
      </p:sp>
      <p:sp>
        <p:nvSpPr>
          <p:cNvPr id="15" name="Text 1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1000" dirty="0">
                <a:solidFill>
                  <a:srgbClr val="98A1B3"/>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APPENDIX · PROJECTS (1/2)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Industry cluster: 26 projects, Rp 4,914 T</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5440680" cy="914400"/>
        </p:xfrm>
        <a:graphic>
          <a:graphicData uri="http://schemas.openxmlformats.org/drawingml/2006/table">
            <a:tbl>
              <a:tblPr/>
              <a:tblGrid>
                <a:gridCol w="2240280"/>
                <a:gridCol w="1600200"/>
                <a:gridCol w="777240"/>
                <a:gridCol w="8229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Project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Rp 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Years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PLTS 100 GW (solar)</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231.4</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Fishing-village food security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83.8</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Biodiesel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75.4</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Al, Fe, Ni, Mn metals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73.3</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2029–31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CPE (assumed petrochemical)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71.2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CDME (coal to DME)</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46.3</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Refinery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40.9</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Silica</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8.9</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Legacy waste – landfill mining</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Legacy waste – RDF</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Project Tarsius Ph.1 (rare earths)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2029–32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Copper</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Project Anoa (rare earths)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Resources &amp; energy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0.4</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217920" y="1325880"/>
          <a:ext cx="5440680" cy="914400"/>
        </p:xfrm>
        <a:graphic>
          <a:graphicData uri="http://schemas.openxmlformats.org/drawingml/2006/table">
            <a:tbl>
              <a:tblPr/>
              <a:tblGrid>
                <a:gridCol w="2240280"/>
                <a:gridCol w="1600200"/>
                <a:gridCol w="777240"/>
                <a:gridCol w="822960"/>
              </a:tblGrid>
              <a:tr h="329184">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Project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Segment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Rp T</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Years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10 smart cities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225.0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Affordable housing</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219.4</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500 schools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178.0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Centralised water</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112.2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STEM university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71.0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Decentralised waste</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Infrastructure &amp; social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4.6</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Giant Sea Wall *</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Giant Sea Wall</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1200.0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2027–40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Defence modernisation ‡ *</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Defence platforms &amp; MRO</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2125.0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2027–34</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Shipyard &amp; ship components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Defence &amp; maritime industry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5.2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2028–32</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EV Power Pack (maritime)</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Defence &amp; maritime industry</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Textile ecosystem</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Manufacturing</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89.0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MOBNAS &amp; MOLINAS</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Manufacturing</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25.0</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2027–29</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950" b="1" dirty="0">
                          <a:solidFill>
                            <a:srgbClr val="1F2A3C"/>
                          </a:solidFill>
                          <a:latin typeface="Calibri" pitchFamily="34" charset="0"/>
                          <a:ea typeface="Calibri" pitchFamily="34" charset="-122"/>
                          <a:cs typeface="Calibri" pitchFamily="34" charset="-120"/>
                        </a:rPr>
                        <a:t>Biosimilar &amp; pharma</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Manufacturing</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8.9</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950" dirty="0">
                          <a:solidFill>
                            <a:srgbClr val="1F2A3C"/>
                          </a:solidFill>
                          <a:latin typeface="Calibri" pitchFamily="34" charset="0"/>
                          <a:ea typeface="Calibri" pitchFamily="34" charset="-122"/>
                          <a:cs typeface="Calibri" pitchFamily="34" charset="-120"/>
                        </a:rPr>
                        <a:t>2028–31</a:t>
                      </a:r>
                      <a:endParaRPr lang="en-US" sz="95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9"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DDMF RKAP 2026 p. 110–112; * October 2026 update; ‡ submarines, USV, fast attack craft, carrier refit, fighters, MRO. Uncosted: electric stoves, high-speed rail, Trans-Sumatra toll road.</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APPENDIX · PROJECTS (2/2)</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Technology and Finance clusters, and the totals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3291840"/>
                <a:gridCol w="1188720"/>
                <a:gridCol w="822960"/>
                <a:gridCol w="822960"/>
                <a:gridCol w="82296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Project</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Cluster</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Rp T</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Equity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Years</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National Data Centre *</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10.5</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2027–31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AI and IT programme *</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42.0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2027–32</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Quantum technology development *</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4.2</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2027–31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Semiconductors *</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2027–30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National space programme</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2027–31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Drone</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2028–31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Tech Corridor</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186.9</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39.2</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2028–31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E-commerce (B2G/B2B MSME platform)</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Finance</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2028–31</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IMX (purpose to be confirmed) (TBC)</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Technology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ERP Merah Putih (TBC)</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Finance</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Electric stoves (kompor listrik) (TBC)</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Industry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High-speed rail (kereta cepat) (TBC)</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Industry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29184">
                <a:tc>
                  <a:txBody>
                    <a:bodyPr/>
                    <a:lstStyle/>
                    <a:p>
                      <a:pPr indent="0" marL="0">
                        <a:buNone/>
                      </a:pPr>
                      <a:r>
                        <a:rPr lang="en-US" sz="1000" b="1" dirty="0">
                          <a:solidFill>
                            <a:srgbClr val="1F2A3C"/>
                          </a:solidFill>
                          <a:latin typeface="Calibri" pitchFamily="34" charset="0"/>
                          <a:ea typeface="Calibri" pitchFamily="34" charset="-122"/>
                          <a:cs typeface="Calibri" pitchFamily="34" charset="-120"/>
                        </a:rPr>
                        <a:t>Trans-Sumatra toll road (TBC)</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Industry</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000" dirty="0">
                          <a:solidFill>
                            <a:srgbClr val="1F2A3C"/>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36576" marR="36576" marT="36576" marB="36576"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7772400" y="1325880"/>
          <a:ext cx="3886200" cy="914400"/>
        </p:xfrm>
        <a:graphic>
          <a:graphicData uri="http://schemas.openxmlformats.org/drawingml/2006/table">
            <a:tbl>
              <a:tblPr/>
              <a:tblGrid>
                <a:gridCol w="1143000"/>
                <a:gridCol w="1097280"/>
                <a:gridCol w="822960"/>
                <a:gridCol w="822960"/>
              </a:tblGrid>
              <a:tr h="41148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Cluster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Projects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Rp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Equity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41148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Industry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26 (+3 TBC)</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4,914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1,032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Technology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7 (+1 TBC)</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480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41148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Finance</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 (+1 TBC)</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0.2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34 (+5 TBC)</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5,396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1,133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9"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DDMF RKAP 2026 p. 110–112; * October 2026 update; TBC = no cost estimate yet. IMX placed in Technology, purpose to be confirmed.</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APPENDIX · POINTS TO CLARIFY</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Twelve points to settle before decisions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a:tblGrid>
                <a:gridCol w="457200"/>
                <a:gridCol w="3840480"/>
                <a:gridCol w="681228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Point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Why it matters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F3864"/>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Is the Rp 2,125 T defence programme additional?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 Rp 266 T a year vs Kemhan 2026 Rp 187 T (alutsista Rp 84.5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Defence domestic content and financing</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Largest lever in the model; foreign loans vs DHE SDA loans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Timelines of the October figures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Defence 2027–34 and sea wall 2027–40 are assumptions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IMX</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Purpose, cost and owner; provisionally in Technology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AI and IT programme (Rp 200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Hardware, software, skills, public systems; operator and users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Funding assumptions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Windfall, coal duty, royalty (postponed May 2026), dividends, DHE loans need MoF, BI, Danantara confirmation</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RKAP total and equity</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Text Rp 1,994.5 T vs tables Rp 2,091.5 T (earlier sea-wall figure)</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Coal-to-DME scope</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RKAP Rp 46.3 T vs press reports of Rp 164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PLTS 100 GW</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Far above RUPTL 2025–34 (17.1 GW of new solar)</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CPE (Rp 71.2 T)</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Not described; assumed petrochemical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Other uncosted projects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ERP Merah Putih, electric stoves, high-speed rail, Trans-Sumatra toll</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1F2A3C"/>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Domestic-content parameters</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c>
                  <a:txBody>
                    <a:bodyPr/>
                    <a:lstStyle/>
                    <a:p>
                      <a:pPr indent="0" marL="0">
                        <a:buNone/>
                      </a:pPr>
                      <a:r>
                        <a:rPr lang="en-US" sz="1100" dirty="0">
                          <a:solidFill>
                            <a:srgbClr val="1F2A3C"/>
                          </a:solidFill>
                          <a:latin typeface="Calibri" pitchFamily="34" charset="0"/>
                          <a:ea typeface="Calibri" pitchFamily="34" charset="-122"/>
                          <a:cs typeface="Calibri" pitchFamily="34" charset="-120"/>
                        </a:rPr>
                        <a:t>Pending the BPS Input-Output Table 2020 import matrix</a:t>
                      </a:r>
                      <a:endParaRPr lang="en-US" sz="1100" dirty="0">
                        <a:latin typeface="Calibri" charset="0"/>
                        <a:ea typeface="Calibri" charset="0"/>
                        <a:cs typeface="Calibri" charset="0"/>
                      </a:endParaRPr>
                    </a:p>
                  </a:txBody>
                  <a:tcPr marL="64008" marR="64008" marT="64008" marB="64008"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4F6FA"/>
                    </a:solidFill>
                  </a:tcPr>
                </a:tc>
              </a:tr>
            </a:tbl>
          </a:graphicData>
        </a:graphic>
      </p:graphicFrame>
      <p:sp>
        <p:nvSpPr>
          <p:cNvPr id="8" name="Text 4"/>
          <p:cNvSpPr txBox="1"/>
          <p:nvPr/>
        </p:nvSpPr>
        <p:spPr>
          <a:xfrm>
            <a:off x="548640" y="6419088"/>
            <a:ext cx="10515600" cy="274320"/>
          </a:xfrm>
          <a:prstGeom prst="rect">
            <a:avLst/>
          </a:prstGeom>
          <a:noFill/>
          <a:ln/>
        </p:spPr>
        <p:txBody>
          <a:bodyPr wrap="square" lIns="0" tIns="0" rIns="0" bIns="0" rtlCol="0" anchor="ctr"/>
          <a:lstStyle/>
          <a:p>
            <a:pPr indent="0" marL="0">
              <a:buNone/>
            </a:pPr>
            <a:r>
              <a:rPr lang="en-US" sz="950" i="1" dirty="0">
                <a:solidFill>
                  <a:srgbClr val="6B7488"/>
                </a:solidFill>
                <a:latin typeface="Calibri" pitchFamily="34" charset="0"/>
                <a:ea typeface="Calibri" pitchFamily="34" charset="-122"/>
                <a:cs typeface="Calibri" pitchFamily="34" charset="-120"/>
              </a:rPr>
              <a:t>Source: integrated paper, Appendix C.</a:t>
            </a:r>
            <a:endParaRPr lang="en-US" sz="9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indent="0" marL="0">
              <a:buNone/>
            </a:pPr>
            <a:r>
              <a:rPr lang="en-US" sz="1200" b="1" spc="300" kern="0" dirty="0">
                <a:solidFill>
                  <a:srgbClr val="B8901E"/>
                </a:solidFill>
                <a:latin typeface="Calibri" pitchFamily="34" charset="0"/>
                <a:ea typeface="Calibri" pitchFamily="34" charset="-122"/>
                <a:cs typeface="Calibri" pitchFamily="34" charset="-120"/>
              </a:rPr>
              <a:t>APPENDIX B · REFERENCES</a:t>
            </a:r>
            <a:endParaRPr lang="en-US" sz="1200" dirty="0"/>
          </a:p>
        </p:txBody>
      </p:sp>
      <p:sp>
        <p:nvSpPr>
          <p:cNvPr id="3" name="Text 1"/>
          <p:cNvSpPr txBox="1"/>
          <p:nvPr/>
        </p:nvSpPr>
        <p:spPr>
          <a:xfrm>
            <a:off x="548640" y="594360"/>
            <a:ext cx="11064240" cy="731520"/>
          </a:xfrm>
          <a:prstGeom prst="rect">
            <a:avLst/>
          </a:prstGeom>
          <a:noFill/>
          <a:ln/>
        </p:spPr>
        <p:txBody>
          <a:bodyPr wrap="square" lIns="0" tIns="0" rIns="0" bIns="0" rtlCol="0" anchor="t"/>
          <a:lstStyle/>
          <a:p>
            <a:pPr indent="0" marL="0">
              <a:buNone/>
            </a:pPr>
            <a:r>
              <a:rPr lang="en-US" sz="2700" b="1" dirty="0">
                <a:solidFill>
                  <a:srgbClr val="14213D"/>
                </a:solidFill>
                <a:latin typeface="Cambria" pitchFamily="34" charset="0"/>
                <a:ea typeface="Cambria" pitchFamily="34" charset="-122"/>
                <a:cs typeface="Cambria" pitchFamily="34" charset="-120"/>
              </a:rPr>
              <a:t>Sources</a:t>
            </a:r>
            <a:endParaRPr lang="en-US" sz="2700" dirty="0"/>
          </a:p>
        </p:txBody>
      </p:sp>
      <p:sp>
        <p:nvSpPr>
          <p:cNvPr id="4" name="Text 2"/>
          <p:cNvSpPr txBox="1"/>
          <p:nvPr/>
        </p:nvSpPr>
        <p:spPr>
          <a:xfrm>
            <a:off x="11247120" y="6446520"/>
            <a:ext cx="457200" cy="274320"/>
          </a:xfrm>
          <a:prstGeom prst="rect">
            <a:avLst/>
          </a:prstGeom>
          <a:noFill/>
          <a:ln/>
        </p:spPr>
        <p:txBody>
          <a:bodyPr wrap="square" lIns="0" tIns="0" rIns="0" bIns="0" rtlCol="0" anchor="ctr"/>
          <a:lstStyle/>
          <a:p>
            <a:pPr algn="r" indent="0" marL="0">
              <a:buNone/>
            </a:pPr>
            <a:r>
              <a:rPr lang="en-US" sz="1000" dirty="0">
                <a:solidFill>
                  <a:srgbClr val="6B7488"/>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9692640" y="320040"/>
            <a:ext cx="1920240" cy="274320"/>
          </a:xfrm>
          <a:prstGeom prst="rect">
            <a:avLst/>
          </a:prstGeom>
          <a:noFill/>
          <a:ln/>
        </p:spPr>
        <p:txBody>
          <a:bodyPr wrap="square" lIns="0" tIns="0" rIns="0" bIns="0" rtlCol="0" anchor="ctr"/>
          <a:lstStyle/>
          <a:p>
            <a:pPr algn="r" indent="0" marL="0">
              <a:buNone/>
            </a:pPr>
            <a:r>
              <a:rPr lang="en-US" sz="900" b="1" spc="200" kern="0" dirty="0">
                <a:solidFill>
                  <a:srgbClr val="9B2C2C"/>
                </a:solidFill>
                <a:latin typeface="Calibri" pitchFamily="34" charset="0"/>
                <a:ea typeface="Calibri" pitchFamily="34" charset="-122"/>
                <a:cs typeface="Calibri" pitchFamily="34" charset="-120"/>
              </a:rPr>
              <a:t>RESTRICTED</a:t>
            </a:r>
            <a:endParaRPr lang="en-US" sz="900" dirty="0"/>
          </a:p>
        </p:txBody>
      </p:sp>
      <p:sp>
        <p:nvSpPr>
          <p:cNvPr id="7" name="Text 4"/>
          <p:cNvSpPr txBox="1"/>
          <p:nvPr/>
        </p:nvSpPr>
        <p:spPr>
          <a:xfrm>
            <a:off x="548640" y="1371600"/>
            <a:ext cx="11064240" cy="5120640"/>
          </a:xfrm>
          <a:prstGeom prst="rect">
            <a:avLst/>
          </a:prstGeom>
          <a:noFill/>
          <a:ln/>
        </p:spPr>
        <p:txBody>
          <a:bodyPr wrap="square" lIns="0" tIns="0" rIns="0" bIns="0" rtlCol="0" anchor="t"/>
          <a:lstStyle/>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Auerbach, A. J. &amp; Gorodnichenko, Y. (2012). Measuring the output responses to fiscal policy. AEJ: Economic Policy, 4(2), 1–27.</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Berg, A., Portillo, R., Yang, S.-C. S. &amp; Zanna, L.-F. (2013). Public investment in resource-abundant developing countries. IMF Economic Review, 61(1).</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Collier, P., van der Ploeg, F., Spence, M. &amp; Venables, A. J. (2010). Managing resource revenues in developing economies. IMF Staff Papers, 57(1).</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DDMF (2026). Rencana Kerja dan Anggaran Perusahaan (RKAP) 2026, presentation version. Private &amp; Confidential.</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DDTC News (2026). Setoran PNBP tembus Rp435,1 triliun, sudah 94,8% dari target APBN 2026.</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Gelb, A., Tordo, S. &amp; Halland, H. (2014). Sovereign wealth funds and long-term development finance. World Bank PRWP 6776.</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Hartwick, J. M. (1977). Intergenerational equity and the investing of rents from exhaustible resources. AER, 67(5).</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IMF (2014). Is it time for an infrastructure push? World Economic Outlook, October, Ch. 3.  IMF (2015). Making Public Investment More Efficient.</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Kementerian Keuangan (2025). PNBP 2024 terealisasi 117% dari target APBN. Media Keuangan.</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van der Ploeg, F. &amp; Venables, A. J. (2011). Harnessing windfall revenues. The Economic Journal, 121(551), 1–30.</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CSIS (2025). Gray, R. &amp; Nguyen, D. M. N. Indonesian industrialization: downstreaming up the value chain.</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Dunne, J. P. &amp; Tian, N. (2013). Military expenditure and economic growth: a survey. Economics of Peace and Security Journal, 8(1).</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IMF (2026). Batsuuri, T., Huidrom, R. &amp; Wingender, P. Golden Vision 2045: Making the Most out of Public Investment – Indonesia. SIP/2026/006.</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Kee, H. L. &amp; Xie, E. (2025). Nickel, steel and cars: export ban and domestic value-added in Indonesia. World Bank PRWP.</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Triantama, F. (2026). A milestone, not a finish line: Indonesia's defence industry in SIPRI's Top 100. Australian Outlook, AIIA.</a:t>
            </a:r>
            <a:endParaRPr lang="en-US" sz="1000" dirty="0"/>
          </a:p>
          <a:p>
            <a:pPr marL="203200" indent="-203200">
              <a:spcAft>
                <a:spcPts val="600"/>
              </a:spcAft>
              <a:buSzPct val="100000"/>
              <a:buChar char="•"/>
            </a:pPr>
            <a:r>
              <a:rPr lang="en-US" sz="1000" dirty="0">
                <a:solidFill>
                  <a:srgbClr val="1F2A3C"/>
                </a:solidFill>
                <a:latin typeface="Calibri" pitchFamily="34" charset="0"/>
                <a:ea typeface="Calibri" pitchFamily="34" charset="-122"/>
                <a:cs typeface="Calibri" pitchFamily="34" charset="-120"/>
              </a:rPr>
              <a:t>Resource Revenue Governance Series (2026). Stabilise and Save (Paper 1); Stabilise, Save and Invest (Note 2); Integrated Paper with three-cluster analysis (Oct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Stabilise, Save, Invest and Grow</dc:title>
  <dc:subject>PptxGenJS Presentation</dc:subject>
  <dc:creator>Resource Revenue Governance Series</dc:creator>
  <cp:lastModifiedBy>Resource Revenue Governance Series</cp:lastModifiedBy>
  <cp:revision>1</cp:revision>
  <dcterms:created xsi:type="dcterms:W3CDTF">2026-10-16T14:04:57Z</dcterms:created>
  <dcterms:modified xsi:type="dcterms:W3CDTF">2026-10-16T14:04:57Z</dcterms:modified>
</cp:coreProperties>
</file>