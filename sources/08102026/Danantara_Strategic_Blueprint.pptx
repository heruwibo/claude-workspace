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7475200" cy="97536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jpeg"/><Relationship Id="rId1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image" Target="../media/image1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0" y="0"/>
            <a:ext cx="17475200" cy="9753600"/>
          </a:xfrm>
          <a:prstGeom prst="rect">
            <a:avLst/>
          </a:prstGeom>
          <a:solidFill>
            <a:srgbClr val="EBF0F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8743891" y="0"/>
            <a:ext cx="8731308" cy="9753600"/>
          </a:xfrm>
          <a:prstGeom prst="rect">
            <a:avLst/>
          </a:prstGeom>
        </p:spPr>
      </p:pic>
      <p:sp>
        <p:nvSpPr>
          <p:cNvPr id="6" name="textbox 6"/>
          <p:cNvSpPr/>
          <p:nvPr/>
        </p:nvSpPr>
        <p:spPr>
          <a:xfrm>
            <a:off x="819119" y="2485313"/>
            <a:ext cx="7056119" cy="57778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6500" b="1" kern="0" spc="-9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Menggerak</a:t>
            </a:r>
            <a:r>
              <a:rPr sz="6500" b="1" kern="0" spc="-10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kan</a:t>
            </a:r>
            <a:endParaRPr sz="6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4835"/>
              </a:lnSpc>
              <a:spcBef>
                <a:spcPts val="775"/>
              </a:spcBef>
            </a:pPr>
            <a:r>
              <a:rPr sz="6500" b="1" kern="0" spc="-15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Visi Industriali</a:t>
            </a:r>
            <a:r>
              <a:rPr sz="6500" b="1" kern="0" spc="-16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sasi</a:t>
            </a:r>
            <a:endParaRPr sz="6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8385"/>
              </a:lnSpc>
            </a:pPr>
            <a:r>
              <a:rPr sz="6500" b="1" kern="0" spc="-20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Nasional</a:t>
            </a:r>
            <a:r>
              <a:rPr sz="6500" b="1" kern="0" spc="39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6500" b="1" kern="0" spc="-20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Melalui</a:t>
            </a:r>
            <a:endParaRPr sz="6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  <a:spcBef>
                <a:spcPts val="835"/>
              </a:spcBef>
            </a:pPr>
            <a:r>
              <a:rPr sz="6500" b="1" kern="0" spc="-15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Danantara</a:t>
            </a:r>
            <a:endParaRPr sz="6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1475"/>
              </a:spcBef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Evaluasi</a:t>
            </a:r>
            <a:r>
              <a:rPr sz="3500" kern="0" spc="7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Arsitektur</a:t>
            </a:r>
            <a:r>
              <a:rPr sz="3500" kern="0" spc="9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Portofolio</a:t>
            </a:r>
            <a:r>
              <a:rPr sz="35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endParaRPr sz="3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4000"/>
              </a:lnSpc>
              <a:spcBef>
                <a:spcPts val="410"/>
              </a:spcBef>
            </a:pP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Mitigasi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Risiko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Sistemik</a:t>
            </a:r>
            <a:r>
              <a:rPr sz="35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</a:t>
            </a:r>
            <a:endParaRPr sz="3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11000"/>
              </a:lnSpc>
              <a:spcBef>
                <a:spcPts val="25"/>
              </a:spcBef>
            </a:pP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Restrukturisasi</a:t>
            </a:r>
            <a:r>
              <a:rPr sz="3500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Tata</a:t>
            </a:r>
            <a:r>
              <a:rPr sz="3500" kern="0" spc="4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Kelola</a:t>
            </a:r>
            <a:r>
              <a:rPr sz="3500" kern="0" spc="4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5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menuju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Transformasi</a:t>
            </a:r>
            <a:r>
              <a:rPr sz="35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5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Ekonomi</a:t>
            </a:r>
            <a:r>
              <a:rPr sz="35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8%</a:t>
            </a:r>
            <a:endParaRPr sz="35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10642627" y="3259312"/>
            <a:ext cx="4914900" cy="3401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3100" kern="0" spc="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Target</a:t>
            </a:r>
            <a:r>
              <a:rPr sz="3100" kern="0" spc="8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100" kern="0" spc="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Skala</a:t>
            </a:r>
            <a:r>
              <a:rPr sz="3100" kern="0" spc="11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100" kern="0" spc="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Kedaulatan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935"/>
              </a:spcBef>
            </a:pP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AUM Awal:USD~600</a:t>
            </a:r>
            <a:r>
              <a:rPr sz="3100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</a:t>
            </a:r>
            <a:r>
              <a:rPr sz="3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iliar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1000"/>
              </a:lnSpc>
              <a:spcBef>
                <a:spcPts val="935"/>
              </a:spcBef>
            </a:pPr>
            <a:r>
              <a:rPr sz="31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Target</a:t>
            </a:r>
            <a:r>
              <a:rPr sz="31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Kapasitas: USD~</a:t>
            </a:r>
            <a:r>
              <a:rPr sz="3100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982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Miliar(IDR  15.000</a:t>
            </a:r>
            <a:r>
              <a:rPr sz="3100" kern="0" spc="6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Triliun)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7000"/>
              </a:lnSpc>
              <a:spcBef>
                <a:spcPts val="5"/>
              </a:spcBef>
            </a:pPr>
            <a:r>
              <a:rPr sz="3100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Fokus</a:t>
            </a:r>
            <a:r>
              <a:rPr sz="3100" kern="0" spc="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Eksekusi: </a:t>
            </a:r>
            <a:r>
              <a:rPr sz="31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40</a:t>
            </a:r>
            <a:r>
              <a:rPr sz="3100" b="1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b="1" kern="0" spc="-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Proyek</a:t>
            </a:r>
            <a:r>
              <a:rPr sz="3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3100" b="1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Strategis</a:t>
            </a:r>
            <a:r>
              <a:rPr sz="3100" b="1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100" b="1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Nasional</a:t>
            </a:r>
            <a:endParaRPr sz="3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68908" cy="975360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73026" y="738790"/>
            <a:ext cx="14484350" cy="69830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1000"/>
              </a:lnSpc>
            </a:pPr>
            <a:r>
              <a:rPr sz="5600" b="1" kern="0" spc="-13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Mandat</a:t>
            </a:r>
            <a:r>
              <a:rPr sz="5600" b="1" kern="0" spc="37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600" b="1" kern="0" spc="-13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Kedaulatan</a:t>
            </a:r>
            <a:r>
              <a:rPr sz="5600" b="1" kern="0" spc="34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600" b="1" kern="0" spc="-13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untuk</a:t>
            </a:r>
            <a:endParaRPr sz="5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" algn="l" rtl="0" eaLnBrk="0">
              <a:lnSpc>
                <a:spcPct val="80000"/>
              </a:lnSpc>
              <a:spcBef>
                <a:spcPts val="35"/>
              </a:spcBef>
            </a:pPr>
            <a:r>
              <a:rPr sz="5600" b="1" kern="0" spc="-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Pertumbuhan</a:t>
            </a:r>
            <a:r>
              <a:rPr sz="5600" b="1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600" b="1" kern="0" spc="-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Eksponen</a:t>
            </a:r>
            <a:r>
              <a:rPr sz="5600" b="1" kern="0" spc="-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sial</a:t>
            </a:r>
            <a:endParaRPr sz="56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95500" algn="l" rtl="0" eaLnBrk="0">
              <a:lnSpc>
                <a:spcPct val="82000"/>
              </a:lnSpc>
              <a:spcBef>
                <a:spcPts val="900"/>
              </a:spcBef>
            </a:pPr>
            <a:r>
              <a:rPr sz="3000" b="1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Visi</a:t>
            </a:r>
            <a:r>
              <a:rPr sz="3000" b="1" kern="0" spc="18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000" b="1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Makro                         Arsitektur </a:t>
            </a:r>
            <a:r>
              <a:rPr sz="3000" b="1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Hukum                     </a:t>
            </a:r>
            <a:r>
              <a:rPr sz="3000" b="1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Kapasitas Aset</a:t>
            </a:r>
            <a:endParaRPr sz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180"/>
              </a:lnSpc>
              <a:spcBef>
                <a:spcPts val="670"/>
              </a:spcBef>
            </a:pPr>
            <a:r>
              <a:rPr sz="3400" kern="0" spc="0" baseline="18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Target</a:t>
            </a:r>
            <a:r>
              <a:rPr sz="2200" kern="0" spc="4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kern="0" spc="0" baseline="18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pertumbuhan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</a:t>
            </a:r>
            <a:r>
              <a:rPr sz="3400" kern="0" spc="0" baseline="17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Beroperasi</a:t>
            </a:r>
            <a:r>
              <a:rPr sz="22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kern="0" spc="0" baseline="17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</a:t>
            </a:r>
            <a:r>
              <a:rPr sz="22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kern="0" spc="0" baseline="17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bawah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</a:t>
            </a:r>
            <a:r>
              <a:rPr sz="3400" kern="0" spc="0" baseline="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Konsolidasi</a:t>
            </a:r>
            <a:r>
              <a:rPr sz="2200" kern="0" spc="3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kern="0" spc="0" baseline="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Indonesia</a:t>
            </a:r>
            <a:endParaRPr sz="3400" baseline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038350" algn="l" rtl="0" eaLnBrk="0">
              <a:lnSpc>
                <a:spcPct val="94000"/>
              </a:lnSpc>
              <a:spcBef>
                <a:spcPts val="20"/>
              </a:spcBef>
            </a:pPr>
            <a:r>
              <a:rPr sz="3400" kern="0" spc="0" baseline="-5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PDB</a:t>
            </a:r>
            <a:r>
              <a:rPr sz="22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kern="0" spc="10" baseline="-5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8%</a:t>
            </a:r>
            <a:r>
              <a:rPr sz="3400" kern="0" spc="0" baseline="-5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melalui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UU   No.1/2025   dan</a:t>
            </a:r>
            <a:r>
              <a:rPr sz="19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19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PP                                   </a:t>
            </a:r>
            <a:r>
              <a:rPr sz="3400" kern="0" spc="0" baseline="3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Investment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3400" kern="0" spc="0" baseline="3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Authority</a:t>
            </a:r>
            <a:endParaRPr sz="3400" baseline="3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07515" algn="l" rtl="0" eaLnBrk="0">
              <a:lnSpc>
                <a:spcPct val="95000"/>
              </a:lnSpc>
              <a:spcBef>
                <a:spcPts val="10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hilirisasi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skala</a:t>
            </a:r>
            <a:r>
              <a:rPr sz="22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besar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          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.34/2025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sebagai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</a:t>
            </a:r>
            <a:r>
              <a:rPr sz="3400" kern="0" spc="10" baseline="5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3400" kern="0" spc="0" baseline="5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INA</a:t>
            </a:r>
            <a:r>
              <a:rPr sz="3400" kern="0" spc="10" baseline="5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3400" kern="0" spc="0" baseline="5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</a:t>
            </a:r>
            <a:endParaRPr sz="3400" baseline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298700" algn="l" rtl="0" eaLnBrk="0">
              <a:lnSpc>
                <a:spcPts val="2685"/>
              </a:lnSpc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retensi</a:t>
            </a:r>
            <a:r>
              <a:rPr sz="22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nilai                                                 </a:t>
            </a:r>
            <a:r>
              <a:rPr sz="3400" kern="0" spc="0" baseline="1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pla</a:t>
            </a:r>
            <a:r>
              <a:rPr sz="3400" kern="0" spc="-10" baseline="1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tform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           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</a:t>
            </a:r>
            <a:r>
              <a:rPr sz="2200" kern="0" spc="1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BUMN</a:t>
            </a:r>
            <a:r>
              <a:rPr sz="22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inti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14550" algn="l" rtl="0" eaLnBrk="0">
              <a:lnSpc>
                <a:spcPct val="88000"/>
              </a:lnSpc>
              <a:spcBef>
                <a:spcPts val="5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domestik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</a:t>
            </a:r>
            <a:r>
              <a:rPr sz="22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super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holding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(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Perbankan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Energi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184400" algn="l" rtl="0" eaLnBrk="0">
              <a:lnSpc>
                <a:spcPts val="2745"/>
              </a:lnSpc>
            </a:pPr>
            <a:r>
              <a:rPr sz="3400" kern="0" spc="0" baseline="-1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swasembada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  </a:t>
            </a:r>
            <a:r>
              <a:rPr sz="3400" kern="0" spc="0" baseline="13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kedaulatan</a:t>
            </a:r>
            <a:r>
              <a:rPr sz="22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3400" kern="0" spc="0" baseline="130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dengan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Telekomunikasi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81200" algn="l" rtl="0" eaLnBrk="0">
              <a:lnSpc>
                <a:spcPct val="95000"/>
              </a:lnSpc>
              <a:spcBef>
                <a:spcPts val="20"/>
              </a:spcBef>
            </a:pP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energi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pangan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                                 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kewenangan</a:t>
            </a:r>
            <a:r>
              <a:rPr sz="22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penuh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           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Pertambangan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).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828800" algn="l" rtl="0" eaLnBrk="0">
              <a:lnSpc>
                <a:spcPts val="2870"/>
              </a:lnSpc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manufaktur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berat</a:t>
            </a:r>
            <a:r>
              <a:rPr sz="22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).            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    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atas</a:t>
            </a:r>
            <a:r>
              <a:rPr sz="22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dividen</a:t>
            </a:r>
            <a:r>
              <a:rPr sz="22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BUMN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813550" algn="l" rtl="0" eaLnBrk="0">
              <a:lnSpc>
                <a:spcPts val="2885"/>
              </a:lnSpc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</a:t>
            </a:r>
            <a:r>
              <a:rPr sz="22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restrukturisasi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733665" algn="l" rtl="0" eaLnBrk="0">
              <a:lnSpc>
                <a:spcPct val="80000"/>
              </a:lnSpc>
              <a:spcBef>
                <a:spcPts val="85"/>
              </a:spcBef>
            </a:pPr>
            <a:r>
              <a:rPr sz="22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aset.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6" name="textbox 16"/>
          <p:cNvSpPr/>
          <p:nvPr/>
        </p:nvSpPr>
        <p:spPr>
          <a:xfrm>
            <a:off x="679492" y="623182"/>
            <a:ext cx="10256519" cy="15132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12065" algn="l" rtl="0" eaLnBrk="0">
              <a:lnSpc>
                <a:spcPct val="84000"/>
              </a:lnSpc>
              <a:spcBef>
                <a:spcPts val="0"/>
              </a:spcBef>
            </a:pPr>
            <a:r>
              <a:rPr sz="5800" b="1" kern="0" spc="-19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Pet</a:t>
            </a:r>
            <a:r>
              <a:rPr sz="5800" b="1" kern="0" spc="-18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 Jalan</a:t>
            </a:r>
            <a:r>
              <a:rPr sz="5800" b="1" kern="0" spc="32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800" b="1" kern="0" spc="-19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Eksekusi:40</a:t>
            </a:r>
            <a:r>
              <a:rPr sz="5800" b="1" kern="0" spc="33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800" b="1" kern="0" spc="-19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Proye</a:t>
            </a:r>
            <a:r>
              <a:rPr sz="5800" b="1" kern="0" spc="-16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r>
              <a:rPr sz="5800" b="1" kern="0" spc="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800" b="1" kern="0" spc="-19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Strategis</a:t>
            </a:r>
            <a:r>
              <a:rPr sz="5800" b="1" kern="0" spc="39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800" b="1" kern="0" spc="-19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Nasional</a:t>
            </a:r>
            <a:endParaRPr sz="58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8" name="textbox 18"/>
          <p:cNvSpPr/>
          <p:nvPr/>
        </p:nvSpPr>
        <p:spPr>
          <a:xfrm>
            <a:off x="7067552" y="4844791"/>
            <a:ext cx="3343909" cy="32181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1600" algn="l" rtl="0" eaLnBrk="0">
              <a:lnSpc>
                <a:spcPct val="80000"/>
              </a:lnSpc>
            </a:pPr>
            <a:r>
              <a:rPr sz="28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Fase 2:Gelomba</a:t>
            </a: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946150" algn="l" rtl="0" eaLnBrk="0">
              <a:lnSpc>
                <a:spcPts val="359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Hilirisasi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625"/>
              </a:lnSpc>
              <a:spcBef>
                <a:spcPts val="80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r>
              <a:rPr sz="2000" kern="0" spc="3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proyek</a:t>
            </a:r>
            <a:r>
              <a:rPr sz="2000" kern="0" spc="3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hilirisasi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strateg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is.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5915" algn="l" rtl="0" eaLnBrk="0">
              <a:lnSpc>
                <a:spcPts val="245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Nilai</a:t>
            </a:r>
            <a:r>
              <a:rPr sz="2000" kern="0" spc="4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investasi: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IDR</a:t>
            </a:r>
            <a:r>
              <a:rPr sz="2000" kern="0" spc="5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110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11150" algn="l" rtl="0" eaLnBrk="0">
              <a:lnSpc>
                <a:spcPts val="2620"/>
              </a:lnSpc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Triliun</a:t>
            </a:r>
            <a:r>
              <a:rPr sz="2000" b="1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(USD 6,9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Miliar).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515" algn="l" rtl="0" eaLnBrk="0">
              <a:lnSpc>
                <a:spcPts val="2620"/>
              </a:lnSpc>
              <a:spcBef>
                <a:spcPts val="10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Fokus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Perluasan</a:t>
            </a:r>
            <a:r>
              <a:rPr sz="2000" kern="0" spc="4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pelat</a:t>
            </a:r>
            <a:r>
              <a:rPr sz="2000" kern="0" spc="4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baja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ts val="247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tahan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karat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IMIP</a:t>
            </a:r>
            <a:r>
              <a:rPr sz="20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pabrik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0165" algn="l" rtl="0" eaLnBrk="0">
              <a:lnSpc>
                <a:spcPts val="250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Klor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Alkali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</a:t>
            </a:r>
            <a:r>
              <a:rPr sz="2000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bahan</a:t>
            </a:r>
            <a:r>
              <a:rPr sz="2000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bakar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85115" algn="l" rtl="0" eaLnBrk="0">
              <a:lnSpc>
                <a:spcPts val="265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sintetis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Tanjung</a:t>
            </a:r>
            <a:r>
              <a:rPr sz="2000" kern="0" spc="3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Enim</a:t>
            </a:r>
            <a:r>
              <a:rPr sz="20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).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0" name="textbox 20"/>
          <p:cNvSpPr/>
          <p:nvPr/>
        </p:nvSpPr>
        <p:spPr>
          <a:xfrm>
            <a:off x="1968463" y="4894355"/>
            <a:ext cx="3197860" cy="28575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03300" algn="l" rtl="0" eaLnBrk="0">
              <a:lnSpc>
                <a:spcPct val="82000"/>
              </a:lnSpc>
            </a:pPr>
            <a:r>
              <a:rPr sz="2800" b="1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Fase</a:t>
            </a:r>
            <a:r>
              <a:rPr sz="2800" b="1" kern="0" spc="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-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1: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04800" algn="l" rtl="0" eaLnBrk="0">
              <a:lnSpc>
                <a:spcPct val="82000"/>
              </a:lnSpc>
              <a:spcBef>
                <a:spcPts val="295"/>
              </a:spcBef>
            </a:pPr>
            <a:r>
              <a:rPr sz="28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Mobilisasi Awal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75"/>
              </a:lnSpc>
              <a:spcBef>
                <a:spcPts val="95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6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paket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yek di</a:t>
            </a:r>
            <a:r>
              <a:rPr sz="20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13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lokasi.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0" algn="l" rtl="0" eaLnBrk="0">
              <a:lnSpc>
                <a:spcPts val="2425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Nilai</a:t>
            </a:r>
            <a:r>
              <a:rPr sz="2000" kern="0" spc="4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investasi:IDR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109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34950" algn="l" rtl="0" eaLnBrk="0">
              <a:lnSpc>
                <a:spcPts val="2645"/>
              </a:lnSpc>
            </a:pPr>
            <a:r>
              <a:rPr sz="2000" b="1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Triliun</a:t>
            </a:r>
            <a:r>
              <a:rPr sz="2000" b="1" kern="0" spc="2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(USD 6,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8</a:t>
            </a:r>
            <a:r>
              <a:rPr sz="20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Miliar).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5400" algn="l" rtl="0" eaLnBrk="0">
              <a:lnSpc>
                <a:spcPts val="2795"/>
              </a:lnSpc>
              <a:spcBef>
                <a:spcPts val="4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Fokus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HPAL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nikel</a:t>
            </a:r>
            <a:r>
              <a:rPr sz="2000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bioavtur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92100" algn="l" rtl="0" eaLnBrk="0">
              <a:lnSpc>
                <a:spcPct val="81000"/>
              </a:lnSpc>
              <a:spcBef>
                <a:spcPts val="325"/>
              </a:spcBef>
            </a:pP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Cilacap</a:t>
            </a:r>
            <a:r>
              <a:rPr sz="2000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infrastruktur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0650" algn="l" rtl="0" eaLnBrk="0">
              <a:lnSpc>
                <a:spcPts val="2790"/>
              </a:lnSpc>
            </a:pP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tenaga</a:t>
            </a:r>
            <a:r>
              <a:rPr sz="20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surya</a:t>
            </a:r>
            <a:r>
              <a:rPr sz="20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tahap</a:t>
            </a:r>
            <a:r>
              <a:rPr sz="2000" kern="0" spc="1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awal.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22" name="textbox 22"/>
          <p:cNvSpPr/>
          <p:nvPr/>
        </p:nvSpPr>
        <p:spPr>
          <a:xfrm>
            <a:off x="12401508" y="4861911"/>
            <a:ext cx="2968625" cy="28327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69900" algn="l" rtl="0" eaLnBrk="0">
              <a:lnSpc>
                <a:spcPct val="82000"/>
              </a:lnSpc>
            </a:pPr>
            <a:r>
              <a:rPr sz="28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Megaproye</a:t>
            </a:r>
            <a:r>
              <a:rPr sz="2800" b="1" kern="0" spc="-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90500" algn="l" rtl="0" eaLnBrk="0">
              <a:lnSpc>
                <a:spcPct val="82000"/>
              </a:lnSpc>
              <a:spcBef>
                <a:spcPts val="545"/>
              </a:spcBef>
            </a:pPr>
            <a:r>
              <a:rPr sz="28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Jangka</a:t>
            </a:r>
            <a:r>
              <a:rPr sz="2800" b="1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8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Panjan</a:t>
            </a:r>
            <a:r>
              <a:rPr sz="28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</a:t>
            </a:r>
            <a:endParaRPr sz="28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795"/>
              </a:lnSpc>
              <a:spcBef>
                <a:spcPts val="930"/>
              </a:spcBef>
            </a:pP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Sabuk per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tahanan</a:t>
            </a:r>
            <a:r>
              <a:rPr sz="20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pesisir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22300" algn="l" rtl="0" eaLnBrk="0">
              <a:lnSpc>
                <a:spcPct val="79000"/>
              </a:lnSpc>
              <a:spcBef>
                <a:spcPts val="235"/>
              </a:spcBef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Giant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Sea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Wall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278765" algn="l" rtl="0" eaLnBrk="0">
              <a:lnSpc>
                <a:spcPts val="2590"/>
              </a:lnSpc>
            </a:pP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interkoneksi</a:t>
            </a:r>
            <a:r>
              <a:rPr sz="2000" kern="0" spc="5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jari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ngan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88265" algn="l" rtl="0" eaLnBrk="0">
              <a:lnSpc>
                <a:spcPts val="2525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terbarukan</a:t>
            </a:r>
            <a:r>
              <a:rPr sz="2000" kern="0" spc="4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100</a:t>
            </a:r>
            <a:r>
              <a:rPr sz="2000" kern="0" spc="2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GW</a:t>
            </a:r>
            <a:r>
              <a:rPr sz="20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7800" algn="l" rtl="0" eaLnBrk="0">
              <a:lnSpc>
                <a:spcPts val="2505"/>
              </a:lnSpc>
            </a:pP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jaringan</a:t>
            </a:r>
            <a:r>
              <a:rPr sz="2000" kern="0" spc="5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logistik</a:t>
            </a:r>
            <a:r>
              <a:rPr sz="2000" kern="0" spc="5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0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rantai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565150" algn="l" rtl="0" eaLnBrk="0">
              <a:lnSpc>
                <a:spcPts val="2570"/>
              </a:lnSpc>
            </a:pP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dingin</a:t>
            </a:r>
            <a:r>
              <a:rPr sz="20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0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nasional</a:t>
            </a:r>
            <a:r>
              <a:rPr sz="20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2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graphicFrame>
        <p:nvGraphicFramePr>
          <p:cNvPr id="26" name="table 26"/>
          <p:cNvGraphicFramePr>
            <a:graphicFrameLocks noGrp="1"/>
          </p:cNvGraphicFramePr>
          <p:nvPr/>
        </p:nvGraphicFramePr>
        <p:xfrm>
          <a:off x="835110" y="2378068"/>
          <a:ext cx="10991215" cy="6642100"/>
        </p:xfrm>
        <a:graphic>
          <a:graphicData uri="http://schemas.openxmlformats.org/drawingml/2006/table">
            <a:tbl>
              <a:tblPr/>
              <a:tblGrid>
                <a:gridCol w="123825"/>
                <a:gridCol w="107950"/>
                <a:gridCol w="7301865"/>
                <a:gridCol w="1682750"/>
                <a:gridCol w="889000"/>
                <a:gridCol w="635000"/>
                <a:gridCol w="250825"/>
              </a:tblGrid>
              <a:tr h="193675"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7650"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495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513330" algn="l" rtl="0" eaLnBrk="0">
                        <a:lnSpc>
                          <a:spcPct val="68000"/>
                        </a:lnSpc>
                      </a:pPr>
                      <a:r>
                        <a:rPr sz="3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Bank</a:t>
                      </a:r>
                      <a:r>
                        <a:rPr sz="3000" kern="0" spc="3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Mandiri</a:t>
                      </a:r>
                      <a:endParaRPr sz="3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50761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3000" kern="0" spc="-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(IDR  2.174T</a:t>
                      </a:r>
                      <a:r>
                        <a:rPr sz="30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)</a:t>
                      </a:r>
                      <a:endParaRPr sz="3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75945" algn="l" rtl="0" eaLnBrk="0">
                        <a:lnSpc>
                          <a:spcPct val="78000"/>
                        </a:lnSpc>
                      </a:pPr>
                      <a:r>
                        <a:rPr sz="2400" b="1" kern="0" spc="-40" dirty="0">
                          <a:solidFill>
                            <a:srgbClr val="10204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PLN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2509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2400" b="1" kern="0" spc="-20" dirty="0">
                          <a:solidFill>
                            <a:srgbClr val="10204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Pertamina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9626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70580" algn="l" rtl="0" eaLnBrk="0">
                        <a:lnSpc>
                          <a:spcPts val="2300"/>
                        </a:lnSpc>
                      </a:pPr>
                      <a:r>
                        <a:rPr sz="30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BRI</a:t>
                      </a:r>
                      <a:endParaRPr sz="3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50761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3000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(IDR</a:t>
                      </a:r>
                      <a:r>
                        <a:rPr sz="30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</a:t>
                      </a:r>
                      <a:r>
                        <a:rPr sz="3000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1.965T)</a:t>
                      </a:r>
                      <a:endParaRPr sz="3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5285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53745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2400" b="1" kern="0" spc="-40" dirty="0">
                          <a:solidFill>
                            <a:srgbClr val="10204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MIND</a:t>
                      </a:r>
                      <a:r>
                        <a:rPr sz="2400" kern="0" spc="240" dirty="0">
                          <a:solidFill>
                            <a:srgbClr val="10204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400" b="1" kern="0" spc="-40" dirty="0">
                          <a:solidFill>
                            <a:srgbClr val="10204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ID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284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8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426460" algn="l" rtl="0" eaLnBrk="0">
                        <a:lnSpc>
                          <a:spcPct val="69000"/>
                        </a:lnSpc>
                        <a:spcBef>
                          <a:spcPts val="5"/>
                        </a:spcBef>
                      </a:pPr>
                      <a:r>
                        <a:rPr sz="24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BNI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73621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24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(IDR</a:t>
                      </a:r>
                      <a:r>
                        <a:rPr sz="24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</a:t>
                      </a:r>
                      <a:r>
                        <a:rPr sz="2400" kern="0" spc="-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1.087T</a:t>
                      </a:r>
                      <a:r>
                        <a:rPr sz="2400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)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6000"/>
                        </a:lnSpc>
                      </a:pPr>
                      <a:r>
                        <a:rPr sz="24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Total:&gt;IDR</a:t>
                      </a:r>
                      <a:r>
                        <a:rPr sz="24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4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5.200</a:t>
                      </a:r>
                      <a:r>
                        <a:rPr sz="24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4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Triliun(&gt;55%dar</a:t>
                      </a:r>
                      <a:r>
                        <a:rPr sz="24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</a:t>
                      </a:r>
                      <a:r>
                        <a:rPr sz="2400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4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total</a:t>
                      </a:r>
                      <a:r>
                        <a:rPr sz="2400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4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AUM</a:t>
                      </a:r>
                      <a:r>
                        <a:rPr sz="2400" kern="0" spc="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4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awal)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17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29945" algn="l" rtl="0" eaLnBrk="0">
                        <a:lnSpc>
                          <a:spcPts val="2990"/>
                        </a:lnSpc>
                      </a:pPr>
                      <a:r>
                        <a:rPr sz="2400" b="1" kern="0" spc="-30" dirty="0">
                          <a:solidFill>
                            <a:srgbClr val="10203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Telkom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3050">
                <a:tc rowSpan="2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9070"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8" name="textbox 28"/>
          <p:cNvSpPr/>
          <p:nvPr/>
        </p:nvSpPr>
        <p:spPr>
          <a:xfrm>
            <a:off x="685783" y="754960"/>
            <a:ext cx="12008484" cy="137668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2000"/>
              </a:lnSpc>
            </a:pPr>
            <a:r>
              <a:rPr sz="5400" b="1" kern="0" spc="-9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</a:t>
            </a:r>
            <a:r>
              <a:rPr sz="5400" b="1" kern="0" spc="-8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ealitas</a:t>
            </a:r>
            <a:r>
              <a:rPr sz="5400" b="1" kern="0" spc="34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400" b="1" kern="0" spc="-8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</a:t>
            </a:r>
            <a:r>
              <a:rPr sz="5400" b="1" kern="0" spc="-9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eraca:Konsentrasi Sistemi</a:t>
            </a:r>
            <a:r>
              <a:rPr sz="5400" b="1" kern="0" spc="-80" dirty="0">
                <a:solidFill>
                  <a:srgbClr val="102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endParaRPr sz="54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  <a:spcBef>
                <a:spcPts val="170"/>
              </a:spcBef>
            </a:pPr>
            <a:r>
              <a:rPr sz="5400" b="1" kern="0" spc="-15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pada</a:t>
            </a:r>
            <a:r>
              <a:rPr sz="5400" b="1" kern="0" spc="40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400" b="1" kern="0" spc="-15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Perbankan</a:t>
            </a:r>
            <a:r>
              <a:rPr sz="5400" b="1" kern="0" spc="34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400" b="1" kern="0" spc="-15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Komersial</a:t>
            </a:r>
            <a:endParaRPr sz="54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12630081" y="4428040"/>
            <a:ext cx="3747134" cy="2989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3000"/>
              </a:lnSpc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Mengarahkan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bank</a:t>
            </a:r>
            <a:r>
              <a:rPr sz="21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komersial  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yang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menerima</a:t>
            </a:r>
            <a:r>
              <a:rPr sz="21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dana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pihak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2550"/>
              </a:lnSpc>
            </a:pP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ketiga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deposan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untuk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0000"/>
              </a:lnSpc>
              <a:spcBef>
                <a:spcPts val="5"/>
              </a:spcBef>
            </a:pP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membiayai proyek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industr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25"/>
              </a:spcBef>
            </a:pP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jangka panjang dan</a:t>
            </a:r>
            <a:r>
              <a:rPr sz="21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tidak</a:t>
            </a:r>
            <a:r>
              <a:rPr sz="21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likuid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menciptakan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kerentanan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7000"/>
              </a:lnSpc>
              <a:spcBef>
                <a:spcPts val="20"/>
              </a:spcBef>
            </a:pP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struktural y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ang masif</a:t>
            </a:r>
            <a:r>
              <a:rPr sz="21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pada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sz="21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stabilitas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sistem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keuangan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nasional</a:t>
            </a:r>
            <a:r>
              <a:rPr sz="21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2" name="group 2"/>
          <p:cNvGrpSpPr/>
          <p:nvPr/>
        </p:nvGrpSpPr>
        <p:grpSpPr>
          <a:xfrm rot="21600000">
            <a:off x="12185631" y="3130515"/>
            <a:ext cx="4559279" cy="1130344"/>
            <a:chOff x="0" y="0"/>
            <a:chExt cx="4559279" cy="1130344"/>
          </a:xfrm>
        </p:grpSpPr>
        <p:pic>
          <p:nvPicPr>
            <p:cNvPr id="32" name="picture 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4559279" cy="1130344"/>
            </a:xfrm>
            <a:prstGeom prst="rect">
              <a:avLst/>
            </a:prstGeom>
          </p:spPr>
        </p:pic>
        <p:sp>
          <p:nvSpPr>
            <p:cNvPr id="34" name="textbox 34"/>
            <p:cNvSpPr/>
            <p:nvPr/>
          </p:nvSpPr>
          <p:spPr>
            <a:xfrm>
              <a:off x="-12700" y="-12700"/>
              <a:ext cx="4584700" cy="116522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8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9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6000"/>
                </a:lnSpc>
              </a:pPr>
              <a:endParaRPr sz="1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393065" algn="l" rtl="0" eaLnBrk="0">
                <a:lnSpc>
                  <a:spcPct val="82000"/>
                </a:lnSpc>
              </a:pPr>
              <a:r>
                <a:rPr sz="2500" b="1" kern="0" spc="-7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Ketidaksesuaian Matu</a:t>
              </a:r>
              <a:r>
                <a:rPr sz="2500" b="1" kern="0" spc="-8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ritas</a:t>
              </a:r>
              <a:endParaRPr sz="2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819150" algn="l" rtl="0" eaLnBrk="0">
                <a:lnSpc>
                  <a:spcPct val="83000"/>
                </a:lnSpc>
                <a:spcBef>
                  <a:spcPts val="215"/>
                </a:spcBef>
              </a:pPr>
              <a:r>
                <a:rPr sz="2500" b="1" kern="0" spc="-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(Maturity</a:t>
              </a:r>
              <a:r>
                <a:rPr sz="2500" b="1" kern="0" spc="16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500" b="1" kern="0" spc="-3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Mismatch)</a:t>
              </a:r>
              <a:endParaRPr sz="25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3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graphicFrame>
        <p:nvGraphicFramePr>
          <p:cNvPr id="38" name="table 38"/>
          <p:cNvGraphicFramePr>
            <a:graphicFrameLocks noGrp="1"/>
          </p:cNvGraphicFramePr>
          <p:nvPr/>
        </p:nvGraphicFramePr>
        <p:xfrm>
          <a:off x="682551" y="1831964"/>
          <a:ext cx="16116300" cy="6134100"/>
        </p:xfrm>
        <a:graphic>
          <a:graphicData uri="http://schemas.openxmlformats.org/drawingml/2006/table">
            <a:tbl>
              <a:tblPr/>
              <a:tblGrid>
                <a:gridCol w="714375"/>
                <a:gridCol w="2597150"/>
                <a:gridCol w="692150"/>
                <a:gridCol w="730250"/>
                <a:gridCol w="2609850"/>
                <a:gridCol w="717550"/>
                <a:gridCol w="4737100"/>
                <a:gridCol w="2571750"/>
                <a:gridCol w="746125"/>
              </a:tblGrid>
              <a:tr h="26352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08100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0400" algn="l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2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Kebutuhan: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349250" algn="l" rtl="0" eaLnBrk="0">
                        <a:lnSpc>
                          <a:spcPct val="90000"/>
                        </a:lnSpc>
                        <a:spcBef>
                          <a:spcPts val="20"/>
                        </a:spcBef>
                      </a:pPr>
                      <a:r>
                        <a:rPr sz="2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Proyeksi CAPEX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52400" algn="l" rtl="0" eaLnBrk="0">
                        <a:lnSpc>
                          <a:spcPct val="93000"/>
                        </a:lnSpc>
                        <a:spcBef>
                          <a:spcPts val="20"/>
                        </a:spcBef>
                      </a:pPr>
                      <a:r>
                        <a:rPr sz="2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Proyek</a:t>
                      </a:r>
                      <a:r>
                        <a:rPr sz="2000" kern="0" spc="5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Kedaulatan: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82000"/>
                        </a:lnSpc>
                        <a:spcBef>
                          <a:spcPts val="75"/>
                        </a:spcBef>
                      </a:pPr>
                      <a:r>
                        <a:rPr sz="2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IDR 250-300</a:t>
                      </a:r>
                      <a:r>
                        <a:rPr sz="2000" kern="0" spc="1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Triliun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60400" algn="l" rtl="0" eaLnBrk="0">
                        <a:lnSpc>
                          <a:spcPct val="91000"/>
                        </a:lnSpc>
                        <a:spcBef>
                          <a:spcPts val="10"/>
                        </a:spcBef>
                      </a:pPr>
                      <a:r>
                        <a:rPr sz="2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per</a:t>
                      </a:r>
                      <a:r>
                        <a:rPr sz="2000" kern="0" spc="8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tahun.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4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0167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19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Pasokan</a:t>
                      </a:r>
                      <a:r>
                        <a:rPr sz="1900" kern="0" spc="4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1</a:t>
                      </a:r>
                      <a:r>
                        <a:rPr sz="1900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: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95250" algn="l" rtl="0" eaLnBrk="0">
                        <a:lnSpc>
                          <a:spcPct val="81000"/>
                        </a:lnSpc>
                        <a:spcBef>
                          <a:spcPts val="0"/>
                        </a:spcBef>
                      </a:pPr>
                      <a:r>
                        <a:rPr sz="19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Retensi Divid</a:t>
                      </a:r>
                      <a:r>
                        <a:rPr sz="1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en BUMN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41350" algn="l" rtl="0" eaLnBrk="0">
                        <a:lnSpc>
                          <a:spcPct val="81000"/>
                        </a:lnSpc>
                        <a:spcBef>
                          <a:spcPts val="10"/>
                        </a:spcBef>
                      </a:pPr>
                      <a:r>
                        <a:rPr sz="19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(Mengurangi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78765" algn="l" rtl="0" eaLnBrk="0">
                        <a:lnSpc>
                          <a:spcPct val="92000"/>
                        </a:lnSpc>
                        <a:spcBef>
                          <a:spcPts val="10"/>
                        </a:spcBef>
                      </a:pPr>
                      <a:r>
                        <a:rPr sz="1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penerimaan</a:t>
                      </a:r>
                      <a:r>
                        <a:rPr sz="1900" kern="0" spc="5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APBN):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15900" algn="l" rtl="0" eaLnBrk="0">
                        <a:lnSpc>
                          <a:spcPct val="69000"/>
                        </a:lnSpc>
                        <a:spcBef>
                          <a:spcPts val="195"/>
                        </a:spcBef>
                      </a:pPr>
                      <a:r>
                        <a:rPr sz="19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IDR</a:t>
                      </a:r>
                      <a:r>
                        <a:rPr sz="1900" kern="0" spc="4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80-90</a:t>
                      </a:r>
                      <a:r>
                        <a:rPr sz="1900" kern="0" spc="4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Triliun</a:t>
                      </a:r>
                      <a:r>
                        <a:rPr sz="19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4780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7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27100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</a:pPr>
                      <a:r>
                        <a:rPr sz="2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Pasokan</a:t>
                      </a:r>
                      <a:r>
                        <a:rPr sz="2000" kern="0" spc="6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2: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927100" algn="l" rtl="0" eaLnBrk="0">
                        <a:lnSpc>
                          <a:spcPct val="88000"/>
                        </a:lnSpc>
                        <a:spcBef>
                          <a:spcPts val="5"/>
                        </a:spcBef>
                      </a:pPr>
                      <a:r>
                        <a:rPr sz="20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Arus Kas</a:t>
                      </a:r>
                      <a:r>
                        <a:rPr sz="2000" kern="0" spc="1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Operasional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587500" algn="l" rtl="0" eaLnBrk="0">
                        <a:lnSpc>
                          <a:spcPct val="85000"/>
                        </a:lnSpc>
                        <a:spcBef>
                          <a:spcPts val="95"/>
                        </a:spcBef>
                      </a:pPr>
                      <a:r>
                        <a:rPr sz="2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Internal: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927100" algn="l" rtl="0" eaLnBrk="0">
                        <a:lnSpc>
                          <a:spcPts val="2485"/>
                        </a:lnSpc>
                      </a:pPr>
                      <a:r>
                        <a:rPr sz="2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IDR</a:t>
                      </a:r>
                      <a:r>
                        <a:rPr sz="2000" kern="0" spc="5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70-80</a:t>
                      </a:r>
                      <a:r>
                        <a:rPr sz="2000" kern="0" spc="4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</a:t>
                      </a:r>
                      <a:r>
                        <a:rPr sz="2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iliun.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14675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3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200" algn="l" rtl="0" eaLnBrk="0">
                        <a:lnSpc>
                          <a:spcPts val="2450"/>
                        </a:lnSpc>
                        <a:spcBef>
                          <a:spcPts val="0"/>
                        </a:spcBef>
                      </a:pPr>
                      <a:r>
                        <a:rPr sz="20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Defisit</a:t>
                      </a:r>
                      <a:r>
                        <a:rPr sz="2000" kern="0" spc="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Pendanaan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889000" algn="l" rtl="0" eaLnBrk="0">
                        <a:lnSpc>
                          <a:spcPct val="85000"/>
                        </a:lnSpc>
                        <a:spcBef>
                          <a:spcPts val="10"/>
                        </a:spcBef>
                      </a:pPr>
                      <a:r>
                        <a:rPr sz="20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Bersih: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39700" algn="l" rtl="0" eaLnBrk="0">
                        <a:lnSpc>
                          <a:spcPct val="83000"/>
                        </a:lnSpc>
                        <a:spcBef>
                          <a:spcPts val="5"/>
                        </a:spcBef>
                      </a:pPr>
                      <a:r>
                        <a:rPr sz="2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IDR</a:t>
                      </a:r>
                      <a:r>
                        <a:rPr sz="2000" kern="0" spc="2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95-125</a:t>
                      </a:r>
                      <a:r>
                        <a:rPr sz="2000" kern="0" spc="1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Trili</a:t>
                      </a:r>
                      <a:r>
                        <a:rPr sz="2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un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2700" algn="l" rtl="0" eaLnBrk="0">
                        <a:lnSpc>
                          <a:spcPct val="92000"/>
                        </a:lnSpc>
                        <a:spcBef>
                          <a:spcPts val="10"/>
                        </a:spcBef>
                      </a:pPr>
                      <a:r>
                        <a:rPr sz="2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(~USD</a:t>
                      </a:r>
                      <a:r>
                        <a:rPr sz="2000" kern="0" spc="3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6-8</a:t>
                      </a:r>
                      <a:r>
                        <a:rPr sz="2000" kern="0" spc="27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000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Miliar)pe</a:t>
                      </a:r>
                      <a:r>
                        <a:rPr sz="2000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936625" algn="l" rtl="0" eaLnBrk="0">
                        <a:lnSpc>
                          <a:spcPts val="2485"/>
                        </a:lnSpc>
                        <a:spcBef>
                          <a:spcPts val="265"/>
                        </a:spcBef>
                      </a:pPr>
                      <a:r>
                        <a:rPr sz="20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tahun.</a:t>
                      </a:r>
                      <a:endParaRPr sz="2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0" name="textbox 40"/>
          <p:cNvSpPr/>
          <p:nvPr/>
        </p:nvSpPr>
        <p:spPr>
          <a:xfrm>
            <a:off x="520760" y="8591556"/>
            <a:ext cx="16459200" cy="895985"/>
          </a:xfrm>
          <a:prstGeom prst="rect">
            <a:avLst/>
          </a:prstGeom>
          <a:solidFill>
            <a:srgbClr val="C7D4DD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7000"/>
              </a:lnSpc>
            </a:pPr>
            <a:endParaRPr sz="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7515" algn="l" rtl="0" eaLnBrk="0">
              <a:lnSpc>
                <a:spcPts val="2925"/>
              </a:lnSpc>
              <a:spcBef>
                <a:spcPts val="5"/>
              </a:spcBef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Catatan:Inovasi</a:t>
            </a:r>
            <a:r>
              <a:rPr sz="2200" kern="0" spc="5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pembiayaan</a:t>
            </a:r>
            <a:r>
              <a:rPr sz="2200" kern="0" spc="4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awal</a:t>
            </a:r>
            <a:r>
              <a:rPr sz="2200" kern="0" spc="5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(Patriot</a:t>
            </a:r>
            <a:r>
              <a:rPr sz="2200" kern="0" spc="5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Bonds</a:t>
            </a:r>
            <a:r>
              <a:rPr sz="2200" kern="0" spc="4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2%dan</a:t>
            </a:r>
            <a:r>
              <a:rPr sz="2200" kern="0" spc="5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</a:t>
            </a:r>
            <a:r>
              <a:rPr sz="2200" kern="0" spc="5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Bonds</a:t>
            </a:r>
            <a:r>
              <a:rPr sz="2200" kern="0" spc="5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USD  1,5  Miliar)tidak</a:t>
            </a:r>
            <a:r>
              <a:rPr sz="2200" kern="0" spc="4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cukup</a:t>
            </a:r>
            <a:r>
              <a:rPr sz="2200" kern="0" spc="5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untuk</a:t>
            </a:r>
            <a:r>
              <a:rPr sz="2200" kern="0" spc="5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enutup</a:t>
            </a:r>
            <a:r>
              <a:rPr sz="2200" kern="0" spc="4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defisit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371215" algn="l" rtl="0" eaLnBrk="0">
              <a:lnSpc>
                <a:spcPts val="2925"/>
              </a:lnSpc>
            </a:pP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struktural</a:t>
            </a:r>
            <a:r>
              <a:rPr sz="2200" kern="0" spc="4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ini</a:t>
            </a:r>
            <a:r>
              <a:rPr sz="2200" kern="0" spc="3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tanpa</a:t>
            </a:r>
            <a:r>
              <a:rPr sz="2200" kern="0" spc="4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memicu</a:t>
            </a:r>
            <a:r>
              <a:rPr sz="2200" kern="0" spc="4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risiko</a:t>
            </a:r>
            <a:r>
              <a:rPr sz="2200" kern="0" spc="4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utang</a:t>
            </a:r>
            <a:r>
              <a:rPr sz="2200" kern="0" spc="3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tambahan</a:t>
            </a:r>
            <a:r>
              <a:rPr sz="2200" kern="0" spc="4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pada</a:t>
            </a:r>
            <a:r>
              <a:rPr sz="2200" kern="0" spc="4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neraca</a:t>
            </a:r>
            <a:r>
              <a:rPr sz="2200" kern="0" spc="4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2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kedaulata</a:t>
            </a:r>
            <a:r>
              <a:rPr sz="22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n.</a:t>
            </a:r>
            <a:endParaRPr sz="22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42" name="textbox 42"/>
          <p:cNvSpPr/>
          <p:nvPr/>
        </p:nvSpPr>
        <p:spPr>
          <a:xfrm>
            <a:off x="749218" y="819727"/>
            <a:ext cx="11482069" cy="6337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</a:pPr>
            <a:r>
              <a:rPr sz="4900" b="1" kern="0" spc="-20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Defisit</a:t>
            </a:r>
            <a:r>
              <a:rPr sz="4900" b="1" kern="0" spc="2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900" b="1" kern="0" spc="-20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Pembiayaan</a:t>
            </a:r>
            <a:r>
              <a:rPr sz="4900" b="1" kern="0" spc="21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900" b="1" kern="0" spc="-20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Infrastruktur Tahunan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68908" cy="9753600"/>
          </a:xfrm>
          <a:prstGeom prst="rect">
            <a:avLst/>
          </a:prstGeom>
        </p:spPr>
      </p:pic>
      <p:graphicFrame>
        <p:nvGraphicFramePr>
          <p:cNvPr id="46" name="table 46"/>
          <p:cNvGraphicFramePr>
            <a:graphicFrameLocks noGrp="1"/>
          </p:cNvGraphicFramePr>
          <p:nvPr/>
        </p:nvGraphicFramePr>
        <p:xfrm>
          <a:off x="752452" y="1800265"/>
          <a:ext cx="15925800" cy="6736714"/>
        </p:xfrm>
        <a:graphic>
          <a:graphicData uri="http://schemas.openxmlformats.org/drawingml/2006/table">
            <a:tbl>
              <a:tblPr/>
              <a:tblGrid>
                <a:gridCol w="4022725"/>
                <a:gridCol w="1943100"/>
                <a:gridCol w="9959975"/>
              </a:tblGrid>
              <a:tr h="280987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5890" algn="l" rtl="0" eaLnBrk="0">
                        <a:lnSpc>
                          <a:spcPct val="78000"/>
                        </a:lnSpc>
                      </a:pPr>
                      <a:r>
                        <a:rPr sz="3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Fungsi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35890" algn="l" rtl="0" eaLnBrk="0">
                        <a:lnSpc>
                          <a:spcPct val="89000"/>
                        </a:lnSpc>
                        <a:spcBef>
                          <a:spcPts val="220"/>
                        </a:spcBef>
                      </a:pP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Kepemilikan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48590" indent="-12700" algn="l" rtl="0" eaLnBrk="0">
                        <a:lnSpc>
                          <a:spcPct val="93000"/>
                        </a:lnSpc>
                        <a:spcBef>
                          <a:spcPts val="40"/>
                        </a:spcBef>
                      </a:pP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Negara(St</a:t>
                      </a:r>
                      <a:r>
                        <a:rPr sz="3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ate</a:t>
                      </a:r>
                      <a:r>
                        <a:rPr sz="3500" kern="0" spc="4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as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</a:t>
                      </a:r>
                      <a:r>
                        <a:rPr sz="3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Owner)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0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3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Menteri aktif merangkap jabatan</a:t>
                      </a:r>
                      <a:r>
                        <a:rPr sz="35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eksekutif</a:t>
                      </a:r>
                      <a:r>
                        <a:rPr sz="35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dan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pengawas(bertentangan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dengan Pasal</a:t>
                      </a:r>
                      <a:r>
                        <a:rPr sz="35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23 UU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84150" algn="l" rtl="0" eaLnBrk="0">
                        <a:lnSpc>
                          <a:spcPct val="90000"/>
                        </a:lnSpc>
                        <a:spcBef>
                          <a:spcPts val="40"/>
                        </a:spcBef>
                      </a:pP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Kementerian Negara).Menghilangkan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pengawasan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korporasi</a:t>
                      </a:r>
                      <a:r>
                        <a:rPr sz="3500" kern="0" spc="7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yang</a:t>
                      </a:r>
                      <a:r>
                        <a:rPr sz="3500" kern="0" spc="9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independen(arm's-lengt</a:t>
                      </a:r>
                      <a:r>
                        <a:rPr sz="3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h).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5938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500" kern="0" spc="-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Leve</a:t>
                      </a:r>
                      <a:r>
                        <a:rPr sz="3500" kern="0" spc="-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 Playing Fiel</a:t>
                      </a:r>
                      <a:r>
                        <a:rPr sz="3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0" algn="l" rtl="0" eaLnBrk="0">
                        <a:lnSpc>
                          <a:spcPct val="94000"/>
                        </a:lnSpc>
                      </a:pP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Privilese aloka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si proyek</a:t>
                      </a:r>
                      <a:r>
                        <a:rPr sz="3500" kern="0" spc="4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langsung berisiko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mendistorsi</a:t>
                      </a:r>
                      <a:r>
                        <a:rPr sz="3500" kern="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kompetisi</a:t>
                      </a:r>
                      <a:r>
                        <a:rPr sz="3500" kern="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</a:t>
                      </a:r>
                      <a:r>
                        <a:rPr sz="3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asar</a:t>
                      </a:r>
                      <a:r>
                        <a:rPr sz="3500" kern="0" spc="5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domestik.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32989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35890" algn="l" rtl="0" eaLnBrk="0">
                        <a:lnSpc>
                          <a:spcPct val="69000"/>
                        </a:lnSpc>
                      </a:pP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Transparansi&amp;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35890" algn="l" rtl="0" eaLnBrk="0">
                        <a:lnSpc>
                          <a:spcPts val="4740"/>
                        </a:lnSpc>
                      </a:pP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Akuntabil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itas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8115" indent="25400" algn="l" rtl="0" eaLnBrk="0">
                        <a:lnSpc>
                          <a:spcPct val="92000"/>
                        </a:lnSpc>
                        <a:spcBef>
                          <a:spcPts val="0"/>
                        </a:spcBef>
                      </a:pPr>
                      <a:r>
                        <a:rPr sz="3400" kern="0" spc="-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Pasal 3H(2)(pengecualian kerugian portofolio dari</a:t>
                      </a:r>
                      <a:r>
                        <a:rPr sz="34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keuangan negara)da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 Pasal 3Y(imunitas hukum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</a:t>
                      </a:r>
                      <a:r>
                        <a:rPr sz="3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eksekutif)m</a:t>
                      </a:r>
                      <a:r>
                        <a:rPr sz="3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enciptakan jebakan moral hazard dan</a:t>
                      </a:r>
                      <a:r>
                        <a:rPr sz="3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pembatasan</a:t>
                      </a:r>
                      <a:r>
                        <a:rPr sz="3500" kern="0" spc="7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audit</a:t>
                      </a:r>
                      <a:r>
                        <a:rPr sz="3500" kern="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pu</a:t>
                      </a:r>
                      <a:r>
                        <a:rPr sz="3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blik.</a:t>
                      </a:r>
                      <a:endParaRPr sz="3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8" name="textbox 48"/>
          <p:cNvSpPr/>
          <p:nvPr/>
        </p:nvSpPr>
        <p:spPr>
          <a:xfrm>
            <a:off x="717588" y="503771"/>
            <a:ext cx="13719810" cy="13182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8000"/>
              </a:lnSpc>
            </a:pPr>
            <a:r>
              <a:rPr sz="4900" b="1" kern="0" spc="-4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Titik</a:t>
            </a:r>
            <a:r>
              <a:rPr sz="4900" b="1" kern="0" spc="34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900" b="1" kern="0" spc="-4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Buta Tat</a:t>
            </a:r>
            <a:r>
              <a:rPr sz="4900" b="1" kern="0" spc="-5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4900" b="1" kern="0" spc="35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900" b="1" kern="0" spc="-5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Kelola:Kesenjangan</a:t>
            </a:r>
            <a:r>
              <a:rPr sz="4900" b="1" kern="0" spc="3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900" b="1" kern="0" spc="-5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Kepatuhan</a:t>
            </a:r>
            <a:endParaRPr sz="49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240" algn="l" rtl="0" eaLnBrk="0">
              <a:lnSpc>
                <a:spcPct val="92000"/>
              </a:lnSpc>
              <a:spcBef>
                <a:spcPts val="55"/>
              </a:spcBef>
            </a:pPr>
            <a:r>
              <a:rPr sz="5000" b="1" kern="0" spc="-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Terhadap</a:t>
            </a:r>
            <a:r>
              <a:rPr sz="5000" kern="0" spc="-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5000" b="1" kern="0" spc="-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Standar</a:t>
            </a:r>
            <a:r>
              <a:rPr sz="5000" kern="0" spc="2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5000" b="1" kern="0" spc="-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OEC</a:t>
            </a:r>
            <a:r>
              <a:rPr sz="5000" b="1" kern="0" spc="-2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D</a:t>
            </a:r>
            <a:endParaRPr sz="50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picture 5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52" name="textbox 52"/>
          <p:cNvSpPr/>
          <p:nvPr/>
        </p:nvSpPr>
        <p:spPr>
          <a:xfrm>
            <a:off x="869972" y="727974"/>
            <a:ext cx="10884534" cy="229235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5500" b="1" kern="0" spc="-14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Anatomi</a:t>
            </a:r>
            <a:r>
              <a:rPr sz="5500" b="1" kern="0" spc="30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500" b="1" kern="0" spc="-14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</a:t>
            </a:r>
            <a:r>
              <a:rPr sz="5500" b="1" kern="0" spc="-150" dirty="0">
                <a:solidFill>
                  <a:srgbClr val="204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siko Sistemik:</a:t>
            </a:r>
            <a:endParaRPr sz="5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440"/>
              </a:spcBef>
            </a:pPr>
            <a:r>
              <a:rPr sz="5500" b="1" kern="0" spc="-1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Ancaman</a:t>
            </a:r>
            <a:r>
              <a:rPr sz="5500" b="1" kern="0" spc="31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500" b="1" kern="0" spc="-1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Penularan</a:t>
            </a:r>
            <a:r>
              <a:rPr sz="5500" b="1" kern="0" spc="34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500" b="1" kern="0" spc="-1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Lint</a:t>
            </a:r>
            <a:r>
              <a:rPr sz="5500" b="1" kern="0" spc="-15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</a:t>
            </a:r>
            <a:r>
              <a:rPr sz="5500" b="1" kern="0" spc="-1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 Sekto</a:t>
            </a:r>
            <a:r>
              <a:rPr sz="5500" b="1" kern="0" spc="4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</a:t>
            </a:r>
            <a:endParaRPr sz="5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7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971030" indent="-2005965" algn="l" rtl="0" eaLnBrk="0">
              <a:lnSpc>
                <a:spcPct val="105000"/>
              </a:lnSpc>
              <a:spcBef>
                <a:spcPts val="5"/>
              </a:spcBef>
            </a:pP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Ketidakdisiplinan Tata</a:t>
            </a:r>
            <a:r>
              <a:rPr sz="2100" b="1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Kelola(Pasal 3</a:t>
            </a:r>
            <a:r>
              <a:rPr sz="21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 Imunitas)</a:t>
            </a:r>
            <a:r>
              <a:rPr sz="2100" b="1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+Defisit</a:t>
            </a:r>
            <a:r>
              <a:rPr sz="2100" b="1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</a:t>
            </a:r>
            <a:r>
              <a:rPr sz="2100" b="1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4" name="textbox 54"/>
          <p:cNvSpPr/>
          <p:nvPr/>
        </p:nvSpPr>
        <p:spPr>
          <a:xfrm>
            <a:off x="5365817" y="7005191"/>
            <a:ext cx="6718300" cy="21647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542415" indent="-469900" algn="l" rtl="0" eaLnBrk="0">
              <a:lnSpc>
                <a:spcPct val="100000"/>
              </a:lnSpc>
            </a:pP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Lonjakan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Non-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Performing</a:t>
            </a:r>
            <a:r>
              <a:rPr sz="21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Loans (NPL)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     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masif di</a:t>
            </a:r>
            <a:r>
              <a:rPr sz="2100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bank</a:t>
            </a:r>
            <a:r>
              <a:rPr sz="21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BUMN</a:t>
            </a:r>
            <a:r>
              <a:rPr sz="21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komer</a:t>
            </a:r>
            <a:r>
              <a:rPr sz="2100" kern="0" spc="-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sial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8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6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06400" indent="-393700" algn="l" rtl="0" eaLnBrk="0">
              <a:lnSpc>
                <a:spcPct val="109000"/>
              </a:lnSpc>
              <a:spcBef>
                <a:spcPts val="0"/>
              </a:spcBef>
            </a:pPr>
            <a:r>
              <a:rPr sz="2100" b="1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IMPAK:</a:t>
            </a:r>
            <a:r>
              <a:rPr sz="2100" b="1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Penurunan</a:t>
            </a:r>
            <a:r>
              <a:rPr sz="21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peringkat</a:t>
            </a:r>
            <a:r>
              <a:rPr sz="21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kredit</a:t>
            </a:r>
            <a:r>
              <a:rPr sz="21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kedaulatan</a:t>
            </a:r>
            <a:r>
              <a:rPr sz="21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nasional</a:t>
            </a:r>
            <a:r>
              <a:rPr sz="21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(Sovereign</a:t>
            </a:r>
            <a:r>
              <a:rPr sz="2100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Downgrade)dan</a:t>
            </a:r>
            <a:r>
              <a:rPr sz="2100" kern="0" spc="3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risis</a:t>
            </a:r>
            <a:r>
              <a:rPr sz="2100" kern="0" spc="3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likuiditas</a:t>
            </a:r>
            <a:r>
              <a:rPr sz="21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APBN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6" name="textbox 56"/>
          <p:cNvSpPr/>
          <p:nvPr/>
        </p:nvSpPr>
        <p:spPr>
          <a:xfrm>
            <a:off x="5784872" y="3866574"/>
            <a:ext cx="5896609" cy="22440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31165" algn="l" rtl="0" eaLnBrk="0">
              <a:lnSpc>
                <a:spcPts val="3005"/>
              </a:lnSpc>
            </a:pPr>
            <a:r>
              <a:rPr sz="21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Pemaksaan pembiayaan proyek </a:t>
            </a:r>
            <a:r>
              <a:rPr sz="2100" b="1" kern="0" spc="-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greenfield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0000"/>
              </a:lnSpc>
              <a:spcBef>
                <a:spcPts val="195"/>
              </a:spcBef>
            </a:pPr>
            <a:r>
              <a:rPr sz="2100" b="1" kern="0" spc="-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berisiko tinggi kepa</a:t>
            </a:r>
            <a:r>
              <a:rPr sz="21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da</a:t>
            </a:r>
            <a:r>
              <a:rPr sz="2100" b="1" kern="0" spc="1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Bank</a:t>
            </a:r>
            <a:r>
              <a:rPr sz="2100" b="1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Mandiri,BRI,dan</a:t>
            </a:r>
            <a:r>
              <a:rPr sz="2100" b="1" kern="0" spc="1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b="1" kern="0" spc="-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BNI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25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5000"/>
              </a:lnSpc>
            </a:pPr>
            <a:endParaRPr sz="5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748665" indent="-127000" algn="l" rtl="0" eaLnBrk="0">
              <a:lnSpc>
                <a:spcPct val="112000"/>
              </a:lnSpc>
              <a:spcBef>
                <a:spcPts val="0"/>
              </a:spcBef>
            </a:pP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Penundaan</a:t>
            </a:r>
            <a:r>
              <a:rPr sz="2100" kern="0" spc="56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operasional  aset  hi</a:t>
            </a:r>
            <a:r>
              <a:rPr sz="2100" kern="0" spc="-2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lirisasi/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    </a:t>
            </a:r>
            <a:r>
              <a:rPr sz="2100" kern="0" spc="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Pembengkak</a:t>
            </a:r>
            <a:r>
              <a:rPr sz="2100" kern="0" spc="-1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an  biaya(Cost  Overrun)</a:t>
            </a:r>
            <a:endParaRPr sz="2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58" name="textbox 58"/>
          <p:cNvSpPr/>
          <p:nvPr/>
        </p:nvSpPr>
        <p:spPr>
          <a:xfrm>
            <a:off x="3517814" y="4772948"/>
            <a:ext cx="1475105" cy="48069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2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88950" indent="-476250" algn="l" rtl="0" eaLnBrk="0">
              <a:lnSpc>
                <a:spcPct val="95000"/>
              </a:lnSpc>
            </a:pP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Jalur</a:t>
            </a:r>
            <a:r>
              <a:rPr sz="16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Trans</a:t>
            </a:r>
            <a:r>
              <a:rPr sz="16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misi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16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Penularan</a:t>
            </a:r>
            <a:endParaRPr sz="16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picture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68908" cy="9753600"/>
          </a:xfrm>
          <a:prstGeom prst="rect">
            <a:avLst/>
          </a:prstGeom>
        </p:spPr>
      </p:pic>
      <p:graphicFrame>
        <p:nvGraphicFramePr>
          <p:cNvPr id="62" name="table 62"/>
          <p:cNvGraphicFramePr>
            <a:graphicFrameLocks noGrp="1"/>
          </p:cNvGraphicFramePr>
          <p:nvPr/>
        </p:nvGraphicFramePr>
        <p:xfrm>
          <a:off x="847691" y="2079608"/>
          <a:ext cx="15880715" cy="6711315"/>
        </p:xfrm>
        <a:graphic>
          <a:graphicData uri="http://schemas.openxmlformats.org/drawingml/2006/table">
            <a:tbl>
              <a:tblPr/>
              <a:tblGrid>
                <a:gridCol w="168275"/>
                <a:gridCol w="5010150"/>
                <a:gridCol w="254000"/>
                <a:gridCol w="4984115"/>
                <a:gridCol w="228600"/>
                <a:gridCol w="4965700"/>
                <a:gridCol w="269875"/>
              </a:tblGrid>
              <a:tr h="1266825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5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54175" algn="l" rtl="0" eaLnBrk="0">
                        <a:lnSpc>
                          <a:spcPct val="85000"/>
                        </a:lnSpc>
                        <a:spcBef>
                          <a:spcPts val="0"/>
                        </a:spcBef>
                      </a:pPr>
                      <a:r>
                        <a:rPr sz="37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Tiongkok</a:t>
                      </a:r>
                      <a:endParaRPr sz="37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2000"/>
                        </a:lnSpc>
                        <a:spcBef>
                          <a:spcPts val="25"/>
                        </a:spcBef>
                      </a:pPr>
                      <a:r>
                        <a:rPr sz="3700" b="1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(SASAC&amp;Bank</a:t>
                      </a:r>
                      <a:r>
                        <a:rPr sz="3700" kern="0" spc="14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700" b="1" kern="0" spc="-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Kebijakan)</a:t>
                      </a:r>
                      <a:endParaRPr sz="37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5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55750" algn="l" rtl="0" eaLnBrk="0">
                        <a:lnSpc>
                          <a:spcPct val="88000"/>
                        </a:lnSpc>
                      </a:pPr>
                      <a:r>
                        <a:rPr sz="37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Malaysia</a:t>
                      </a:r>
                      <a:endParaRPr sz="37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320800" algn="l" rtl="0" eaLnBrk="0">
                        <a:lnSpc>
                          <a:spcPct val="94000"/>
                        </a:lnSpc>
                        <a:spcBef>
                          <a:spcPts val="25"/>
                        </a:spcBef>
                      </a:pPr>
                      <a:r>
                        <a:rPr sz="3700" b="1" kern="0" spc="-1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(Khazanah)</a:t>
                      </a:r>
                      <a:endParaRPr sz="37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7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31365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8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India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767715" algn="l" rtl="0" eaLnBrk="0">
                        <a:lnSpc>
                          <a:spcPct val="93000"/>
                        </a:lnSpc>
                        <a:spcBef>
                          <a:spcPts val="25"/>
                        </a:spcBef>
                      </a:pPr>
                      <a:r>
                        <a:rPr sz="2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(NITI</a:t>
                      </a:r>
                      <a:r>
                        <a:rPr sz="2800" kern="0" spc="60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Aayog</a:t>
                      </a:r>
                      <a:r>
                        <a:rPr sz="2800" kern="0" spc="6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b="1" kern="0" spc="-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&amp;DIPAM)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9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304540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G</a:t>
                      </a:r>
                      <a:endParaRPr sz="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33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0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68650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5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15925" algn="l" rtl="0" eaLnBrk="0">
                        <a:lnSpc>
                          <a:spcPct val="91000"/>
                        </a:lnSpc>
                        <a:spcBef>
                          <a:spcPts val="5"/>
                        </a:spcBef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Berhasil</a:t>
                      </a:r>
                      <a:r>
                        <a:rPr sz="2800" kern="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mendorong</a:t>
                      </a:r>
                      <a:r>
                        <a:rPr sz="2800" kern="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skala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5000"/>
                        </a:lnSpc>
                        <a:spcBef>
                          <a:spcPts val="20"/>
                        </a:spcBef>
                      </a:pPr>
                      <a:r>
                        <a:rPr sz="27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</a:t>
                      </a:r>
                      <a:r>
                        <a:rPr sz="27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ndustri melalui bank kebijaka</a:t>
                      </a:r>
                      <a:r>
                        <a:rPr sz="27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</a:t>
                      </a:r>
                      <a:endParaRPr sz="27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050925" algn="l" rtl="0" eaLnBrk="0">
                        <a:lnSpc>
                          <a:spcPct val="86000"/>
                        </a:lnSpc>
                        <a:spcBef>
                          <a:spcPts val="55"/>
                        </a:spcBef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khusus</a:t>
                      </a:r>
                      <a:r>
                        <a:rPr sz="28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CDB</a:t>
                      </a:r>
                      <a:r>
                        <a:rPr sz="28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),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namun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923925" algn="l" rtl="0" eaLnBrk="0">
                        <a:lnSpc>
                          <a:spcPct val="89000"/>
                        </a:lnSpc>
                        <a:spcBef>
                          <a:spcPts val="30"/>
                        </a:spcBef>
                      </a:pPr>
                      <a:r>
                        <a:rPr sz="2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mengakumulasi utang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38175" algn="l" rtl="0" eaLnBrk="0">
                        <a:lnSpc>
                          <a:spcPct val="88000"/>
                        </a:lnSpc>
                        <a:spcBef>
                          <a:spcPts val="20"/>
                        </a:spcBef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tersembunyi</a:t>
                      </a:r>
                      <a:r>
                        <a:rPr sz="2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hidden</a:t>
                      </a:r>
                      <a:r>
                        <a:rPr sz="2800" kern="0" spc="9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debt</a:t>
                      </a:r>
                      <a:r>
                        <a:rPr sz="28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)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866775" algn="l" rtl="0" eaLnBrk="0">
                        <a:lnSpc>
                          <a:spcPct val="86000"/>
                        </a:lnSpc>
                        <a:spcBef>
                          <a:spcPts val="20"/>
                        </a:spcBef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LGFV</a:t>
                      </a:r>
                      <a:r>
                        <a:rPr sz="28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yang</a:t>
                      </a:r>
                      <a:r>
                        <a:rPr sz="28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parah</a:t>
                      </a:r>
                      <a:r>
                        <a:rPr sz="28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dan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5"/>
                        </a:spcBef>
                      </a:pPr>
                      <a:r>
                        <a:rPr sz="2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kelebihan k</a:t>
                      </a:r>
                      <a:r>
                        <a:rPr sz="27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apasitas</a:t>
                      </a:r>
                      <a:r>
                        <a:rPr sz="27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7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industri.</a:t>
                      </a:r>
                      <a:endParaRPr sz="27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gridSpan="2">
                  <a:txBody>
                    <a:bodyPr/>
                    <a:lstStyle/>
                    <a:p>
                      <a:pPr algn="l" rtl="0" eaLnBrk="0">
                        <a:lnSpc>
                          <a:spcPct val="14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806450" algn="l" rtl="0" eaLnBrk="0">
                        <a:lnSpc>
                          <a:spcPct val="94000"/>
                        </a:lnSpc>
                      </a:pP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Menciptakan</a:t>
                      </a:r>
                      <a:r>
                        <a:rPr sz="2800" kern="0" spc="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disiplin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2700" indent="154940" algn="l" rtl="0" eaLnBrk="0">
                        <a:lnSpc>
                          <a:spcPct val="90000"/>
                        </a:lnSpc>
                        <a:spcBef>
                          <a:spcPts val="30"/>
                        </a:spcBef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komersial</a:t>
                      </a: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melalui</a:t>
                      </a: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pemisahan  </a:t>
                      </a: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dana(Komersial</a:t>
                      </a:r>
                      <a:r>
                        <a:rPr sz="2800" kern="0" spc="9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vs.</a:t>
                      </a:r>
                      <a:r>
                        <a:rPr sz="2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Strategis).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4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26085" algn="l" rtl="0" eaLnBrk="0">
                        <a:lnSpc>
                          <a:spcPct val="94000"/>
                        </a:lnSpc>
                        <a:spcBef>
                          <a:spcPts val="0"/>
                        </a:spcBef>
                      </a:pPr>
                      <a:r>
                        <a:rPr sz="2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Menghindar</a:t>
                      </a:r>
                      <a:r>
                        <a:rPr sz="2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 penularan</a:t>
                      </a:r>
                      <a:r>
                        <a:rPr sz="28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41350" algn="l" rtl="0" eaLnBrk="0">
                        <a:lnSpc>
                          <a:spcPct val="93000"/>
                        </a:lnSpc>
                        <a:spcBef>
                          <a:spcPts val="10"/>
                        </a:spcBef>
                      </a:pP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sektor</a:t>
                      </a:r>
                      <a:r>
                        <a:rPr sz="2800" kern="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perbankan</a:t>
                      </a:r>
                      <a:r>
                        <a:rPr sz="2800" kern="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mela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lui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14985" algn="l" rtl="0" eaLnBrk="0">
                        <a:lnSpc>
                          <a:spcPct val="83000"/>
                        </a:lnSpc>
                        <a:spcBef>
                          <a:spcPts val="20"/>
                        </a:spcBef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monetisasi</a:t>
                      </a:r>
                      <a:r>
                        <a:rPr sz="28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aset</a:t>
                      </a:r>
                      <a:r>
                        <a:rPr sz="28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NMP</a:t>
                      </a:r>
                      <a:r>
                        <a:rPr sz="28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)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dan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2000"/>
                        </a:lnSpc>
                        <a:spcBef>
                          <a:spcPts val="15"/>
                        </a:spcBef>
                      </a:pPr>
                      <a:r>
                        <a:rPr sz="2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resolusi kepailitan(IBC)yang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48335" algn="l" rtl="0" eaLnBrk="0">
                        <a:lnSpc>
                          <a:spcPct val="94000"/>
                        </a:lnSpc>
                        <a:spcBef>
                          <a:spcPts val="15"/>
                        </a:spcBef>
                      </a:pPr>
                      <a:r>
                        <a:rPr sz="2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transparan untuk</a:t>
                      </a:r>
                      <a:r>
                        <a:rPr sz="28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menarik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416050" algn="l" rtl="0" eaLnBrk="0">
                        <a:lnSpc>
                          <a:spcPts val="3530"/>
                        </a:lnSpc>
                        <a:spcBef>
                          <a:spcPts val="105"/>
                        </a:spcBef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modal</a:t>
                      </a:r>
                      <a:r>
                        <a:rPr sz="2800" kern="0" spc="1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swasta</a:t>
                      </a:r>
                      <a:r>
                        <a:rPr sz="2800" kern="0" spc="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002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3715" indent="-178435" algn="l" rtl="0" eaLnBrk="0">
                        <a:lnSpc>
                          <a:spcPct val="94000"/>
                        </a:lnSpc>
                      </a:pPr>
                      <a:r>
                        <a:rPr sz="2800" b="1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Pelajaran</a:t>
                      </a:r>
                      <a:r>
                        <a:rPr sz="2800" b="1" kern="0" spc="1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: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Jangan</a:t>
                      </a:r>
                      <a:r>
                        <a:rPr sz="2800" kern="0" spc="37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gunakan  </a:t>
                      </a:r>
                      <a:r>
                        <a:rPr sz="2800" kern="0" spc="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bank</a:t>
                      </a:r>
                      <a:r>
                        <a:rPr sz="2800" kern="0" spc="29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komers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ial</a:t>
                      </a:r>
                      <a:r>
                        <a:rPr sz="2800" kern="0" spc="44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sebagai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92150" algn="l" rtl="0" eaLnBrk="0">
                        <a:lnSpc>
                          <a:spcPct val="94000"/>
                        </a:lnSpc>
                      </a:pPr>
                      <a:r>
                        <a:rPr sz="2800" kern="0" spc="0" dirty="0">
                          <a:solidFill>
                            <a:srgbClr val="60303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instrumen</a:t>
                      </a:r>
                      <a:r>
                        <a:rPr sz="2800" kern="0" spc="1310" dirty="0">
                          <a:solidFill>
                            <a:srgbClr val="60303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303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kebijakan</a:t>
                      </a:r>
                      <a:r>
                        <a:rPr sz="2800" kern="0" spc="70" dirty="0">
                          <a:solidFill>
                            <a:srgbClr val="60303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4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5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815" algn="l" rtl="0" eaLnBrk="0">
                        <a:lnSpc>
                          <a:spcPct val="94000"/>
                        </a:lnSpc>
                      </a:pPr>
                      <a:r>
                        <a:rPr sz="2800" b="1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Pelajaran</a:t>
                      </a:r>
                      <a:r>
                        <a:rPr sz="2800" b="1" kern="0" spc="26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: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Hindari</a:t>
                      </a:r>
                      <a:r>
                        <a:rPr sz="2800" kern="0" spc="26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penularan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160"/>
                        </a:spcBef>
                      </a:pPr>
                      <a:r>
                        <a:rPr sz="2800" kern="0" spc="-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perbankan melalui daur ulang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400685" algn="l" rtl="0" eaLnBrk="0">
                        <a:lnSpc>
                          <a:spcPct val="94000"/>
                        </a:lnSpc>
                      </a:pPr>
                      <a:r>
                        <a:rPr sz="2800" kern="0" spc="0" dirty="0">
                          <a:solidFill>
                            <a:srgbClr val="603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aset</a:t>
                      </a:r>
                      <a:r>
                        <a:rPr sz="2800" kern="0" spc="330" dirty="0">
                          <a:solidFill>
                            <a:srgbClr val="603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3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secara</a:t>
                      </a:r>
                      <a:r>
                        <a:rPr sz="2800" kern="0" spc="290" dirty="0">
                          <a:solidFill>
                            <a:srgbClr val="603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3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transp</a:t>
                      </a:r>
                      <a:r>
                        <a:rPr sz="2800" kern="0" spc="-10" dirty="0">
                          <a:solidFill>
                            <a:srgbClr val="603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aran</a:t>
                      </a:r>
                      <a:r>
                        <a:rPr sz="2800" kern="0" spc="-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239"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7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ts val="1070"/>
                        </a:lnSpc>
                      </a:pPr>
                      <a:endParaRPr sz="8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vert27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4" name="table 64"/>
          <p:cNvGraphicFramePr>
            <a:graphicFrameLocks noGrp="1"/>
          </p:cNvGraphicFramePr>
          <p:nvPr/>
        </p:nvGraphicFramePr>
        <p:xfrm>
          <a:off x="6277062" y="5756228"/>
          <a:ext cx="4909184" cy="2660650"/>
        </p:xfrm>
        <a:graphic>
          <a:graphicData uri="http://schemas.openxmlformats.org/drawingml/2006/table">
            <a:tbl>
              <a:tblPr/>
              <a:tblGrid>
                <a:gridCol w="4909184"/>
              </a:tblGrid>
              <a:tr h="26543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49605" algn="l" rtl="0" eaLnBrk="0">
                        <a:lnSpc>
                          <a:spcPct val="94000"/>
                        </a:lnSpc>
                      </a:pPr>
                      <a:r>
                        <a:rPr sz="2800" b="1" kern="0" spc="-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Pelajaran:</a:t>
                      </a:r>
                      <a:r>
                        <a:rPr sz="2800" kern="0" spc="-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Kasus</a:t>
                      </a:r>
                      <a:r>
                        <a:rPr sz="2800" kern="0" spc="58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1MDB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97790" algn="l" rtl="0" eaLnBrk="0">
                        <a:lnSpc>
                          <a:spcPct val="82000"/>
                        </a:lnSpc>
                        <a:spcBef>
                          <a:spcPts val="485"/>
                        </a:spcBef>
                      </a:pP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membuktikan</a:t>
                      </a:r>
                      <a:r>
                        <a:rPr sz="2800" kern="0" spc="40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bahwa</a:t>
                      </a:r>
                      <a:r>
                        <a:rPr sz="2800" kern="0" spc="44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imunitas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30"/>
                        </a:spcBef>
                      </a:pPr>
                      <a:r>
                        <a:rPr sz="2600" kern="0" spc="-9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eksekutif dan</a:t>
                      </a:r>
                      <a:r>
                        <a:rPr sz="2600" kern="0" spc="12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600" kern="0" spc="-9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struktur JV</a:t>
                      </a:r>
                      <a:r>
                        <a:rPr sz="2600" kern="0" spc="4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600" kern="0" spc="-9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</a:t>
                      </a:r>
                      <a:r>
                        <a:rPr sz="2600" kern="0" spc="-10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ff-</a:t>
                      </a:r>
                      <a:endParaRPr sz="26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81940" algn="l" rtl="0" eaLnBrk="0">
                        <a:lnSpc>
                          <a:spcPct val="90000"/>
                        </a:lnSpc>
                        <a:spcBef>
                          <a:spcPts val="25"/>
                        </a:spcBef>
                      </a:pP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balance</a:t>
                      </a:r>
                      <a:r>
                        <a:rPr sz="2800" kern="0" spc="17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-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sheet</a:t>
                      </a:r>
                      <a:r>
                        <a:rPr sz="2800" kern="0" spc="17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yang</a:t>
                      </a:r>
                      <a:r>
                        <a:rPr sz="2800" kern="0" spc="17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buram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86690" algn="l" rtl="0" eaLnBrk="0">
                        <a:lnSpc>
                          <a:spcPct val="89000"/>
                        </a:lnSpc>
                        <a:spcBef>
                          <a:spcPts val="20"/>
                        </a:spcBef>
                      </a:pPr>
                      <a:r>
                        <a:rPr sz="2800" kern="0" spc="2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akan mengundang</a:t>
                      </a:r>
                      <a:r>
                        <a:rPr sz="2800" kern="0" spc="32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2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patronase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980440" algn="l" rtl="0" eaLnBrk="0">
                        <a:lnSpc>
                          <a:spcPct val="94000"/>
                        </a:lnSpc>
                      </a:pP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politik</a:t>
                      </a:r>
                      <a:r>
                        <a:rPr sz="2800" kern="0" spc="68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dan</a:t>
                      </a:r>
                      <a:r>
                        <a:rPr sz="2800" kern="0" spc="60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korupsi</a:t>
                      </a:r>
                      <a:r>
                        <a:rPr sz="2800" kern="0" spc="10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6" name="textbox 66"/>
          <p:cNvSpPr/>
          <p:nvPr/>
        </p:nvSpPr>
        <p:spPr>
          <a:xfrm>
            <a:off x="825585" y="668015"/>
            <a:ext cx="11368405" cy="64643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1000"/>
              </a:lnSpc>
              <a:spcBef>
                <a:spcPts val="0"/>
              </a:spcBef>
            </a:pPr>
            <a:r>
              <a:rPr sz="5000" b="1" kern="0" spc="-190" dirty="0">
                <a:solidFill>
                  <a:srgbClr val="2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Pelajaran Str</a:t>
            </a:r>
            <a:r>
              <a:rPr sz="5000" b="1" kern="0" spc="-200" dirty="0">
                <a:solidFill>
                  <a:srgbClr val="20406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ategis dari Arsitektur Global</a:t>
            </a:r>
            <a:endParaRPr sz="50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graphicFrame>
        <p:nvGraphicFramePr>
          <p:cNvPr id="70" name="table 70"/>
          <p:cNvGraphicFramePr>
            <a:graphicFrameLocks noGrp="1"/>
          </p:cNvGraphicFramePr>
          <p:nvPr/>
        </p:nvGraphicFramePr>
        <p:xfrm>
          <a:off x="276252" y="231788"/>
          <a:ext cx="16960215" cy="9213215"/>
        </p:xfrm>
        <a:graphic>
          <a:graphicData uri="http://schemas.openxmlformats.org/drawingml/2006/table">
            <a:tbl>
              <a:tblPr/>
              <a:tblGrid>
                <a:gridCol w="377825"/>
                <a:gridCol w="228600"/>
                <a:gridCol w="165100"/>
                <a:gridCol w="5403850"/>
                <a:gridCol w="203200"/>
                <a:gridCol w="279400"/>
                <a:gridCol w="438150"/>
                <a:gridCol w="425450"/>
                <a:gridCol w="450850"/>
                <a:gridCol w="869950"/>
                <a:gridCol w="444500"/>
                <a:gridCol w="419100"/>
                <a:gridCol w="444500"/>
                <a:gridCol w="311150"/>
                <a:gridCol w="234950"/>
                <a:gridCol w="2114550"/>
                <a:gridCol w="438150"/>
                <a:gridCol w="463550"/>
                <a:gridCol w="450850"/>
                <a:gridCol w="438150"/>
                <a:gridCol w="463550"/>
                <a:gridCol w="939800"/>
                <a:gridCol w="354965"/>
                <a:gridCol w="600075"/>
              </a:tblGrid>
              <a:tr h="1006475">
                <a:tc rowSpan="3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3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gridSpan="14">
                  <a:txBody>
                    <a:bodyPr/>
                    <a:lstStyle/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955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4500" b="1" kern="0" spc="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Target</a:t>
                      </a:r>
                      <a:r>
                        <a:rPr sz="4500" kern="0" spc="4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4500" b="1" kern="0" spc="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Arsitektur</a:t>
                      </a:r>
                      <a:r>
                        <a:rPr sz="4500" b="1" kern="0" spc="4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:</a:t>
                      </a:r>
                      <a:r>
                        <a:rPr sz="4500" b="1" kern="0" spc="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Model</a:t>
                      </a:r>
                      <a:r>
                        <a:rPr sz="4500" kern="0" spc="4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4500" b="1" kern="0" spc="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Portofolio</a:t>
                      </a:r>
                      <a:r>
                        <a:rPr sz="4500" kern="0" spc="4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4500" b="1" kern="0" spc="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Ganda</a:t>
                      </a:r>
                      <a:r>
                        <a:rPr sz="4500" b="1" kern="0" spc="40" dirty="0">
                          <a:solidFill>
                            <a:srgbClr val="203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(D</a:t>
                      </a:r>
                      <a:endParaRPr sz="4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" algn="l" rtl="0" eaLnBrk="0">
                        <a:lnSpc>
                          <a:spcPts val="2340"/>
                        </a:lnSpc>
                      </a:pP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ua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7465" algn="l" rtl="0" eaLnBrk="0">
                        <a:lnSpc>
                          <a:spcPts val="4065"/>
                        </a:lnSpc>
                      </a:pPr>
                      <a:r>
                        <a:rPr sz="3200" b="1" kern="0" spc="-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l-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" algn="l" rtl="0" eaLnBrk="0">
                        <a:lnSpc>
                          <a:spcPct val="79000"/>
                        </a:lnSpc>
                      </a:pPr>
                      <a:r>
                        <a:rPr sz="32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" algn="l" rtl="0" eaLnBrk="0">
                        <a:lnSpc>
                          <a:spcPts val="2325"/>
                        </a:lnSpc>
                      </a:pPr>
                      <a:r>
                        <a:rPr sz="3200" b="1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or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115" algn="l" rtl="0" eaLnBrk="0">
                        <a:lnSpc>
                          <a:spcPts val="4050"/>
                        </a:lnSpc>
                        <a:spcBef>
                          <a:spcPts val="5"/>
                        </a:spcBef>
                      </a:pPr>
                      <a:r>
                        <a:rPr sz="3200" b="1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tf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6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89000"/>
                        </a:lnSpc>
                      </a:pPr>
                      <a:r>
                        <a:rPr sz="5300" kern="0" spc="-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oli</a:t>
                      </a:r>
                      <a:endParaRPr sz="53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3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29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o)</a:t>
                      </a:r>
                      <a:endParaRPr sz="2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527050"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14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77800"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grid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03200"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gridSpan="9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grid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070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3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0"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10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80000"/>
                        </a:lnSpc>
                        <a:spcBef>
                          <a:spcPts val="0"/>
                        </a:spcBef>
                      </a:pPr>
                      <a:r>
                        <a:rPr sz="1900" b="1" kern="0" spc="-8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Fi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9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ts val="2975"/>
                        </a:lnSpc>
                      </a:pPr>
                      <a:r>
                        <a:rPr sz="2300" b="1" kern="0" spc="-1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wal</a:t>
                      </a:r>
                      <a:endParaRPr sz="23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10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vMerge="1" gridSpan="8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4450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3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8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</a:tr>
              <a:tr h="16510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8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19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5">
                  <a:txBody>
                    <a:bodyPr/>
                    <a:lstStyle/>
                    <a:p>
                      <a:pPr algn="l" rtl="0" eaLnBrk="0">
                        <a:lnSpc>
                          <a:spcPct val="12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93775" indent="-428625" algn="l" rtl="0" eaLnBrk="0">
                        <a:lnSpc>
                          <a:spcPct val="95000"/>
                        </a:lnSpc>
                        <a:spcBef>
                          <a:spcPts val="0"/>
                        </a:spcBef>
                      </a:pP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Menampung</a:t>
                      </a:r>
                      <a:r>
                        <a:rPr sz="3200" kern="0" spc="5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Bank</a:t>
                      </a:r>
                      <a:r>
                        <a:rPr sz="3200" kern="0" spc="5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Mandiri</a:t>
                      </a:r>
                      <a:r>
                        <a:rPr sz="3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,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BRI</a:t>
                      </a:r>
                      <a:r>
                        <a:rPr sz="3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,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BNI</a:t>
                      </a:r>
                      <a:r>
                        <a:rPr sz="3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,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dan</a:t>
                      </a:r>
                      <a:r>
                        <a:rPr sz="3200" kern="0" spc="1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Telkom</a:t>
                      </a:r>
                      <a:r>
                        <a:rPr sz="32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3000"/>
                        </a:lnSpc>
                        <a:spcBef>
                          <a:spcPts val="575"/>
                        </a:spcBef>
                      </a:pPr>
                      <a:r>
                        <a:rPr sz="3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Beroperasi denga</a:t>
                      </a:r>
                      <a:r>
                        <a:rPr sz="3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</a:t>
                      </a:r>
                      <a:r>
                        <a:rPr sz="3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standar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84000"/>
                        </a:lnSpc>
                        <a:spcBef>
                          <a:spcPts val="120"/>
                        </a:spcBef>
                      </a:pPr>
                      <a:r>
                        <a:rPr sz="30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imbal hasil komersi</a:t>
                      </a:r>
                      <a:r>
                        <a:rPr sz="30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al ketat</a:t>
                      </a:r>
                      <a:endParaRPr sz="3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155065" algn="l" rtl="0" eaLnBrk="0">
                        <a:lnSpc>
                          <a:spcPct val="90000"/>
                        </a:lnSpc>
                        <a:spcBef>
                          <a:spcPts val="5"/>
                        </a:spcBef>
                      </a:pP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(Target  ROE&gt;15%).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4000"/>
                        </a:lnSpc>
                        <a:spcBef>
                          <a:spcPts val="1465"/>
                        </a:spcBef>
                      </a:pPr>
                      <a:r>
                        <a:rPr sz="3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Menghasilkan dividen</a:t>
                      </a:r>
                      <a:r>
                        <a:rPr sz="31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1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tunai</a:t>
                      </a:r>
                      <a:endParaRPr sz="31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111250" algn="l" rtl="0" eaLnBrk="0">
                        <a:lnSpc>
                          <a:spcPct val="93000"/>
                        </a:lnSpc>
                        <a:spcBef>
                          <a:spcPts val="20"/>
                        </a:spcBef>
                      </a:pP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reguler</a:t>
                      </a:r>
                      <a:r>
                        <a:rPr sz="3200" kern="0" spc="6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untuk</a:t>
                      </a:r>
                      <a:r>
                        <a:rPr sz="3200" kern="0" spc="6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APBN</a:t>
                      </a:r>
                      <a:r>
                        <a:rPr sz="3200" kern="0" spc="2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8" gridSpan="7">
                  <a:txBody>
                    <a:bodyPr/>
                    <a:lstStyle/>
                    <a:p>
                      <a:pPr algn="l" rtl="0" eaLnBrk="0">
                        <a:lnSpc>
                          <a:spcPct val="17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0400" algn="l" rtl="0" eaLnBrk="0">
                        <a:lnSpc>
                          <a:spcPct val="93000"/>
                        </a:lnSpc>
                      </a:pP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Mengeksekusi</a:t>
                      </a:r>
                      <a:r>
                        <a:rPr sz="32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40</a:t>
                      </a:r>
                      <a:r>
                        <a:rPr sz="32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proyek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8000"/>
                        </a:lnSpc>
                        <a:spcBef>
                          <a:spcPts val="25"/>
                        </a:spcBef>
                      </a:pPr>
                      <a:r>
                        <a:rPr sz="2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hilirisasi dan transisi</a:t>
                      </a:r>
                      <a:r>
                        <a:rPr sz="2600" kern="0" spc="1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energi.</a:t>
                      </a:r>
                      <a:endParaRPr sz="26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9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80365" algn="l" rtl="0" eaLnBrk="0">
                        <a:lnSpc>
                          <a:spcPct val="79000"/>
                        </a:lnSpc>
                        <a:spcBef>
                          <a:spcPts val="970"/>
                        </a:spcBef>
                      </a:pP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Menampung</a:t>
                      </a:r>
                      <a:r>
                        <a:rPr sz="3200" kern="0" spc="5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MIND</a:t>
                      </a:r>
                      <a:r>
                        <a:rPr sz="3200" kern="0" spc="8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ID</a:t>
                      </a:r>
                      <a:r>
                        <a:rPr sz="3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,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PLN</a:t>
                      </a:r>
                      <a:r>
                        <a:rPr sz="32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,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619250" algn="l" rtl="0" eaLnBrk="0">
                        <a:lnSpc>
                          <a:spcPct val="79000"/>
                        </a:lnSpc>
                        <a:spcBef>
                          <a:spcPts val="1090"/>
                        </a:spcBef>
                      </a:pP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Pertamina</a:t>
                      </a:r>
                      <a:r>
                        <a:rPr sz="3200" kern="0" spc="1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04000"/>
                        </a:lnSpc>
                      </a:pPr>
                      <a:endParaRPr sz="15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18185" indent="-204470" algn="l" rtl="0" eaLnBrk="0">
                        <a:lnSpc>
                          <a:spcPct val="93000"/>
                        </a:lnSpc>
                        <a:spcBef>
                          <a:spcPts val="5"/>
                        </a:spcBef>
                      </a:pPr>
                      <a:r>
                        <a:rPr sz="29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Didanai murni mela</a:t>
                      </a:r>
                      <a:r>
                        <a:rPr sz="29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lui utang</a:t>
                      </a:r>
                      <a:r>
                        <a:rPr sz="2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proyek non-</a:t>
                      </a:r>
                      <a:r>
                        <a:rPr sz="3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recourse dan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1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kemitraan ekuitas</a:t>
                      </a:r>
                      <a:r>
                        <a:rPr sz="3100" kern="0" spc="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1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gl</a:t>
                      </a:r>
                      <a:r>
                        <a:rPr sz="31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obal.</a:t>
                      </a:r>
                      <a:endParaRPr sz="31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8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8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8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8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8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8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row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260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7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048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7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3398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7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826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7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61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r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3200" b="1" kern="0" spc="-70" dirty="0">
                          <a:solidFill>
                            <a:srgbClr val="80304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TIDAK</a:t>
                      </a:r>
                      <a:r>
                        <a:rPr sz="3200" kern="0" spc="-70" dirty="0">
                          <a:solidFill>
                            <a:srgbClr val="80304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b="1" kern="0" spc="-70" dirty="0">
                          <a:solidFill>
                            <a:srgbClr val="80304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ADA</a:t>
                      </a:r>
                      <a:r>
                        <a:rPr sz="3200" kern="0" spc="-70" dirty="0">
                          <a:solidFill>
                            <a:srgbClr val="80304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pinjaman p</a:t>
                      </a:r>
                      <a:r>
                        <a:rPr sz="32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aksaan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945515" algn="l" rtl="0" eaLnBrk="0">
                        <a:lnSpc>
                          <a:spcPct val="93000"/>
                        </a:lnSpc>
                        <a:spcBef>
                          <a:spcPts val="255"/>
                        </a:spcBef>
                      </a:pP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untuk</a:t>
                      </a:r>
                      <a:r>
                        <a:rPr sz="3200" kern="0" spc="1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2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megaproyek</a:t>
                      </a:r>
                      <a:r>
                        <a:rPr sz="32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</a:t>
                      </a:r>
                      <a:endParaRPr sz="3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7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2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gridSpan="7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7465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18440" algn="l" rtl="0" eaLnBrk="0">
                        <a:lnSpc>
                          <a:spcPct val="79000"/>
                        </a:lnSpc>
                        <a:spcBef>
                          <a:spcPts val="5"/>
                        </a:spcBef>
                      </a:pPr>
                      <a:r>
                        <a:rPr sz="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业</a:t>
                      </a:r>
                      <a:endParaRPr sz="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gridSpan="7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DFD"/>
                    </a:solidFill>
                  </a:tcPr>
                </a:tc>
              </a:tr>
              <a:tr h="2984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8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2600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 gridSpan="20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55295" algn="l" rtl="0" eaLnBrk="0">
                        <a:lnSpc>
                          <a:spcPct val="97000"/>
                        </a:lnSpc>
                      </a:pPr>
                      <a:r>
                        <a:rPr sz="2800" b="1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Koneksi:</a:t>
                      </a:r>
                      <a:r>
                        <a:rPr sz="28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Kedua entitas tidak diperb</a:t>
                      </a:r>
                      <a:r>
                        <a:rPr sz="28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olehkan melakukan subsidi silang(cross-collateralization)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rowSpan="2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EFE"/>
                    </a:solidFill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0825"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 gridSpan="20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2" name="textbox 72"/>
          <p:cNvSpPr/>
          <p:nvPr/>
        </p:nvSpPr>
        <p:spPr>
          <a:xfrm>
            <a:off x="16578856" y="9137771"/>
            <a:ext cx="169545" cy="14414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935"/>
              </a:lnSpc>
            </a:pPr>
            <a:r>
              <a:rPr sz="2400" kern="0" spc="-8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.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76" name="textbox 76"/>
          <p:cNvSpPr/>
          <p:nvPr/>
        </p:nvSpPr>
        <p:spPr>
          <a:xfrm>
            <a:off x="751576" y="640454"/>
            <a:ext cx="12670155" cy="153733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84000"/>
              </a:lnSpc>
            </a:pPr>
            <a:r>
              <a:rPr sz="5100" b="1" kern="0" spc="-2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Isola</a:t>
            </a:r>
            <a:r>
              <a:rPr sz="5100" b="1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si</a:t>
            </a:r>
            <a:r>
              <a:rPr sz="5100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5100" b="1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Risiko</a:t>
            </a:r>
            <a:r>
              <a:rPr sz="5100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5100" b="1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melalui</a:t>
            </a:r>
            <a:r>
              <a:rPr sz="5100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5100" b="1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Pembiayaa</a:t>
            </a:r>
            <a:r>
              <a:rPr sz="5100" b="1" kern="0" spc="-2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n</a:t>
            </a:r>
            <a:r>
              <a:rPr sz="5100" kern="0" spc="-2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5100" b="1" kern="0" spc="-2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Campura</a:t>
            </a:r>
            <a:r>
              <a:rPr sz="5100" b="1" kern="0" spc="-16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n</a:t>
            </a:r>
            <a:endParaRPr sz="51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26035" algn="l" rtl="0" eaLnBrk="0">
              <a:lnSpc>
                <a:spcPts val="6755"/>
              </a:lnSpc>
            </a:pPr>
            <a:r>
              <a:rPr sz="5100" b="1" kern="0" spc="-9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(Blended</a:t>
            </a:r>
            <a:r>
              <a:rPr sz="5100" kern="0" spc="-9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5100" b="1" kern="0" spc="-9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Finance</a:t>
            </a:r>
            <a:r>
              <a:rPr sz="5100" kern="0" spc="2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5100" b="1" kern="0" spc="-9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SPV)</a:t>
            </a:r>
            <a:endParaRPr sz="51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78" name="textbox 78"/>
          <p:cNvSpPr/>
          <p:nvPr/>
        </p:nvSpPr>
        <p:spPr>
          <a:xfrm>
            <a:off x="1212835" y="8219690"/>
            <a:ext cx="15099664" cy="74358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ct val="98000"/>
              </a:lnSpc>
            </a:pP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Co</a:t>
            </a:r>
            <a:r>
              <a:rPr sz="2300" kern="0" spc="-6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re Insight:Struktur ini memaksa uji kelayakan(due diligence)pasar yang nyata,me</a:t>
            </a: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mbatasi kerugian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pada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2300" kern="0" spc="-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nerac</a:t>
            </a:r>
            <a:r>
              <a:rPr sz="2300" kern="0" spc="-5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a</a:t>
            </a:r>
            <a:endParaRPr sz="23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678815" algn="l" rtl="0" eaLnBrk="0">
              <a:lnSpc>
                <a:spcPct val="94000"/>
              </a:lnSpc>
              <a:spcBef>
                <a:spcPts val="255"/>
              </a:spcBef>
            </a:pPr>
            <a:r>
              <a:rPr sz="2400" kern="0" spc="-6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kedaulatan,dan memastikan perlindungan 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non-recourse(kerugian SPV tidak menyita aset BUMN induk).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80" name="textbox 80"/>
          <p:cNvSpPr/>
          <p:nvPr/>
        </p:nvSpPr>
        <p:spPr>
          <a:xfrm>
            <a:off x="12668177" y="3878144"/>
            <a:ext cx="3751579" cy="228727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42545" algn="l" rtl="0" eaLnBrk="0">
              <a:lnSpc>
                <a:spcPct val="82000"/>
              </a:lnSpc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Arus</a:t>
            </a:r>
            <a:r>
              <a:rPr sz="2400" kern="0" spc="1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Masuk</a:t>
            </a:r>
            <a:r>
              <a:rPr sz="2400" kern="0" spc="8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Kanan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38100" algn="l" rtl="0" eaLnBrk="0">
              <a:lnSpc>
                <a:spcPct val="94000"/>
              </a:lnSpc>
              <a:spcBef>
                <a:spcPts val="830"/>
              </a:spcBef>
            </a:pPr>
            <a:r>
              <a:rPr sz="24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(Modal     </a:t>
            </a:r>
            <a:r>
              <a:rPr sz="2400" kern="0" spc="-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Swasta/Asing)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38100" indent="-25400" algn="l" rtl="0" eaLnBrk="0">
              <a:lnSpc>
                <a:spcPct val="98000"/>
              </a:lnSpc>
              <a:spcBef>
                <a:spcPts val="895"/>
              </a:spcBef>
            </a:pPr>
            <a:r>
              <a:rPr sz="2300" kern="0" spc="-8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70%diwajibkan b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erasal dari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 </a:t>
            </a:r>
            <a:r>
              <a:rPr sz="2200" kern="0" spc="-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Ekuitas Stra</a:t>
            </a:r>
            <a:r>
              <a:rPr sz="2200" kern="0" spc="-8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tegis Swasta</a:t>
            </a:r>
            <a:endParaRPr sz="22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57150" algn="l" rtl="0" eaLnBrk="0">
              <a:lnSpc>
                <a:spcPct val="95000"/>
              </a:lnSpc>
              <a:spcBef>
                <a:spcPts val="5"/>
              </a:spcBef>
            </a:pP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(Mubadala,ADIA,dll)dan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algn="r" rtl="0" eaLnBrk="0">
              <a:lnSpc>
                <a:spcPts val="2670"/>
              </a:lnSpc>
              <a:spcBef>
                <a:spcPts val="320"/>
              </a:spcBef>
            </a:pP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Utang Multilateral</a:t>
            </a:r>
            <a:r>
              <a:rPr sz="2100" kern="0" spc="45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2100" kern="0" spc="-6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(IFC,ADB).</a:t>
            </a:r>
            <a:endParaRPr sz="21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82" name="textbox 82"/>
          <p:cNvSpPr/>
          <p:nvPr/>
        </p:nvSpPr>
        <p:spPr>
          <a:xfrm>
            <a:off x="7168477" y="3966242"/>
            <a:ext cx="3199764" cy="21189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601345" algn="l" rtl="0" eaLnBrk="0">
              <a:lnSpc>
                <a:spcPct val="97000"/>
              </a:lnSpc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Kendaraan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12700" algn="l" rtl="0" eaLnBrk="0">
              <a:lnSpc>
                <a:spcPct val="81000"/>
              </a:lnSpc>
              <a:spcBef>
                <a:spcPts val="20"/>
              </a:spcBef>
            </a:pPr>
            <a:r>
              <a:rPr sz="3100" b="1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Bertujuan</a:t>
            </a:r>
            <a:r>
              <a:rPr sz="31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3100" b="1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K</a:t>
            </a:r>
            <a:r>
              <a:rPr sz="3100" b="1" kern="0" spc="-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husus</a:t>
            </a:r>
            <a:endParaRPr sz="31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1041400" algn="l" rtl="0" eaLnBrk="0">
              <a:lnSpc>
                <a:spcPct val="91000"/>
              </a:lnSpc>
              <a:spcBef>
                <a:spcPts val="175"/>
              </a:spcBef>
            </a:pPr>
            <a:r>
              <a:rPr sz="3100" b="1" kern="0" spc="-1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(SPV)</a:t>
            </a:r>
            <a:endParaRPr sz="31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125730" algn="l" rtl="0" eaLnBrk="0">
              <a:lnSpc>
                <a:spcPct val="97000"/>
              </a:lnSpc>
            </a:pPr>
            <a:r>
              <a:rPr sz="3000" b="1" kern="0" spc="-14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Proyek</a:t>
            </a:r>
            <a:r>
              <a:rPr sz="3000" kern="0" spc="-14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3000" b="1" kern="0" spc="-14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Hi</a:t>
            </a:r>
            <a:r>
              <a:rPr sz="3000" b="1" kern="0" spc="-15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lirisasi</a:t>
            </a:r>
            <a:endParaRPr sz="30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381000" algn="l" rtl="0" eaLnBrk="0">
              <a:lnSpc>
                <a:spcPct val="94000"/>
              </a:lnSpc>
              <a:spcBef>
                <a:spcPts val="115"/>
              </a:spcBef>
            </a:pPr>
            <a:r>
              <a:rPr sz="3100" b="1" kern="0" spc="-6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(Ring-fen</a:t>
            </a:r>
            <a:r>
              <a:rPr sz="3100" b="1" kern="0" spc="-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ced)</a:t>
            </a:r>
            <a:endParaRPr sz="31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84" name="textbox 84"/>
          <p:cNvSpPr/>
          <p:nvPr/>
        </p:nvSpPr>
        <p:spPr>
          <a:xfrm>
            <a:off x="1212835" y="4189284"/>
            <a:ext cx="3690620" cy="16357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7145" algn="l" rtl="0" eaLnBrk="0">
              <a:lnSpc>
                <a:spcPct val="82000"/>
              </a:lnSpc>
            </a:pP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Arus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Masuk</a:t>
            </a:r>
            <a:r>
              <a:rPr sz="2400" kern="0" spc="19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 </a:t>
            </a:r>
            <a:r>
              <a:rPr sz="2400" b="1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Kiri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12700" algn="l" rtl="0" eaLnBrk="0">
              <a:lnSpc>
                <a:spcPct val="90000"/>
              </a:lnSpc>
              <a:spcBef>
                <a:spcPts val="300"/>
              </a:spcBef>
            </a:pP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(Ekuitas Ked</a:t>
            </a:r>
            <a:r>
              <a:rPr sz="2900" kern="0" spc="-1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aulatan)</a:t>
            </a:r>
            <a:endParaRPr sz="29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  <a:p>
            <a:pPr marL="12700" algn="l" rtl="0" eaLnBrk="0">
              <a:lnSpc>
                <a:spcPct val="122000"/>
              </a:lnSpc>
              <a:spcBef>
                <a:spcPts val="10"/>
              </a:spcBef>
            </a:pP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Maksimal 30%injeksi</a:t>
            </a:r>
            <a:r>
              <a:rPr sz="2300" kern="0" spc="1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2300" kern="0" spc="-9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ekuitas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2400" kern="0" spc="-7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dari Danantara/INA.</a:t>
            </a:r>
            <a:endParaRPr sz="24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" name="table 86"/>
          <p:cNvGraphicFramePr>
            <a:graphicFrameLocks noGrp="1"/>
          </p:cNvGraphicFramePr>
          <p:nvPr/>
        </p:nvGraphicFramePr>
        <p:xfrm>
          <a:off x="231691" y="212769"/>
          <a:ext cx="16953863" cy="9264015"/>
        </p:xfrm>
        <a:graphic>
          <a:graphicData uri="http://schemas.openxmlformats.org/drawingml/2006/table">
            <a:tbl>
              <a:tblPr/>
              <a:tblGrid>
                <a:gridCol w="504825"/>
                <a:gridCol w="241300"/>
                <a:gridCol w="7811134"/>
                <a:gridCol w="3861434"/>
                <a:gridCol w="3446145"/>
                <a:gridCol w="247650"/>
                <a:gridCol w="495300"/>
                <a:gridCol w="346075"/>
              </a:tblGrid>
              <a:tr h="2835275"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7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955" algn="l" rtl="0" eaLnBrk="0">
                        <a:lnSpc>
                          <a:spcPct val="83000"/>
                        </a:lnSpc>
                      </a:pPr>
                      <a:r>
                        <a:rPr sz="4600" b="1" kern="0" spc="-2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Peta</a:t>
                      </a:r>
                      <a:r>
                        <a:rPr sz="4600" kern="0" spc="-2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4600" b="1" kern="0" spc="-2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Jalan</a:t>
                      </a:r>
                      <a:r>
                        <a:rPr sz="4600" kern="0" spc="35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4600" b="1" kern="0" spc="-2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Transformasi</a:t>
                      </a:r>
                      <a:endParaRPr sz="46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0955" algn="l" rtl="0" eaLnBrk="0">
                        <a:lnSpc>
                          <a:spcPts val="6245"/>
                        </a:lnSpc>
                      </a:pPr>
                      <a:r>
                        <a:rPr sz="4600" b="1" kern="0" spc="-4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Eksekusi</a:t>
                      </a:r>
                      <a:r>
                        <a:rPr sz="4600" kern="0" spc="42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4600" b="1" kern="0" spc="-4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4-Fa</a:t>
                      </a:r>
                      <a:r>
                        <a:rPr sz="4600" b="1" kern="0" spc="-50" dirty="0">
                          <a:solidFill>
                            <a:srgbClr val="20405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se</a:t>
                      </a:r>
                      <a:endParaRPr sz="46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38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606925" algn="l" rtl="0" eaLnBrk="0">
                        <a:lnSpc>
                          <a:spcPts val="2360"/>
                        </a:lnSpc>
                      </a:pPr>
                      <a:r>
                        <a:rPr sz="1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Fase</a:t>
                      </a:r>
                      <a:r>
                        <a:rPr sz="19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</a:t>
                      </a:r>
                      <a:r>
                        <a:rPr sz="1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2: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4632325" algn="l" rtl="0" eaLnBrk="0">
                        <a:lnSpc>
                          <a:spcPts val="2370"/>
                        </a:lnSpc>
                        <a:spcBef>
                          <a:spcPts val="155"/>
                        </a:spcBef>
                      </a:pPr>
                      <a:r>
                        <a:rPr sz="1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Konsolidasi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4632325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1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(Bulan</a:t>
                      </a:r>
                      <a:r>
                        <a:rPr sz="1900" kern="0" spc="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</a:t>
                      </a:r>
                      <a:r>
                        <a:rPr sz="1900" b="1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6-12)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4629150" algn="l" rtl="0" eaLnBrk="0">
                        <a:lnSpc>
                          <a:spcPct val="92000"/>
                        </a:lnSpc>
                        <a:spcBef>
                          <a:spcPts val="1500"/>
                        </a:spcBef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Pembubaran</a:t>
                      </a:r>
                      <a:r>
                        <a:rPr sz="1900" kern="0" spc="2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rangkap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4610100" indent="-6350" algn="l" rtl="0" eaLnBrk="0">
                        <a:lnSpc>
                          <a:spcPct val="101000"/>
                        </a:lnSpc>
                        <a:spcBef>
                          <a:spcPts val="45"/>
                        </a:spcBef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jabatan me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nteri</a:t>
                      </a:r>
                      <a:r>
                        <a:rPr sz="1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untuk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 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mematuhi UU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4628515" indent="-18415" algn="l" rtl="0" eaLnBrk="0">
                        <a:lnSpc>
                          <a:spcPct val="93000"/>
                        </a:lnSpc>
                        <a:spcBef>
                          <a:spcPts val="15"/>
                        </a:spcBef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Kementerian</a:t>
                      </a:r>
                      <a:r>
                        <a:rPr sz="1900" kern="0" spc="6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Negara,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   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pemisahan</a:t>
                      </a:r>
                      <a:r>
                        <a:rPr sz="19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str</a:t>
                      </a: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uktur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4603750" indent="25400" algn="l" rtl="0" eaLnBrk="0">
                        <a:lnSpc>
                          <a:spcPct val="96000"/>
                        </a:lnSpc>
                        <a:spcBef>
                          <a:spcPts val="30"/>
                        </a:spcBef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Portofolio</a:t>
                      </a:r>
                      <a:r>
                        <a:rPr sz="1900" kern="0" spc="3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Alpha</a:t>
                      </a:r>
                      <a:r>
                        <a:rPr sz="1900" kern="0" spc="3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vs.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  </a:t>
                      </a:r>
                      <a:r>
                        <a:rPr sz="1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Impact.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69290" algn="l" rtl="0" eaLnBrk="0">
                        <a:lnSpc>
                          <a:spcPts val="2360"/>
                        </a:lnSpc>
                        <a:spcBef>
                          <a:spcPts val="5"/>
                        </a:spcBef>
                      </a:pPr>
                      <a:r>
                        <a:rPr sz="1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Fase</a:t>
                      </a:r>
                      <a:r>
                        <a:rPr sz="1900" kern="0" spc="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</a:t>
                      </a:r>
                      <a:r>
                        <a:rPr sz="1900" b="1" kern="0" spc="-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3: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69290" algn="l" rtl="0" eaLnBrk="0">
                        <a:lnSpc>
                          <a:spcPct val="78000"/>
                        </a:lnSpc>
                        <a:spcBef>
                          <a:spcPts val="365"/>
                        </a:spcBef>
                      </a:pPr>
                      <a:r>
                        <a:rPr sz="1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Transformasi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88340" algn="l" rtl="0" eaLnBrk="0">
                        <a:lnSpc>
                          <a:spcPct val="96000"/>
                        </a:lnSpc>
                        <a:spcBef>
                          <a:spcPts val="390"/>
                        </a:spcBef>
                      </a:pPr>
                      <a:r>
                        <a:rPr sz="1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(Bulan</a:t>
                      </a:r>
                      <a:r>
                        <a:rPr sz="1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 </a:t>
                      </a:r>
                      <a:r>
                        <a:rPr sz="1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12-24)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84530" indent="-18415" algn="l" rtl="0" eaLnBrk="0">
                        <a:lnSpc>
                          <a:spcPct val="101000"/>
                        </a:lnSpc>
                        <a:spcBef>
                          <a:spcPts val="1160"/>
                        </a:spcBef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Penggelaran</a:t>
                      </a:r>
                      <a:r>
                        <a:rPr sz="1900" kern="0" spc="2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strukt</a:t>
                      </a: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ur</a:t>
                      </a: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  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SPV</a:t>
                      </a:r>
                      <a:r>
                        <a:rPr sz="19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pembiaya</a:t>
                      </a: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an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66115" algn="l" rtl="0" eaLnBrk="0">
                        <a:lnSpc>
                          <a:spcPct val="83000"/>
                        </a:lnSpc>
                        <a:spcBef>
                          <a:spcPts val="195"/>
                        </a:spcBef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campuran</a:t>
                      </a:r>
                      <a:r>
                        <a:rPr sz="1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un</a:t>
                      </a: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tuk</a:t>
                      </a:r>
                      <a:r>
                        <a:rPr sz="19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40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66115" algn="l" rtl="0" eaLnBrk="0">
                        <a:lnSpc>
                          <a:spcPts val="2460"/>
                        </a:lnSpc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proyek,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91515" algn="l" rtl="0" eaLnBrk="0">
                        <a:lnSpc>
                          <a:spcPct val="93000"/>
                        </a:lnSpc>
                        <a:spcBef>
                          <a:spcPts val="30"/>
                        </a:spcBef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pembentukan</a:t>
                      </a:r>
                      <a:r>
                        <a:rPr sz="1900" kern="0" spc="2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komite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72465" algn="l" rtl="0" eaLnBrk="0">
                        <a:lnSpc>
                          <a:spcPct val="93000"/>
                        </a:lnSpc>
                        <a:spcBef>
                          <a:spcPts val="180"/>
                        </a:spcBef>
                      </a:pP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investasi  independen.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17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605155" algn="l" rtl="0" eaLnBrk="0">
                        <a:lnSpc>
                          <a:spcPts val="2360"/>
                        </a:lnSpc>
                        <a:spcBef>
                          <a:spcPts val="5"/>
                        </a:spcBef>
                      </a:pPr>
                      <a:r>
                        <a:rPr sz="1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Fase</a:t>
                      </a:r>
                      <a:r>
                        <a:rPr sz="19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</a:t>
                      </a:r>
                      <a:r>
                        <a:rPr sz="19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4: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79755" algn="l" rtl="0" eaLnBrk="0">
                        <a:lnSpc>
                          <a:spcPct val="80000"/>
                        </a:lnSpc>
                        <a:spcBef>
                          <a:spcPts val="160"/>
                        </a:spcBef>
                      </a:pPr>
                      <a:r>
                        <a:rPr sz="1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Penciptaan</a:t>
                      </a:r>
                      <a:r>
                        <a:rPr sz="19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</a:t>
                      </a:r>
                      <a:r>
                        <a:rPr sz="19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Nilai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605155" algn="l" rtl="0" eaLnBrk="0">
                        <a:lnSpc>
                          <a:spcPct val="96000"/>
                        </a:lnSpc>
                        <a:spcBef>
                          <a:spcPts val="545"/>
                        </a:spcBef>
                      </a:pPr>
                      <a:r>
                        <a:rPr sz="1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(Bulan</a:t>
                      </a:r>
                      <a:r>
                        <a:rPr sz="1900" kern="0" spc="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 </a:t>
                      </a:r>
                      <a:r>
                        <a:rPr sz="1900" b="1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24+)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89280" algn="l" rtl="0" eaLnBrk="0">
                        <a:lnSpc>
                          <a:spcPct val="92000"/>
                        </a:lnSpc>
                        <a:spcBef>
                          <a:spcPts val="1450"/>
                        </a:spcBef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Penerbitan</a:t>
                      </a:r>
                      <a:r>
                        <a:rPr sz="1900" kern="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obligasi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89280" algn="l" rtl="0" eaLnBrk="0">
                        <a:lnSpc>
                          <a:spcPct val="93000"/>
                        </a:lnSpc>
                        <a:spcBef>
                          <a:spcPts val="145"/>
                        </a:spcBef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hijau</a:t>
                      </a:r>
                      <a:r>
                        <a:rPr sz="1900" kern="0" spc="4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inte</a:t>
                      </a: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rnasional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89280" algn="l" rtl="0" eaLnBrk="0">
                        <a:lnSpc>
                          <a:spcPct val="83000"/>
                        </a:lnSpc>
                        <a:spcBef>
                          <a:spcPts val="140"/>
                        </a:spcBef>
                      </a:pPr>
                      <a:r>
                        <a:rPr sz="19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skala penu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h,daur</a:t>
                      </a:r>
                      <a:r>
                        <a:rPr sz="19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ulang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89280" algn="l" rtl="0" eaLnBrk="0">
                        <a:lnSpc>
                          <a:spcPct val="94000"/>
                        </a:lnSpc>
                        <a:spcBef>
                          <a:spcPts val="5"/>
                        </a:spcBef>
                      </a:pPr>
                      <a:r>
                        <a:rPr sz="1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aset</a:t>
                      </a:r>
                      <a:r>
                        <a:rPr sz="1900" kern="0" spc="6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(asset</a:t>
                      </a:r>
                      <a:r>
                        <a:rPr sz="1900" kern="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recycling)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95630" algn="l" rtl="0" eaLnBrk="0">
                        <a:lnSpc>
                          <a:spcPts val="2400"/>
                        </a:lnSpc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melalui</a:t>
                      </a:r>
                      <a:r>
                        <a:rPr sz="19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INA</a:t>
                      </a: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untuk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89280" algn="l" rtl="0" eaLnBrk="0">
                        <a:lnSpc>
                          <a:spcPct val="94000"/>
                        </a:lnSpc>
                        <a:spcBef>
                          <a:spcPts val="360"/>
                        </a:spcBef>
                      </a:pP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mendanai</a:t>
                      </a:r>
                      <a:r>
                        <a:rPr sz="1900" kern="0" spc="5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industri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95630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generasi</a:t>
                      </a:r>
                      <a:r>
                        <a:rPr sz="1900" kern="0" spc="7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19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berikutnya.</a:t>
                      </a:r>
                      <a:endParaRPr sz="19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16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770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1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6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59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90" name="textbox 90"/>
          <p:cNvSpPr/>
          <p:nvPr/>
        </p:nvSpPr>
        <p:spPr>
          <a:xfrm>
            <a:off x="9442430" y="2490328"/>
            <a:ext cx="3978275" cy="568705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315" algn="l" rtl="0" eaLnBrk="0">
              <a:lnSpc>
                <a:spcPct val="82000"/>
              </a:lnSpc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Kuadran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315" algn="l" rtl="0" eaLnBrk="0">
              <a:lnSpc>
                <a:spcPct val="82000"/>
              </a:lnSpc>
              <a:spcBef>
                <a:spcPts val="1015"/>
              </a:spcBef>
            </a:pPr>
            <a:r>
              <a:rPr sz="2700" b="1" kern="0" spc="-60" dirty="0">
                <a:solidFill>
                  <a:srgbClr val="1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MIND</a:t>
            </a:r>
            <a:r>
              <a:rPr sz="2700" b="1" kern="0" spc="180" dirty="0">
                <a:solidFill>
                  <a:srgbClr val="1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-60" dirty="0">
                <a:solidFill>
                  <a:srgbClr val="1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315" algn="l" rtl="0" eaLnBrk="0">
              <a:lnSpc>
                <a:spcPct val="108000"/>
              </a:lnSpc>
              <a:spcBef>
                <a:spcPts val="220"/>
              </a:spcBef>
            </a:pP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Membutuhkan</a:t>
            </a:r>
            <a:r>
              <a:rPr sz="2300" kern="0" spc="4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mod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al</a:t>
            </a:r>
            <a:r>
              <a:rPr sz="2300" kern="0" spc="4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masif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untuk</a:t>
            </a:r>
            <a:r>
              <a:rPr sz="2300" kern="0" spc="4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smelter</a:t>
            </a:r>
            <a:r>
              <a:rPr sz="2300" kern="0" spc="4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hilirisasi</a:t>
            </a:r>
            <a:r>
              <a:rPr sz="2300" kern="0" spc="5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multi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miliar</a:t>
            </a:r>
            <a:r>
              <a:rPr sz="2300" kern="0" spc="4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dolar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1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205"/>
              </a:lnSpc>
              <a:spcBef>
                <a:spcPts val="695"/>
              </a:spcBef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Kuadran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3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590"/>
              </a:spcBef>
            </a:pPr>
            <a:r>
              <a:rPr sz="2700" b="1" kern="0" spc="-40" dirty="0">
                <a:solidFill>
                  <a:srgbClr val="9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Utilitas Terkekang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5000"/>
              </a:lnSpc>
              <a:spcBef>
                <a:spcPts val="1770"/>
              </a:spcBef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PLN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Utang</a:t>
            </a:r>
            <a:r>
              <a:rPr sz="2300" kern="0" spc="1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IDR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650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Triliun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ketergantungan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subsidi</a:t>
            </a:r>
            <a:r>
              <a:rPr sz="2300" kern="0" spc="1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),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98000"/>
              </a:lnSpc>
              <a:spcBef>
                <a:spcPts val="35"/>
              </a:spcBef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Pertamina</a:t>
            </a:r>
            <a:r>
              <a:rPr sz="2300" kern="0" spc="2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Beban</a:t>
            </a:r>
            <a:r>
              <a:rPr sz="2300" kern="0" spc="3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CAPEX     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RDMP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kilang</a:t>
            </a:r>
            <a:r>
              <a:rPr sz="23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minyak</a:t>
            </a:r>
            <a:r>
              <a:rPr sz="2300" kern="0" spc="1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).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2" name="textbox 92"/>
          <p:cNvSpPr/>
          <p:nvPr/>
        </p:nvSpPr>
        <p:spPr>
          <a:xfrm>
            <a:off x="4362391" y="2496669"/>
            <a:ext cx="3899534" cy="534479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Kuadran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2000"/>
              </a:lnSpc>
              <a:spcBef>
                <a:spcPts val="20"/>
              </a:spcBef>
            </a:pPr>
            <a:r>
              <a:rPr sz="2600" b="1" kern="0" spc="-9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Pencetak</a:t>
            </a:r>
            <a:r>
              <a:rPr sz="2600" b="1" kern="0" spc="18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600" b="1" kern="0" spc="-9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Uang </a:t>
            </a:r>
            <a:r>
              <a:rPr sz="2600" b="1" kern="0" spc="-10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Tunai </a:t>
            </a:r>
            <a:r>
              <a:rPr sz="2600" kern="0" spc="-100" dirty="0">
                <a:solidFill>
                  <a:srgbClr val="20304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□—</a:t>
            </a:r>
            <a:r>
              <a:rPr sz="2600" kern="0" spc="0" dirty="0">
                <a:solidFill>
                  <a:srgbClr val="20304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2700" b="1" kern="0" spc="-3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(Cash Generat</a:t>
            </a:r>
            <a:r>
              <a:rPr sz="2700" b="1" kern="0" spc="-40" dirty="0">
                <a:solidFill>
                  <a:srgbClr val="2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ors)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9000"/>
              </a:lnSpc>
              <a:spcBef>
                <a:spcPts val="875"/>
              </a:spcBef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Bank</a:t>
            </a:r>
            <a:r>
              <a:rPr sz="2300" kern="0" spc="30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Mandiri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ROE</a:t>
            </a:r>
            <a:r>
              <a:rPr sz="23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~20%),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BRI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ROE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~19%),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Telkom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  <a:spcBef>
                <a:spcPts val="360"/>
              </a:spcBef>
            </a:pP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EBITDA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&gt;50%).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9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10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700"/>
              </a:spcBef>
            </a:pP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Kuadran</a:t>
            </a:r>
            <a:r>
              <a:rPr sz="2300" kern="0" spc="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4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2000"/>
              </a:lnSpc>
              <a:spcBef>
                <a:spcPts val="985"/>
              </a:spcBef>
            </a:pPr>
            <a:r>
              <a:rPr sz="2700" b="1" kern="0" spc="-30" dirty="0">
                <a:solidFill>
                  <a:srgbClr val="80304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Distres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3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75000"/>
              </a:lnSpc>
              <a:spcBef>
                <a:spcPts val="700"/>
              </a:spcBef>
            </a:pP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BUMN</a:t>
            </a:r>
            <a:r>
              <a:rPr sz="2300" kern="0" spc="2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-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Karya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4000"/>
              </a:lnSpc>
              <a:spcBef>
                <a:spcPts val="35"/>
              </a:spcBef>
            </a:pP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Membutuhkan</a:t>
            </a:r>
            <a:r>
              <a:rPr sz="2300" kern="0" spc="1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rehabili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tasi   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neraca</a:t>
            </a:r>
            <a:r>
              <a:rPr sz="2300" kern="0" spc="1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paska</a:t>
            </a:r>
            <a:r>
              <a:rPr sz="23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-2024.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94" name="textbox 94"/>
          <p:cNvSpPr/>
          <p:nvPr/>
        </p:nvSpPr>
        <p:spPr>
          <a:xfrm>
            <a:off x="946164" y="666450"/>
            <a:ext cx="11330940" cy="124777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9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37465" indent="-24765" algn="l" rtl="0" eaLnBrk="0">
              <a:lnSpc>
                <a:spcPct val="86000"/>
              </a:lnSpc>
            </a:pPr>
            <a:r>
              <a:rPr sz="4700" b="1" kern="0" spc="-5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Lampiran</a:t>
            </a:r>
            <a:r>
              <a:rPr sz="4700" b="1" kern="0" spc="36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700" b="1" kern="0" spc="-5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1:Matrik</a:t>
            </a:r>
            <a:r>
              <a:rPr sz="4700" b="1" kern="0" spc="-6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</a:t>
            </a:r>
            <a:r>
              <a:rPr sz="4700" b="1" kern="0" spc="34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700" b="1" kern="0" spc="-6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Kesehatan</a:t>
            </a:r>
            <a:r>
              <a:rPr sz="4700" b="1" kern="0" spc="34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700" b="1" kern="0" spc="-6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Finansial</a:t>
            </a:r>
            <a:r>
              <a:rPr sz="4700" b="1" kern="0" spc="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700" b="1" kern="0" spc="-9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BUMN</a:t>
            </a:r>
            <a:r>
              <a:rPr sz="4700" b="1" kern="0" spc="120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4700" b="1" kern="0" spc="-9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Inti</a:t>
            </a:r>
            <a:endParaRPr sz="4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96" name="picture 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439931" y="0"/>
            <a:ext cx="2285930" cy="2260592"/>
          </a:xfrm>
          <a:prstGeom prst="rect">
            <a:avLst/>
          </a:prstGeom>
        </p:spPr>
      </p:pic>
      <p:sp>
        <p:nvSpPr>
          <p:cNvPr id="98" name="textbox 98"/>
          <p:cNvSpPr/>
          <p:nvPr/>
        </p:nvSpPr>
        <p:spPr>
          <a:xfrm rot="16200000">
            <a:off x="1527633" y="5106746"/>
            <a:ext cx="3058795" cy="5334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3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r" rtl="0" eaLnBrk="0">
              <a:lnSpc>
                <a:spcPts val="3995"/>
              </a:lnSpc>
            </a:pP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Pro</a:t>
            </a:r>
            <a:r>
              <a:rPr sz="2900" kern="0" spc="-12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fitabili</a:t>
            </a:r>
            <a:r>
              <a:rPr sz="2900" kern="0" spc="-1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tas/RO</a:t>
            </a:r>
            <a:r>
              <a:rPr sz="2900" kern="0" spc="-1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E</a:t>
            </a:r>
            <a:endParaRPr sz="29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  <p:sp>
        <p:nvSpPr>
          <p:cNvPr id="100" name="textbox 100"/>
          <p:cNvSpPr/>
          <p:nvPr/>
        </p:nvSpPr>
        <p:spPr>
          <a:xfrm>
            <a:off x="6851732" y="8914523"/>
            <a:ext cx="3742054" cy="3670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3000"/>
              </a:lnSpc>
            </a:pPr>
            <a:r>
              <a:rPr sz="2700" b="1" kern="0" spc="2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Beban</a:t>
            </a:r>
            <a:r>
              <a:rPr sz="2700" b="1" kern="0" spc="21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2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Utang/</a:t>
            </a:r>
            <a:r>
              <a:rPr sz="2700" kern="0" spc="20" dirty="0">
                <a:solidFill>
                  <a:srgbClr val="203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Leverage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graphicFrame>
        <p:nvGraphicFramePr>
          <p:cNvPr id="104" name="table 104"/>
          <p:cNvGraphicFramePr>
            <a:graphicFrameLocks noGrp="1"/>
          </p:cNvGraphicFramePr>
          <p:nvPr/>
        </p:nvGraphicFramePr>
        <p:xfrm>
          <a:off x="1016006" y="2575783"/>
          <a:ext cx="15587344" cy="6266180"/>
        </p:xfrm>
        <a:graphic>
          <a:graphicData uri="http://schemas.openxmlformats.org/drawingml/2006/table">
            <a:tbl>
              <a:tblPr/>
              <a:tblGrid>
                <a:gridCol w="4828539"/>
                <a:gridCol w="4253229"/>
                <a:gridCol w="6505575"/>
              </a:tblGrid>
              <a:tr h="73279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3000"/>
                        </a:lnSpc>
                      </a:pPr>
                      <a:endParaRPr sz="5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08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2800" b="1" kern="0" spc="-30" dirty="0">
                          <a:solidFill>
                            <a:schemeClr val="bg1">
                              <a:lumMod val="95000"/>
                              <a:alpha val="10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Nama</a:t>
                      </a:r>
                      <a:r>
                        <a:rPr sz="2800" b="1" kern="0" spc="390" dirty="0">
                          <a:solidFill>
                            <a:schemeClr val="bg1">
                              <a:lumMod val="95000"/>
                              <a:alpha val="10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</a:t>
                      </a:r>
                      <a:r>
                        <a:rPr sz="2800" b="1" kern="0" spc="-30" dirty="0">
                          <a:solidFill>
                            <a:schemeClr val="bg1">
                              <a:lumMod val="95000"/>
                              <a:alpha val="10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Proyek</a:t>
                      </a:r>
                      <a:endParaRPr sz="2800" b="1" kern="0" spc="-30" dirty="0">
                        <a:solidFill>
                          <a:schemeClr val="bg1">
                            <a:lumMod val="95000"/>
                            <a:alpha val="10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8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7005" algn="l" rtl="0" eaLnBrk="0">
                        <a:lnSpc>
                          <a:spcPct val="78000"/>
                        </a:lnSpc>
                        <a:spcBef>
                          <a:spcPts val="0"/>
                        </a:spcBef>
                      </a:pPr>
                      <a:r>
                        <a:rPr sz="2800" b="1" kern="0" spc="-90" dirty="0">
                          <a:solidFill>
                            <a:schemeClr val="bg1">
                              <a:lumMod val="95000"/>
                              <a:alpha val="10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Tujuan</a:t>
                      </a:r>
                      <a:r>
                        <a:rPr sz="2800" b="1" kern="0" spc="-90" dirty="0">
                          <a:solidFill>
                            <a:schemeClr val="bg1">
                              <a:lumMod val="95000"/>
                              <a:alpha val="10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Strategis</a:t>
                      </a:r>
                      <a:endParaRPr sz="2800" b="1" kern="0" spc="-90" dirty="0">
                        <a:solidFill>
                          <a:schemeClr val="bg1">
                            <a:lumMod val="95000"/>
                            <a:alpha val="10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32000"/>
                        </a:lnSpc>
                      </a:pPr>
                      <a:endParaRPr sz="100" b="1" dirty="0">
                        <a:solidFill>
                          <a:schemeClr val="bg1">
                            <a:lumMod val="95000"/>
                          </a:schemeClr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1610" algn="l" rtl="0" eaLnBrk="0">
                        <a:lnSpc>
                          <a:spcPct val="99000"/>
                        </a:lnSpc>
                      </a:pPr>
                      <a:r>
                        <a:rPr sz="3200" b="1" kern="0" spc="-120" dirty="0">
                          <a:solidFill>
                            <a:schemeClr val="bg1">
                              <a:lumMod val="95000"/>
                              <a:alpha val="10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Status</a:t>
                      </a:r>
                      <a:r>
                        <a:rPr sz="3200" b="1" kern="0" spc="-120" dirty="0">
                          <a:solidFill>
                            <a:schemeClr val="bg1">
                              <a:lumMod val="95000"/>
                              <a:alpha val="10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Publik/Kema</a:t>
                      </a:r>
                      <a:r>
                        <a:rPr sz="3200" b="1" kern="0" spc="-130" dirty="0">
                          <a:solidFill>
                            <a:schemeClr val="bg1">
                              <a:lumMod val="95000"/>
                              <a:alpha val="100000"/>
                            </a:scheme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tangan</a:t>
                      </a:r>
                      <a:endParaRPr sz="3200" b="1" kern="0" spc="-130" dirty="0">
                        <a:solidFill>
                          <a:schemeClr val="bg1">
                            <a:lumMod val="95000"/>
                            <a:alpha val="100000"/>
                          </a:schemeClr>
                        </a:solidFill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38811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1750" algn="l" rtl="0" eaLnBrk="0">
                        <a:lnSpc>
                          <a:spcPct val="93000"/>
                        </a:lnSpc>
                        <a:spcBef>
                          <a:spcPts val="0"/>
                        </a:spcBef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Bauksit-alumina</a:t>
                      </a:r>
                      <a:r>
                        <a:rPr sz="2800" kern="0" spc="1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Mempawah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9225" algn="l" rtl="0" eaLnBrk="0">
                        <a:lnSpc>
                          <a:spcPts val="3390"/>
                        </a:lnSpc>
                        <a:spcBef>
                          <a:spcPts val="0"/>
                        </a:spcBef>
                      </a:pPr>
                      <a:r>
                        <a:rPr sz="24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Hilirisasi material industri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9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930" algn="l" rtl="0" eaLnBrk="0">
                        <a:lnSpc>
                          <a:spcPct val="83000"/>
                        </a:lnSpc>
                        <a:spcBef>
                          <a:spcPts val="0"/>
                        </a:spcBef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Groundbreaking 6 Feb</a:t>
                      </a:r>
                      <a:r>
                        <a:rPr sz="28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2026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20980" algn="l" rtl="0" eaLnBrk="0">
                        <a:lnSpc>
                          <a:spcPts val="3400"/>
                        </a:lnSpc>
                      </a:pPr>
                      <a:r>
                        <a:rPr sz="28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(Bagian dari Fase</a:t>
                      </a:r>
                      <a:r>
                        <a:rPr sz="28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1</a:t>
                      </a:r>
                      <a:r>
                        <a:rPr sz="2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USD7M).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1668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3000"/>
                        </a:lnSpc>
                      </a:pP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Waste-to-Energy(P</a:t>
                      </a: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SEL)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31750" algn="l" rtl="0" eaLnBrk="0">
                        <a:lnSpc>
                          <a:spcPts val="3550"/>
                        </a:lnSpc>
                      </a:pP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Bogor Raya</a:t>
                      </a:r>
                      <a:r>
                        <a:rPr sz="2800" kern="0" spc="2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1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9225" algn="l" rtl="0" eaLnBrk="0">
                        <a:lnSpc>
                          <a:spcPct val="83000"/>
                        </a:lnSpc>
                      </a:pPr>
                      <a:r>
                        <a:rPr sz="2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Listrik &amp;pengola</a:t>
                      </a:r>
                      <a:r>
                        <a:rPr sz="28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han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149225" algn="l" rtl="0" eaLnBrk="0">
                        <a:lnSpc>
                          <a:spcPts val="3570"/>
                        </a:lnSpc>
                      </a:pPr>
                      <a:r>
                        <a:rPr sz="28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limbah perkotaan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930" algn="l" rtl="0" eaLnBrk="0">
                        <a:lnSpc>
                          <a:spcPct val="96000"/>
                        </a:lnSpc>
                        <a:spcBef>
                          <a:spcPts val="5"/>
                        </a:spcBef>
                      </a:pPr>
                      <a:r>
                        <a:rPr sz="2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Konstruksi dimul</a:t>
                      </a:r>
                      <a:r>
                        <a:rPr sz="27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ai</a:t>
                      </a:r>
                      <a:r>
                        <a:rPr sz="2700" kern="0" spc="2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7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17 Sep</a:t>
                      </a:r>
                      <a:r>
                        <a:rPr sz="27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7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2026</a:t>
                      </a:r>
                      <a:endParaRPr sz="27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20980" algn="l" rtl="0" eaLnBrk="0">
                        <a:lnSpc>
                          <a:spcPts val="3065"/>
                        </a:lnSpc>
                        <a:spcBef>
                          <a:spcPts val="240"/>
                        </a:spcBef>
                      </a:pPr>
                      <a:r>
                        <a:rPr sz="2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(Nilai IDR 2,8T,target</a:t>
                      </a:r>
                      <a:r>
                        <a:rPr sz="2500" kern="0" spc="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operasi</a:t>
                      </a:r>
                      <a:r>
                        <a:rPr sz="2500" kern="0" spc="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2028).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728595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8415" algn="l" rtl="0" eaLnBrk="0">
                        <a:lnSpc>
                          <a:spcPts val="4295"/>
                        </a:lnSpc>
                        <a:spcBef>
                          <a:spcPts val="5"/>
                        </a:spcBef>
                      </a:pPr>
                      <a:r>
                        <a:rPr sz="4300" kern="0" spc="-80" baseline="27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Chandra</a:t>
                      </a:r>
                      <a:r>
                        <a:rPr sz="27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4300" kern="0" spc="-80" baseline="27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Asri</a:t>
                      </a:r>
                      <a:r>
                        <a:rPr sz="4300" kern="0" spc="-80" baseline="-8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chlo</a:t>
                      </a:r>
                      <a:r>
                        <a:rPr sz="4300" kern="0" spc="-90" baseline="-80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r-alkali-EDC</a:t>
                      </a:r>
                      <a:endParaRPr sz="4300" baseline="-80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43815" algn="l" rtl="0" eaLnBrk="0">
                        <a:lnSpc>
                          <a:spcPct val="93000"/>
                        </a:lnSpc>
                        <a:spcBef>
                          <a:spcPts val="755"/>
                        </a:spcBef>
                      </a:pPr>
                      <a:r>
                        <a:rPr sz="25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Mobilitas List</a:t>
                      </a:r>
                      <a:r>
                        <a:rPr sz="25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rik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31750" algn="l" rtl="0" eaLnBrk="0">
                        <a:lnSpc>
                          <a:spcPts val="3845"/>
                        </a:lnSpc>
                      </a:pP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VKTR&amp;Bakrie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8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8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49225" algn="l" rtl="0" eaLnBrk="0">
                        <a:lnSpc>
                          <a:spcPct val="102000"/>
                        </a:lnSpc>
                      </a:pPr>
                      <a:r>
                        <a:rPr sz="2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Keamanan suplai</a:t>
                      </a:r>
                      <a:r>
                        <a:rPr sz="2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kimia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</a:t>
                      </a:r>
                      <a:r>
                        <a:rPr sz="27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substitusi</a:t>
                      </a:r>
                      <a:r>
                        <a:rPr sz="2700" kern="0" spc="1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7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</a:t>
                      </a:r>
                      <a:r>
                        <a:rPr sz="2700" kern="0" spc="-1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mpor</a:t>
                      </a:r>
                      <a:endParaRPr sz="27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1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5000"/>
                        </a:lnSpc>
                      </a:pPr>
                      <a:endParaRPr sz="6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61925" indent="-12700" algn="l" rtl="0" eaLnBrk="0">
                        <a:lnSpc>
                          <a:spcPct val="110000"/>
                        </a:lnSpc>
                        <a:spcBef>
                          <a:spcPts val="5"/>
                        </a:spcBef>
                      </a:pPr>
                      <a:r>
                        <a:rPr sz="2500" kern="0" spc="-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Bus/truk l</a:t>
                      </a:r>
                      <a:r>
                        <a:rPr sz="2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istrik</a:t>
                      </a:r>
                      <a:r>
                        <a:rPr sz="2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&amp;rantai</a:t>
                      </a:r>
                      <a:r>
                        <a:rPr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</a:t>
                      </a:r>
                      <a:r>
                        <a:rPr sz="25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nilai baterai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01930" algn="l" rtl="0" eaLnBrk="0">
                        <a:lnSpc>
                          <a:spcPct val="95000"/>
                        </a:lnSpc>
                        <a:spcBef>
                          <a:spcPts val="5"/>
                        </a:spcBef>
                      </a:pP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Komitmen</a:t>
                      </a:r>
                      <a:r>
                        <a:rPr sz="2800" kern="0" spc="4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bersama</a:t>
                      </a:r>
                      <a:r>
                        <a:rPr sz="2800" kern="0" spc="4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Danantara</a:t>
                      </a:r>
                      <a:r>
                        <a:rPr sz="2800" kern="0" spc="4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&amp;INA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9000"/>
                        </a:lnSpc>
                        <a:spcBef>
                          <a:spcPts val="10"/>
                        </a:spcBef>
                      </a:pPr>
                      <a:r>
                        <a:rPr sz="26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USD 200 Juta(Proyek tota</a:t>
                      </a:r>
                      <a:r>
                        <a:rPr sz="2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</a:t>
                      </a:r>
                      <a:r>
                        <a:rPr sz="26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USD</a:t>
                      </a:r>
                      <a:r>
                        <a:rPr sz="26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800</a:t>
                      </a:r>
                      <a:r>
                        <a:rPr sz="26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600" kern="0" spc="-7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Juta).</a:t>
                      </a:r>
                      <a:endParaRPr sz="26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l" rtl="0" eaLnBrk="0">
                        <a:lnSpc>
                          <a:spcPct val="19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20345" algn="l" rtl="0" eaLnBrk="0">
                        <a:lnSpc>
                          <a:spcPct val="92000"/>
                        </a:lnSpc>
                        <a:spcBef>
                          <a:spcPts val="845"/>
                        </a:spcBef>
                      </a:pPr>
                      <a:r>
                        <a:rPr sz="2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Term sheet</a:t>
                      </a:r>
                      <a:r>
                        <a:rPr sz="28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non-mengikat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201930" algn="l" rtl="0" eaLnBrk="0">
                        <a:lnSpc>
                          <a:spcPct val="92000"/>
                        </a:lnSpc>
                        <a:spcBef>
                          <a:spcPts val="20"/>
                        </a:spcBef>
                      </a:pPr>
                      <a:r>
                        <a:rPr sz="28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ditandatangani 1</a:t>
                      </a:r>
                      <a:r>
                        <a:rPr sz="2800" kern="0" spc="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Sep</a:t>
                      </a:r>
                      <a:r>
                        <a:rPr sz="2800" kern="0" spc="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800" kern="0" spc="-1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2026(Prasyarat</a:t>
                      </a:r>
                      <a:r>
                        <a:rPr sz="28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</a:t>
                      </a:r>
                      <a:r>
                        <a:rPr sz="2800" kern="0" spc="-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due diligence komprehensif).</a:t>
                      </a:r>
                      <a:endParaRPr sz="28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106" name="rect 106"/>
          <p:cNvSpPr/>
          <p:nvPr/>
        </p:nvSpPr>
        <p:spPr>
          <a:xfrm>
            <a:off x="14592315" y="539763"/>
            <a:ext cx="2870127" cy="761951"/>
          </a:xfrm>
          <a:prstGeom prst="rect">
            <a:avLst/>
          </a:prstGeom>
          <a:solidFill>
            <a:srgbClr val="0B2C4F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rtlCol="0"/>
          <a:lstStyle/>
          <a:p>
            <a:pPr algn="ctr"/>
            <a:endParaRPr lang="zh-CN" altLang="en-US"/>
          </a:p>
        </p:txBody>
      </p:sp>
      <p:sp>
        <p:nvSpPr>
          <p:cNvPr id="108" name="textbox 108"/>
          <p:cNvSpPr/>
          <p:nvPr/>
        </p:nvSpPr>
        <p:spPr>
          <a:xfrm>
            <a:off x="953444" y="733559"/>
            <a:ext cx="16522064" cy="12884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635" algn="l" rtl="0" eaLnBrk="0">
              <a:lnSpc>
                <a:spcPct val="94000"/>
              </a:lnSpc>
            </a:pPr>
            <a:r>
              <a:rPr sz="4500" b="1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Lampiran</a:t>
            </a:r>
            <a:r>
              <a:rPr sz="4500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4500" b="1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2:Status</a:t>
            </a:r>
            <a:r>
              <a:rPr sz="4500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4500" b="1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Kematangan</a:t>
            </a:r>
            <a:r>
              <a:rPr sz="4500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4500" b="1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Proyek</a:t>
            </a:r>
            <a:r>
              <a:rPr sz="4500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4500" b="1" kern="0" spc="-3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Strategis</a:t>
            </a:r>
            <a:r>
              <a:rPr sz="4500" kern="0" spc="45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  </a:t>
            </a:r>
            <a:r>
              <a:rPr sz="4300" b="1" kern="0" spc="-30" baseline="170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LAMPI</a:t>
            </a:r>
            <a:r>
              <a:rPr sz="4300" b="1" kern="0" spc="-40" baseline="170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RAN</a:t>
            </a:r>
            <a:r>
              <a:rPr sz="2700" kern="0" spc="-4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   </a:t>
            </a:r>
            <a:r>
              <a:rPr sz="4300" b="1" kern="0" spc="-40" baseline="170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2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   </a:t>
            </a:r>
            <a:r>
              <a:rPr sz="4300" b="1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(Detail</a:t>
            </a:r>
            <a:r>
              <a:rPr sz="4300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 </a:t>
            </a:r>
            <a:r>
              <a:rPr sz="4300" b="1" kern="0" spc="-20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Pipelin</a:t>
            </a:r>
            <a:r>
              <a:rPr sz="4300" b="1" kern="0" spc="-210" dirty="0">
                <a:solidFill>
                  <a:srgbClr val="000000">
                    <a:alpha val="100000"/>
                  </a:srgbClr>
                </a:solidFill>
                <a:latin typeface="SimSun" panose="02010600030101010101" pitchFamily="2" charset="-122"/>
                <a:ea typeface="SimSun" panose="02010600030101010101" pitchFamily="2" charset="-122"/>
                <a:cs typeface="SimSun" panose="02010600030101010101" pitchFamily="2" charset="-122"/>
              </a:rPr>
              <a:t>e)</a:t>
            </a:r>
            <a:endParaRPr sz="4300" dirty="0">
              <a:latin typeface="SimSun" panose="02010600030101010101" pitchFamily="2" charset="-122"/>
              <a:ea typeface="SimSun" panose="02010600030101010101" pitchFamily="2" charset="-122"/>
              <a:cs typeface="SimSun" panose="0201060003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68908" cy="9753600"/>
          </a:xfrm>
          <a:prstGeom prst="rect">
            <a:avLst/>
          </a:prstGeom>
        </p:spPr>
      </p:pic>
      <p:graphicFrame>
        <p:nvGraphicFramePr>
          <p:cNvPr id="112" name="table 112"/>
          <p:cNvGraphicFramePr>
            <a:graphicFrameLocks noGrp="1"/>
          </p:cNvGraphicFramePr>
          <p:nvPr/>
        </p:nvGraphicFramePr>
        <p:xfrm>
          <a:off x="428637" y="2676528"/>
          <a:ext cx="16560165" cy="6552565"/>
        </p:xfrm>
        <a:graphic>
          <a:graphicData uri="http://schemas.openxmlformats.org/drawingml/2006/table">
            <a:tbl>
              <a:tblPr/>
              <a:tblGrid>
                <a:gridCol w="536575"/>
                <a:gridCol w="4845050"/>
                <a:gridCol w="5212715"/>
                <a:gridCol w="5448300"/>
                <a:gridCol w="517525"/>
              </a:tblGrid>
              <a:tr h="530225"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167765" algn="l" rtl="0" eaLnBrk="0">
                        <a:lnSpc>
                          <a:spcPct val="78000"/>
                        </a:lnSpc>
                        <a:spcBef>
                          <a:spcPts val="5"/>
                        </a:spcBef>
                      </a:pPr>
                      <a:r>
                        <a:rPr sz="33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Prinsip</a:t>
                      </a:r>
                      <a:r>
                        <a:rPr sz="3300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3300" b="1" kern="0" spc="-2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OECD</a:t>
                      </a:r>
                      <a:endParaRPr sz="33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4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09395" algn="l" rtl="0" eaLnBrk="0">
                        <a:lnSpc>
                          <a:spcPts val="3115"/>
                        </a:lnSpc>
                      </a:pPr>
                      <a:r>
                        <a:rPr sz="25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Praktik</a:t>
                      </a:r>
                      <a:r>
                        <a:rPr sz="2500" kern="0" spc="23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4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Saat</a:t>
                      </a:r>
                      <a:r>
                        <a:rPr sz="2500" kern="0" spc="36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5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Ini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1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290830" algn="l" rtl="0" eaLnBrk="0">
                        <a:lnSpc>
                          <a:spcPct val="92000"/>
                        </a:lnSpc>
                      </a:pPr>
                      <a:r>
                        <a:rPr sz="25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Kesenjangan</a:t>
                      </a:r>
                      <a:r>
                        <a:rPr sz="2500" kern="0" spc="39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Kritis(Risiko</a:t>
                      </a:r>
                      <a:r>
                        <a:rPr sz="2500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10" dirty="0">
                          <a:solidFill>
                            <a:srgbClr val="FFFFFF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Hukum)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970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54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76009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State</a:t>
                      </a: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Act</a:t>
                      </a:r>
                      <a:r>
                        <a:rPr sz="2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ing</a:t>
                      </a:r>
                      <a:r>
                        <a:rPr sz="2500" kern="0" spc="1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as</a:t>
                      </a:r>
                      <a:r>
                        <a:rPr sz="2500" kern="0" spc="14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Owner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8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7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2400" algn="l" rtl="0" eaLnBrk="0">
                        <a:lnSpc>
                          <a:spcPct val="92000"/>
                        </a:lnSpc>
                      </a:pPr>
                      <a:r>
                        <a:rPr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Kewenangan sentralisa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si BUMN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97000"/>
                        </a:lnSpc>
                        <a:spcBef>
                          <a:spcPts val="185"/>
                        </a:spcBef>
                      </a:pPr>
                      <a:r>
                        <a:rPr sz="2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terbentuk</a:t>
                      </a:r>
                      <a:r>
                        <a:rPr sz="2500" kern="0" spc="3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di bawah</a:t>
                      </a:r>
                      <a:r>
                        <a:rPr sz="2500" kern="0" spc="20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UU</a:t>
                      </a:r>
                      <a:r>
                        <a:rPr sz="25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No.1/2025.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938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500" kern="0" spc="-10" dirty="0">
                          <a:solidFill>
                            <a:srgbClr val="90303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 Pelanggaran Pasal</a:t>
                      </a:r>
                      <a:r>
                        <a:rPr sz="2500" kern="0" spc="200" dirty="0">
                          <a:solidFill>
                            <a:srgbClr val="90303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90303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23 UU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08000" algn="l" rtl="0" eaLnBrk="0">
                        <a:lnSpc>
                          <a:spcPct val="78000"/>
                        </a:lnSpc>
                        <a:spcBef>
                          <a:spcPts val="690"/>
                        </a:spcBef>
                      </a:pPr>
                      <a:r>
                        <a:rPr sz="2500" kern="0" spc="-10" dirty="0">
                          <a:solidFill>
                            <a:srgbClr val="803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Kementerian Negara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.Menteri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20700" algn="l" rtl="0" eaLnBrk="0">
                        <a:lnSpc>
                          <a:spcPct val="98000"/>
                        </a:lnSpc>
                        <a:spcBef>
                          <a:spcPts val="65"/>
                        </a:spcBef>
                      </a:pPr>
                      <a:r>
                        <a:rPr sz="2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menjabat regulator kebijakan dan</a:t>
                      </a:r>
                      <a:r>
                        <a:rPr sz="2500" kern="0" spc="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4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ofisial korporat secara bersamaan.</a:t>
                      </a:r>
                      <a:endParaRPr sz="24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97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5600">
                <a:tc rowSpan="3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0320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3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4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918845" algn="l" rtl="0" eaLnBrk="0">
                        <a:lnSpc>
                          <a:spcPct val="92000"/>
                        </a:lnSpc>
                        <a:spcBef>
                          <a:spcPts val="5"/>
                        </a:spcBef>
                      </a:pPr>
                      <a:r>
                        <a:rPr sz="2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Level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Pla</a:t>
                      </a:r>
                      <a:r>
                        <a:rPr sz="2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ying</a:t>
                      </a: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Field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2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2400" algn="l" rtl="0" eaLnBrk="0">
                        <a:lnSpc>
                          <a:spcPct val="95000"/>
                        </a:lnSpc>
                      </a:pPr>
                      <a:r>
                        <a:rPr sz="2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Mandat luas</a:t>
                      </a:r>
                      <a:r>
                        <a:rPr sz="2500" kern="0" spc="19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lintas perbankan,re</a:t>
                      </a:r>
                      <a:r>
                        <a:rPr sz="2500" kern="0" spc="-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al</a:t>
                      </a:r>
                      <a:r>
                        <a:rPr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estate,dan</a:t>
                      </a:r>
                      <a:r>
                        <a:rPr sz="2500" kern="0" spc="5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</a:t>
                      </a: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tilitas</a:t>
                      </a:r>
                      <a:r>
                        <a:rPr sz="2500" kern="0" spc="55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kedaulatan.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631314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rtl="0" eaLnBrk="0">
                        <a:lnSpc>
                          <a:spcPct val="119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519430" algn="l" rtl="0" eaLnBrk="0">
                        <a:lnSpc>
                          <a:spcPct val="92000"/>
                        </a:lnSpc>
                      </a:pPr>
                      <a:r>
                        <a:rPr sz="2500" b="1" kern="0" spc="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</a:t>
                      </a:r>
                      <a:r>
                        <a:rPr sz="2500" kern="0" spc="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Pengecualian da</a:t>
                      </a:r>
                      <a:r>
                        <a:rPr sz="2500" kern="0" spc="-1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ri</a:t>
                      </a:r>
                      <a:r>
                        <a:rPr sz="2500" kern="0" spc="13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pengawasan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14985" algn="l" rtl="0" eaLnBrk="0">
                        <a:lnSpc>
                          <a:spcPct val="92000"/>
                        </a:lnSpc>
                        <a:spcBef>
                          <a:spcPts val="240"/>
                        </a:spcBef>
                      </a:pPr>
                      <a:r>
                        <a:rPr sz="2500" kern="0" spc="-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anti-persaingan</a:t>
                      </a:r>
                      <a:r>
                        <a:rPr sz="2500" kern="0" spc="78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domest</a:t>
                      </a:r>
                      <a:r>
                        <a:rPr sz="2500" kern="0" spc="-20" dirty="0">
                          <a:solidFill>
                            <a:srgbClr val="6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ik;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08000" algn="l" rtl="0" eaLnBrk="0">
                        <a:lnSpc>
                          <a:spcPct val="93000"/>
                        </a:lnSpc>
                        <a:spcBef>
                          <a:spcPts val="80"/>
                        </a:spcBef>
                      </a:pP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mendistorsi</a:t>
                      </a:r>
                      <a:r>
                        <a:rPr sz="2500" kern="0" spc="4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pas</a:t>
                      </a: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ar</a:t>
                      </a:r>
                      <a:r>
                        <a:rPr sz="2500" kern="0" spc="6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swasta.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 rowSpan="2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05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6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321945" algn="l" rtl="0" eaLnBrk="0">
                        <a:lnSpc>
                          <a:spcPct val="92000"/>
                        </a:lnSpc>
                      </a:pPr>
                      <a:r>
                        <a:rPr sz="2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Transparency&amp;Audit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b="1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Rigo</a:t>
                      </a:r>
                      <a:r>
                        <a:rPr sz="2500" b="1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32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2400" algn="l" rtl="0" eaLnBrk="0">
                        <a:lnSpc>
                          <a:spcPct val="111000"/>
                        </a:lnSpc>
                        <a:spcBef>
                          <a:spcPts val="5"/>
                        </a:spcBef>
                      </a:pPr>
                      <a:r>
                        <a:rPr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Pasal 3K</a:t>
                      </a:r>
                      <a:r>
                        <a:rPr sz="2500" kern="0" spc="1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menga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manatkan</a:t>
                      </a:r>
                      <a:r>
                        <a:rPr sz="2500" kern="0" spc="1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audit</a:t>
                      </a:r>
                      <a:r>
                        <a:rPr sz="2500" kern="0" spc="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   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BPK</a:t>
                      </a:r>
                      <a:r>
                        <a:rPr sz="2500" kern="0" spc="33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untuk</a:t>
                      </a:r>
                      <a:r>
                        <a:rPr sz="2500" kern="0" spc="36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1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konsolidas</a:t>
                      </a: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</a:t>
                      </a:r>
                      <a:r>
                        <a:rPr sz="2500" kern="0" spc="38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20" dirty="0">
                          <a:solidFill>
                            <a:srgbClr val="00000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aset.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l" rtl="0" eaLnBrk="0">
                        <a:lnSpc>
                          <a:spcPct val="131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algn="l" rtl="0" eaLnBrk="0">
                        <a:lnSpc>
                          <a:spcPct val="10000"/>
                        </a:lnSpc>
                      </a:pPr>
                      <a:endParaRPr sz="1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  <a:p>
                      <a:pPr marL="159385" algn="l" rtl="0" eaLnBrk="0">
                        <a:lnSpc>
                          <a:spcPct val="92000"/>
                        </a:lnSpc>
                      </a:pPr>
                      <a:r>
                        <a:rPr sz="2500" kern="0" spc="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A Pasal 3H(2)mengecual</a:t>
                      </a:r>
                      <a:r>
                        <a:rPr sz="2500" kern="0" spc="-1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ikan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295"/>
                        </a:spcBef>
                      </a:pPr>
                      <a:r>
                        <a:rPr sz="2500" kern="0" spc="-3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portofolio </a:t>
                      </a:r>
                      <a:r>
                        <a:rPr sz="2500" kern="0" spc="-4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dari keuangan negara;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39750" algn="l" rtl="0" eaLnBrk="0">
                        <a:lnSpc>
                          <a:spcPts val="3300"/>
                        </a:lnSpc>
                      </a:pPr>
                      <a:r>
                        <a:rPr sz="2500" kern="0" spc="-2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Pasal 3Y</a:t>
                      </a:r>
                      <a:r>
                        <a:rPr sz="2500" kern="0" spc="9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2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mena</a:t>
                      </a:r>
                      <a:r>
                        <a:rPr sz="2500" kern="0" spc="-3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warkan</a:t>
                      </a:r>
                      <a:r>
                        <a:rPr sz="2500" kern="0" spc="33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500" kern="0" spc="-3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imunitas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algn="r" rtl="0" eaLnBrk="0">
                        <a:lnSpc>
                          <a:spcPct val="81000"/>
                        </a:lnSpc>
                        <a:spcBef>
                          <a:spcPts val="5"/>
                        </a:spcBef>
                      </a:pPr>
                      <a:r>
                        <a:rPr sz="2200" kern="0" spc="-9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eksekutif</a:t>
                      </a:r>
                      <a:r>
                        <a:rPr sz="2200" kern="0" spc="36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 </a:t>
                      </a:r>
                      <a:r>
                        <a:rPr sz="2200" kern="0" spc="-9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(risiko moral haza</a:t>
                      </a:r>
                      <a:r>
                        <a:rPr sz="2200" kern="0" spc="-10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rd tingkat</a:t>
                      </a:r>
                      <a:endParaRPr sz="22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  <a:p>
                      <a:pPr marL="532130" algn="l" rtl="0" eaLnBrk="0">
                        <a:lnSpc>
                          <a:spcPct val="89000"/>
                        </a:lnSpc>
                        <a:spcBef>
                          <a:spcPts val="25"/>
                        </a:spcBef>
                      </a:pPr>
                      <a:r>
                        <a:rPr sz="2500" b="1" kern="0" spc="-20" dirty="0">
                          <a:solidFill>
                            <a:srgbClr val="702020">
                              <a:alpha val="100000"/>
                            </a:srgbClr>
                          </a:solidFill>
                          <a:latin typeface="SimSun" panose="02010600030101010101" pitchFamily="2" charset="-122"/>
                          <a:ea typeface="SimSun" panose="02010600030101010101" pitchFamily="2" charset="-122"/>
                          <a:cs typeface="SimSun" panose="02010600030101010101" pitchFamily="2" charset="-122"/>
                        </a:rPr>
                        <a:t>tinggi).</a:t>
                      </a:r>
                      <a:endParaRPr sz="2500" dirty="0">
                        <a:latin typeface="SimSun" panose="02010600030101010101" pitchFamily="2" charset="-122"/>
                        <a:ea typeface="SimSun" panose="02010600030101010101" pitchFamily="2" charset="-122"/>
                        <a:cs typeface="SimSun" panose="02010600030101010101" pitchFamily="2" charset="-122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27050"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100"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7175">
                <a:tc gridSpan="5">
                  <a:txBody>
                    <a:bodyPr/>
                    <a:lstStyle/>
                    <a:p>
                      <a:pPr algn="l" rtl="0" eaLnBrk="0">
                        <a:lnSpc>
                          <a:spcPct val="100000"/>
                        </a:lnSpc>
                      </a:pPr>
                      <a:endParaRPr sz="1000" dirty="0"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 marL="0" marR="0" marT="0" marB="0" vert="horz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4" name="textbox 114"/>
          <p:cNvSpPr/>
          <p:nvPr/>
        </p:nvSpPr>
        <p:spPr>
          <a:xfrm>
            <a:off x="946164" y="1070318"/>
            <a:ext cx="12353925" cy="1351914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85000"/>
              </a:lnSpc>
            </a:pPr>
            <a:r>
              <a:rPr sz="5100" b="1" kern="0" spc="-1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Lampiran 3:Evalu</a:t>
            </a:r>
            <a:r>
              <a:rPr sz="5100" b="1" kern="0" spc="-17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asi</a:t>
            </a:r>
            <a:r>
              <a:rPr sz="5100" b="1" kern="0" spc="2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b="1" kern="0" spc="-17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Kepatuhan</a:t>
            </a:r>
            <a:r>
              <a:rPr sz="5100" b="1" kern="0" spc="28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b="1" kern="0" spc="-17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Peraturan</a:t>
            </a:r>
            <a:r>
              <a:rPr sz="5100" b="1" kern="0" spc="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b="1" kern="0" spc="-20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Hukum terhadap</a:t>
            </a:r>
            <a:r>
              <a:rPr sz="5100" b="1" kern="0" spc="30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b="1" kern="0" spc="-20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Prinsip OECD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pic>
        <p:nvPicPr>
          <p:cNvPr id="116" name="picture 1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14344693" y="0"/>
            <a:ext cx="2012967" cy="15811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picture 1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 rot="21600000">
            <a:off x="0" y="0"/>
            <a:ext cx="17475200" cy="9753600"/>
          </a:xfrm>
          <a:prstGeom prst="rect">
            <a:avLst/>
          </a:prstGeom>
        </p:spPr>
      </p:pic>
      <p:sp>
        <p:nvSpPr>
          <p:cNvPr id="120" name="textbox 120"/>
          <p:cNvSpPr/>
          <p:nvPr/>
        </p:nvSpPr>
        <p:spPr>
          <a:xfrm>
            <a:off x="946164" y="1064893"/>
            <a:ext cx="12564109" cy="134238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52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indent="31750" algn="l" rtl="0" eaLnBrk="0">
              <a:lnSpc>
                <a:spcPct val="85000"/>
              </a:lnSpc>
            </a:pPr>
            <a:r>
              <a:rPr sz="5100" b="1" kern="0" spc="-1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Lampiran 4:Instrumen</a:t>
            </a:r>
            <a:r>
              <a:rPr sz="5100" b="1" kern="0" spc="27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b="1" kern="0" spc="-16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Pendanaan Grup </a:t>
            </a:r>
            <a:r>
              <a:rPr sz="5100" b="1" kern="0" spc="-17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vs.</a:t>
            </a:r>
            <a:r>
              <a:rPr sz="5100" b="1" kern="0" spc="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b="1" kern="0" spc="-1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Proyek</a:t>
            </a:r>
            <a:r>
              <a:rPr sz="5100" b="1" kern="0" spc="23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5100" b="1" kern="0" spc="-19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Indiv</a:t>
            </a:r>
            <a:r>
              <a:rPr sz="5100" b="1" kern="0" spc="-200" dirty="0">
                <a:solidFill>
                  <a:srgbClr val="20405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idual</a:t>
            </a:r>
            <a:endParaRPr sz="51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2" name="textbox 122"/>
          <p:cNvSpPr/>
          <p:nvPr/>
        </p:nvSpPr>
        <p:spPr>
          <a:xfrm>
            <a:off x="1073208" y="8428674"/>
            <a:ext cx="15197455" cy="873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21000"/>
              </a:lnSpc>
            </a:pPr>
            <a:r>
              <a:rPr sz="2300" b="1" kern="0" spc="0" dirty="0">
                <a:solidFill>
                  <a:srgbClr val="8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CORE</a:t>
            </a:r>
            <a:r>
              <a:rPr sz="2300" b="1" kern="0" spc="220" dirty="0">
                <a:solidFill>
                  <a:srgbClr val="8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b="1" kern="0" spc="0" dirty="0">
                <a:solidFill>
                  <a:srgbClr val="8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DISCLAIMER</a:t>
            </a:r>
            <a:r>
              <a:rPr sz="2300" b="1" kern="0" spc="80" dirty="0">
                <a:solidFill>
                  <a:srgbClr val="80202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: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Pembiayaan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fasilitas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tingkat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holding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berbeda</a:t>
            </a:r>
            <a:r>
              <a:rPr sz="23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dengan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pencairan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disbursement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tingkat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proyek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Pinjaman</a:t>
            </a:r>
            <a:r>
              <a:rPr sz="23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holding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yang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terjangkau</a:t>
            </a:r>
            <a:r>
              <a:rPr sz="2300" kern="0" spc="1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tidak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secara</a:t>
            </a:r>
            <a:r>
              <a:rPr sz="23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otomatis</a:t>
            </a:r>
            <a:r>
              <a:rPr sz="23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menetapkan</a:t>
            </a:r>
            <a:r>
              <a:rPr sz="23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kelayakan</a:t>
            </a:r>
            <a:r>
              <a:rPr sz="23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proyek</a:t>
            </a:r>
            <a:r>
              <a:rPr sz="23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3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individual</a:t>
            </a:r>
            <a:r>
              <a:rPr sz="2300" kern="0" spc="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23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4" name="textbox 124"/>
          <p:cNvSpPr/>
          <p:nvPr/>
        </p:nvSpPr>
        <p:spPr>
          <a:xfrm>
            <a:off x="1073208" y="6472980"/>
            <a:ext cx="7323455" cy="13436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5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7000"/>
              </a:lnSpc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Pengalihan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SOE</a:t>
            </a:r>
            <a:r>
              <a:rPr sz="2700" kern="0" spc="2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Dividends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(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Otoritas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mengelola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dividen</a:t>
            </a:r>
            <a:r>
              <a:rPr sz="2700" kern="0" spc="5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sesuai</a:t>
            </a:r>
            <a:r>
              <a:rPr sz="2700" kern="0" spc="6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pemilikan</a:t>
            </a:r>
            <a:r>
              <a:rPr sz="2700" kern="0" spc="5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saham,berdampak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pada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pengurangan</a:t>
            </a:r>
            <a:r>
              <a:rPr sz="2700" kern="0" spc="2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PNBP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).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6" name="textbox 126"/>
          <p:cNvSpPr/>
          <p:nvPr/>
        </p:nvSpPr>
        <p:spPr>
          <a:xfrm>
            <a:off x="8972523" y="3583671"/>
            <a:ext cx="7138669" cy="135636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8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8000"/>
              </a:lnSpc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Penerbitan</a:t>
            </a:r>
            <a:r>
              <a:rPr sz="2700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Obligasi</a:t>
            </a:r>
            <a:r>
              <a:rPr sz="2700" kern="0" spc="4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Internasional</a:t>
            </a:r>
            <a:r>
              <a:rPr sz="2700" kern="0" spc="38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Juni</a:t>
            </a:r>
            <a:r>
              <a:rPr sz="2700" kern="0" spc="29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2026: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USD</a:t>
            </a:r>
            <a:r>
              <a:rPr sz="2700" kern="0" spc="4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750M</a:t>
            </a:r>
            <a:r>
              <a:rPr sz="2700" kern="0" spc="4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@5.35%tenor</a:t>
            </a:r>
            <a:r>
              <a:rPr sz="2700" kern="0" spc="3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5-tahun;USD</a:t>
            </a:r>
            <a:r>
              <a:rPr sz="2700" kern="0" spc="4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750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@5.95%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tenor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 10-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tahun</a:t>
            </a:r>
            <a:r>
              <a:rPr sz="2700" kern="0" spc="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).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28" name="textbox 128"/>
          <p:cNvSpPr/>
          <p:nvPr/>
        </p:nvSpPr>
        <p:spPr>
          <a:xfrm>
            <a:off x="1073208" y="3583671"/>
            <a:ext cx="6984365" cy="134620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6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7000"/>
              </a:lnSpc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Patriot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Bonds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(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Tenor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panjang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domestik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,e</a:t>
            </a:r>
            <a:r>
              <a:rPr sz="2700" kern="0" spc="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.g.,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Seri</a:t>
            </a:r>
            <a:r>
              <a:rPr sz="2700" kern="0" spc="5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A5-tahun</a:t>
            </a:r>
            <a:r>
              <a:rPr sz="2700" kern="0" spc="7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@2%,S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eri  B7-tahun  @2%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475"/>
              </a:lnSpc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untuk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likuiditas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institusional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domestik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).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0" name="textbox 130"/>
          <p:cNvSpPr/>
          <p:nvPr/>
        </p:nvSpPr>
        <p:spPr>
          <a:xfrm>
            <a:off x="8972523" y="6470385"/>
            <a:ext cx="6494779" cy="133540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61000"/>
              </a:lnSpc>
            </a:pPr>
            <a:endParaRPr sz="1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ct val="106000"/>
              </a:lnSpc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Diizinkan</a:t>
            </a:r>
            <a:r>
              <a:rPr sz="2700" kern="0" spc="64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berdasarkan</a:t>
            </a:r>
            <a:r>
              <a:rPr sz="2700" kern="0" spc="6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PP  19/2026,te</a:t>
            </a:r>
            <a:r>
              <a:rPr sz="27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tapi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pengakuan</a:t>
            </a:r>
            <a:r>
              <a:rPr sz="2700" kern="0" spc="46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hukum</a:t>
            </a:r>
            <a:r>
              <a:rPr sz="2700" kern="0" spc="27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tidak</a:t>
            </a:r>
            <a:r>
              <a:rPr sz="2700" kern="0" spc="3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serta</a:t>
            </a:r>
            <a:r>
              <a:rPr sz="2700" kern="0" spc="4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merta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" algn="l" rtl="0" eaLnBrk="0">
              <a:lnSpc>
                <a:spcPts val="3470"/>
              </a:lnSpc>
            </a:pP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mencerminkan</a:t>
            </a:r>
            <a:r>
              <a:rPr sz="2700" kern="0" spc="32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ketersediaan</a:t>
            </a:r>
            <a:r>
              <a:rPr sz="2700" kern="0" spc="33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kas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kern="0" spc="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APBN</a:t>
            </a:r>
            <a:r>
              <a:rPr sz="2700" kern="0" spc="2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.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4" name="group 4"/>
          <p:cNvGrpSpPr/>
          <p:nvPr/>
        </p:nvGrpSpPr>
        <p:grpSpPr>
          <a:xfrm rot="21600000">
            <a:off x="8858179" y="5505419"/>
            <a:ext cx="7601014" cy="654076"/>
            <a:chOff x="0" y="0"/>
            <a:chExt cx="7601014" cy="654076"/>
          </a:xfrm>
        </p:grpSpPr>
        <p:pic>
          <p:nvPicPr>
            <p:cNvPr id="132" name="picture 13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1600000">
              <a:off x="0" y="0"/>
              <a:ext cx="7601014" cy="654076"/>
            </a:xfrm>
            <a:prstGeom prst="rect">
              <a:avLst/>
            </a:prstGeom>
          </p:spPr>
        </p:pic>
        <p:sp>
          <p:nvSpPr>
            <p:cNvPr id="134" name="textbox 134"/>
            <p:cNvSpPr/>
            <p:nvPr/>
          </p:nvSpPr>
          <p:spPr>
            <a:xfrm>
              <a:off x="-12700" y="-12700"/>
              <a:ext cx="7626984" cy="689609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01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02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39700" algn="l" rtl="0" eaLnBrk="0">
                <a:lnSpc>
                  <a:spcPct val="83000"/>
                </a:lnSpc>
                <a:spcBef>
                  <a:spcPts val="5"/>
                </a:spcBef>
              </a:pP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Penyertaan</a:t>
              </a:r>
              <a:r>
                <a:rPr sz="2700" b="1" kern="0" spc="20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Modal</a:t>
              </a:r>
              <a:r>
                <a:rPr sz="2700" b="1" kern="0" spc="2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 </a:t>
              </a:r>
              <a:r>
                <a:rPr sz="2700" b="1" kern="0" spc="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Ne</a:t>
              </a:r>
              <a:r>
                <a:rPr sz="2700" b="1" kern="0" spc="-1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gara(PMN)</a:t>
              </a:r>
              <a:endParaRPr sz="27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  <p:sp>
        <p:nvSpPr>
          <p:cNvPr id="136" name="textbox 136"/>
          <p:cNvSpPr/>
          <p:nvPr/>
        </p:nvSpPr>
        <p:spPr>
          <a:xfrm>
            <a:off x="977912" y="5499080"/>
            <a:ext cx="7594600" cy="654684"/>
          </a:xfrm>
          <a:prstGeom prst="rect">
            <a:avLst/>
          </a:prstGeom>
          <a:solidFill>
            <a:srgbClr val="0B2E54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2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algn="l" rtl="0" eaLnBrk="0">
              <a:lnSpc>
                <a:spcPct val="103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950" algn="l" rtl="0" eaLnBrk="0">
              <a:lnSpc>
                <a:spcPct val="82000"/>
              </a:lnSpc>
            </a:pPr>
            <a:r>
              <a:rPr sz="2700" b="1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Ekuitas</a:t>
            </a:r>
            <a:r>
              <a:rPr sz="2700" b="1" kern="0" spc="19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-5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Internal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38" name="textbox 138"/>
          <p:cNvSpPr/>
          <p:nvPr/>
        </p:nvSpPr>
        <p:spPr>
          <a:xfrm>
            <a:off x="8858179" y="2628887"/>
            <a:ext cx="7601584" cy="641984"/>
          </a:xfrm>
          <a:prstGeom prst="rect">
            <a:avLst/>
          </a:prstGeom>
          <a:solidFill>
            <a:srgbClr val="0A2D5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56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27000" algn="l" rtl="0" eaLnBrk="0">
              <a:lnSpc>
                <a:spcPct val="83000"/>
              </a:lnSpc>
              <a:spcBef>
                <a:spcPts val="5"/>
              </a:spcBef>
            </a:pPr>
            <a:r>
              <a:rPr sz="2700" b="1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Global Capital</a:t>
            </a:r>
            <a:r>
              <a:rPr sz="2700" b="1" kern="0" spc="20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Markets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sp>
        <p:nvSpPr>
          <p:cNvPr id="140" name="textbox 140"/>
          <p:cNvSpPr/>
          <p:nvPr/>
        </p:nvSpPr>
        <p:spPr>
          <a:xfrm>
            <a:off x="977912" y="2628887"/>
            <a:ext cx="7601584" cy="641984"/>
          </a:xfrm>
          <a:prstGeom prst="rect">
            <a:avLst/>
          </a:prstGeom>
          <a:solidFill>
            <a:srgbClr val="0B2C52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74000"/>
              </a:lnSpc>
            </a:pPr>
            <a:endParaRPr sz="1000" dirty="0">
              <a:latin typeface="Arial" panose="020B0604020202020204"/>
              <a:ea typeface="Arial" panose="020B0604020202020204"/>
              <a:cs typeface="Arial" panose="020B0604020202020204"/>
            </a:endParaRPr>
          </a:p>
          <a:p>
            <a:pPr marL="107950" algn="l" rtl="0" eaLnBrk="0">
              <a:lnSpc>
                <a:spcPct val="83000"/>
              </a:lnSpc>
              <a:spcBef>
                <a:spcPts val="5"/>
              </a:spcBef>
            </a:pPr>
            <a:r>
              <a:rPr sz="2700" b="1" kern="0" spc="-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Sovereign &amp;Domestic</a:t>
            </a:r>
            <a:r>
              <a:rPr sz="2700" b="1" kern="0" spc="17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 </a:t>
            </a:r>
            <a:r>
              <a:rPr sz="2700" b="1" kern="0" spc="-3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D</a:t>
            </a:r>
            <a:r>
              <a:rPr sz="2700" b="1" kern="0" spc="-40" dirty="0">
                <a:solidFill>
                  <a:srgbClr val="FFFFFF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ebt</a:t>
            </a:r>
            <a:endParaRPr sz="2700" dirty="0">
              <a:latin typeface="Arial" panose="020B0604020202020204"/>
              <a:ea typeface="Arial" panose="020B0604020202020204"/>
              <a:cs typeface="Arial" panose="020B0604020202020204"/>
            </a:endParaRPr>
          </a:p>
        </p:txBody>
      </p:sp>
      <p:grpSp>
        <p:nvGrpSpPr>
          <p:cNvPr id="6" name="group 6"/>
          <p:cNvGrpSpPr/>
          <p:nvPr/>
        </p:nvGrpSpPr>
        <p:grpSpPr>
          <a:xfrm rot="21600000">
            <a:off x="14370031" y="0"/>
            <a:ext cx="1911438" cy="1555796"/>
            <a:chOff x="0" y="0"/>
            <a:chExt cx="1911438" cy="1555796"/>
          </a:xfrm>
        </p:grpSpPr>
        <p:pic>
          <p:nvPicPr>
            <p:cNvPr id="142" name="picture 14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21600000">
              <a:off x="0" y="0"/>
              <a:ext cx="1911438" cy="1555796"/>
            </a:xfrm>
            <a:prstGeom prst="rect">
              <a:avLst/>
            </a:prstGeom>
          </p:spPr>
        </p:pic>
        <p:sp>
          <p:nvSpPr>
            <p:cNvPr id="144" name="textbox 144"/>
            <p:cNvSpPr/>
            <p:nvPr/>
          </p:nvSpPr>
          <p:spPr>
            <a:xfrm>
              <a:off x="-12700" y="-12700"/>
              <a:ext cx="1937385" cy="1651635"/>
            </a:xfrm>
            <a:prstGeom prst="rect">
              <a:avLst/>
            </a:prstGeom>
            <a:noFill/>
            <a:ln w="0" cap="flat">
              <a:noFill/>
              <a:prstDash val="solid"/>
              <a:miter lim="0"/>
            </a:ln>
          </p:spPr>
          <p:txBody>
            <a:bodyPr vert="horz" wrap="square" lIns="0" tIns="0" rIns="0" bIns="0"/>
            <a:lstStyle/>
            <a:p>
              <a:pPr algn="l" rtl="0" eaLnBrk="0">
                <a:lnSpc>
                  <a:spcPct val="13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algn="l" rtl="0" eaLnBrk="0">
                <a:lnSpc>
                  <a:spcPct val="133000"/>
                </a:lnSpc>
              </a:pPr>
              <a:endParaRPr sz="10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  <a:p>
              <a:pPr marL="145415" algn="l" rtl="0" eaLnBrk="0">
                <a:lnSpc>
                  <a:spcPct val="82000"/>
                </a:lnSpc>
                <a:spcBef>
                  <a:spcPts val="0"/>
                </a:spcBef>
              </a:pPr>
              <a:r>
                <a:rPr sz="2300" b="1" kern="0" spc="-60" dirty="0">
                  <a:solidFill>
                    <a:srgbClr val="FFFFFF">
                      <a:alpha val="100000"/>
                    </a:srgbClr>
                  </a:solidFill>
                  <a:latin typeface="Arial" panose="020B0604020202020204"/>
                  <a:ea typeface="Arial" panose="020B0604020202020204"/>
                  <a:cs typeface="Arial" panose="020B0604020202020204"/>
                </a:rPr>
                <a:t>LAMPIRAN4</a:t>
              </a:r>
              <a:endParaRPr sz="2300" dirty="0">
                <a:latin typeface="Arial" panose="020B0604020202020204"/>
                <a:ea typeface="Arial" panose="020B0604020202020204"/>
                <a:cs typeface="Arial" panose="020B0604020202020204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26898</Words>
  <Application>WPS Presentation</Application>
  <PresentationFormat/>
  <Paragraphs>2075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HH</cp:lastModifiedBy>
  <cp:revision>2</cp:revision>
  <dcterms:created xsi:type="dcterms:W3CDTF">2026-10-08T09:10:17Z</dcterms:created>
  <dcterms:modified xsi:type="dcterms:W3CDTF">2026-10-08T09:10:35Z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wqlLaW5nc29mdCBQREYgdG8gV1BTIDExMEI</vt:lpwstr>
  </property>
  <property fmtid="{D5CDD505-2E9C-101B-9397-08002B2CF9AE}" pid="3" name="Created">
    <vt:filetime>2026-10-08T09:07:26Z</vt:filetime>
  </property>
  <property fmtid="{D5CDD505-2E9C-101B-9397-08002B2CF9AE}" pid="4" name="UsrData">
    <vt:lpwstr>6ac75d31f4d01b001f497eddwl</vt:lpwstr>
  </property>
  <property fmtid="{D5CDD505-2E9C-101B-9397-08002B2CF9AE}" pid="5" name="ICV">
    <vt:lpwstr>1A6A865263834F1795451076BC8779AC_13</vt:lpwstr>
  </property>
  <property fmtid="{D5CDD505-2E9C-101B-9397-08002B2CF9AE}" pid="6" name="KSOProductBuildVer">
    <vt:lpwstr>1033-12.1.0.28485</vt:lpwstr>
  </property>
</Properties>
</file>