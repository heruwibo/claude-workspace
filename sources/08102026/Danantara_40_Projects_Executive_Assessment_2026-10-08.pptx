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5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88c91032414acb" /><Relationship Type="http://schemas.openxmlformats.org/officeDocument/2006/relationships/extended-properties" Target="/docProps/app.xml" Id="Rbbad6759600940ae" /><Relationship Type="http://schemas.openxmlformats.org/officeDocument/2006/relationships/officeDocument" Target="/ppt/presentation.xml" Id="R04ccc8f46e354e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6742f069f14ad7"/>
  </p:sldMasterIdLst>
  <p:notesMasterIdLst>
    <p:notesMasterId xmlns:r="http://schemas.openxmlformats.org/officeDocument/2006/relationships" r:id="R569e5b964aad4156"/>
  </p:notesMasterIdLst>
  <p:sldIdLst>
    <p:sldId xmlns:r="http://schemas.openxmlformats.org/officeDocument/2006/relationships" id="256" r:id="R15f3bc34a28e45b2"/>
    <p:sldId xmlns:r="http://schemas.openxmlformats.org/officeDocument/2006/relationships" id="257" r:id="R780db5a9f32d4146"/>
    <p:sldId xmlns:r="http://schemas.openxmlformats.org/officeDocument/2006/relationships" id="258" r:id="Rb319dd53984e4520"/>
    <p:sldId xmlns:r="http://schemas.openxmlformats.org/officeDocument/2006/relationships" id="259" r:id="Rf294b3845d2a469e"/>
    <p:sldId xmlns:r="http://schemas.openxmlformats.org/officeDocument/2006/relationships" id="260" r:id="R00581d500af845bd"/>
    <p:sldId xmlns:r="http://schemas.openxmlformats.org/officeDocument/2006/relationships" id="261" r:id="R366b9fb355e6471b"/>
    <p:sldId xmlns:r="http://schemas.openxmlformats.org/officeDocument/2006/relationships" id="262" r:id="Ra60cd25eb7df446b"/>
    <p:sldId xmlns:r="http://schemas.openxmlformats.org/officeDocument/2006/relationships" id="263" r:id="Raf29d18f6a3a46e5"/>
    <p:sldId xmlns:r="http://schemas.openxmlformats.org/officeDocument/2006/relationships" id="264" r:id="R37e789c2ecae4a9e"/>
    <p:sldId xmlns:r="http://schemas.openxmlformats.org/officeDocument/2006/relationships" id="265" r:id="R7784c4ebfbac4f31"/>
    <p:sldId xmlns:r="http://schemas.openxmlformats.org/officeDocument/2006/relationships" id="266" r:id="Re05d68095c43457a"/>
    <p:sldId xmlns:r="http://schemas.openxmlformats.org/officeDocument/2006/relationships" id="267" r:id="R4d69823b3465468c"/>
    <p:sldId xmlns:r="http://schemas.openxmlformats.org/officeDocument/2006/relationships" id="268" r:id="R89d3578f64af4870"/>
    <p:sldId xmlns:r="http://schemas.openxmlformats.org/officeDocument/2006/relationships" id="269" r:id="R0b34eed82d224f8a"/>
    <p:sldId xmlns:r="http://schemas.openxmlformats.org/officeDocument/2006/relationships" id="270" r:id="R3edf5b87577242ba"/>
    <p:sldId xmlns:r="http://schemas.openxmlformats.org/officeDocument/2006/relationships" id="271" r:id="R5c3d7f5ac07e429b"/>
    <p:sldId xmlns:r="http://schemas.openxmlformats.org/officeDocument/2006/relationships" id="272" r:id="R2bc7d15cb9674842"/>
    <p:sldId xmlns:r="http://schemas.openxmlformats.org/officeDocument/2006/relationships" id="273" r:id="Ra57b8043982c48e2"/>
    <p:sldId xmlns:r="http://schemas.openxmlformats.org/officeDocument/2006/relationships" id="274" r:id="R9e2d1ee67d2b4d7d"/>
    <p:sldId xmlns:r="http://schemas.openxmlformats.org/officeDocument/2006/relationships" id="275" r:id="R15e6a27cfc454f51"/>
    <p:sldId xmlns:r="http://schemas.openxmlformats.org/officeDocument/2006/relationships" id="276" r:id="Rab01291c97e74278"/>
    <p:sldId xmlns:r="http://schemas.openxmlformats.org/officeDocument/2006/relationships" id="277" r:id="Rfc4ce3a28d834bc6"/>
    <p:sldId xmlns:r="http://schemas.openxmlformats.org/officeDocument/2006/relationships" id="278" r:id="R77c8c062743149db"/>
    <p:sldId xmlns:r="http://schemas.openxmlformats.org/officeDocument/2006/relationships" id="279" r:id="R2c1693a09cab45cb"/>
    <p:sldId xmlns:r="http://schemas.openxmlformats.org/officeDocument/2006/relationships" id="280" r:id="R185e56bcb99b410b"/>
    <p:sldId xmlns:r="http://schemas.openxmlformats.org/officeDocument/2006/relationships" id="281" r:id="Rf38b0113d3834385"/>
    <p:sldId xmlns:r="http://schemas.openxmlformats.org/officeDocument/2006/relationships" id="282" r:id="R68f311e6d36f4fcb"/>
    <p:sldId xmlns:r="http://schemas.openxmlformats.org/officeDocument/2006/relationships" id="283" r:id="R1918fb7fdad4413f"/>
    <p:sldId xmlns:r="http://schemas.openxmlformats.org/officeDocument/2006/relationships" id="284" r:id="R6b377eb6e11249be"/>
    <p:sldId xmlns:r="http://schemas.openxmlformats.org/officeDocument/2006/relationships" id="285" r:id="Re101bbdfa2fe4d40"/>
    <p:sldId xmlns:r="http://schemas.openxmlformats.org/officeDocument/2006/relationships" id="286" r:id="Ra8700a7a029b4626"/>
    <p:sldId xmlns:r="http://schemas.openxmlformats.org/officeDocument/2006/relationships" id="287" r:id="R418dc8dac3314ea7"/>
    <p:sldId xmlns:r="http://schemas.openxmlformats.org/officeDocument/2006/relationships" id="288" r:id="Recfd0087b2e046ec"/>
    <p:sldId xmlns:r="http://schemas.openxmlformats.org/officeDocument/2006/relationships" id="289" r:id="R98804316d6a74a99"/>
    <p:sldId xmlns:r="http://schemas.openxmlformats.org/officeDocument/2006/relationships" id="290" r:id="Rc35da341230642ed"/>
    <p:sldId xmlns:r="http://schemas.openxmlformats.org/officeDocument/2006/relationships" id="291" r:id="R3e6d6c00c8a844b5"/>
    <p:sldId xmlns:r="http://schemas.openxmlformats.org/officeDocument/2006/relationships" id="292" r:id="R22781b28dd544e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534f8025b84c73" /><Relationship Type="http://schemas.openxmlformats.org/officeDocument/2006/relationships/slideMaster" Target="/ppt/slideMasters/slideMaster1.xml" Id="R156742f069f14ad7" /><Relationship Type="http://schemas.openxmlformats.org/officeDocument/2006/relationships/notesMaster" Target="/ppt/notesMasters/notesMaster1.xml" Id="R569e5b964aad4156" /><Relationship Type="http://schemas.openxmlformats.org/officeDocument/2006/relationships/presProps" Target="/ppt/presProps.xml" Id="Rbd105aa236274c87" /><Relationship Type="http://schemas.openxmlformats.org/officeDocument/2006/relationships/tableStyles" Target="/ppt/tableStyles.xml" Id="R82de7a7f0eae4a10" /><Relationship Type="http://schemas.openxmlformats.org/officeDocument/2006/relationships/slide" Target="/ppt/slides/slide1.xml" Id="R15f3bc34a28e45b2" /><Relationship Type="http://schemas.openxmlformats.org/officeDocument/2006/relationships/slide" Target="/ppt/slides/slide2.xml" Id="R780db5a9f32d4146" /><Relationship Type="http://schemas.openxmlformats.org/officeDocument/2006/relationships/slide" Target="/ppt/slides/slide3.xml" Id="Rb319dd53984e4520" /><Relationship Type="http://schemas.openxmlformats.org/officeDocument/2006/relationships/slide" Target="/ppt/slides/slide4.xml" Id="Rf294b3845d2a469e" /><Relationship Type="http://schemas.openxmlformats.org/officeDocument/2006/relationships/slide" Target="/ppt/slides/slide5.xml" Id="R00581d500af845bd" /><Relationship Type="http://schemas.openxmlformats.org/officeDocument/2006/relationships/slide" Target="/ppt/slides/slide6.xml" Id="R366b9fb355e6471b" /><Relationship Type="http://schemas.openxmlformats.org/officeDocument/2006/relationships/slide" Target="/ppt/slides/slide7.xml" Id="Ra60cd25eb7df446b" /><Relationship Type="http://schemas.openxmlformats.org/officeDocument/2006/relationships/slide" Target="/ppt/slides/slide8.xml" Id="Raf29d18f6a3a46e5" /><Relationship Type="http://schemas.openxmlformats.org/officeDocument/2006/relationships/slide" Target="/ppt/slides/slide9.xml" Id="R37e789c2ecae4a9e" /><Relationship Type="http://schemas.openxmlformats.org/officeDocument/2006/relationships/slide" Target="/ppt/slides/slide10.xml" Id="R7784c4ebfbac4f31" /><Relationship Type="http://schemas.openxmlformats.org/officeDocument/2006/relationships/slide" Target="/ppt/slides/slide11.xml" Id="Re05d68095c43457a" /><Relationship Type="http://schemas.openxmlformats.org/officeDocument/2006/relationships/slide" Target="/ppt/slides/slide12.xml" Id="R4d69823b3465468c" /><Relationship Type="http://schemas.openxmlformats.org/officeDocument/2006/relationships/slide" Target="/ppt/slides/slide13.xml" Id="R89d3578f64af4870" /><Relationship Type="http://schemas.openxmlformats.org/officeDocument/2006/relationships/slide" Target="/ppt/slides/slide14.xml" Id="R0b34eed82d224f8a" /><Relationship Type="http://schemas.openxmlformats.org/officeDocument/2006/relationships/slide" Target="/ppt/slides/slide15.xml" Id="R3edf5b87577242ba" /><Relationship Type="http://schemas.openxmlformats.org/officeDocument/2006/relationships/slide" Target="/ppt/slides/slide16.xml" Id="R5c3d7f5ac07e429b" /><Relationship Type="http://schemas.openxmlformats.org/officeDocument/2006/relationships/slide" Target="/ppt/slides/slide17.xml" Id="R2bc7d15cb9674842" /><Relationship Type="http://schemas.openxmlformats.org/officeDocument/2006/relationships/slide" Target="/ppt/slides/slide18.xml" Id="Ra57b8043982c48e2" /><Relationship Type="http://schemas.openxmlformats.org/officeDocument/2006/relationships/slide" Target="/ppt/slides/slide19.xml" Id="R9e2d1ee67d2b4d7d" /><Relationship Type="http://schemas.openxmlformats.org/officeDocument/2006/relationships/slide" Target="/ppt/slides/slide20.xml" Id="R15e6a27cfc454f51" /><Relationship Type="http://schemas.openxmlformats.org/officeDocument/2006/relationships/slide" Target="/ppt/slides/slide21.xml" Id="Rab01291c97e74278" /><Relationship Type="http://schemas.openxmlformats.org/officeDocument/2006/relationships/slide" Target="/ppt/slides/slide22.xml" Id="Rfc4ce3a28d834bc6" /><Relationship Type="http://schemas.openxmlformats.org/officeDocument/2006/relationships/slide" Target="/ppt/slides/slide23.xml" Id="R77c8c062743149db" /><Relationship Type="http://schemas.openxmlformats.org/officeDocument/2006/relationships/slide" Target="/ppt/slides/slide24.xml" Id="R2c1693a09cab45cb" /><Relationship Type="http://schemas.openxmlformats.org/officeDocument/2006/relationships/slide" Target="/ppt/slides/slide25.xml" Id="R185e56bcb99b410b" /><Relationship Type="http://schemas.openxmlformats.org/officeDocument/2006/relationships/slide" Target="/ppt/slides/slide26.xml" Id="Rf38b0113d3834385" /><Relationship Type="http://schemas.openxmlformats.org/officeDocument/2006/relationships/slide" Target="/ppt/slides/slide27.xml" Id="R68f311e6d36f4fcb" /><Relationship Type="http://schemas.openxmlformats.org/officeDocument/2006/relationships/slide" Target="/ppt/slides/slide28.xml" Id="R1918fb7fdad4413f" /><Relationship Type="http://schemas.openxmlformats.org/officeDocument/2006/relationships/slide" Target="/ppt/slides/slide29.xml" Id="R6b377eb6e11249be" /><Relationship Type="http://schemas.openxmlformats.org/officeDocument/2006/relationships/slide" Target="/ppt/slides/slide30.xml" Id="Re101bbdfa2fe4d40" /><Relationship Type="http://schemas.openxmlformats.org/officeDocument/2006/relationships/slide" Target="/ppt/slides/slide31.xml" Id="Ra8700a7a029b4626" /><Relationship Type="http://schemas.openxmlformats.org/officeDocument/2006/relationships/slide" Target="/ppt/slides/slide32.xml" Id="R418dc8dac3314ea7" /><Relationship Type="http://schemas.openxmlformats.org/officeDocument/2006/relationships/slide" Target="/ppt/slides/slide33.xml" Id="Recfd0087b2e046ec" /><Relationship Type="http://schemas.openxmlformats.org/officeDocument/2006/relationships/slide" Target="/ppt/slides/slide34.xml" Id="R98804316d6a74a99" /><Relationship Type="http://schemas.openxmlformats.org/officeDocument/2006/relationships/slide" Target="/ppt/slides/slide35.xml" Id="Rc35da341230642ed" /><Relationship Type="http://schemas.openxmlformats.org/officeDocument/2006/relationships/slide" Target="/ppt/slides/slide36.xml" Id="R3e6d6c00c8a844b5" /><Relationship Type="http://schemas.openxmlformats.org/officeDocument/2006/relationships/slide" Target="/ppt/slides/slide37.xml" Id="R22781b28dd544e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844299ad4c45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c4553250ce44a7" /><Relationship Type="http://schemas.openxmlformats.org/officeDocument/2006/relationships/notesMaster" Target="/ppt/notesMasters/notesMaster1.xml" Id="R377ef5c22b2f4a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35efdd63394f57" /><Relationship Type="http://schemas.openxmlformats.org/officeDocument/2006/relationships/notesMaster" Target="/ppt/notesMasters/notesMaster1.xml" Id="R6a5a6348e10f4e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89fa447b334817" /><Relationship Type="http://schemas.openxmlformats.org/officeDocument/2006/relationships/notesMaster" Target="/ppt/notesMasters/notesMaster1.xml" Id="R2d3a2c02f87845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7f7359e938438a" /><Relationship Type="http://schemas.openxmlformats.org/officeDocument/2006/relationships/notesMaster" Target="/ppt/notesMasters/notesMaster1.xml" Id="R7d2e32aaffac4d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8b59e1267343af" /><Relationship Type="http://schemas.openxmlformats.org/officeDocument/2006/relationships/notesMaster" Target="/ppt/notesMasters/notesMaster1.xml" Id="R653031ff0a8543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0069e929bc4a55" /><Relationship Type="http://schemas.openxmlformats.org/officeDocument/2006/relationships/notesMaster" Target="/ppt/notesMasters/notesMaster1.xml" Id="Rb71c44ac4be444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a3d3babfa64d8a" /><Relationship Type="http://schemas.openxmlformats.org/officeDocument/2006/relationships/notesMaster" Target="/ppt/notesMasters/notesMaster1.xml" Id="R151007e5878a45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2eb29f96a04789" /><Relationship Type="http://schemas.openxmlformats.org/officeDocument/2006/relationships/notesMaster" Target="/ppt/notesMasters/notesMaster1.xml" Id="Rde3af891eee148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dd1f75b93146c3" /><Relationship Type="http://schemas.openxmlformats.org/officeDocument/2006/relationships/notesMaster" Target="/ppt/notesMasters/notesMaster1.xml" Id="R5ad602e88f6c4b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a721d67602489a" /><Relationship Type="http://schemas.openxmlformats.org/officeDocument/2006/relationships/notesMaster" Target="/ppt/notesMasters/notesMaster1.xml" Id="R9321dcb53cac46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c5f29765c64197" /><Relationship Type="http://schemas.openxmlformats.org/officeDocument/2006/relationships/notesMaster" Target="/ppt/notesMasters/notesMaster1.xml" Id="Rd8c3d7683b4e49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ceee1abf9740ca" /><Relationship Type="http://schemas.openxmlformats.org/officeDocument/2006/relationships/notesMaster" Target="/ppt/notesMasters/notesMaster1.xml" Id="Redf83a57176b46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41fd45183a4973" /><Relationship Type="http://schemas.openxmlformats.org/officeDocument/2006/relationships/notesMaster" Target="/ppt/notesMasters/notesMaster1.xml" Id="R8aecc7d26b6840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758ba08f534ded" /><Relationship Type="http://schemas.openxmlformats.org/officeDocument/2006/relationships/notesMaster" Target="/ppt/notesMasters/notesMaster1.xml" Id="Rc4ef8f3dc3fc48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7f6c3d5073424f" /><Relationship Type="http://schemas.openxmlformats.org/officeDocument/2006/relationships/notesMaster" Target="/ppt/notesMasters/notesMaster1.xml" Id="Re11557d09d9c49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59ab3af3584617" /><Relationship Type="http://schemas.openxmlformats.org/officeDocument/2006/relationships/notesMaster" Target="/ppt/notesMasters/notesMaster1.xml" Id="R882f2f71165b4b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d93049cd284883" /><Relationship Type="http://schemas.openxmlformats.org/officeDocument/2006/relationships/notesMaster" Target="/ppt/notesMasters/notesMaster1.xml" Id="Ref14bb0a9eb84f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1880b179dc45b8" /><Relationship Type="http://schemas.openxmlformats.org/officeDocument/2006/relationships/notesMaster" Target="/ppt/notesMasters/notesMaster1.xml" Id="R1f237b4fa1d74e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17c1debb6e4fc9" /><Relationship Type="http://schemas.openxmlformats.org/officeDocument/2006/relationships/notesMaster" Target="/ppt/notesMasters/notesMaster1.xml" Id="R983837a9a25b44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44e83938434452" /><Relationship Type="http://schemas.openxmlformats.org/officeDocument/2006/relationships/notesMaster" Target="/ppt/notesMasters/notesMaster1.xml" Id="Rb764b6703a10427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392ba5c13f34ce5" /><Relationship Type="http://schemas.openxmlformats.org/officeDocument/2006/relationships/notesMaster" Target="/ppt/notesMasters/notesMaster1.xml" Id="R58b685eeb8e646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66201207bc42bd" /><Relationship Type="http://schemas.openxmlformats.org/officeDocument/2006/relationships/notesMaster" Target="/ppt/notesMasters/notesMaster1.xml" Id="Ra6bbe24e0b834e8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66412155209406b" /><Relationship Type="http://schemas.openxmlformats.org/officeDocument/2006/relationships/notesMaster" Target="/ppt/notesMasters/notesMaster1.xml" Id="Ra7bdbcdce853432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773abad19d8443e" /><Relationship Type="http://schemas.openxmlformats.org/officeDocument/2006/relationships/notesMaster" Target="/ppt/notesMasters/notesMaster1.xml" Id="R0d4e08c7e9a84c9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db6a92c732e4bfd" /><Relationship Type="http://schemas.openxmlformats.org/officeDocument/2006/relationships/notesMaster" Target="/ppt/notesMasters/notesMaster1.xml" Id="R509195190f2c467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54575850e524e93" /><Relationship Type="http://schemas.openxmlformats.org/officeDocument/2006/relationships/notesMaster" Target="/ppt/notesMasters/notesMaster1.xml" Id="R3811279410264c0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8d6658740144a63" /><Relationship Type="http://schemas.openxmlformats.org/officeDocument/2006/relationships/notesMaster" Target="/ppt/notesMasters/notesMaster1.xml" Id="Ra215db1f084f414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496d1d4c5d7469d" /><Relationship Type="http://schemas.openxmlformats.org/officeDocument/2006/relationships/notesMaster" Target="/ppt/notesMasters/notesMaster1.xml" Id="R647b7818b7f94e5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7541b53631145de" /><Relationship Type="http://schemas.openxmlformats.org/officeDocument/2006/relationships/notesMaster" Target="/ppt/notesMasters/notesMaster1.xml" Id="Rc4ffb527730448a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c33d6683ef04f4c" /><Relationship Type="http://schemas.openxmlformats.org/officeDocument/2006/relationships/notesMaster" Target="/ppt/notesMasters/notesMaster1.xml" Id="R3b7b5975b49a40a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a06ee14664d44fd" /><Relationship Type="http://schemas.openxmlformats.org/officeDocument/2006/relationships/notesMaster" Target="/ppt/notesMasters/notesMaster1.xml" Id="Rfebb2d5136d94eb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657fdfc33364402" /><Relationship Type="http://schemas.openxmlformats.org/officeDocument/2006/relationships/notesMaster" Target="/ppt/notesMasters/notesMaster1.xml" Id="Ra0d02d02052a42f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1c3676f65cc46b7" /><Relationship Type="http://schemas.openxmlformats.org/officeDocument/2006/relationships/notesMaster" Target="/ppt/notesMasters/notesMaster1.xml" Id="R9cea175b1ca04fd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eb1a9c646c84d93" /><Relationship Type="http://schemas.openxmlformats.org/officeDocument/2006/relationships/notesMaster" Target="/ppt/notesMasters/notesMaster1.xml" Id="R55a7145ad2fc42d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17cbf71bb8a4b82" /><Relationship Type="http://schemas.openxmlformats.org/officeDocument/2006/relationships/notesMaster" Target="/ppt/notesMasters/notesMaster1.xml" Id="R7a4c1d01458c4bf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e75bbb95e334e86" /><Relationship Type="http://schemas.openxmlformats.org/officeDocument/2006/relationships/notesMaster" Target="/ppt/notesMasters/notesMaster1.xml" Id="R1f40034ac70348a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f6efa6ff0d643d9" /><Relationship Type="http://schemas.openxmlformats.org/officeDocument/2006/relationships/notesMaster" Target="/ppt/notesMasters/notesMaster1.xml" Id="Rd5dd64430fb348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Kajian data publik dan penerapan kebijakan skor minimum terhadap data yang tidak ditemukan.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18/40 = 45% memiliki label. Anggaran 18 nama Rp604.970,353 miliar. Skor tiga pilar pada Dashboard 0 karena tidak ada KPI yang memenuhi persyaratan data sebanding.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WEB15 — CFA Institute / GIPS. GIPS Handbook for Asset Owners. 2020; diakses 2026-10-08. TWR neto biaya, arus kas dan benchmark sebanding; bukan rating Danantara.</a:t>
            </a:r>
          </a:p>
          <a:p xmlns:a="http://schemas.openxmlformats.org/drawingml/2006/main">
            <a:r>
              <a:t>https://www.gipsstandards.org/standards/gips-standards-for-asset-owners/gips-standards-handbook-for-asset-owners/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WEB30 — Danantara. Penerbitan obligasi USD1,5 miliar. 2026-06-12. Pendanaan DIM; tidak otomatis mobilisasi proyek SP-01–SP-40.</a:t>
            </a:r>
          </a:p>
          <a:p xmlns:a="http://schemas.openxmlformats.org/drawingml/2006/main">
            <a:r>
              <a:t>https://www.danantaraindonesia.co.id/media-center/press-releases/danantara-indonesia-usd-1-5-billion-international-bond-issuance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WEB03 — MDB / ADB. Mobilization Reference Guide 2026. 2026-10-01. TPDM, PPDM, PIM, atribusi dan pencegahan klaim ganda.</a:t>
            </a:r>
          </a:p>
          <a:p xmlns:a="http://schemas.openxmlformats.org/drawingml/2006/main">
            <a:r>
              <a:t>https://www.adb.org/sites/default/files/institutional-document/521286/mobilization-private-finance-methodology.pdf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WEB08 — BPS. Ekonomi Indonesia triwulan I-2026. 2026-05-06. Konteks makro triwulan I; tidak diatribusikan kepada Danantara.</a:t>
            </a:r>
          </a:p>
          <a:p xmlns:a="http://schemas.openxmlformats.org/drawingml/2006/main">
            <a:r>
              <a:t>https://www.bps.go.id/assets/news/2026/05/06/910/ekonomi-indonesia-resilien-dan-tumbuh-solid--pada-triwulan-1-2026.html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WEB09 — BPS. Indeks Harga Produsen triwulan II-2026. 2026-08-03. Acuan deflator sektoral; IHP bukan otomatis deflator biaya proyek.</a:t>
            </a:r>
          </a:p>
          <a:p xmlns:a="http://schemas.openxmlformats.org/drawingml/2006/main">
            <a:r>
              <a:t>https://www.bps.go.id/id/pressrelease/2026/08/03/2604/harga-produsen-mengalami-inflasi-2-83-persen-di-triwulan-ii-2026.html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WEB16 — OECD. SOE Guidelines 2024: state as owner. 2024. Mandat, target finansial dan pelaporan pemilik BUMN.</a:t>
            </a:r>
          </a:p>
          <a:p xmlns:a="http://schemas.openxmlformats.org/drawingml/2006/main">
            <a:r>
              <a:t>https://www.oecd.org/en/publications/oecd-guidelines-on-corporate-governance-of-state-owned-enterprises-2024_18a24f43-en/full-report/component-6.html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WEB17 — OECD. SOEs in the marketplace. 2024. Return komersial sebanding dan pemisahan PSO.</a:t>
            </a:r>
          </a:p>
          <a:p xmlns:a="http://schemas.openxmlformats.org/drawingml/2006/main">
            <a:r>
              <a:t>https://www.oecd.org/en/publications/oecd-guidelines-on-corporate-governance-of-state-owned-enterprises-2024_18a24f43-en/full-report/component-7.html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WEB08 — BPS. Ekonomi Indonesia triwulan I-2026. 2026-05-06. Konteks makro triwulan I; tidak diatribusikan kepada Danantara.</a:t>
            </a:r>
          </a:p>
          <a:p xmlns:a="http://schemas.openxmlformats.org/drawingml/2006/main">
            <a:r>
              <a:t>https://www.bps.go.id/assets/news/2026/05/06/910/ekonomi-indonesia-resilien-dan-tumbuh-solid--pada-triwulan-1-2026.html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WEB10 — World Bank. Indonesia Economic Prospects, rilis Juni 2026. 2026-06-13. Prospek ekonomi dan produktivitas; proyeksi bukan realisasi.</a:t>
            </a:r>
          </a:p>
          <a:p xmlns:a="http://schemas.openxmlformats.org/drawingml/2006/main">
            <a:r>
              <a:t>https://www.worldbank.org/en/news/press-release/2026/06/13/indonesia-s-growth-remains-resilient-but-productivity-reforms-are-key-to-creating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WEB01 — IFC. AIMM Guidance Note. 2026-03. Dampak proyek/pasar; additionality adalah penilaian terpisah.</a:t>
            </a:r>
          </a:p>
          <a:p xmlns:a="http://schemas.openxmlformats.org/drawingml/2006/main">
            <a:r>
              <a:t>https://www.ifc.org/content/dam/ifc/doc/latest/aimm-general-guidance-note.pdf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WEB02 — ADB. Guidelines for the Economic Analysis of Projects. 2017-03. ENPV, EIRR, biaya peluang, alternatif dan risiko.</a:t>
            </a:r>
          </a:p>
          <a:p xmlns:a="http://schemas.openxmlformats.org/drawingml/2006/main">
            <a:r>
              <a:t>https://www.adb.org/documents/guidelines-economic-analysis-projects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WEB03 — MDB / ADB. Mobilization Reference Guide 2026. 2026-10-01. TPDM, PPDM, PIM, atribusi dan pencegahan klaim ganda.</a:t>
            </a:r>
          </a:p>
          <a:p xmlns:a="http://schemas.openxmlformats.org/drawingml/2006/main">
            <a:r>
              <a:t>https://www.adb.org/sites/default/files/institutional-document/521286/mobilization-private-finance-methodology.pdf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WEB05 — UNIDO. Database Descriptions: CIP dan SDG 9. Diakses 2026-10-08. MVA, pekerjaan manufaktur, intensitas teknologi; bukan skor proyek resmi.</a:t>
            </a:r>
          </a:p>
          <a:p xmlns:a="http://schemas.openxmlformats.org/drawingml/2006/main">
            <a:r>
              <a:t>https://stat.unido.org/data/database-descriptions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WEB01 — IFC. AIMM Guidance Note. 2026-03. Dampak proyek/pasar; additionality adalah penilaian terpisah.</a:t>
            </a:r>
          </a:p>
          <a:p xmlns:a="http://schemas.openxmlformats.org/drawingml/2006/main">
            <a:r>
              <a:t>https://www.ifc.org/content/dam/ifc/doc/latest/aimm-general-guidance-note.pdf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WEB02 — ADB. Guidelines for the Economic Analysis of Projects. 2017-03. ENPV, EIRR, biaya peluang, alternatif dan risiko.</a:t>
            </a:r>
          </a:p>
          <a:p xmlns:a="http://schemas.openxmlformats.org/drawingml/2006/main">
            <a:r>
              <a:t>https://www.adb.org/documents/guidelines-economic-analysis-projects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WEB03 — MDB / ADB. Mobilization Reference Guide 2026. 2026-10-01. TPDM, PPDM, PIM, atribusi dan pencegahan klaim ganda.</a:t>
            </a:r>
          </a:p>
          <a:p xmlns:a="http://schemas.openxmlformats.org/drawingml/2006/main">
            <a:r>
              <a:t>https://www.adb.org/sites/default/files/institutional-document/521286/mobilization-private-finance-methodology.pdf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WEB04 — ADB. Joint Statement on Updated MDB Methodologies. 2026-10-01. Pembaruan menggantikan 2018; generation dan catalyzation dibedakan.</a:t>
            </a:r>
          </a:p>
          <a:p xmlns:a="http://schemas.openxmlformats.org/drawingml/2006/main">
            <a:r>
              <a:t>https://www.adb.org/news/joint-statement-updated-mdb-joint-methodologies-measuring-mobilization-and-private-finance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WEB31 — MDB / ADB. Mobilization Methodology 2018. 2018. Basis latihan lama; pemutakhiran mengikuti edisi 2026.</a:t>
            </a:r>
          </a:p>
          <a:p xmlns:a="http://schemas.openxmlformats.org/drawingml/2006/main">
            <a:r>
              <a:t>https://www.adb.org/sites/default/files/institutional-document/521286/mobilization-private-finance-methodology-2018.pdf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WEB05 — UNIDO. Database Descriptions: CIP dan SDG 9. Diakses 2026-10-08. MVA, pekerjaan manufaktur, intensitas teknologi; bukan skor proyek resmi.</a:t>
            </a:r>
          </a:p>
          <a:p xmlns:a="http://schemas.openxmlformats.org/drawingml/2006/main">
            <a:r>
              <a:t>https://stat.unido.org/data/database-descriptions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WEB06 — BPS. Tabel Input-Output Indonesia 2016. 2021-03-31; revisi 2021-08-04. 185 produk. Data dasar 2016; perlu pemutakhiran struktur input.</a:t>
            </a:r>
          </a:p>
          <a:p xmlns:a="http://schemas.openxmlformats.org/drawingml/2006/main">
            <a:r>
              <a:t>https://www.bps.go.id/assets/publication/2021/03/31/081f6b0af2c15c524d72b660/tabel-input---output-indonesia-2016.html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WEB07 — BPS. Transaksi domestik harga dasar 185 produk. 2016; diakses 2026-10-08. Pisahkan transaksi domestik dari impor untuk DVA.</a:t>
            </a:r>
          </a:p>
          <a:p xmlns:a="http://schemas.openxmlformats.org/drawingml/2006/main">
            <a:r>
              <a:t>https://www.bps.go.id/id/statistics-table/1/MjExNiMx/tabel-input-output-indonesia-transaksidomestik-atas-dasar-harga-dasar-185-produk-2016-juta-rupiah-.html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WEB18 — Sekretariat Kabinet. Launch of 100 GWp solar programme. 2026-08-25. Program cocok dengan SP-06; subproyek dan batas biayanya belum direkonsiliasi.</a:t>
            </a:r>
          </a:p>
          <a:p xmlns:a="http://schemas.openxmlformats.org/drawingml/2006/main">
            <a:r>
              <a:t>https://setkab.go.id/en/govt-launches-100-gwp-solar-initiative-beginning-with-14-plants-across-six-provinces/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WEB19 — ANTARA. Danantara: PLTS 100 GW perlu Rp1.130 triliun. 2026-08-26. Pernyataan pejabat Danantara; pembanding estimasi, bukan biaya disetujui.</a:t>
            </a:r>
          </a:p>
          <a:p xmlns:a="http://schemas.openxmlformats.org/drawingml/2006/main">
            <a:r>
              <a:t>https://www.antaranews.com/berita/5711995/danantara-pengembangan-plts-100-gw-butuh-investasi-rp1130-triliun?page=1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WEB11 — ADB. Accelerating Indonesia’s Clean Energy Transition. 2025-12-12. Pembanding program hasil, jaringan dan investasi. Tidak ditambahkan ke SP-06.</a:t>
            </a:r>
          </a:p>
          <a:p xmlns:a="http://schemas.openxmlformats.org/drawingml/2006/main">
            <a:r>
              <a:t>https://seads.adb.org/publication/accelerating-indonesias-clean-energy-transition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WEB13 — IEEFA. Rethinking electricity economics to reach 100GW. 2026-08-28. Uji least-cost regional dan integrasi PV/BESS; kajian independen.</a:t>
            </a:r>
          </a:p>
          <a:p xmlns:a="http://schemas.openxmlformats.org/drawingml/2006/main">
            <a:r>
              <a:t>https://ieefa.org/resources/rethinking-indonesias-electricity-economics-reach-100gw-solar-target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WEB22 — Danantara. PSEL Bali: awal pembangunan. 2026-07-08. Denera/DIM dan tahap pembangunan; jangan dianggap COD atau RDF.</a:t>
            </a:r>
          </a:p>
          <a:p xmlns:a="http://schemas.openxmlformats.org/drawingml/2006/main">
            <a:r>
              <a:t>https://www.danantaraindonesia.co.id/id/media-center/press-releases/danantara-psel-bali-inauguration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WEB23 — Danantara. CLoA delapan mitra PSEL tahap II. 2026-07-21. CLoA bersyarat; bukan pembiayaan cair atau hasil operasi.</a:t>
            </a:r>
          </a:p>
          <a:p xmlns:a="http://schemas.openxmlformats.org/drawingml/2006/main">
            <a:r>
              <a:t>https://www.danantaraindonesia.co.id/id/media-center/press-releases/dim-cloa-batch-ii-wte-partners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WEB20 — ESDM. Groundbreaking hilirisasi tahap II. 2026-04-29. Konteks tembaga, baja, kilang, DME dan biodiesel; tidak membuktikan crosswalk ID.</a:t>
            </a:r>
          </a:p>
          <a:p xmlns:a="http://schemas.openxmlformats.org/drawingml/2006/main">
            <a:r>
              <a:t>https://www.esdm.go.id/id/media-center/arsip-berita/presiden-groundbreaking-tahap-ii-dari-kajian-satgas-hilirisasi-danantara-langsung-implementasi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WEB28 — IEEFA. Indonesia’s Downstream Coal Plans. 2022-01-27. Risiko keekonomian DME historis; parameter lama tidak dipakai sebagai IRR 2026.</a:t>
            </a:r>
          </a:p>
          <a:p xmlns:a="http://schemas.openxmlformats.org/drawingml/2006/main">
            <a:r>
              <a:t>https://ieefa.org/resources/indonesias-downstream-coal-plans-add-black-hole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WEB26 — Bio Farma. Arah transformasi dan kinerja bisnis. 2026-04-21. Konteks transformasi; tidak mengidentifikasi fasilitas biosimilar SP-27.</a:t>
            </a:r>
          </a:p>
          <a:p xmlns:a="http://schemas.openxmlformats.org/drawingml/2006/main">
            <a:r>
              <a:t>https://www.biofarma.co.id/id/announcement/detail/kunjungan-kepala-bp-bumn-sekaligus-coo-danantara-ke-bio-farma-perkuat-arah-transformasi-dan-kinerja-bisnis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WEB14 — LPEM FEB UI. Menjaga Sektor Padat Karya. 2025-06-03. Pekerjaan, produktivitas dan biaya penciptaan kerja sebagai hasil industri.</a:t>
            </a:r>
          </a:p>
          <a:p xmlns:a="http://schemas.openxmlformats.org/drawingml/2006/main">
            <a:r>
              <a:t>https://lpem.org/menjaga-sektor-padat-karya-melindungi-kesempatan-kerja-dan-daya-beli-masyarakat-trade-and-industry-brief-juni-2025/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WEB01 — IFC. AIMM Guidance Note. 2026-03. Dampak proyek/pasar; additionality adalah penilaian terpisah.</a:t>
            </a:r>
          </a:p>
          <a:p xmlns:a="http://schemas.openxmlformats.org/drawingml/2006/main">
            <a:r>
              <a:t>https://www.ifc.org/content/dam/ifc/doc/latest/aimm-general-guidance-note.pdf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WEB03 — MDB / ADB. Mobilization Reference Guide 2026. 2026-10-01. TPDM, PPDM, PIM, atribusi dan pencegahan klaim ganda.</a:t>
            </a:r>
          </a:p>
          <a:p xmlns:a="http://schemas.openxmlformats.org/drawingml/2006/main">
            <a:r>
              <a:t>https://www.adb.org/sites/default/files/institutional-document/521286/mobilization-private-finance-methodology.pdf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WEB05 — UNIDO. Database Descriptions: CIP dan SDG 9. Diakses 2026-10-08. MVA, pekerjaan manufaktur, intensitas teknologi; bukan skor proyek resmi.</a:t>
            </a:r>
          </a:p>
          <a:p xmlns:a="http://schemas.openxmlformats.org/drawingml/2006/main">
            <a:r>
              <a:t>https://stat.unido.org/data/database-descriptions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SP-01: Hilirisasi bahan hulu panel surya diumumkan sebagai peluang; fasilitas, kapasitas dan SPV SP-01 tidak teridentifikasi.</a:t>
            </a:r>
          </a:p>
          <a:p xmlns:a="http://schemas.openxmlformats.org/drawingml/2006/main">
            <a:r>
              <a:t>Kebutuhan: Offtake polisilikon/kaca; kadar kemurnian; energi; lisensi proses dan pemasok lokal.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SP-02: Proyek tembaga/emas Gresik disebut dalam tahap II; kesamaan dengan label Copper dan biaya Rp2 triliun belum terbukti.</a:t>
            </a:r>
          </a:p>
          <a:p xmlns:a="http://schemas.openxmlformats.org/drawingml/2006/main">
            <a:r>
              <a:t>Kebutuhan: Batas smelter versus fabrikasi; output katoda/rod; yield, listrik, ekspor neto dan pelanggan hilir.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SP-03: Pencarian nama persis dan konteks mineral tidak menemukan dokumen publik yang menetapkan identitas proyek.</a:t>
            </a:r>
          </a:p>
          <a:p xmlns:a="http://schemas.openxmlformats.org/drawingml/2006/main">
            <a:r>
              <a:t>Kebutuhan: Konfirmasi kepanjangan LTi, produk, lokasi, SPV, sponsor dan teknologi.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SP-04: Label LTJ pada register tidak cukup untuk menetapkan proyek pemisahan unsur tertentu atau operatornya.</a:t>
            </a:r>
          </a:p>
          <a:p xmlns:a="http://schemas.openxmlformats.org/drawingml/2006/main">
            <a:r>
              <a:t>Kebutuhan: Konfirmasi charter; flowsheet; recovery; pengelolaan residu dan penerimaan produk.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SP-05: Payung multi-logam; pengumuman stainless, slab dan aluminium tidak membuktikan satu proyek dengan anggaran yang sama.</a:t>
            </a:r>
          </a:p>
          <a:p xmlns:a="http://schemas.openxmlformats.org/drawingml/2006/main">
            <a:r>
              <a:t>Kebutuhan: Pisahkan paket produk, kapasitas, biaya energi, sertifikasi pelanggan dan kemampuan rekayasa.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WEB32 — Katadata. Danantara bidik industri hulu panel surya. 2026-07-28. Konteks silika/solar; identitas SP-01 belum terbukti.</a:t>
            </a:r>
          </a:p>
          <a:p xmlns:a="http://schemas.openxmlformats.org/drawingml/2006/main">
            <a:r>
              <a:t>https://katadata.co.id/amp/ekonomi-hijau/energi-baru/6a689c199b9dc/danantara-bidik-investasi-industri-hulu-panel-surya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WEB18 — Sekretariat Kabinet. Launch of 100 GWp solar programme. 2026-08-25. Program cocok dengan SP-06; subproyek dan batas biayanya belum direkonsiliasi.</a:t>
            </a:r>
          </a:p>
          <a:p xmlns:a="http://schemas.openxmlformats.org/drawingml/2006/main">
            <a:r>
              <a:t>https://setkab.go.id/en/govt-launches-100-gwp-solar-initiative-beginning-with-14-plants-across-six-provinces/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WEB20 — ESDM. Groundbreaking hilirisasi tahap II. 2026-04-29. Konteks tembaga, baja, kilang, DME dan biodiesel; tidak membuktikan crosswalk ID.</a:t>
            </a:r>
          </a:p>
          <a:p xmlns:a="http://schemas.openxmlformats.org/drawingml/2006/main">
            <a:r>
              <a:t>https://www.esdm.go.id/id/media-center/arsip-berita/presiden-groundbreaking-tahap-ii-dari-kajian-satgas-hilirisasi-danantara-langsung-implementasi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WEB21 — BKPM. 13 proyek hilirisasi tahap II. 2026-04-29. Sekitar Rp116 triliun untuk 13 proyek; universe berbeda dari 40 slot.</a:t>
            </a:r>
          </a:p>
          <a:p xmlns:a="http://schemas.openxmlformats.org/drawingml/2006/main">
            <a:r>
              <a:t>https://www.bkpm.go.id/index.php/id/info/siaran-pers/kementerian-investasi-dan-hilirisasi-dukung-percepatan-13-proyek-hilirisasi-strategis-tahap-ii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SP-06: Program 100 GWp diluncurkan 25 Agustus 2026; 14 proyek berkapasitas rencana 5,3 GWp. Belum ada crosswalk biaya/SPV tiap subproyek.</a:t>
            </a:r>
          </a:p>
          <a:p xmlns:a="http://schemas.openxmlformats.org/drawingml/2006/main">
            <a:r>
              <a:t>Kebutuhan: Rekonsiliasi Rp231,4 T versus estimasi Rp1.130 T; PPA, BESS, grid, curtailment, COD dan least-cost.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SP-07: Kilang bensin Cilacap/Dumai disebut dalam tahap II; register tidak memberi lokasi atau lingkup sehingga tidak dipasangkan dengan RDMP.</a:t>
            </a:r>
          </a:p>
          <a:p xmlns:a="http://schemas.openxmlformats.org/drawingml/2006/main">
            <a:r>
              <a:t>Kebutuhan: Uji crude slate, crack spread, utilisasi, biaya energi dan batas impor yang benar-benar tergantikan.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SP-08: Denera/DIM memiliki kegiatan PSEL; hubungan dengan label decentralized waste management belum terkonfirmasi.</a:t>
            </a:r>
          </a:p>
          <a:p xmlns:a="http://schemas.openxmlformats.org/drawingml/2006/main">
            <a:r>
              <a:t>Kebutuhan: Pisahkan pencegahan, daur ulang dan residu; kontrak pasokan serta biaya layanan per ton.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SP-09: Pengumuman PSEL tidak mengidentifikasi paket landfill mining Rp6 triliun.</a:t>
            </a:r>
          </a:p>
          <a:p xmlns:a="http://schemas.openxmlformats.org/drawingml/2006/main">
            <a:r>
              <a:t>Kebutuhan: Karakterisasi timbunan, volume dapat dipulihkan, remediasi lahan dan biaya eksternal bersih.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SP-10: Bukti PSEL tidak membuktikan fasilitas RDF, kontrak semen, atau pengalihan batu bara untuk SP-10.</a:t>
            </a:r>
          </a:p>
          <a:p xmlns:a="http://schemas.openxmlformats.org/drawingml/2006/main">
            <a:r>
              <a:t>Kebutuhan: Nilai kalor, kadar air/klorin, yield RDF, ongkos logistik dan offtake kiln.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WEB18 — Sekretariat Kabinet. Launch of 100 GWp solar programme. 2026-08-25. Program cocok dengan SP-06; subproyek dan batas biayanya belum direkonsiliasi.</a:t>
            </a:r>
          </a:p>
          <a:p xmlns:a="http://schemas.openxmlformats.org/drawingml/2006/main">
            <a:r>
              <a:t>https://setkab.go.id/en/govt-launches-100-gwp-solar-initiative-beginning-with-14-plants-across-six-provinces/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WEB19 — ANTARA. Danantara: PLTS 100 GW perlu Rp1.130 triliun. 2026-08-26. Pernyataan pejabat Danantara; pembanding estimasi, bukan biaya disetujui.</a:t>
            </a:r>
          </a:p>
          <a:p xmlns:a="http://schemas.openxmlformats.org/drawingml/2006/main">
            <a:r>
              <a:t>https://www.antaranews.com/berita/5711995/danantara-pengembangan-plts-100-gw-butuh-investasi-rp1130-triliun?page=1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WEB11 — ADB. Accelerating Indonesia’s Clean Energy Transition. 2025-12-12. Pembanding program hasil, jaringan dan investasi. Tidak ditambahkan ke SP-06.</a:t>
            </a:r>
          </a:p>
          <a:p xmlns:a="http://schemas.openxmlformats.org/drawingml/2006/main">
            <a:r>
              <a:t>https://seads.adb.org/publication/accelerating-indonesias-clean-energy-transition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WEB13 — IEEFA. Rethinking electricity economics to reach 100GW. 2026-08-28. Uji least-cost regional dan integrasi PV/BESS; kajian independen.</a:t>
            </a:r>
          </a:p>
          <a:p xmlns:a="http://schemas.openxmlformats.org/drawingml/2006/main">
            <a:r>
              <a:t>https://ieefa.org/resources/rethinking-indonesias-electricity-economics-reach-100gw-solar-target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WEB20 — ESDM. Groundbreaking hilirisasi tahap II. 2026-04-29. Konteks tembaga, baja, kilang, DME dan biodiesel; tidak membuktikan crosswalk ID.</a:t>
            </a:r>
          </a:p>
          <a:p xmlns:a="http://schemas.openxmlformats.org/drawingml/2006/main">
            <a:r>
              <a:t>https://www.esdm.go.id/id/media-center/arsip-berita/presiden-groundbreaking-tahap-ii-dari-kajian-satgas-hilirisasi-danantara-langsung-implementasi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WEB21 — BKPM. 13 proyek hilirisasi tahap II. 2026-04-29. Sekitar Rp116 triliun untuk 13 proyek; universe berbeda dari 40 slot.</a:t>
            </a:r>
          </a:p>
          <a:p xmlns:a="http://schemas.openxmlformats.org/drawingml/2006/main">
            <a:r>
              <a:t>https://www.bkpm.go.id/index.php/id/info/siaran-pers/kementerian-investasi-dan-hilirisasi-dukung-percepatan-13-proyek-hilirisasi-strategis-tahap-ii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WEB22 — Danantara. PSEL Bali: awal pembangunan. 2026-07-08. Denera/DIM dan tahap pembangunan; jangan dianggap COD atau RDF.</a:t>
            </a:r>
          </a:p>
          <a:p xmlns:a="http://schemas.openxmlformats.org/drawingml/2006/main">
            <a:r>
              <a:t>https://www.danantaraindonesia.co.id/id/media-center/press-releases/danantara-psel-bali-inauguration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WEB23 — Danantara. CLoA delapan mitra PSEL tahap II. 2026-07-21. CLoA bersyarat; bukan pembiayaan cair atau hasil operasi.</a:t>
            </a:r>
          </a:p>
          <a:p xmlns:a="http://schemas.openxmlformats.org/drawingml/2006/main">
            <a:r>
              <a:t>https://www.danantaraindonesia.co.id/id/media-center/press-releases/dim-cloa-batch-ii-wte-partners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SP-11: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SP-12: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SP-13: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SP-14: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SP-15: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SP-16: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SP-17: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SP-18: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SP-19: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SP-20: MoU Thales mencakup sistem pertahanan; sumber menyatakan investasi spesifik masih memerlukan evaluasi dan kontrak definitif.</a:t>
            </a:r>
          </a:p>
          <a:p xmlns:a="http://schemas.openxmlformats.org/drawingml/2006/main">
            <a:r>
              <a:t>Kebutuhan: Pisahkan paket; siklus hidup, kontrak pengadaan, sertifikasi dan bukti produksi/perawatan lokal.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WEB24 — Danantara. MoU teknologi strategis dengan Thales. 2026-09-24. Kerangka awal; investasi spesifik memerlukan perjanjian definitif.</a:t>
            </a:r>
          </a:p>
          <a:p xmlns:a="http://schemas.openxmlformats.org/drawingml/2006/main">
            <a:r>
              <a:t>https://www.danantaraindonesia.co.id/id/media-center/press-releases/thales-danantara-strategic-technology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SP-21: PAL disebut sebagai calon konsolidator; cuplikan publik tidak memberi FID, arus kas atau batas program SP-21.</a:t>
            </a:r>
          </a:p>
          <a:p xmlns:a="http://schemas.openxmlformats.org/drawingml/2006/main">
            <a:r>
              <a:t>Kebutuhan: Orderbook kontraktual, utilisasi dock, produktivitas jam-orang, class approval dan kandungan impor.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SP-22: MoU teknologi pertahanan tidak mengidentifikasi produk, lokasi atau SPV Drone Rp3 triliun.</a:t>
            </a:r>
          </a:p>
          <a:p xmlns:a="http://schemas.openxmlformats.org/drawingml/2006/main">
            <a:r>
              <a:t>Kebutuhan: Pisahkan pasar sipil/pertahanan; sertifikasi, reliability, IP dan peran engineering domestik.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SP-23: DME Tanjung Enim diumumkan; tafsir CDME sebagai coal-DME masih hipotesis karena kode register belum dikonfirmasi.</a:t>
            </a:r>
          </a:p>
          <a:p xmlns:a="http://schemas.openxmlformats.org/drawingml/2006/main">
            <a:r>
              <a:t>Kebutuhan: Konfirmasi kode dahulu; jika DME, uji energi setara LPG, batu bara, emisi dan dukungan fiskal.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SP-24: Singkatan CPE tidak dapat dipastikan dari sumber publik; tidak disamakan dengan CA-EDC.</a:t>
            </a:r>
          </a:p>
          <a:p xmlns:a="http://schemas.openxmlformats.org/drawingml/2006/main">
            <a:r>
              <a:t>Kebutuhan: Tetapkan produk, feedstock, SPV, lokasi, kapasitas dan rantai nilai sebelum appraisal.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SP-25: Alokasi nasional 15,646 juta kL dan proyek Sei Mangkei memberi konteks; bukan keluaran aktual SP-25.</a:t>
            </a:r>
          </a:p>
          <a:p xmlns:a="http://schemas.openxmlformats.org/drawingml/2006/main">
            <a:r>
              <a:t>Kebutuhan: Pisahkan kapasitas baru/eksisting; pasokan CPO, subsidi, net FX dan perubahan penggunaan lahan.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WEB25 — PT PAL Indonesia. PAL sebagai national consolidator galangan. 2026-07-25. Judul dan cuplikan primer terindeks; halaman penuh 403. Bukti terbatas.</a:t>
            </a:r>
          </a:p>
          <a:p xmlns:a="http://schemas.openxmlformats.org/drawingml/2006/main">
            <a:r>
              <a:t>https://www.pal.co.id/danantara-siapkan-pt-pal-jadi-national-consolidator-galangan-kapal-nasional/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WEB24 — Danantara. MoU teknologi strategis dengan Thales. 2026-09-24. Kerangka awal; investasi spesifik memerlukan perjanjian definitif.</a:t>
            </a:r>
          </a:p>
          <a:p xmlns:a="http://schemas.openxmlformats.org/drawingml/2006/main">
            <a:r>
              <a:t>https://www.danantaraindonesia.co.id/id/media-center/press-releases/thales-danantara-strategic-technology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WEB20 — ESDM. Groundbreaking hilirisasi tahap II. 2026-04-29. Konteks tembaga, baja, kilang, DME dan biodiesel; tidak membuktikan crosswalk ID.</a:t>
            </a:r>
          </a:p>
          <a:p xmlns:a="http://schemas.openxmlformats.org/drawingml/2006/main">
            <a:r>
              <a:t>https://www.esdm.go.id/id/media-center/arsip-berita/presiden-groundbreaking-tahap-ii-dari-kajian-satgas-hilirisasi-danantara-langsung-implementasi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WEB28 — IEEFA. Indonesia’s Downstream Coal Plans. 2022-01-27. Risiko keekonomian DME historis; parameter lama tidak dipakai sebagai IRR 2026.</a:t>
            </a:r>
          </a:p>
          <a:p xmlns:a="http://schemas.openxmlformats.org/drawingml/2006/main">
            <a:r>
              <a:t>https://ieefa.org/resources/indonesias-downstream-coal-plans-add-black-hole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WEB27 — ESDM. Alokasi biodiesel 2026. 2026-01. Alokasi nasional, bukan produksi SP-25 atau hasil DVA.</a:t>
            </a:r>
          </a:p>
          <a:p xmlns:a="http://schemas.openxmlformats.org/drawingml/2006/main">
            <a:r>
              <a:t>https://esdm.go.id/id/media-center/arsip-berita/pemerintah-tetapkan-alokasi-biodiesel-tahun-2026-sebesar-1565-juta-kl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SP-26: Tidak ditemukan fasilitas publik yang cocok dengan produk, sponsor dan angka investasi pada register.</a:t>
            </a:r>
          </a:p>
          <a:p xmlns:a="http://schemas.openxmlformats.org/drawingml/2006/main">
            <a:r>
              <a:t>Kebutuhan: Definisikan aplikasi maritim, chemistry, class approval, siklus umur, IP dan basis pasar.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SP-27: Arah transformasi Bio Farma tersedia; proyek biosimilar dengan capex Rp8,9 triliun belum teridentifikasi.</a:t>
            </a:r>
          </a:p>
          <a:p xmlns:a="http://schemas.openxmlformats.org/drawingml/2006/main">
            <a:r>
              <a:t>Kebutuhan: Molekul, GMP, biosimilarity, lisensi, batch yield, akses pasien dan harga dibanding alternatif.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SP-28: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SP-29: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SP-30: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WEB26 — Bio Farma. Arah transformasi dan kinerja bisnis. 2026-04-21. Konteks transformasi; tidak mengidentifikasi fasilitas biosimilar SP-27.</a:t>
            </a:r>
          </a:p>
          <a:p xmlns:a="http://schemas.openxmlformats.org/drawingml/2006/main">
            <a:r>
              <a:t>https://www.biofarma.co.id/id/announcement/detail/kunjungan-kepala-bp-bumn-sekaligus-coo-danantara-ke-bio-farma-perkuat-arah-transformasi-dan-kinerja-bisnis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SP-31: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SP-32: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SP-33: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SP-34: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SP-35: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SP-36: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SP-37: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SP-38: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SP-39: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SP-40: Register tidak memuat nama, lokasi, produk atau badan hukum. Pencocokan publik tidak dapat dilakukan secara andal.</a:t>
            </a:r>
          </a:p>
          <a:p xmlns:a="http://schemas.openxmlformats.org/drawingml/2006/main">
            <a:r>
              <a:t>Kebutuhan: Register resmi: nama proyek, lokasi, SPV, sponsor, produk, tahap, CAPEX dan pemetaan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WEB01 — IFC. AIMM Guidance Note. 2026-03. Dampak proyek/pasar; additionality adalah penilaian terpisah.</a:t>
            </a:r>
          </a:p>
          <a:p xmlns:a="http://schemas.openxmlformats.org/drawingml/2006/main">
            <a:r>
              <a:t>https://www.ifc.org/content/dam/ifc/doc/latest/aimm-general-guidance-note.pdf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WEB02 — ADB. Guidelines for the Economic Analysis of Projects. 2017-03. ENPV, EIRR, biaya peluang, alternatif dan risiko.</a:t>
            </a:r>
          </a:p>
          <a:p xmlns:a="http://schemas.openxmlformats.org/drawingml/2006/main">
            <a:r>
              <a:t>https://www.adb.org/documents/guidelines-economic-analysis-projects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WEB03 — MDB / ADB. Mobilization Reference Guide 2026. 2026-10-01. TPDM, PPDM, PIM, atribusi dan pencegahan klaim ganda.</a:t>
            </a:r>
          </a:p>
          <a:p xmlns:a="http://schemas.openxmlformats.org/drawingml/2006/main">
            <a:r>
              <a:t>https://www.adb.org/sites/default/files/institutional-document/521286/mobilization-private-finance-methodology.pdf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WEB04 — ADB. Joint Statement on Updated MDB Methodologies. 2026-10-01. Pembaruan menggantikan 2018; generation dan catalyzation dibedakan.</a:t>
            </a:r>
          </a:p>
          <a:p xmlns:a="http://schemas.openxmlformats.org/drawingml/2006/main">
            <a:r>
              <a:t>https://www.adb.org/news/joint-statement-updated-mdb-joint-methodologies-measuring-mobilization-and-private-finance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WEB05 — UNIDO. Database Descriptions: CIP dan SDG 9. Diakses 2026-10-08. MVA, pekerjaan manufaktur, intensitas teknologi; bukan skor proyek resmi.</a:t>
            </a:r>
          </a:p>
          <a:p xmlns:a="http://schemas.openxmlformats.org/drawingml/2006/main">
            <a:r>
              <a:t>https://stat.unido.org/data/database-descriptions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WEB06 — BPS. Tabel Input-Output Indonesia 2016. 2021-03-31; revisi 2021-08-04. 185 produk. Data dasar 2016; perlu pemutakhiran struktur input.</a:t>
            </a:r>
          </a:p>
          <a:p xmlns:a="http://schemas.openxmlformats.org/drawingml/2006/main">
            <a:r>
              <a:t>https://www.bps.go.id/assets/publication/2021/03/31/081f6b0af2c15c524d72b660/tabel-input---output-indonesia-2016.html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WEB07 — BPS. Transaksi domestik harga dasar 185 produk. 2016; diakses 2026-10-08. Pisahkan transaksi domestik dari impor untuk DVA.</a:t>
            </a:r>
          </a:p>
          <a:p xmlns:a="http://schemas.openxmlformats.org/drawingml/2006/main">
            <a:r>
              <a:t>https://www.bps.go.id/id/statistics-table/1/MjExNiMx/tabel-input-output-indonesia-transaksidomestik-atas-dasar-harga-dasar-185-produk-2016-juta-rupiah-.html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WEB08 — BPS. Ekonomi Indonesia triwulan I-2026. 2026-05-06. Konteks makro triwulan I; tidak diatribusikan kepada Danantara.</a:t>
            </a:r>
          </a:p>
          <a:p xmlns:a="http://schemas.openxmlformats.org/drawingml/2006/main">
            <a:r>
              <a:t>https://www.bps.go.id/assets/news/2026/05/06/910/ekonomi-indonesia-resilien-dan-tumbuh-solid--pada-triwulan-1-2026.html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WEB09 — BPS. Indeks Harga Produsen triwulan II-2026. 2026-08-03. Acuan deflator sektoral; IHP bukan otomatis deflator biaya proyek.</a:t>
            </a:r>
          </a:p>
          <a:p xmlns:a="http://schemas.openxmlformats.org/drawingml/2006/main">
            <a:r>
              <a:t>https://www.bps.go.id/id/pressrelease/2026/08/03/2604/harga-produsen-mengalami-inflasi-2-83-persen-di-triwulan-ii-2026.html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WEB10 — World Bank. Indonesia Economic Prospects, rilis Juni 2026. 2026-06-13. Prospek ekonomi dan produktivitas; proyeksi bukan realisasi.</a:t>
            </a:r>
          </a:p>
          <a:p xmlns:a="http://schemas.openxmlformats.org/drawingml/2006/main">
            <a:r>
              <a:t>https://www.worldbank.org/en/news/press-release/2026/06/13/indonesia-s-growth-remains-resilient-but-productivity-reforms-are-key-to-creating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WEB11 — ADB. Accelerating Indonesia’s Clean Energy Transition. 2025-12-12. Pembanding program hasil, jaringan dan investasi. Tidak ditambahkan ke SP-06.</a:t>
            </a:r>
          </a:p>
          <a:p xmlns:a="http://schemas.openxmlformats.org/drawingml/2006/main">
            <a:r>
              <a:t>https://seads.adb.org/publication/accelerating-indonesias-clean-energy-transition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WEB12 — IEA. Enhancing Indonesia’s Power System. 2022. Integrasi sistem dan fleksibilitas; bukan FS PLTS 100 GW.</a:t>
            </a:r>
          </a:p>
          <a:p xmlns:a="http://schemas.openxmlformats.org/drawingml/2006/main">
            <a:r>
              <a:t>https://www.iea.org/reports/enhancing-indonesias-power-system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WEB13 — IEEFA. Rethinking electricity economics to reach 100GW. 2026-08-28. Uji least-cost regional dan integrasi PV/BESS; kajian independen.</a:t>
            </a:r>
          </a:p>
          <a:p xmlns:a="http://schemas.openxmlformats.org/drawingml/2006/main">
            <a:r>
              <a:t>https://ieefa.org/resources/rethinking-indonesias-electricity-economics-reach-100gw-solar-target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WEB14 — LPEM FEB UI. Menjaga Sektor Padat Karya. 2025-06-03. Pekerjaan, produktivitas dan biaya penciptaan kerja sebagai hasil industri.</a:t>
            </a:r>
          </a:p>
          <a:p xmlns:a="http://schemas.openxmlformats.org/drawingml/2006/main">
            <a:r>
              <a:t>https://lpem.org/menjaga-sektor-padat-karya-melindungi-kesempatan-kerja-dan-daya-beli-masyarakat-trade-and-industry-brief-juni-2025/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WEB15 — CFA Institute / GIPS. GIPS Handbook for Asset Owners. 2020; diakses 2026-10-08. TWR neto biaya, arus kas dan benchmark sebanding; bukan rating Danantara.</a:t>
            </a:r>
          </a:p>
          <a:p xmlns:a="http://schemas.openxmlformats.org/drawingml/2006/main">
            <a:r>
              <a:t>https://www.gipsstandards.org/standards/gips-standards-for-asset-owners/gips-standards-handbook-for-asset-owners/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WEB16 — OECD. SOE Guidelines 2024: state as owner. 2024. Mandat, target finansial dan pelaporan pemilik BUMN.</a:t>
            </a:r>
          </a:p>
          <a:p xmlns:a="http://schemas.openxmlformats.org/drawingml/2006/main">
            <a:r>
              <a:t>https://www.oecd.org/en/publications/oecd-guidelines-on-corporate-governance-of-state-owned-enterprises-2024_18a24f43-en/full-report/component-6.html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WEB17 — OECD. SOEs in the marketplace. 2024. Return komersial sebanding dan pemisahan PSO.</a:t>
            </a:r>
          </a:p>
          <a:p xmlns:a="http://schemas.openxmlformats.org/drawingml/2006/main">
            <a:r>
              <a:t>https://www.oecd.org/en/publications/oecd-guidelines-on-corporate-governance-of-state-owned-enterprises-2024_18a24f43-en/full-report/component-7.html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WEB18 — Sekretariat Kabinet. Launch of 100 GWp solar programme. 2026-08-25. Program cocok dengan SP-06; subproyek dan batas biayanya belum direkonsiliasi.</a:t>
            </a:r>
          </a:p>
          <a:p xmlns:a="http://schemas.openxmlformats.org/drawingml/2006/main">
            <a:r>
              <a:t>https://setkab.go.id/en/govt-launches-100-gwp-solar-initiative-beginning-with-14-plants-across-six-provinces/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WEB19 — ANTARA. Danantara: PLTS 100 GW perlu Rp1.130 triliun. 2026-08-26. Pernyataan pejabat Danantara; pembanding estimasi, bukan biaya disetujui.</a:t>
            </a:r>
          </a:p>
          <a:p xmlns:a="http://schemas.openxmlformats.org/drawingml/2006/main">
            <a:r>
              <a:t>https://www.antaranews.com/berita/5711995/danantara-pengembangan-plts-100-gw-butuh-investasi-rp1130-triliun?page=1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WEB20 — ESDM. Groundbreaking hilirisasi tahap II. 2026-04-29. Konteks tembaga, baja, kilang, DME dan biodiesel; tidak membuktikan crosswalk ID.</a:t>
            </a:r>
          </a:p>
          <a:p xmlns:a="http://schemas.openxmlformats.org/drawingml/2006/main">
            <a:r>
              <a:t>https://www.esdm.go.id/id/media-center/arsip-berita/presiden-groundbreaking-tahap-ii-dari-kajian-satgas-hilirisasi-danantara-langsung-implementasi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WEB21 — BKPM. 13 proyek hilirisasi tahap II. 2026-04-29. Sekitar Rp116 triliun untuk 13 proyek; universe berbeda dari 40 slot.</a:t>
            </a:r>
          </a:p>
          <a:p xmlns:a="http://schemas.openxmlformats.org/drawingml/2006/main">
            <a:r>
              <a:t>https://www.bkpm.go.id/index.php/id/info/siaran-pers/kementerian-investasi-dan-hilirisasi-dukung-percepatan-13-proyek-hilirisasi-strategis-tahap-ii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WEB22 — Danantara. PSEL Bali: awal pembangunan. 2026-07-08. Denera/DIM dan tahap pembangunan; jangan dianggap COD atau RDF.</a:t>
            </a:r>
          </a:p>
          <a:p xmlns:a="http://schemas.openxmlformats.org/drawingml/2006/main">
            <a:r>
              <a:t>https://www.danantaraindonesia.co.id/id/media-center/press-releases/danantara-psel-bali-inauguration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WEB23 — Danantara. CLoA delapan mitra PSEL tahap II. 2026-07-21. CLoA bersyarat; bukan pembiayaan cair atau hasil operasi.</a:t>
            </a:r>
          </a:p>
          <a:p xmlns:a="http://schemas.openxmlformats.org/drawingml/2006/main">
            <a:r>
              <a:t>https://www.danantaraindonesia.co.id/id/media-center/press-releases/dim-cloa-batch-ii-wte-partners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WEB24 — Danantara. MoU teknologi strategis dengan Thales. 2026-09-24. Kerangka awal; investasi spesifik memerlukan perjanjian definitif.</a:t>
            </a:r>
          </a:p>
          <a:p xmlns:a="http://schemas.openxmlformats.org/drawingml/2006/main">
            <a:r>
              <a:t>https://www.danantaraindonesia.co.id/id/media-center/press-releases/thales-danantara-strategic-technology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WEB25 — PT PAL Indonesia. PAL sebagai national consolidator galangan. 2026-07-25. Judul dan cuplikan primer terindeks; halaman penuh 403. Bukti terbatas.</a:t>
            </a:r>
          </a:p>
          <a:p xmlns:a="http://schemas.openxmlformats.org/drawingml/2006/main">
            <a:r>
              <a:t>https://www.pal.co.id/danantara-siapkan-pt-pal-jadi-national-consolidator-galangan-kapal-nasional/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WEB26 — Bio Farma. Arah transformasi dan kinerja bisnis. 2026-04-21. Konteks transformasi; tidak mengidentifikasi fasilitas biosimilar SP-27.</a:t>
            </a:r>
          </a:p>
          <a:p xmlns:a="http://schemas.openxmlformats.org/drawingml/2006/main">
            <a:r>
              <a:t>https://www.biofarma.co.id/id/announcement/detail/kunjungan-kepala-bp-bumn-sekaligus-coo-danantara-ke-bio-farma-perkuat-arah-transformasi-dan-kinerja-bisnis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WEB27 — ESDM. Alokasi biodiesel 2026. 2026-01. Alokasi nasional, bukan produksi SP-25 atau hasil DVA.</a:t>
            </a:r>
          </a:p>
          <a:p xmlns:a="http://schemas.openxmlformats.org/drawingml/2006/main">
            <a:r>
              <a:t>https://esdm.go.id/id/media-center/arsip-berita/pemerintah-tetapkan-alokasi-biodiesel-tahun-2026-sebesar-1565-juta-kl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WEB28 — IEEFA. Indonesia’s Downstream Coal Plans. 2022-01-27. Risiko keekonomian DME historis; parameter lama tidak dipakai sebagai IRR 2026.</a:t>
            </a:r>
          </a:p>
          <a:p xmlns:a="http://schemas.openxmlformats.org/drawingml/2006/main">
            <a:r>
              <a:t>https://ieefa.org/resources/indonesias-downstream-coal-plans-add-black-hole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Lingkup: 40 ID pada register pengguna, bukan 40 badan hukum proyek yang telah terverifikasi. Skor 0 adalah penalti data; tidak menyatakan return/manfaat aktual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WEB29 — Danantara. Laporan BUMN 2025 dan konsolidasi. 2026-07-02. Sorotan entitas terpilih; bukan laporan konsolidasi lengkap 40 proyek.</a:t>
            </a:r>
          </a:p>
          <a:p xmlns:a="http://schemas.openxmlformats.org/drawingml/2006/main">
            <a:r>
              <a:t>https://www.danantaraindonesia.co.id/id/media-center/press-releases/soe-financial-statements-2025-danantara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WEB30 — Danantara. Penerbitan obligasi USD1,5 miliar. 2026-06-12. Pendanaan DIM; tidak otomatis mobilisasi proyek SP-01–SP-40.</a:t>
            </a:r>
          </a:p>
          <a:p xmlns:a="http://schemas.openxmlformats.org/drawingml/2006/main">
            <a:r>
              <a:t>https://www.danantaraindonesia.co.id/media-center/press-releases/danantara-indonesia-usd-1-5-billion-international-bond-issuance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WEB31 — MDB / ADB. Mobilization Methodology 2018. 2018. Basis latihan lama; pemutakhiran mengikuti edisi 2026.</a:t>
            </a:r>
          </a:p>
          <a:p xmlns:a="http://schemas.openxmlformats.org/drawingml/2006/main">
            <a:r>
              <a:t>https://www.adb.org/sites/default/files/institutional-document/521286/mobilization-private-finance-methodology-2018.pdf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WEB32 — Katadata. Danantara bidik industri hulu panel surya. 2026-07-28. Konteks silika/solar; identitas SP-01 belum terbukti.</a:t>
            </a:r>
          </a:p>
          <a:p xmlns:a="http://schemas.openxmlformats.org/drawingml/2006/main">
            <a:r>
              <a:t>https://katadata.co.id/amp/ekonomi-hijau/energi-baru/6a689c199b9dc/danantara-bidik-investasi-industri-hulu-panel-surya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REG40: Danantara_40_Strategic_Projects Ver O.xlsx, Projects 40 baris 6–45 dan Portfolio summary baris 6–15. Perhitungan baru: dua workbook, Ringkasan40, Kontrol dan lembar penilaian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b24e5428b46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a8293c27a4b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c8d729fa24e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41383fa794a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0c340e07649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4ac22e1d64b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CE035D-601E-4EFD-BBD5-A0994ACBC1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6101B3-B723-4879-A683-60E032661D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6BE69A-DFA1-4A36-ABDD-3ED6772CE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5F3D4D-A1CC-460D-B31C-0A3A58848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939000-1E93-4677-9DDD-AF66C3C533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E716F7-60F7-4E47-82F5-3DB0BA3E6C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E6853D-3D5E-4451-A42E-924D37C29E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9B0631-2252-4B58-AFB9-F381FBE10C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676E3F-69F5-4A68-9EA3-78DB8FDB7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264BF5-E281-4FFE-9655-2F9638F320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8ab62ca46244c8" /><Relationship Type="http://schemas.openxmlformats.org/officeDocument/2006/relationships/slideLayout" Target="/ppt/slideLayouts/slideLayout1.xml" Id="R1788a2cc16494fdf" /><Relationship Type="http://schemas.openxmlformats.org/officeDocument/2006/relationships/slideLayout" Target="/ppt/slideLayouts/slideLayout2.xml" Id="R4b719a88531e4345" /><Relationship Type="http://schemas.openxmlformats.org/officeDocument/2006/relationships/slideLayout" Target="/ppt/slideLayouts/slideLayout3.xml" Id="R0602ae2b047f45a2" /><Relationship Type="http://schemas.openxmlformats.org/officeDocument/2006/relationships/slideLayout" Target="/ppt/slideLayouts/slideLayout4.xml" Id="R3b2e18cce3064cb5" /><Relationship Type="http://schemas.openxmlformats.org/officeDocument/2006/relationships/slideLayout" Target="/ppt/slideLayouts/slideLayout5.xml" Id="R5dcfa12d4d0d428f" /><Relationship Type="http://schemas.openxmlformats.org/officeDocument/2006/relationships/slideLayout" Target="/ppt/slideLayouts/slideLayout6.xml" Id="Rad38db457fde43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88a2cc16494fdf"/>
    <p:sldLayoutId xmlns:r="http://schemas.openxmlformats.org/officeDocument/2006/relationships" id="2147483650" r:id="R4b719a88531e4345"/>
    <p:sldLayoutId xmlns:r="http://schemas.openxmlformats.org/officeDocument/2006/relationships" id="2147483651" r:id="R0602ae2b047f45a2"/>
    <p:sldLayoutId xmlns:r="http://schemas.openxmlformats.org/officeDocument/2006/relationships" id="2147483652" r:id="R3b2e18cce3064cb5"/>
    <p:sldLayoutId xmlns:r="http://schemas.openxmlformats.org/officeDocument/2006/relationships" id="2147483653" r:id="R5dcfa12d4d0d428f"/>
    <p:sldLayoutId xmlns:r="http://schemas.openxmlformats.org/officeDocument/2006/relationships" id="2147483654" r:id="Rad38db457fde43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fae395675477e" /><Relationship Type="http://schemas.openxmlformats.org/officeDocument/2006/relationships/notesSlide" Target="/ppt/notesSlides/notesSlide1.xml" Id="R0162704e00e143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26937ac404fb9" /><Relationship Type="http://schemas.openxmlformats.org/officeDocument/2006/relationships/notesSlide" Target="/ppt/notesSlides/notesSlide2.xml" Id="R9723eba1045048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104ecda581451f" /><Relationship Type="http://schemas.openxmlformats.org/officeDocument/2006/relationships/notesSlide" Target="/ppt/notesSlides/notesSlide3.xml" Id="Ra8ac251fda3548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724476f5d4909" /><Relationship Type="http://schemas.openxmlformats.org/officeDocument/2006/relationships/notesSlide" Target="/ppt/notesSlides/notesSlide4.xml" Id="R1e72cae6098143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30e6e96f204fa4" /><Relationship Type="http://schemas.openxmlformats.org/officeDocument/2006/relationships/chart" Target="/ppt/slides/charts/chart1.xml" Id="Rfc2dad6628b74796" /><Relationship Type="http://schemas.openxmlformats.org/officeDocument/2006/relationships/notesSlide" Target="/ppt/notesSlides/notesSlide5.xml" Id="R7b050a5b285d4b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8096bc076e4070" /><Relationship Type="http://schemas.openxmlformats.org/officeDocument/2006/relationships/chart" Target="/ppt/slides/charts/chart2.xml" Id="R40ea2b9a435c4363" /><Relationship Type="http://schemas.openxmlformats.org/officeDocument/2006/relationships/notesSlide" Target="/ppt/notesSlides/notesSlide6.xml" Id="R05f5ec8c48c943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e43d29b7984aa9" /><Relationship Type="http://schemas.openxmlformats.org/officeDocument/2006/relationships/chart" Target="/ppt/slides/charts/chart3.xml" Id="R3e505f30d7dc40fb" /><Relationship Type="http://schemas.openxmlformats.org/officeDocument/2006/relationships/notesSlide" Target="/ppt/notesSlides/notesSlide7.xml" Id="Rf62b5dc89b5a48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bf6025eb046e3" /><Relationship Type="http://schemas.openxmlformats.org/officeDocument/2006/relationships/notesSlide" Target="/ppt/notesSlides/notesSlide8.xml" Id="Rfde2b9a2b1494a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164333d2d49b8" /><Relationship Type="http://schemas.openxmlformats.org/officeDocument/2006/relationships/notesSlide" Target="/ppt/notesSlides/notesSlide9.xml" Id="R1baf3551e28b4c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70e364f1c40a1" /><Relationship Type="http://schemas.openxmlformats.org/officeDocument/2006/relationships/notesSlide" Target="/ppt/notesSlides/notesSlide10.xml" Id="Rd259d11f380340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07323d36945ed" /><Relationship Type="http://schemas.openxmlformats.org/officeDocument/2006/relationships/chart" Target="/ppt/slides/charts/chart4.xml" Id="R5012d04f037b4f3a" /><Relationship Type="http://schemas.openxmlformats.org/officeDocument/2006/relationships/notesSlide" Target="/ppt/notesSlides/notesSlide11.xml" Id="Rddc7d69f176e47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afb8bb00648a7" /><Relationship Type="http://schemas.openxmlformats.org/officeDocument/2006/relationships/notesSlide" Target="/ppt/notesSlides/notesSlide12.xml" Id="R50f7869b944440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1c36d488084b12" /><Relationship Type="http://schemas.openxmlformats.org/officeDocument/2006/relationships/notesSlide" Target="/ppt/notesSlides/notesSlide13.xml" Id="R9221b28f169647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aeae1e4844cbb" /><Relationship Type="http://schemas.openxmlformats.org/officeDocument/2006/relationships/notesSlide" Target="/ppt/notesSlides/notesSlide14.xml" Id="R7b5dee2a579845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5eae2b2c24bf5" /><Relationship Type="http://schemas.openxmlformats.org/officeDocument/2006/relationships/notesSlide" Target="/ppt/notesSlides/notesSlide15.xml" Id="Re0256429f58f43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f9f8dea1b45a9" /><Relationship Type="http://schemas.openxmlformats.org/officeDocument/2006/relationships/notesSlide" Target="/ppt/notesSlides/notesSlide16.xml" Id="R7f26d1403ecc46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f66e995af4cc7" /><Relationship Type="http://schemas.openxmlformats.org/officeDocument/2006/relationships/chart" Target="/ppt/slides/charts/chart5.xml" Id="Rfce2bb6781c24ff5" /><Relationship Type="http://schemas.openxmlformats.org/officeDocument/2006/relationships/notesSlide" Target="/ppt/notesSlides/notesSlide17.xml" Id="R6c74af09e33d49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cc6a5a0e004564" /><Relationship Type="http://schemas.openxmlformats.org/officeDocument/2006/relationships/notesSlide" Target="/ppt/notesSlides/notesSlide18.xml" Id="Rd1eb5a00f3304ea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331f615d342da" /><Relationship Type="http://schemas.openxmlformats.org/officeDocument/2006/relationships/notesSlide" Target="/ppt/notesSlides/notesSlide19.xml" Id="R4ba82f3e5eac4e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d799c840d4f72" /><Relationship Type="http://schemas.openxmlformats.org/officeDocument/2006/relationships/notesSlide" Target="/ppt/notesSlides/notesSlide20.xml" Id="R11a51e286de14a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3b02db2174d4e" /><Relationship Type="http://schemas.openxmlformats.org/officeDocument/2006/relationships/notesSlide" Target="/ppt/notesSlides/notesSlide21.xml" Id="R4ee6486dea8c4b5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a2bdc87124371" /><Relationship Type="http://schemas.openxmlformats.org/officeDocument/2006/relationships/notesSlide" Target="/ppt/notesSlides/notesSlide22.xml" Id="Rb13855e12fd64f4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508b74cd94b5e" /><Relationship Type="http://schemas.openxmlformats.org/officeDocument/2006/relationships/notesSlide" Target="/ppt/notesSlides/notesSlide23.xml" Id="Rbe389c07e9fb44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140c48e4d49dd" /><Relationship Type="http://schemas.openxmlformats.org/officeDocument/2006/relationships/notesSlide" Target="/ppt/notesSlides/notesSlide24.xml" Id="Ref984592ac3d4a1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b1a587af534bbc" /><Relationship Type="http://schemas.openxmlformats.org/officeDocument/2006/relationships/notesSlide" Target="/ppt/notesSlides/notesSlide25.xml" Id="Rd091268932d740a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bc8b6869e4b0d" /><Relationship Type="http://schemas.openxmlformats.org/officeDocument/2006/relationships/notesSlide" Target="/ppt/notesSlides/notesSlide26.xml" Id="R444d40ed4e61432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bc1a8642a4022" /><Relationship Type="http://schemas.openxmlformats.org/officeDocument/2006/relationships/notesSlide" Target="/ppt/notesSlides/notesSlide27.xml" Id="R92a0315499844d0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f28641d4946fd" /><Relationship Type="http://schemas.openxmlformats.org/officeDocument/2006/relationships/notesSlide" Target="/ppt/notesSlides/notesSlide28.xml" Id="R03bf312ca1e942d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9826c75724944" /><Relationship Type="http://schemas.openxmlformats.org/officeDocument/2006/relationships/notesSlide" Target="/ppt/notesSlides/notesSlide29.xml" Id="Rdd030c81cc854e9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3583a315b4d58" /><Relationship Type="http://schemas.openxmlformats.org/officeDocument/2006/relationships/notesSlide" Target="/ppt/notesSlides/notesSlide30.xml" Id="Rd8699226d66c420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72d975a804f92" /><Relationship Type="http://schemas.openxmlformats.org/officeDocument/2006/relationships/notesSlide" Target="/ppt/notesSlides/notesSlide31.xml" Id="R0ffe9eddb82b4b0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b40d5c5a841d7" /><Relationship Type="http://schemas.openxmlformats.org/officeDocument/2006/relationships/notesSlide" Target="/ppt/notesSlides/notesSlide32.xml" Id="R2d1ac5fd216345c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7c46205b24f8a" /><Relationship Type="http://schemas.openxmlformats.org/officeDocument/2006/relationships/hyperlink" Target="https://www.ifc.org/content/dam/ifc/doc/latest/aimm-general-guidance-note.pdf" TargetMode="External" Id="R34b28c4378c84e95" /><Relationship Type="http://schemas.openxmlformats.org/officeDocument/2006/relationships/hyperlink" Target="https://www.adb.org/documents/guidelines-economic-analysis-projects" TargetMode="External" Id="Ra7ffc89a869149ec" /><Relationship Type="http://schemas.openxmlformats.org/officeDocument/2006/relationships/hyperlink" Target="https://www.adb.org/sites/default/files/institutional-document/521286/mobilization-private-finance-methodology.pdf" TargetMode="External" Id="R33202a9923c64a18" /><Relationship Type="http://schemas.openxmlformats.org/officeDocument/2006/relationships/hyperlink" Target="https://www.adb.org/news/joint-statement-updated-mdb-joint-methodologies-measuring-mobilization-and-private-finance" TargetMode="External" Id="R5fd72b2fb5ab4f8e" /><Relationship Type="http://schemas.openxmlformats.org/officeDocument/2006/relationships/hyperlink" Target="https://stat.unido.org/data/database-descriptions" TargetMode="External" Id="R0e51e1c4b9d94b1c" /><Relationship Type="http://schemas.openxmlformats.org/officeDocument/2006/relationships/hyperlink" Target="https://www.bps.go.id/assets/publication/2021/03/31/081f6b0af2c15c524d72b660/tabel-input---output-indonesia-2016.html" TargetMode="External" Id="Ra89675d477274b27" /><Relationship Type="http://schemas.openxmlformats.org/officeDocument/2006/relationships/hyperlink" Target="https://www.bps.go.id/id/statistics-table/1/MjExNiMx/tabel-input-output-indonesia-transaksidomestik-atas-dasar-harga-dasar-185-produk-2016-juta-rupiah-.html" TargetMode="External" Id="R5e751cb66820446f" /><Relationship Type="http://schemas.openxmlformats.org/officeDocument/2006/relationships/notesSlide" Target="/ppt/notesSlides/notesSlide33.xml" Id="R70d1b296a4e3425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56c7c9678145f2" /><Relationship Type="http://schemas.openxmlformats.org/officeDocument/2006/relationships/hyperlink" Target="https://www.bps.go.id/assets/news/2026/05/06/910/ekonomi-indonesia-resilien-dan-tumbuh-solid--pada-triwulan-1-2026.html" TargetMode="External" Id="Rb245b274efa448e9" /><Relationship Type="http://schemas.openxmlformats.org/officeDocument/2006/relationships/hyperlink" Target="https://www.bps.go.id/id/pressrelease/2026/08/03/2604/harga-produsen-mengalami-inflasi-2-83-persen-di-triwulan-ii-2026.html" TargetMode="External" Id="Reb38fbabd20b468c" /><Relationship Type="http://schemas.openxmlformats.org/officeDocument/2006/relationships/hyperlink" Target="https://www.worldbank.org/en/news/press-release/2026/06/13/indonesia-s-growth-remains-resilient-but-productivity-reforms-are-key-to-creating" TargetMode="External" Id="R0a86cf25612a4951" /><Relationship Type="http://schemas.openxmlformats.org/officeDocument/2006/relationships/hyperlink" Target="https://seads.adb.org/publication/accelerating-indonesias-clean-energy-transition" TargetMode="External" Id="R1b2e613308844061" /><Relationship Type="http://schemas.openxmlformats.org/officeDocument/2006/relationships/hyperlink" Target="https://www.iea.org/reports/enhancing-indonesias-power-system" TargetMode="External" Id="Re3b85d99e1e7411c" /><Relationship Type="http://schemas.openxmlformats.org/officeDocument/2006/relationships/hyperlink" Target="https://ieefa.org/resources/rethinking-indonesias-electricity-economics-reach-100gw-solar-target" TargetMode="External" Id="Rf9631d000964403f" /><Relationship Type="http://schemas.openxmlformats.org/officeDocument/2006/relationships/hyperlink" Target="https://lpem.org/menjaga-sektor-padat-karya-melindungi-kesempatan-kerja-dan-daya-beli-masyarakat-trade-and-industry-brief-juni-2025/" TargetMode="External" Id="Rce925b8496e3462f" /><Relationship Type="http://schemas.openxmlformats.org/officeDocument/2006/relationships/notesSlide" Target="/ppt/notesSlides/notesSlide34.xml" Id="R2ed37a35148541a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a391978964d23" /><Relationship Type="http://schemas.openxmlformats.org/officeDocument/2006/relationships/hyperlink" Target="https://www.gipsstandards.org/standards/gips-standards-for-asset-owners/gips-standards-handbook-for-asset-owners/" TargetMode="External" Id="Ra8fc0a4938734dd7" /><Relationship Type="http://schemas.openxmlformats.org/officeDocument/2006/relationships/hyperlink" Target="https://www.oecd.org/en/publications/oecd-guidelines-on-corporate-governance-of-state-owned-enterprises-2024_18a24f43-en/full-report/component-6.html" TargetMode="External" Id="R7e661343980b439a" /><Relationship Type="http://schemas.openxmlformats.org/officeDocument/2006/relationships/hyperlink" Target="https://www.oecd.org/en/publications/oecd-guidelines-on-corporate-governance-of-state-owned-enterprises-2024_18a24f43-en/full-report/component-7.html" TargetMode="External" Id="R63355a88524d4a08" /><Relationship Type="http://schemas.openxmlformats.org/officeDocument/2006/relationships/hyperlink" Target="https://setkab.go.id/en/govt-launches-100-gwp-solar-initiative-beginning-with-14-plants-across-six-provinces/" TargetMode="External" Id="R6e623eeac3c54526" /><Relationship Type="http://schemas.openxmlformats.org/officeDocument/2006/relationships/hyperlink" Target="https://www.antaranews.com/berita/5711995/danantara-pengembangan-plts-100-gw-butuh-investasi-rp1130-triliun?page=1" TargetMode="External" Id="R831dbb9871774d98" /><Relationship Type="http://schemas.openxmlformats.org/officeDocument/2006/relationships/hyperlink" Target="https://www.esdm.go.id/id/media-center/arsip-berita/presiden-groundbreaking-tahap-ii-dari-kajian-satgas-hilirisasi-danantara-langsung-implementasi" TargetMode="External" Id="R331a636b9fe0494f" /><Relationship Type="http://schemas.openxmlformats.org/officeDocument/2006/relationships/hyperlink" Target="https://www.bkpm.go.id/index.php/id/info/siaran-pers/kementerian-investasi-dan-hilirisasi-dukung-percepatan-13-proyek-hilirisasi-strategis-tahap-ii" TargetMode="External" Id="R5d5caed1f4bc49a2" /><Relationship Type="http://schemas.openxmlformats.org/officeDocument/2006/relationships/notesSlide" Target="/ppt/notesSlides/notesSlide35.xml" Id="Re46706b9604b4b9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3aac7c1854f4e" /><Relationship Type="http://schemas.openxmlformats.org/officeDocument/2006/relationships/hyperlink" Target="https://www.danantaraindonesia.co.id/id/media-center/press-releases/danantara-psel-bali-inauguration" TargetMode="External" Id="Rdacf9cb67ef84201" /><Relationship Type="http://schemas.openxmlformats.org/officeDocument/2006/relationships/hyperlink" Target="https://www.danantaraindonesia.co.id/id/media-center/press-releases/dim-cloa-batch-ii-wte-partners" TargetMode="External" Id="Rcf667078290d461e" /><Relationship Type="http://schemas.openxmlformats.org/officeDocument/2006/relationships/hyperlink" Target="https://www.danantaraindonesia.co.id/id/media-center/press-releases/thales-danantara-strategic-technology" TargetMode="External" Id="Rccf231313d614bc9" /><Relationship Type="http://schemas.openxmlformats.org/officeDocument/2006/relationships/hyperlink" Target="https://www.pal.co.id/danantara-siapkan-pt-pal-jadi-national-consolidator-galangan-kapal-nasional/" TargetMode="External" Id="Re2944cda3c104aa3" /><Relationship Type="http://schemas.openxmlformats.org/officeDocument/2006/relationships/hyperlink" Target="https://www.biofarma.co.id/id/announcement/detail/kunjungan-kepala-bp-bumn-sekaligus-coo-danantara-ke-bio-farma-perkuat-arah-transformasi-dan-kinerja-bisnis" TargetMode="External" Id="Rabc886132d79422b" /><Relationship Type="http://schemas.openxmlformats.org/officeDocument/2006/relationships/hyperlink" Target="https://esdm.go.id/id/media-center/arsip-berita/pemerintah-tetapkan-alokasi-biodiesel-tahun-2026-sebesar-1565-juta-kl" TargetMode="External" Id="R62f99c4ddbda4c89" /><Relationship Type="http://schemas.openxmlformats.org/officeDocument/2006/relationships/hyperlink" Target="https://ieefa.org/resources/indonesias-downstream-coal-plans-add-black-hole" TargetMode="External" Id="R1f5d7aa2a8d34d1f" /><Relationship Type="http://schemas.openxmlformats.org/officeDocument/2006/relationships/notesSlide" Target="/ppt/notesSlides/notesSlide36.xml" Id="R661d78265b00430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db560249d4564" /><Relationship Type="http://schemas.openxmlformats.org/officeDocument/2006/relationships/hyperlink" Target="https://www.danantaraindonesia.co.id/id/media-center/press-releases/soe-financial-statements-2025-danantara" TargetMode="External" Id="Rdf7256805fe34b1e" /><Relationship Type="http://schemas.openxmlformats.org/officeDocument/2006/relationships/hyperlink" Target="https://www.danantaraindonesia.co.id/media-center/press-releases/danantara-indonesia-usd-1-5-billion-international-bond-issuance" TargetMode="External" Id="R6e642667283a4553" /><Relationship Type="http://schemas.openxmlformats.org/officeDocument/2006/relationships/hyperlink" Target="https://www.adb.org/sites/default/files/institutional-document/521286/mobilization-private-finance-methodology-2018.pdf" TargetMode="External" Id="Rc1e8b5c8a7b94255" /><Relationship Type="http://schemas.openxmlformats.org/officeDocument/2006/relationships/hyperlink" Target="https://katadata.co.id/amp/ekonomi-hijau/energi-baru/6a689c199b9dc/danantara-bidik-investasi-industri-hulu-panel-surya" TargetMode="External" Id="R1740d389e9c94f56" /><Relationship Type="http://schemas.openxmlformats.org/officeDocument/2006/relationships/notesSlide" Target="/ppt/notesSlides/notesSlide37.xml" Id="Rf1e0e39f378b4dd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Bernama</c:v>
          </c:tx>
          <c:spPr>
            <a:solidFill xmlns:a="http://schemas.openxmlformats.org/drawingml/2006/main">
              <a:srgbClr val="347A9D"/>
            </a:solidFill>
          </c:spPr>
          <c:cat>
            <c:strRef>
              <c:f>'Chart Data'!$A$2:$A$5</c:f>
              <c:strCache>
                <c:ptCount val="4"/>
                <c:pt idx="0">
                  <c:v>Mineral</c:v>
                </c:pt>
                <c:pt idx="1">
                  <c:v>Infrastruktur</c:v>
                </c:pt>
                <c:pt idx="2">
                  <c:v>Pertahanan</c:v>
                </c:pt>
                <c:pt idx="3">
                  <c:v>Lainnya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5</c:v>
                </c:pt>
                <c:pt idx="1">
                  <c:v>5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v>Tanpa nama</c:v>
          </c:tx>
          <c:spPr>
            <a:solidFill xmlns:a="http://schemas.openxmlformats.org/drawingml/2006/main">
              <a:srgbClr val="A7BFCE"/>
            </a:solidFill>
          </c:spPr>
          <c:cat>
            <c:strRef>
              <c:f>'Chart Data'!$C$2:$C$5</c:f>
              <c:strCache>
                <c:ptCount val="4"/>
                <c:pt idx="0">
                  <c:v>Mineral</c:v>
                </c:pt>
                <c:pt idx="1">
                  <c:v>Infrastruktur</c:v>
                </c:pt>
                <c:pt idx="2">
                  <c:v>Pertahanan</c:v>
                </c:pt>
                <c:pt idx="3">
                  <c:v>Lainnya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9</c:v>
                </c:pt>
                <c:pt idx="2">
                  <c:v>0</c:v>
                </c:pt>
                <c:pt idx="3">
                  <c:v>13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4384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3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E3E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4384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Estimasi sumber</c:v>
          </c:tx>
          <c:spPr>
            <a:solidFill xmlns:a="http://schemas.openxmlformats.org/drawingml/2006/main">
              <a:srgbClr val="347A9D"/>
            </a:solidFill>
          </c:spPr>
          <c:cat>
            <c:strRef>
              <c:f>'Chart Data'!$A$2:$A$4</c:f>
              <c:strCache>
                <c:ptCount val="3"/>
                <c:pt idx="0">
                  <c:v>18 nama</c:v>
                </c:pt>
                <c:pt idx="1">
                  <c:v>Kanan atas</c:v>
                </c:pt>
                <c:pt idx="2">
                  <c:v>Headline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604.97035</c:v>
                </c:pt>
                <c:pt idx="1">
                  <c:v>2072.53439</c:v>
                </c:pt>
                <c:pt idx="2">
                  <c:v>2091.46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4384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3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5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E3E9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Rp triliun</c:v>
          </c:tx>
          <c:spPr>
            <a:solidFill xmlns:a="http://schemas.openxmlformats.org/drawingml/2006/main">
              <a:srgbClr val="347A9D"/>
            </a:solidFill>
          </c:spPr>
          <c:cat>
            <c:strRef>
              <c:f>'Chart Data'!$A$2:$A$5</c:f>
              <c:strCache>
                <c:ptCount val="4"/>
                <c:pt idx="0">
                  <c:v>Mineral</c:v>
                </c:pt>
                <c:pt idx="1">
                  <c:v>Infrastruktur</c:v>
                </c:pt>
                <c:pt idx="2">
                  <c:v>Pertahanan</c:v>
                </c:pt>
                <c:pt idx="3">
                  <c:v>Lainnya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86.87412</c:v>
                </c:pt>
                <c:pt idx="1">
                  <c:v>288.968</c:v>
                </c:pt>
                <c:pt idx="2">
                  <c:v>24.36</c:v>
                </c:pt>
                <c:pt idx="3">
                  <c:v>204.76824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4384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3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E3E9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Pertumbuhan yoy Q1 2026</c:v>
          </c:tx>
          <c:spPr>
            <a:solidFill xmlns:a="http://schemas.openxmlformats.org/drawingml/2006/main">
              <a:srgbClr val="347A9D"/>
            </a:solidFill>
          </c:spPr>
          <c:cat>
            <c:strRef>
              <c:f>'Chart Data'!$A$2:$A$3</c:f>
              <c:strCache>
                <c:ptCount val="2"/>
                <c:pt idx="0">
                  <c:v>PDB nasional</c:v>
                </c:pt>
                <c:pt idx="1">
                  <c:v>Industri pengolahan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5.61</c:v>
                </c:pt>
                <c:pt idx="1">
                  <c:v>5.04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4384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3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E3E9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Estimasi Rp T</c:v>
          </c:tx>
          <c:spPr>
            <a:solidFill xmlns:a="http://schemas.openxmlformats.org/drawingml/2006/main">
              <a:srgbClr val="347A9D"/>
            </a:solidFill>
          </c:spPr>
          <c:cat>
            <c:strRef>
              <c:f>'Chart Data'!$A$2:$A$3</c:f>
              <c:strCache>
                <c:ptCount val="2"/>
                <c:pt idx="0">
                  <c:v>Register</c:v>
                </c:pt>
                <c:pt idx="1">
                  <c:v>Pernyataan publik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231.4</c:v>
                </c:pt>
                <c:pt idx="1">
                  <c:v>1130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4384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3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E3E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C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1D63A9-A6DD-40A4-ABF5-73AC47B1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744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Penilaian kinerja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Danantara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F2B2EC3-97E4-4320-BD83-1FCEEC4C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9E6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D9E6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6ED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B3FC09-04BB-4A64-9D36-A483588D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9E6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D9E6E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9E6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B68672C-58BA-41EC-8948-7B6CC368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D9E6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D9E6E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9E6ED"/>
                </a:solidFill>
                <a:latin typeface="Arial"/>
                <a:ea typeface="Arial"/>
                <a:cs typeface="Arial"/>
              </a:rPr>
              <a:t>Investasi · Operasional · Industrialisasi</a:t>
            </a:r>
          </a:p>
        </p:txBody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90B682F0-7105-490D-A22B-40E7DD32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D9E6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D9E6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6ED"/>
                </a:solidFill>
                <a:latin typeface="Arial"/>
                <a:ea typeface="Arial"/>
                <a:cs typeface="Arial"/>
              </a:rPr>
              <a:t>40 ID register strategis</a:t>
            </a:r>
          </a:p>
          <a:p xmlns:a="http://schemas.openxmlformats.org/drawingml/2006/main">
            <a:pPr algn="l">
              <a:defRPr sz="2250" b="0">
                <a:solidFill>
                  <a:srgbClr val="D9E6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6ED"/>
                </a:solidFill>
                <a:latin typeface="Arial"/>
                <a:ea typeface="Arial"/>
                <a:cs typeface="Arial"/>
              </a:rPr>
              <a:t>Temuan, kesenjangan bukti dan agenda keputusan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91949D49-8142-454B-A271-E94DC1CF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9E6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9E6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9E6ED"/>
                </a:solidFill>
                <a:latin typeface="Arial"/>
                <a:ea typeface="Arial"/>
                <a:cs typeface="Arial"/>
              </a:rPr>
              <a:t>Batas informasi 8 Oktober 2026</a:t>
            </a:r>
          </a:p>
        </p:txBody>
      </p:sp>
    </p:spTree>
    <p:extLst>
      <p:ext uri="{BB962C8B-B14F-4D97-AF65-F5344CB8AC3E}">
        <p14:creationId xmlns:p14="http://schemas.microsoft.com/office/powerpoint/2010/main" val="504837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39FF17-F673-4846-93B1-4FE9350D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40 ID: cakupan nama dan bukti kinerja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FD20698-D2AE-4222-996B-867C11EF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CD9DC2-F24B-40CB-93E9-CBCFE815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E1830295-1E62-48BA-BFE8-6BDA1BC6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600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3E4B880B-3B48-4176-B613-7F8283AB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638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ID register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F68E17EF-A97D-4E36-9014-0C32AF69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38300"/>
            <a:ext cx="2600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B661E2FD-0F86-4198-A5E2-B65D5EB1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2638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nama tersedia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C2D699F1-1FEE-46D2-B55D-8EF34CF5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38300"/>
            <a:ext cx="2600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9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274DEE9A-1BB1-49E3-8377-2BA2DF9C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2638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slot tanpa nama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5C886A6D-8FB4-48F9-9106-44ED5C64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38300"/>
            <a:ext cx="2600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Rp604,97 T</a:t>
            </a:r>
          </a:p>
        </p:txBody>
      </p:sp>
      <p:sp>
        <p:nvSpPr>
          <p:cNvPr id="11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3D24676F-23B6-4A10-BEE9-8B3976EF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2638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estimasi 18 nama</a:t>
            </a:r>
          </a:p>
        </p:txBody>
      </p:sp>
      <p:sp>
        <p:nvSpPr>
          <p:cNvPr id="12" name="pillar-0">
            <a:extLst xmlns:a="http://schemas.openxmlformats.org/drawingml/2006/main">
              <a:ext uri="{FF2B5EF4-FFF2-40B4-BE49-F238E27FC236}">
                <a16:creationId xmlns:a16="http://schemas.microsoft.com/office/drawing/2014/main" id="{F2414778-5B09-4014-B003-F24A68A7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INVESTASI</a:t>
            </a:r>
          </a:p>
        </p:txBody>
      </p:sp>
      <p:sp>
        <p:nvSpPr>
          <p:cNvPr id="13" name="score-0">
            <a:extLst xmlns:a="http://schemas.openxmlformats.org/drawingml/2006/main">
              <a:ext uri="{FF2B5EF4-FFF2-40B4-BE49-F238E27FC236}">
                <a16:creationId xmlns:a16="http://schemas.microsoft.com/office/drawing/2014/main" id="{344ACA51-209A-41F9-9A29-CC6F1E38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524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A65748"/>
                </a:solidFill>
                <a:latin typeface="Arial"/>
                <a:ea typeface="Arial"/>
                <a:cs typeface="Arial"/>
              </a:rPr>
              <a:t>0 / 100</a:t>
            </a:r>
          </a:p>
        </p:txBody>
      </p:sp>
      <p:sp>
        <p:nvSpPr>
          <p:cNvPr id="14" name="gap-0">
            <a:extLst xmlns:a="http://schemas.openxmlformats.org/drawingml/2006/main">
              <a:ext uri="{FF2B5EF4-FFF2-40B4-BE49-F238E27FC236}">
                <a16:creationId xmlns:a16="http://schemas.microsoft.com/office/drawing/2014/main" id="{3E0DA21C-EEF2-43F9-A104-DF2D1568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846"/>
                </a:solidFill>
                <a:latin typeface="Arial"/>
                <a:ea typeface="Arial"/>
                <a:cs typeface="Arial"/>
              </a:rPr>
              <a:t>12 KPI belum terukur</a:t>
            </a:r>
          </a:p>
        </p:txBody>
      </p:sp>
      <p:sp>
        <p:nvSpPr>
          <p:cNvPr id="15" name="need-0">
            <a:extLst xmlns:a="http://schemas.openxmlformats.org/drawingml/2006/main">
              <a:ext uri="{FF2B5EF4-FFF2-40B4-BE49-F238E27FC236}">
                <a16:creationId xmlns:a16="http://schemas.microsoft.com/office/drawing/2014/main" id="{CA4A3BB6-BB94-4519-9117-6085570D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Arus kas · NAV · hurdle</a:t>
            </a:r>
          </a:p>
          <a:p xmlns:a="http://schemas.openxmlformats.org/drawingml/2006/main">
            <a:pPr algn="l">
              <a:defRPr sz="18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Mobilisasi teratribusi</a:t>
            </a:r>
          </a:p>
        </p:txBody>
      </p:sp>
      <p:sp>
        <p:nvSpPr>
          <p:cNvPr id="16" name="pillar-1">
            <a:extLst xmlns:a="http://schemas.openxmlformats.org/drawingml/2006/main">
              <a:ext uri="{FF2B5EF4-FFF2-40B4-BE49-F238E27FC236}">
                <a16:creationId xmlns:a16="http://schemas.microsoft.com/office/drawing/2014/main" id="{D6E0BCF9-4738-4C25-BD9B-8BE91A64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670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OPERASIONAL</a:t>
            </a:r>
          </a:p>
        </p:txBody>
      </p:sp>
      <p:sp>
        <p:nvSpPr>
          <p:cNvPr id="17" name="score-1">
            <a:extLst xmlns:a="http://schemas.openxmlformats.org/drawingml/2006/main">
              <a:ext uri="{FF2B5EF4-FFF2-40B4-BE49-F238E27FC236}">
                <a16:creationId xmlns:a16="http://schemas.microsoft.com/office/drawing/2014/main" id="{88BB0370-DEA5-4DC4-BE6E-10F6B1CC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81425"/>
            <a:ext cx="3524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A65748"/>
                </a:solidFill>
                <a:latin typeface="Arial"/>
                <a:ea typeface="Arial"/>
                <a:cs typeface="Arial"/>
              </a:rPr>
              <a:t>0 / 100</a:t>
            </a:r>
          </a:p>
        </p:txBody>
      </p:sp>
      <p:sp>
        <p:nvSpPr>
          <p:cNvPr id="18" name="gap-1">
            <a:extLst xmlns:a="http://schemas.openxmlformats.org/drawingml/2006/main">
              <a:ext uri="{FF2B5EF4-FFF2-40B4-BE49-F238E27FC236}">
                <a16:creationId xmlns:a16="http://schemas.microsoft.com/office/drawing/2014/main" id="{BC023C64-5E4C-4905-9F8F-0F60FC62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62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846"/>
                </a:solidFill>
                <a:latin typeface="Arial"/>
                <a:ea typeface="Arial"/>
                <a:cs typeface="Arial"/>
              </a:rPr>
              <a:t>15 KPI belum terukur</a:t>
            </a:r>
          </a:p>
        </p:txBody>
      </p:sp>
      <p:sp>
        <p:nvSpPr>
          <p:cNvPr id="19" name="need-1">
            <a:extLst xmlns:a="http://schemas.openxmlformats.org/drawingml/2006/main">
              <a:ext uri="{FF2B5EF4-FFF2-40B4-BE49-F238E27FC236}">
                <a16:creationId xmlns:a16="http://schemas.microsoft.com/office/drawing/2014/main" id="{9688760B-481E-4AAF-A25B-0D437224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14925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Biaya unit · produktivitas</a:t>
            </a:r>
          </a:p>
          <a:p xmlns:a="http://schemas.openxmlformats.org/drawingml/2006/main">
            <a:pPr algn="l">
              <a:defRPr sz="18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ROIC · mutu layanan</a:t>
            </a:r>
          </a:p>
        </p:txBody>
      </p:sp>
      <p:sp>
        <p:nvSpPr>
          <p:cNvPr id="20" name="pillar-2">
            <a:extLst xmlns:a="http://schemas.openxmlformats.org/drawingml/2006/main">
              <a:ext uri="{FF2B5EF4-FFF2-40B4-BE49-F238E27FC236}">
                <a16:creationId xmlns:a16="http://schemas.microsoft.com/office/drawing/2014/main" id="{99814C87-A7E5-41BB-BF6E-726B4470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670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INDUSTRIALISASI</a:t>
            </a:r>
          </a:p>
        </p:txBody>
      </p:sp>
      <p:sp>
        <p:nvSpPr>
          <p:cNvPr id="21" name="score-2">
            <a:extLst xmlns:a="http://schemas.openxmlformats.org/drawingml/2006/main">
              <a:ext uri="{FF2B5EF4-FFF2-40B4-BE49-F238E27FC236}">
                <a16:creationId xmlns:a16="http://schemas.microsoft.com/office/drawing/2014/main" id="{4CE97379-7AEB-42B1-8830-A3D03B32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524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A65748"/>
                </a:solidFill>
                <a:latin typeface="Arial"/>
                <a:ea typeface="Arial"/>
                <a:cs typeface="Arial"/>
              </a:rPr>
              <a:t>0 / 100</a:t>
            </a:r>
          </a:p>
        </p:txBody>
      </p:sp>
      <p:sp>
        <p:nvSpPr>
          <p:cNvPr id="22" name="gap-2">
            <a:extLst xmlns:a="http://schemas.openxmlformats.org/drawingml/2006/main">
              <a:ext uri="{FF2B5EF4-FFF2-40B4-BE49-F238E27FC236}">
                <a16:creationId xmlns:a16="http://schemas.microsoft.com/office/drawing/2014/main" id="{40896C0B-4674-4D22-9781-D834C5DA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62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846"/>
                </a:solidFill>
                <a:latin typeface="Arial"/>
                <a:ea typeface="Arial"/>
                <a:cs typeface="Arial"/>
              </a:rPr>
              <a:t>12 KPI belum terukur</a:t>
            </a:r>
          </a:p>
        </p:txBody>
      </p:sp>
      <p:sp>
        <p:nvSpPr>
          <p:cNvPr id="23" name="need-2">
            <a:extLst xmlns:a="http://schemas.openxmlformats.org/drawingml/2006/main">
              <a:ext uri="{FF2B5EF4-FFF2-40B4-BE49-F238E27FC236}">
                <a16:creationId xmlns:a16="http://schemas.microsoft.com/office/drawing/2014/main" id="{3F14D9B0-1D45-4783-8ECF-F5B72A93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14925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ENPV/EIRR · DVA</a:t>
            </a:r>
          </a:p>
          <a:p xmlns:a="http://schemas.openxmlformats.org/drawingml/2006/main">
            <a:pPr algn="l">
              <a:defRPr sz="18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Kapabilitas teknologi</a:t>
            </a:r>
          </a:p>
        </p:txBody>
      </p:sp>
      <p:sp>
        <p:nvSpPr>
          <p:cNvPr id="24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3DC675F1-0612-491E-9AB2-A0A5F4A5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Skor konservatif akibat kekurangan data. Kinerja finansial dan dampak aktual belum dapat disimpulkan.</a:t>
            </a:r>
          </a:p>
        </p:txBody>
      </p:sp>
    </p:spTree>
    <p:extLst>
      <p:ext uri="{BB962C8B-B14F-4D97-AF65-F5344CB8AC3E}">
        <p14:creationId xmlns:p14="http://schemas.microsoft.com/office/powerpoint/2010/main" val="1452433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4AB04F-9AF9-43A0-A9B1-50278C95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Agenda keputusan pimpinan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239C450-4D22-4869-BA32-6A9AD58A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6B36D9-8ACB-4B3A-AA2A-AF327FA3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B14C7FB2-82BC-4134-8761-7F87718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2762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Tetapkan identitas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81E6B758-8981-48A1-977F-CE3E9EE6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62877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Sahkan register berisi nama, lokasi, SPV, sponsor dan lingkup biaya. Lengkapi 22 slot tanpa nama.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589F09FA-F739-4F7D-8900-C8C84F27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762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Rekonsiliasi biaya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52B1D014-B45F-4D38-B9C9-5DAC663E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0037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Selesaikan selisih dua total register dan batas anggaran PLTS sebelum menjadikan angka sebagai pagu.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FD41D09E-7C01-4291-8E13-7EFFA546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2762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Terapkan gate bukti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11F34F24-9AF3-4D70-9631-A5F84D18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7197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Minta arus kas, baseline operasi, appraisal ekonomi serta ledger mobilisasi dan DVA pada setiap keputusan tahap.</a:t>
            </a:r>
          </a:p>
        </p:txBody>
      </p:sp>
      <p:sp>
        <p:nvSpPr>
          <p:cNvPr id="10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2A68B866-31CE-4D90-934E-55094413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Usulan tindak lanjut kajian; tidak menyatakan penghentian atau persetujuan proyek tertentu.</a:t>
            </a:r>
          </a:p>
        </p:txBody>
      </p:sp>
    </p:spTree>
    <p:extLst>
      <p:ext uri="{BB962C8B-B14F-4D97-AF65-F5344CB8AC3E}">
        <p14:creationId xmlns:p14="http://schemas.microsoft.com/office/powerpoint/2010/main" val="1467954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6F33BA-A1C7-4075-AE08-EAB0B7E0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Hasil tiga pilar dan batas interpretasi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6C713D4-CE60-4541-B9DD-9F4D31FF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B9A4B0-9D5B-475A-AAEC-C3CBCDAE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B9CBB-8EBC-409C-B2B3-E2B5C923D100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1428750"/>
                <a:gridCol w="1476375"/>
                <a:gridCol w="1876425"/>
                <a:gridCol w="4095750"/>
              </a:tblGrid>
              <a:tr h="733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Pilar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Bobot usulan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Skor / 100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Cakupan data layak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Kesimpulan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9810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Investasi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40%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Return dan risiko proyek belum terukur.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Operasional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35%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Efisiensi dan pertumbuhan belum sebanding.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9810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Industrialisasi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25%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Manfaat tambahan belum terverifikasi.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mposite">
            <a:extLst xmlns:a="http://schemas.openxmlformats.org/drawingml/2006/main">
              <a:ext uri="{FF2B5EF4-FFF2-40B4-BE49-F238E27FC236}">
                <a16:creationId xmlns:a16="http://schemas.microsoft.com/office/drawing/2014/main" id="{839F1C4C-B94C-42CF-BEDA-6D5766A8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65748"/>
                </a:solidFill>
                <a:latin typeface="Arial"/>
                <a:ea typeface="Arial"/>
                <a:cs typeface="Arial"/>
              </a:rPr>
              <a:t>Komposit konservatif: 0 / 100</a:t>
            </a:r>
          </a:p>
        </p:txBody>
      </p:sp>
      <p:sp>
        <p:nvSpPr>
          <p:cNvPr id="6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FF213CFF-E826-4C50-A81D-D2EDAD80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Bobot asli 40/35/25 dipertahankan. Angka 0 adalah penalti data; gate assurance tetap belum terselesaikan.</a:t>
            </a:r>
          </a:p>
        </p:txBody>
      </p:sp>
    </p:spTree>
    <p:extLst>
      <p:ext uri="{BB962C8B-B14F-4D97-AF65-F5344CB8AC3E}">
        <p14:creationId xmlns:p14="http://schemas.microsoft.com/office/powerpoint/2010/main" val="1636279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61C91F-6C2F-4C7A-9947-6E733BEB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Nama tersedia pada 18 dari 40 slot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709B557-DCB3-41AC-9792-745D05C2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F15AC2-58AE-4D16-8348-33C177DF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04A2E3C-F7D1-4E0C-9B36-0E72AF7755B0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72390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2dad6628b74796"/>
          </a:graphicData>
        </a:graphic>
      </p:graphicFrame>
      <p:sp>
        <p:nvSpPr>
          <p:cNvPr id="5" name="coverage">
            <a:extLst xmlns:a="http://schemas.openxmlformats.org/drawingml/2006/main">
              <a:ext uri="{FF2B5EF4-FFF2-40B4-BE49-F238E27FC236}">
                <a16:creationId xmlns:a16="http://schemas.microsoft.com/office/drawing/2014/main" id="{5E48974F-C42F-4ED8-B45B-2A1F51B0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45%</a:t>
            </a:r>
          </a:p>
        </p:txBody>
      </p:sp>
      <p:sp>
        <p:nvSpPr>
          <p:cNvPr id="6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12390F74-6DA3-4DF3-A514-A65299C7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8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cakupan nama</a:t>
            </a:r>
          </a:p>
        </p:txBody>
      </p:sp>
      <p:sp>
        <p:nvSpPr>
          <p:cNvPr id="7" name="coverage-reading">
            <a:extLst xmlns:a="http://schemas.openxmlformats.org/drawingml/2006/main">
              <a:ext uri="{FF2B5EF4-FFF2-40B4-BE49-F238E27FC236}">
                <a16:creationId xmlns:a16="http://schemas.microsoft.com/office/drawing/2014/main" id="{D06D119C-A92C-4347-BA85-93E2285B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43325"/>
            <a:ext cx="32861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Kelompok Infrastruktur dan Lainnya memuat seluruh 22 slot tanpa nama.</a:t>
            </a:r>
          </a:p>
        </p:txBody>
      </p:sp>
      <p:sp>
        <p:nvSpPr>
          <p:cNvPr id="8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C3F0D7B-1A58-4D9F-A732-DB4BD0A6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Nama seperti “Copper” atau “Biodiesel” masih memerlukan identitas fasilitas dan badan hukum.</a:t>
            </a:r>
          </a:p>
        </p:txBody>
      </p:sp>
    </p:spTree>
    <p:extLst>
      <p:ext uri="{BB962C8B-B14F-4D97-AF65-F5344CB8AC3E}">
        <p14:creationId xmlns:p14="http://schemas.microsoft.com/office/powerpoint/2010/main" val="12913249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77FC75-0587-40F8-85DD-A956F3CE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Total anggaran sumber belum konsisten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E038E82-240F-4BAC-813D-8CFAF57A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44FDA5-9ACB-47A1-9843-1B615952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unit">
            <a:extLst xmlns:a="http://schemas.openxmlformats.org/drawingml/2006/main">
              <a:ext uri="{FF2B5EF4-FFF2-40B4-BE49-F238E27FC236}">
                <a16:creationId xmlns:a16="http://schemas.microsoft.com/office/drawing/2014/main" id="{049098CA-7D0C-4EDB-8739-07A6D669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Rp triliun; estimasi sumber, bukan anggaran disetujui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2BF8CE6-15F7-4E1E-A00F-36842D79CDDD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676275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ea2b9a435c4363"/>
          </a:graphicData>
        </a:graphic>
      </p:graphicFrame>
      <p:sp>
        <p:nvSpPr>
          <p:cNvPr id="6" name="difference">
            <a:extLst xmlns:a="http://schemas.openxmlformats.org/drawingml/2006/main">
              <a:ext uri="{FF2B5EF4-FFF2-40B4-BE49-F238E27FC236}">
                <a16:creationId xmlns:a16="http://schemas.microsoft.com/office/drawing/2014/main" id="{4C69D4B4-708C-4956-9908-0C749BAC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A65748"/>
                </a:solidFill>
                <a:latin typeface="Arial"/>
                <a:ea typeface="Arial"/>
                <a:cs typeface="Arial"/>
              </a:rPr>
              <a:t>Rp18,93 T</a:t>
            </a:r>
          </a:p>
        </p:txBody>
      </p:sp>
      <p:sp>
        <p:nvSpPr>
          <p:cNvPr id="7" name="difference-label">
            <a:extLst xmlns:a="http://schemas.openxmlformats.org/drawingml/2006/main">
              <a:ext uri="{FF2B5EF4-FFF2-40B4-BE49-F238E27FC236}">
                <a16:creationId xmlns:a16="http://schemas.microsoft.com/office/drawing/2014/main" id="{7DA9EED0-0E88-4926-A3C3-D6B93F21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33675"/>
            <a:ext cx="3619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selisih dua ringkasan</a:t>
            </a:r>
          </a:p>
        </p:txBody>
      </p:sp>
      <p:sp>
        <p:nvSpPr>
          <p:cNvPr id="8" name="allocation">
            <a:extLst xmlns:a="http://schemas.openxmlformats.org/drawingml/2006/main">
              <a:ext uri="{FF2B5EF4-FFF2-40B4-BE49-F238E27FC236}">
                <a16:creationId xmlns:a16="http://schemas.microsoft.com/office/drawing/2014/main" id="{412B7D0B-62B6-4DB8-B893-003C72E3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619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Rp1.486,49 T</a:t>
            </a:r>
          </a:p>
          <a:p xmlns:a="http://schemas.openxmlformats.org/drawingml/2006/main">
            <a:pPr algn="l">
              <a:defRPr sz="2175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belum terhubung ke</a:t>
            </a:r>
          </a:p>
          <a:p xmlns:a="http://schemas.openxmlformats.org/drawingml/2006/main">
            <a:pPr algn="l">
              <a:defRPr sz="2175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nama pada register</a:t>
            </a:r>
          </a:p>
        </p:txBody>
      </p:sp>
      <p:sp>
        <p:nvSpPr>
          <p:cNvPr id="9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D55AFCC-9ADF-474F-BE2F-D9BEE25D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Tidak mengalokasikan selisih atau sisa total secara merata ke slot tanpa identitas.</a:t>
            </a:r>
          </a:p>
        </p:txBody>
      </p:sp>
    </p:spTree>
    <p:extLst>
      <p:ext uri="{BB962C8B-B14F-4D97-AF65-F5344CB8AC3E}">
        <p14:creationId xmlns:p14="http://schemas.microsoft.com/office/powerpoint/2010/main" val="17548596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665A01-5605-4832-9560-D4B6DD0A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Komposisi estimasi pada 18 nama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BEF7543-711A-46E2-A565-2E817FF2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E84494-7837-4652-A4E0-D5B44408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unit">
            <a:extLst xmlns:a="http://schemas.openxmlformats.org/drawingml/2006/main">
              <a:ext uri="{FF2B5EF4-FFF2-40B4-BE49-F238E27FC236}">
                <a16:creationId xmlns:a16="http://schemas.microsoft.com/office/drawing/2014/main" id="{18DAE76D-6599-4594-93A5-62AB6A38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Estimasi register, Rp triliun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4E2D886-DBA4-451C-B77A-64647C3C6E9C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721995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505f30d7dc40fb"/>
          </a:graphicData>
        </a:graphic>
      </p:graphicFrame>
      <p:sp>
        <p:nvSpPr>
          <p:cNvPr id="6" name="named-total">
            <a:extLst xmlns:a="http://schemas.openxmlformats.org/drawingml/2006/main">
              <a:ext uri="{FF2B5EF4-FFF2-40B4-BE49-F238E27FC236}">
                <a16:creationId xmlns:a16="http://schemas.microsoft.com/office/drawing/2014/main" id="{A15B3125-54B9-4C85-97FC-6E3E5D4C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19275"/>
            <a:ext cx="34385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Rp604,97 T</a:t>
            </a:r>
          </a:p>
        </p:txBody>
      </p:sp>
      <p:sp>
        <p:nvSpPr>
          <p:cNvPr id="7" name="named-note">
            <a:extLst xmlns:a="http://schemas.openxmlformats.org/drawingml/2006/main">
              <a:ext uri="{FF2B5EF4-FFF2-40B4-BE49-F238E27FC236}">
                <a16:creationId xmlns:a16="http://schemas.microsoft.com/office/drawing/2014/main" id="{7B558ACE-279A-4C54-A44D-FB53A195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05100"/>
            <a:ext cx="34385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28,9% dari headline</a:t>
            </a:r>
          </a:p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Rp2.091,46 triliun</a:t>
            </a:r>
          </a:p>
        </p:txBody>
      </p:sp>
      <p:sp>
        <p:nvSpPr>
          <p:cNvPr id="8" name="concentration">
            <a:extLst xmlns:a="http://schemas.openxmlformats.org/drawingml/2006/main">
              <a:ext uri="{FF2B5EF4-FFF2-40B4-BE49-F238E27FC236}">
                <a16:creationId xmlns:a16="http://schemas.microsoft.com/office/drawing/2014/main" id="{E88F124B-AE4D-45FA-8F5C-F3CA9A34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00525"/>
            <a:ext cx="34385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PLTS sendiri: Rp231,40 T</a:t>
            </a:r>
          </a:p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38,3% estimasi bernama</a:t>
            </a:r>
          </a:p>
        </p:txBody>
      </p:sp>
      <p:sp>
        <p:nvSpPr>
          <p:cNvPr id="9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D19FEB2A-571E-4185-BC7D-7933FDC4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Angka mengukur komposisi estimasi register. Tidak menggambarkan NAV, pencairan atau eksposur kerugian.</a:t>
            </a:r>
          </a:p>
        </p:txBody>
      </p:sp>
    </p:spTree>
    <p:extLst>
      <p:ext uri="{BB962C8B-B14F-4D97-AF65-F5344CB8AC3E}">
        <p14:creationId xmlns:p14="http://schemas.microsoft.com/office/powerpoint/2010/main" val="337793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AAC32F-FB94-4F1B-8610-E794DC47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Pencocokan publik belum mencapai level SPV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10288D0-95C8-4C23-9075-039FC6B4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5A7B30-31A2-4B8E-94F0-59F8806F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89DE8-7856-412A-8A33-5341C34E091A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76550"/>
                <a:gridCol w="1238250"/>
                <a:gridCol w="6858000"/>
              </a:tblGrid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Hasil pencocokan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Jumlah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Makna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9382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Program terkonfirmasi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SP-06: 100 GWp; rincian subproyek dan biaya masih perlu diselaraskan.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9382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 tersedia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Ada berita/program terkait, belum cukup untuk menetapkan proyek yang sama.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9382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Nama belum terpetakan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Atoma, Tarsius, CPE dan EV Power Pack maritim.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9382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Nama, lokasi, produk dan badan hukum tidak tersedia.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FC0D8EC5-49A2-4F42-AB81-E4AF0323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Kecocokan tema industri saja tidak memberi hak untuk memakai angka proyek lain dalam skor.</a:t>
            </a:r>
          </a:p>
        </p:txBody>
      </p:sp>
    </p:spTree>
    <p:extLst>
      <p:ext uri="{BB962C8B-B14F-4D97-AF65-F5344CB8AC3E}">
        <p14:creationId xmlns:p14="http://schemas.microsoft.com/office/powerpoint/2010/main" val="2121340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94F954-F71F-48CD-A9B6-73C717B6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Investasi: data pendanaan tersedia, return belum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86EC7C-C371-46D5-A863-7B806416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WEB15 · WEB30 · WEB03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7F708D-CF86-48C4-83D9-39EC9375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A441C-F494-4D82-B695-ACF3C033745C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57525"/>
                <a:gridCol w="3914775"/>
                <a:gridCol w="4000500"/>
              </a:tblGrid>
              <a:tr h="733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 yang ditemukan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Batas penggunaan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 penilaian yang dibutuhkan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1171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Obligasi DIM USD1,5 miliar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Pendanaan institusi; tidak identik dengan dana tersalur ke 40 proyek.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Cash flow bertanggal, NAV, distribusi dan biaya investasi.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Yield 5 tahun 5,35%; 10 tahun 5,95%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Harga penerbitan, bukan return aset atau total cost of capital.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Hurdle per risiko/vintage dan benchmark sebanding.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1171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Orderbook sekitar USD4,6 miliar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Minat investor; tidak dijumlahkan dengan nilai penerbitan.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Tranche proyek, close/disbursement dan atribusi mobilisasi.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3F5781FF-1260-413A-B6E6-13C96A01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GIPS mendasari disiplin return neto dan benchmark. Penilaian ini tidak menyatakan kepatuhan GIPS.</a:t>
            </a:r>
          </a:p>
        </p:txBody>
      </p:sp>
    </p:spTree>
    <p:extLst>
      <p:ext uri="{BB962C8B-B14F-4D97-AF65-F5344CB8AC3E}">
        <p14:creationId xmlns:p14="http://schemas.microsoft.com/office/powerpoint/2010/main" val="343962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01A60F-E917-4C60-9E53-21E77885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Operasional: baseline proyek menentukan skor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5095357-FDD6-4931-806C-BFEE80EE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WEB08 · WEB09 · WEB16 · WEB17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75D44B-F5FE-4C6A-905F-88479902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8E43A-3D77-4800-9B0C-95A57616DCDA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57425"/>
                <a:gridCol w="3667125"/>
                <a:gridCol w="504825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Bidang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KPI utama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Kebutuhan minimum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1238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Penciptaan nilai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ROIC − WACC; laba ekonomi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NOPAT dan modal operasi dengan perimeter yang sama.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1238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Efisiensi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Biaya unit riil; nilai tambah/FTE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Output, OPEX, FTE, mutu dan deflator yang sesuai.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1238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Pertumbuhan dan layanan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Pendapatan organik riil; keandalan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Pisahkan harga, volume, akuisisi dan mandat PSO.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D12FAABB-8009-405B-A87D-412D6D7A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BPS: IHP manufaktur +4,94% yoy pada Q2 2026. Deflator sektor tetap perlu disesuaikan dengan struktur biaya.</a:t>
            </a:r>
          </a:p>
        </p:txBody>
      </p:sp>
    </p:spTree>
    <p:extLst>
      <p:ext uri="{BB962C8B-B14F-4D97-AF65-F5344CB8AC3E}">
        <p14:creationId xmlns:p14="http://schemas.microsoft.com/office/powerpoint/2010/main" val="2167313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899781-2F42-4201-B71E-0A4256F9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Konteks BPS mendukung pemilihan baseline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B5A07CA-8ACE-4B12-8F92-11C0D378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WEB08 · WEB10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8F550C3-F3C6-464A-991F-0769DAB7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unit">
            <a:extLst xmlns:a="http://schemas.openxmlformats.org/drawingml/2006/main">
              <a:ext uri="{FF2B5EF4-FFF2-40B4-BE49-F238E27FC236}">
                <a16:creationId xmlns:a16="http://schemas.microsoft.com/office/drawing/2014/main" id="{1BC71632-846C-441F-9B4A-CB21461A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Pertumbuhan yoy Q1 2026 (%)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1F78E43-D363-4B06-BD8B-787DC77AC0D7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676275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12d04f037b4f3a"/>
          </a:graphicData>
        </a:graphic>
      </p:graphicFrame>
      <p:sp>
        <p:nvSpPr>
          <p:cNvPr id="6" name="mva-share">
            <a:extLst xmlns:a="http://schemas.openxmlformats.org/drawingml/2006/main">
              <a:ext uri="{FF2B5EF4-FFF2-40B4-BE49-F238E27FC236}">
                <a16:creationId xmlns:a16="http://schemas.microsoft.com/office/drawing/2014/main" id="{491FF78B-4244-4E2A-BF88-BE5C159B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895475"/>
            <a:ext cx="3590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19,07%</a:t>
            </a:r>
          </a:p>
        </p:txBody>
      </p:sp>
      <p:sp>
        <p:nvSpPr>
          <p:cNvPr id="7" name="mva-label">
            <a:extLst xmlns:a="http://schemas.openxmlformats.org/drawingml/2006/main">
              <a:ext uri="{FF2B5EF4-FFF2-40B4-BE49-F238E27FC236}">
                <a16:creationId xmlns:a16="http://schemas.microsoft.com/office/drawing/2014/main" id="{6ED7405E-6F23-4B4E-840D-186764FA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24150"/>
            <a:ext cx="35909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pangsa manufaktur</a:t>
            </a:r>
          </a:p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dalam PDB Q1 2026</a:t>
            </a:r>
          </a:p>
        </p:txBody>
      </p:sp>
      <p:sp>
        <p:nvSpPr>
          <p:cNvPr id="8" name="causality">
            <a:extLst xmlns:a="http://schemas.openxmlformats.org/drawingml/2006/main">
              <a:ext uri="{FF2B5EF4-FFF2-40B4-BE49-F238E27FC236}">
                <a16:creationId xmlns:a16="http://schemas.microsoft.com/office/drawing/2014/main" id="{3A1D93A7-C613-42E0-B163-10256EFD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143375"/>
            <a:ext cx="35909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Gunakan untuk konteks sektor dan counterfactual. Kontribusi proyek harus diukur tersendiri.</a:t>
            </a:r>
          </a:p>
        </p:txBody>
      </p:sp>
      <p:sp>
        <p:nvSpPr>
          <p:cNvPr id="9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4F65FE4B-DE8E-4654-8127-0AC9CA1A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Pertumbuhan makro BPS tidak diatribusikan sebagai hasil Danantara. Q1 2026 ditampilkan dengan periode eksplisit.</a:t>
            </a:r>
          </a:p>
        </p:txBody>
      </p:sp>
    </p:spTree>
    <p:extLst>
      <p:ext uri="{BB962C8B-B14F-4D97-AF65-F5344CB8AC3E}">
        <p14:creationId xmlns:p14="http://schemas.microsoft.com/office/powerpoint/2010/main" val="17207252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090331-F4E8-4615-91A0-EEDDD686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Industrialisasi: tiga aspek, enam kriteria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03C48D6-05E6-4B2D-B6B9-4A185243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WEB01 · WEB02 · WEB03 · WEB05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58AAF3-E22E-4A47-9582-B90AB4E0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11999-5703-4985-A9F5-8D15370E86C3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6096000"/>
                <a:gridCol w="1476375"/>
                <a:gridCol w="2352675"/>
              </a:tblGrid>
              <a:tr h="5143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Aspek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Kriteria yang dinilai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Bobot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Hasil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1244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Additionality Danantara; dampak proyek dan pasar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40%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0 / 100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1244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ENPV/EIRR; least-cost dan dukungan publik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35%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0 / 100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1244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Mobilisasi teratribusi; DVA dan kapabilitas teknologi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25%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0 / 100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979A32EE-7166-4C63-BEA3-EAD3A6F4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240 pemeriksaan = 40 ID × 6 kriteria. Bukti minimum belum lengkap; ini adaptasi analitis, bukan rating lembaga.</a:t>
            </a:r>
          </a:p>
        </p:txBody>
      </p:sp>
    </p:spTree>
    <p:extLst>
      <p:ext uri="{BB962C8B-B14F-4D97-AF65-F5344CB8AC3E}">
        <p14:creationId xmlns:p14="http://schemas.microsoft.com/office/powerpoint/2010/main" val="18029171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F812DB-9638-49F7-921D-C7963059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A · Additionality dan AIMM dinilai terpisah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5C9F5F9-B883-437F-86BD-05BFEF4C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WEB01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D352A5-AC20-45F0-8DB9-A75A5354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1D4CA28D-BA40-49F3-ACAB-68DE022A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2762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Additionality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6E814525-E43A-4CA1-9E78-307ECB93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62877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Nilai khusus yang diberikan Danantara: pembiayaan, pembagian risiko, standar atau kemampuan yang tidak tersedia pada alternatif pasar.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E919C023-9DD5-40DC-A4F9-2B325543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762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Dampak proyek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3773BD31-46B9-4F48-BB18-BD748430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0037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Uji manfaat inkremental bagi pengguna, pekerja dan pemasok terhadap kondisi tanpa proyek.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D37864ED-53C3-447D-9EB8-1B567386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2762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Dampak pasar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909C4E68-EAE9-4365-9337-2F6CE423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7197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Uji daya saing, ketahanan pasokan dan replikasi; tetapkan target teknologi serta cara verifikasinya.</a:t>
            </a:r>
          </a:p>
        </p:txBody>
      </p:sp>
      <p:sp>
        <p:nvSpPr>
          <p:cNvPr id="10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D88BE667-4990-4664-B945-6D5BDF86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Panduan IFC Maret 2026 menegaskan bahwa AIMM mengukur dampak, bukan additionality itu sendiri.</a:t>
            </a:r>
          </a:p>
        </p:txBody>
      </p:sp>
    </p:spTree>
    <p:extLst>
      <p:ext uri="{BB962C8B-B14F-4D97-AF65-F5344CB8AC3E}">
        <p14:creationId xmlns:p14="http://schemas.microsoft.com/office/powerpoint/2010/main" val="16386825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9124C2-C76C-42E2-8577-72F060C7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B · Kelayakan ekonomi dan kebutuhan dukungan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C34DAEF-040C-4CC9-894D-6E607548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WEB02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73D2176-BABF-4072-A215-42CF325F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BA38C-57AF-4DA8-9F22-D4DC142AAD66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19400"/>
                <a:gridCol w="2667000"/>
                <a:gridCol w="54864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Kasus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Hasil analisis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Implikasi keputusan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Finansial dan ekonomi layak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FNPV ≥ 0; ENPV &gt; 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Utamakan pendanaan komersial; tetap uji risiko dan additionality.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Ekonomi layak, finansial lemah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ENPV &gt; 0; FNPV &lt; 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Uji least-cost, manfaat publik dan dukungan minimum yang tepat.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Ekonomi tidak layak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ENPV ≤ 0 pada asumsi yang wajar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Desain ulang atau pilih alternatif. Dukungan tidak memperbaiki nilai ekonomi.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3B527BE2-E0B9-4502-BF1A-D1B39525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EIRR dibandingkan ambang yang dibenarkan. 9% adalah referensi umum ADB, bukan hurdle resmi Danantara.</a:t>
            </a:r>
          </a:p>
        </p:txBody>
      </p:sp>
    </p:spTree>
    <p:extLst>
      <p:ext uri="{BB962C8B-B14F-4D97-AF65-F5344CB8AC3E}">
        <p14:creationId xmlns:p14="http://schemas.microsoft.com/office/powerpoint/2010/main" val="8276417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1DE59C-C5C3-429F-BC8B-8207A4FE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C · Mobilisasi MDB: pembaruan Oktober 2026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F030823-4ABA-4D11-B5E0-7AF511E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WEB03 · WEB04 · WEB31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7968A5D-50DF-4524-B514-B4923261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90A88-61E9-4BCE-A5AB-A00ECD851DBD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4324350"/>
                <a:gridCol w="4838700"/>
              </a:tblGrid>
              <a:tr h="5143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Istilah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Makna ringkas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Implikasi pencatatan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933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TPDM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Mobilisasi swasta langsung pada pembiayaan awal proyek.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Buktikan peran langsung, tranche dan pendanaan yang tersedia.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PPDM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Mobilisasi langsung pada pembiayaan berikutnya/portofolio.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Pisahkan dari transaksi awal dan hindari klaim ulang.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933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PIM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Mobilisasi swasta tidak langsung terkait proyek.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Alokasikan lintas lembaga sesuai aturan dan deduplikasi.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Generation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Dana untuk institusi/mandat pengembangan.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Obligasi institusi tidak otomatis dianggap mobilisasi proyek.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9376B086-7F58-4033-95B4-F54C1B2E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Latihan PDM/PIM lama tetap diberi label historis 2018; ledger baru mengikuti klasifikasi dan uji 2026.</a:t>
            </a:r>
          </a:p>
        </p:txBody>
      </p:sp>
    </p:spTree>
    <p:extLst>
      <p:ext uri="{BB962C8B-B14F-4D97-AF65-F5344CB8AC3E}">
        <p14:creationId xmlns:p14="http://schemas.microsoft.com/office/powerpoint/2010/main" val="8456941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405F3D-4ACB-4280-893E-67C9E2EF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C · DVA dan transfer teknologi yang dapat diuji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8B5FDF7-3458-423E-A468-BD71DDD6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WEB05 · WEB06 · WEB07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C690407-0850-4E5C-9658-20EF0876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AA29D-CE4D-46A9-A017-6092A9DDA807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57450"/>
                <a:gridCol w="3876675"/>
                <a:gridCol w="4638675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Ukuran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Basis data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Kesalahan yang perlu dihindari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DVA langsung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Output − konsumsi antara; per unit usaha.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Menganggap pendapatan atau seluruh belanja lokal sebagai DVA.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DVA rantai pasok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I-O domestik, bill of materials dan impor tertanam.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Menghitung ulang nilai transaksi antarpemasok.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Pendalaman teknologi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Engineering, sertifikasi, lisensi/IP, yield dan kemampuan lokal.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Menyamakan MoU, pembelian mesin atau pelatihan dengan transfer yang terbukti.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88442E23-A583-42CA-A94F-0F829D3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Tabel BPS 185 produk memakai tahun data 2016. Kalibrasi struktur produksi terkini diperlukan sebelum estimasi proyek.</a:t>
            </a:r>
          </a:p>
        </p:txBody>
      </p:sp>
    </p:spTree>
    <p:extLst>
      <p:ext uri="{BB962C8B-B14F-4D97-AF65-F5344CB8AC3E}">
        <p14:creationId xmlns:p14="http://schemas.microsoft.com/office/powerpoint/2010/main" val="164751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E4F8F7-6BB3-4941-85BE-FD3487F6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SP-06 · PLTS: rekonsiliasi biaya lebih dahulu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AAB2A1D-42F1-42D3-A1E6-FA756C7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WEB18 · WEB19 · WEB11 · WEB13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E90EB88-02FD-4100-A3FB-AE779D0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plts-unit">
            <a:extLst xmlns:a="http://schemas.openxmlformats.org/drawingml/2006/main">
              <a:ext uri="{FF2B5EF4-FFF2-40B4-BE49-F238E27FC236}">
                <a16:creationId xmlns:a16="http://schemas.microsoft.com/office/drawing/2014/main" id="{218434E1-39FF-45AA-A79D-00F978A9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Estimasi kebutuhan investasi, Rp triliun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DBD2F2E-D949-46A4-A4FC-CF67C3722953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676275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e2bb6781c24ff5"/>
          </a:graphicData>
        </a:graphic>
      </p:graphicFrame>
      <p:sp>
        <p:nvSpPr>
          <p:cNvPr id="6" name="plts-variance">
            <a:extLst xmlns:a="http://schemas.openxmlformats.org/drawingml/2006/main">
              <a:ext uri="{FF2B5EF4-FFF2-40B4-BE49-F238E27FC236}">
                <a16:creationId xmlns:a16="http://schemas.microsoft.com/office/drawing/2014/main" id="{9AEDC393-2DBB-49FA-A823-20AC6CC4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895475"/>
            <a:ext cx="3590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A6574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65748"/>
                </a:solidFill>
                <a:latin typeface="Arial"/>
                <a:ea typeface="Arial"/>
                <a:cs typeface="Arial"/>
              </a:rPr>
              <a:t>4,88×</a:t>
            </a:r>
          </a:p>
        </p:txBody>
      </p:sp>
      <p:sp>
        <p:nvSpPr>
          <p:cNvPr id="7" name="plts-scope">
            <a:extLst xmlns:a="http://schemas.openxmlformats.org/drawingml/2006/main">
              <a:ext uri="{FF2B5EF4-FFF2-40B4-BE49-F238E27FC236}">
                <a16:creationId xmlns:a16="http://schemas.microsoft.com/office/drawing/2014/main" id="{51474FBA-9DA8-45AA-95D3-9D9B47F7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24150"/>
            <a:ext cx="3590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rasio dua estimasi</a:t>
            </a:r>
          </a:p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dengan batas biaya</a:t>
            </a:r>
          </a:p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yang belum disamakan</a:t>
            </a:r>
          </a:p>
        </p:txBody>
      </p:sp>
      <p:sp>
        <p:nvSpPr>
          <p:cNvPr id="8" name="plts-stage">
            <a:extLst xmlns:a="http://schemas.openxmlformats.org/drawingml/2006/main">
              <a:ext uri="{FF2B5EF4-FFF2-40B4-BE49-F238E27FC236}">
                <a16:creationId xmlns:a16="http://schemas.microsoft.com/office/drawing/2014/main" id="{1554545C-31DD-4E20-9433-DADDAF1B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295775"/>
            <a:ext cx="35909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14 proyek / 5,3 GWp</a:t>
            </a:r>
          </a:p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diluncurkan; belum</a:t>
            </a:r>
          </a:p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menunjukkan COD</a:t>
            </a:r>
          </a:p>
        </p:txBody>
      </p:sp>
      <p:sp>
        <p:nvSpPr>
          <p:cNvPr id="9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7AB6EEBD-8C16-426C-9C98-B9AB3F9E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Uji PPA, lokasi, PV/BESS/grid, curtailment dan least-cost. Selisih tersebut belum dapat disebut cost overrun.</a:t>
            </a:r>
          </a:p>
        </p:txBody>
      </p:sp>
    </p:spTree>
    <p:extLst>
      <p:ext uri="{BB962C8B-B14F-4D97-AF65-F5344CB8AC3E}">
        <p14:creationId xmlns:p14="http://schemas.microsoft.com/office/powerpoint/2010/main" val="17873370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AFC1F7-63B0-4544-ABAB-8A07A448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SP-08–10 · Tiga lingkup sampah harus dipisah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1FAAD10-A25B-41C1-9995-A371F311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WEB22 · WEB23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16FE2D-409A-4556-8DF9-BD1E59B3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3B04A-92B5-4C07-878D-632C4B005A52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81375"/>
                <a:gridCol w="3533775"/>
                <a:gridCol w="405765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 / lingkup register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Bukti publik terkait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Penilaian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SP-08 · Terdesentralisasi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Ada kegiatan PSEL Denera/DIM.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Tidak membuktikan lingkup SP-08 atau biaya layanan aktual.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SP-09 · Landfill mining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Pengumuman PSEL bukan studi timbunan lama.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Butuh karakterisasi material, remediasi dan counterfactual.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SP-10 · RDF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CLoA PSEL tidak membuktikan kontrak RDF.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Butuh mutu RDF, yield, logistik dan offtake kiln.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1421970D-B725-467B-B970-BC2742F9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Skor minimum pada tiga pilar tetap 0 karena data proyek yang cocok belum memadai.</a:t>
            </a:r>
          </a:p>
        </p:txBody>
      </p:sp>
    </p:spTree>
    <p:extLst>
      <p:ext uri="{BB962C8B-B14F-4D97-AF65-F5344CB8AC3E}">
        <p14:creationId xmlns:p14="http://schemas.microsoft.com/office/powerpoint/2010/main" val="6009435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E91FD2-7025-4207-A3CA-C7EB933F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SP-23 · CDME memerlukan konfirmasi identitas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F406915-EC9A-481B-A8C2-AD0CD083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WEB20 · WEB28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4097DA-0ED8-42E6-988C-132DBCAF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83F62-38F1-4792-A075-AA2831890F1E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67050"/>
                <a:gridCol w="3667125"/>
                <a:gridCol w="4238625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Hal yang diketahui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Kesenjangan utama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Uji setelah identitas jelas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Register: CDME; Rp46,28 T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Kode tidak dapat dipastikan sebagai coal-DME.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Charter, SPV, lokasi dan kapasitas.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ESDM: DME Tanjung Enim disebut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Belum ada crosswalk ke SP-23.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Biaya energi setara LPG, feedstock dan utilitas.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IEEFA: risiko ekonomi DME historis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Parameter 2022 tidak menjadi return aktual 2026.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Harga LPG, nilai karbon, ENPV dan dukungan fiskal minimum.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469EF31A-2C35-4BF7-92F4-FA6A3C10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Tidak memakai proyeksi atau kerugian proyek historis sebagai angka aktual SP-23.</a:t>
            </a:r>
          </a:p>
        </p:txBody>
      </p:sp>
    </p:spTree>
    <p:extLst>
      <p:ext uri="{BB962C8B-B14F-4D97-AF65-F5344CB8AC3E}">
        <p14:creationId xmlns:p14="http://schemas.microsoft.com/office/powerpoint/2010/main" val="1025908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4D3FC8-8D95-45E7-8374-DD3D16D0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SP-27 · Farmasi: keluaran harus spesifik produk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C4597AE-A395-478F-91D0-63AA2F0C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WEB26 · WEB14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8BD5C2-97DF-4CA8-8308-8F05C7FF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AA0FF-2D0A-432E-B4EF-283AE36CA484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2175"/>
                <a:gridCol w="4000500"/>
                <a:gridCol w="4810125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Kriteria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Yang belum terbukti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 yang diperlukan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Investasi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Fasilitas biosimilar sesuai anggaran Rp8,9 T.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Molekul, pasar, CAPEX, cash flow dan lisensi.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Operasional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Biaya unit, yield batch dan reliabilitas produksi.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Baseline sebelum investasi dan KPI mutu setelahnya.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1241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Industrialisasi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Transfer kapabilitas, DVA dan manfaat pasien.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GMP, biosimilarity, engineering lokal dan harga alternatif.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0DFCD855-B2BB-42B5-A08D-0140F7A9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Pernyataan transformasi Bio Farma memberi konteks, belum mengidentifikasi proyek SP-27.</a:t>
            </a:r>
          </a:p>
        </p:txBody>
      </p:sp>
    </p:spTree>
    <p:extLst>
      <p:ext uri="{BB962C8B-B14F-4D97-AF65-F5344CB8AC3E}">
        <p14:creationId xmlns:p14="http://schemas.microsoft.com/office/powerpoint/2010/main" val="20330241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2DB011-0967-4591-94B5-81923FC2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Prioritas verifikasi berdasarkan estimasi terbesar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BB6D703-D636-4CF2-9666-9E67ED09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EF21354-4169-48CE-88A0-E962F208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777A5-8B9E-4975-9A14-4D0FDA1654BB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410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66800"/>
                <a:gridCol w="2905125"/>
                <a:gridCol w="1666875"/>
                <a:gridCol w="5334000"/>
              </a:tblGrid>
              <a:tr h="4762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Nama ringkas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Rp triliun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Fokus awal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6556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PLTS 100 GW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231,40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PV/BESS/grid dan batas biaya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SP-25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Biodiesel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75,39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Kapasitas baru vs program nasional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6556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Payung multi-logam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73,29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Pecah per logam dan produk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SP-24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CPE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71,20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Definisikan produk dan SPV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6556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CDME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46,28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Konfirmasi kode dan ekonomi proses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SP-07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Kilang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40,94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Lokasi dan batas proyek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B67775CB-3705-4763-8171-EB3BB1E2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Enam label mencakup sekitar 89,0% estimasi bernama. Urutan ini menunjukkan materialitas data, bukan ranking return.</a:t>
            </a:r>
          </a:p>
        </p:txBody>
      </p:sp>
    </p:spTree>
    <p:extLst>
      <p:ext uri="{BB962C8B-B14F-4D97-AF65-F5344CB8AC3E}">
        <p14:creationId xmlns:p14="http://schemas.microsoft.com/office/powerpoint/2010/main" val="2372318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C50A9C-F637-4228-B5B0-EEF05610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Rencana penyelesaian bukti dalam 90 hari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483FCD5-B22A-4E71-A327-117D04CF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30543C3-A8CC-4C9D-A73E-EA0D1960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4B385-F76C-4210-B5BA-7AED9AE053EB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66925"/>
                <a:gridCol w="5029200"/>
                <a:gridCol w="3876675"/>
              </a:tblGrid>
              <a:tr h="733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Periode usulan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Keluaran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Penanggung jawab yang diusulkan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1171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Hari 1–30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Register resmi, crosswalk SPV, rekonsiliasi anggaran dan pemilik data.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PMO strategis; DIM; DAM; sponsor proyek.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Hari 31–60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Model finansial/ekonomi; baseline unit cost, output dan produktivitas.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CFO proyek; COO; ekonom; fungsi risiko.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1171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Hari 61–90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Ledger mobilisasi, audit DVA/teknologi, target disepakati dan assurance.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Treasury; impact unit; CTO; reviewer independen.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87FE172B-C6BD-4F12-BF0C-7881A2A2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Tanggal relatif dihitung sejak mandat pelaksanaan. Penanggung jawab merupakan rekomendasi, bukan penunjukan resmi.</a:t>
            </a:r>
          </a:p>
        </p:txBody>
      </p:sp>
    </p:spTree>
    <p:extLst>
      <p:ext uri="{BB962C8B-B14F-4D97-AF65-F5344CB8AC3E}">
        <p14:creationId xmlns:p14="http://schemas.microsoft.com/office/powerpoint/2010/main" val="4488350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666886-8592-4485-B54C-F5210233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Istilah yang harus konsisten di semua laporan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19A9131-7D47-41C6-9204-01C78987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WEB01 · WEB03 · WEB05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4ADE9B-0E1A-4949-88F9-E24E41C6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F864F-A374-4270-8F17-18CFED7C3E95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52900"/>
                <a:gridCol w="68199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Istilah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Pemakaian yang konsisten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7448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Investasi / Operasional / Industrialisasi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Tiga pilar; ID I/O/D dari scorecard tetap dipertahankan.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TD, NR dan skor 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 = actual tidak ditemukan; NR = bukti belum layak; 0 = penalti skor.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448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GW dan GWp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Pertahankan basis sumber; jangan menyamakan AC dengan puncak DC.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EVA dan ENPV/EIRR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Laba ekonomi perusahaan berbeda dari analisis manfaat sosial.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448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CPE / CA-EDC; PSEL / RDF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Tidak disamakan tanpa dokumen yang membuktikan identitas.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E62AC355-FAB7-4DC6-A506-11F8B4EE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Daftar lengkap perubahan istilah tersedia pada tab Nomenklatur di kedua workbook.</a:t>
            </a:r>
          </a:p>
        </p:txBody>
      </p:sp>
    </p:spTree>
    <p:extLst>
      <p:ext uri="{BB962C8B-B14F-4D97-AF65-F5344CB8AC3E}">
        <p14:creationId xmlns:p14="http://schemas.microsoft.com/office/powerpoint/2010/main" val="4556060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F56559-A283-45AE-BEAC-165619F1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Batas penggunaan hasil kajian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9FE1336-836A-40E8-8605-6E3DA4F4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C4DB70-094B-4C06-9E56-3BCD4E8E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27DC744B-5462-4950-8EF2-7BDD16C0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2762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Data publik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CDFA4FEF-A261-498F-97AA-D9387AAB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62877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Pencarian tidak membuktikan bahwa dokumen internal tidak ada. Seluruh rujukan dan batas akses dicatat.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825F1F33-49C1-4800-B1CA-E77DD68F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762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Skor konservatif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E9461D9C-228F-4F3C-9A97-43FFE43B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0037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Skor nol seragam tidak membuktikan kerugian, kegagalan proyek atau nihilnya manfaat pembangunan.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35823C5F-67A0-4632-AA85-9171B476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2762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7A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A9D"/>
                </a:solidFill>
                <a:latin typeface="Arial"/>
                <a:ea typeface="Arial"/>
                <a:cs typeface="Arial"/>
              </a:rPr>
              <a:t>Keputusan investasi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C9FE1900-5348-43E2-A14F-683B7D93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7197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8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6"/>
                </a:solidFill>
                <a:latin typeface="Arial"/>
                <a:ea typeface="Arial"/>
                <a:cs typeface="Arial"/>
              </a:rPr>
              <a:t>Perlu identitas proyek, model dengan asumsi teruji, benchmark dan assurance sebelum keputusan alokasi modal.</a:t>
            </a:r>
          </a:p>
        </p:txBody>
      </p:sp>
      <p:sp>
        <p:nvSpPr>
          <p:cNvPr id="10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44ADAC1D-91AE-4B4D-B666-CBC8DBB6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Tiga contoh lama CA-EDC, PSEL Bogor dan Mempawah dipertahankan sebagai referensi terpisah dari register 40.</a:t>
            </a:r>
          </a:p>
        </p:txBody>
      </p:sp>
    </p:spTree>
    <p:extLst>
      <p:ext uri="{BB962C8B-B14F-4D97-AF65-F5344CB8AC3E}">
        <p14:creationId xmlns:p14="http://schemas.microsoft.com/office/powerpoint/2010/main" val="18258380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D3F39A-0EAD-4EC8-B039-132EEA28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Lampiran register · SP-01–SP-05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5E4960A-7F14-4F71-824B-B55D6549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WEB32 · WEB18 · WEB20 · WEB21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E455A01-92D6-4261-AA28-1AF14DE3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5AFED-B2AC-47A2-AEFB-ADD5452EE7A0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66800"/>
                <a:gridCol w="5200650"/>
                <a:gridCol w="1619250"/>
                <a:gridCol w="30861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Nama konsisten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Rp triliun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Pencocokan publik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Silika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8,900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SP-02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Tembaga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2,000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Project Atoma (LTi)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0,380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Belum terpetakan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SP-04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Project Tarsius Phase 1 (LTJ)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2,300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Belum terpetakan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Al, Fe, Ni, Mn (Auto, Aerospace, Defense)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73,294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11A9DEBB-D854-47AE-8082-B14E9E6F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Skor investasi / operasional / industrialisasi: 0 / 0 / 0 (penalti data). Rincian kebutuhan bukti ada pada workbook.</a:t>
            </a:r>
          </a:p>
        </p:txBody>
      </p:sp>
    </p:spTree>
    <p:extLst>
      <p:ext uri="{BB962C8B-B14F-4D97-AF65-F5344CB8AC3E}">
        <p14:creationId xmlns:p14="http://schemas.microsoft.com/office/powerpoint/2010/main" val="16604680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0CF353-E031-4CE5-B896-DD915C91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Lampiran register · SP-06–SP-10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233B59F-102D-4356-BCB2-0EFF4D1A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WEB18 · WEB19 · WEB11 · WEB13 · WEB20 · WEB21 · WEB22 · WEB23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B493B7-4249-4A5A-B10B-458CD41C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67405-18AB-42B3-ABE5-22D4FBF45C34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66800"/>
                <a:gridCol w="5200650"/>
                <a:gridCol w="1619250"/>
                <a:gridCol w="30861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Nama konsisten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Rp triliun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Pencocokan publik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PLTS 100 GW (register) / 100 GWp (publik)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231,400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Program terkonfirmasi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SP-07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Kilang (Refinery)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40,940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Pengelolaan sampah terdesentralisasi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4,628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SP-09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Landfill mining (sampah lama)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6,000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SP-10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RDF (sampah lama)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6,000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4E664B4B-CAE6-4916-B0FA-C87D1830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Skor investasi / operasional / industrialisasi: 0 / 0 / 0 (penalti data). Rincian kebutuhan bukti ada pada workbook.</a:t>
            </a:r>
          </a:p>
        </p:txBody>
      </p:sp>
    </p:spTree>
    <p:extLst>
      <p:ext uri="{BB962C8B-B14F-4D97-AF65-F5344CB8AC3E}">
        <p14:creationId xmlns:p14="http://schemas.microsoft.com/office/powerpoint/2010/main" val="16762907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10B52C-71C9-4B94-9899-A0F44619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Lampiran register · SP-11–SP-15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D5F0A2D-2ED6-43EF-98B8-26EB2126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CCB35A4-6A8A-4EB6-A0DC-B092367A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36418-D2D0-4EE8-BDBC-6687422E2F43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66800"/>
                <a:gridCol w="5200650"/>
                <a:gridCol w="1619250"/>
                <a:gridCol w="30861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Nama konsisten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Rp triliun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Pencocokan publik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SP-11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11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SP-12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12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SP-13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13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SP-14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14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SP-15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15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02681595-0078-4248-876E-17A04F05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Skor investasi / operasional / industrialisasi: 0 / 0 / 0 (penalti data). Rincian kebutuhan bukti ada pada workbook.</a:t>
            </a:r>
          </a:p>
        </p:txBody>
      </p:sp>
    </p:spTree>
    <p:extLst>
      <p:ext uri="{BB962C8B-B14F-4D97-AF65-F5344CB8AC3E}">
        <p14:creationId xmlns:p14="http://schemas.microsoft.com/office/powerpoint/2010/main" val="2281976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BA127A-409B-4E0C-AFC9-BCA7754A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Lampiran register · SP-16–SP-20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A212226-127B-4914-8FE7-97B5ABE5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WEB24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BDD4EDB-9C03-4355-AED6-0F000002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3A5EA-C29A-4B1E-90A6-0F18A001B482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66800"/>
                <a:gridCol w="5200650"/>
                <a:gridCol w="1619250"/>
                <a:gridCol w="30861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Nama konsisten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Rp triliun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Pencocokan publik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SP-16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16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SP-17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17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SP-18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18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SP-19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19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Alutsista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16,125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E75D074B-E6BB-4A5C-B814-951523E9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Skor investasi / operasional / industrialisasi: 0 / 0 / 0 (penalti data). Rincian kebutuhan bukti ada pada workbook.</a:t>
            </a:r>
          </a:p>
        </p:txBody>
      </p:sp>
    </p:spTree>
    <p:extLst>
      <p:ext uri="{BB962C8B-B14F-4D97-AF65-F5344CB8AC3E}">
        <p14:creationId xmlns:p14="http://schemas.microsoft.com/office/powerpoint/2010/main" val="14066461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1220E2-B56F-4127-A279-65723A7D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Lampiran register · SP-21–SP-25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9B80826-BF57-4F81-A74F-E5E1CB8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WEB25 · WEB24 · WEB20 · WEB28 · WEB27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FCD5CC0-6F08-4A0D-B971-F155A088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087A6-ADBB-4C34-B851-CC95EE1D8999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66800"/>
                <a:gridCol w="5200650"/>
                <a:gridCol w="1619250"/>
                <a:gridCol w="30861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Nama konsisten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Rp triliun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Pencocokan publik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Industri galangan dan komponen kapal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5,235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SP-22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Drone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3,000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CDME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46,280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SP-24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CPE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71,200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Belum terpetakan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Biodiesel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75,388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66A3548B-68B5-4ED8-9B28-19A9D4FD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Skor investasi / operasional / industrialisasi: 0 / 0 / 0 (penalti data). Rincian kebutuhan bukti ada pada workbook.</a:t>
            </a:r>
          </a:p>
        </p:txBody>
      </p:sp>
    </p:spTree>
    <p:extLst>
      <p:ext uri="{BB962C8B-B14F-4D97-AF65-F5344CB8AC3E}">
        <p14:creationId xmlns:p14="http://schemas.microsoft.com/office/powerpoint/2010/main" val="189038703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754550-59EE-4A3A-B5AF-75C2EAEE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Lampiran register · SP-26–SP-30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1295FA3-CE64-4CAD-82B8-C9FA17F0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WEB26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9F3DB3-34D6-42F9-AB5A-9A6E6BD9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DB6F4-BAAB-4601-9789-C39A8A9ED04D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66800"/>
                <a:gridCol w="5200650"/>
                <a:gridCol w="1619250"/>
                <a:gridCol w="30861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Nama konsisten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Rp triliun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Pencocokan publik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EV Power Pack (Maritim Industry)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3,000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Belum terpetakan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SP-27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Biosimilar dan manufaktur farmasi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8,900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Konteks sektor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28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SP-29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29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SP-30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30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6C41C02E-DD37-4439-8461-1C6EAD15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Skor investasi / operasional / industrialisasi: 0 / 0 / 0 (penalti data). Rincian kebutuhan bukti ada pada workbook.</a:t>
            </a:r>
          </a:p>
        </p:txBody>
      </p:sp>
    </p:spTree>
    <p:extLst>
      <p:ext uri="{BB962C8B-B14F-4D97-AF65-F5344CB8AC3E}">
        <p14:creationId xmlns:p14="http://schemas.microsoft.com/office/powerpoint/2010/main" val="4760344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7A423E-6B0C-4783-8938-72FD7562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Lampiran register · SP-31–SP-35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E290713-73E4-4C51-AA8E-0E62BCB1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D15C995-56B1-42A1-AFBF-9CD98B52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AEFFB-AF32-45C4-84E2-A06C8639E415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66800"/>
                <a:gridCol w="5200650"/>
                <a:gridCol w="1619250"/>
                <a:gridCol w="30861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Nama konsisten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Rp triliun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Pencocokan publik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SP-31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31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SP-32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32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SP-33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33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SP-34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34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SP-35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35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4882432C-BEE9-4EB2-B4BE-7FA75381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Skor investasi / operasional / industrialisasi: 0 / 0 / 0 (penalti data). Rincian kebutuhan bukti ada pada workbook.</a:t>
            </a:r>
          </a:p>
        </p:txBody>
      </p:sp>
    </p:spTree>
    <p:extLst>
      <p:ext uri="{BB962C8B-B14F-4D97-AF65-F5344CB8AC3E}">
        <p14:creationId xmlns:p14="http://schemas.microsoft.com/office/powerpoint/2010/main" val="1411344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314FB2-FC10-4463-83C0-E45C4E89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Lampiran register · SP-36–SP-40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7B44140-C139-4CF4-9481-DDCEFDCA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REG40 · perhitungan analitis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CCF460-805C-44B1-ADB6-E10CBB52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D8551-1B50-4085-8E0B-E394394C6558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66800"/>
                <a:gridCol w="5200650"/>
                <a:gridCol w="1619250"/>
                <a:gridCol w="3086100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Nama konsisten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Rp triliun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Pencocokan publik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SP-36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36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SP-37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37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SP-38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38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SP-39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39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SP-40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Slot belum bernama 40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Tanpa identitas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19695A5E-8E03-413F-886A-8F3B5F2C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Skor investasi / operasional / industrialisasi: 0 / 0 / 0 (penalti data). Rincian kebutuhan bukti ada pada workbook.</a:t>
            </a:r>
          </a:p>
        </p:txBody>
      </p:sp>
    </p:spTree>
    <p:extLst>
      <p:ext uri="{BB962C8B-B14F-4D97-AF65-F5344CB8AC3E}">
        <p14:creationId xmlns:p14="http://schemas.microsoft.com/office/powerpoint/2010/main" val="170522274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B3CD90-691E-4559-B8D8-21C265B7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Sumber kajian · 1–7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6EEA6B3-FF61-4A96-9AE1-79EBBF4B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WEB01 · WEB02 · WEB03 · WEB04 · WEB05 · WEB06 · WEB07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314AEEE-57C2-4C6B-8F2D-255C83FA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3B863-F283-434D-BC3E-0E759688CBBF}"/>
              </a:ext>
            </a:extLst>
          </p:cNvPr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4305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62050"/>
                <a:gridCol w="7610475"/>
                <a:gridCol w="2200275"/>
              </a:tblGrid>
              <a:tr h="409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Institusi dan publikasi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Tanggal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WEB01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34b28c4378c84e95"/>
                        </a:rPr>
                        <a:t>IFC — AIMM Guidance Note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WEB02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a7ffc89a869149ec"/>
                        </a:rPr>
                        <a:t>ADB — Guidelines for the Economic Analysis of Projects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2017-03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WEB03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33202a9923c64a18"/>
                        </a:rPr>
                        <a:t>MDB / ADB — Mobilization Reference Guide 2026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2026-10-01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WEB04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5fd72b2fb5ab4f8e"/>
                        </a:rPr>
                        <a:t>ADB — Joint Statement on Updated MDB Methodologies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2026-10-01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WEB05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0e51e1c4b9d94b1c"/>
                        </a:rPr>
                        <a:t>UNIDO — Database Descriptions: CIP dan SDG 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Akses 8 Okt 2026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WEB06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a89675d477274b27"/>
                        </a:rPr>
                        <a:t>BPS — Tabel Input-Output Indonesia 2016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31 Maret 2021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WEB07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5e751cb66820446f"/>
                        </a:rPr>
                        <a:t>BPS — Transaksi domestik harga dasar 185 produk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2016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156BB78-728D-4BC9-9FA5-C38E0C6C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Klik judul untuk membuka sumber. Tanggal data, mutu akses dan batas penggunaan tersedia pada Sumber_Web.</a:t>
            </a:r>
          </a:p>
        </p:txBody>
      </p:sp>
    </p:spTree>
    <p:extLst>
      <p:ext uri="{BB962C8B-B14F-4D97-AF65-F5344CB8AC3E}">
        <p14:creationId xmlns:p14="http://schemas.microsoft.com/office/powerpoint/2010/main" val="173672285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FD1583-7A0C-4AAD-B9EE-EC33E9B5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Sumber kajian · 8–14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F7CD62D-4929-444C-AB72-09324DB8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WEB08 · WEB09 · WEB10 · WEB11 · WEB12 · WEB13 · WEB14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590D11-AAA9-4E02-8AD2-E3B6655B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493BD-7F52-47C7-877A-45944FDCA357}"/>
              </a:ext>
            </a:extLst>
          </p:cNvPr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4305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62050"/>
                <a:gridCol w="7610475"/>
                <a:gridCol w="2200275"/>
              </a:tblGrid>
              <a:tr h="409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Institusi dan publikasi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Tanggal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WEB08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b245b274efa448e9"/>
                        </a:rPr>
                        <a:t>BPS — Ekonomi Indonesia triwulan I-2026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2026-05-06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WEB09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eb38fbabd20b468c"/>
                        </a:rPr>
                        <a:t>BPS — Indeks Harga Produsen triwulan II-2026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2026-08-03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WEB10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0a86cf25612a4951"/>
                        </a:rPr>
                        <a:t>World Bank — Indonesia Economic Prospects, rilis Juni 2026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2026-06-13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WEB11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1b2e613308844061"/>
                        </a:rPr>
                        <a:t>ADB — Accelerating Indonesia’s Clean Energy Transition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2025-12-12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WEB12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e3b85d99e1e7411c"/>
                        </a:rPr>
                        <a:t>IEA — Enhancing Indonesia’s Power System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WEB13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f9631d000964403f"/>
                        </a:rPr>
                        <a:t>IEEFA — Rethinking electricity economics to reach 100GW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2026-08-28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WEB14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ce925b8496e3462f"/>
                        </a:rPr>
                        <a:t>LPEM FEB UI — Menjaga Sektor Padat Karya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2025-06-03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E95F1DCF-E4E7-40FA-A4FB-84A4E781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Klik judul untuk membuka sumber. Tanggal data, mutu akses dan batas penggunaan tersedia pada Sumber_Web.</a:t>
            </a:r>
          </a:p>
        </p:txBody>
      </p:sp>
    </p:spTree>
    <p:extLst>
      <p:ext uri="{BB962C8B-B14F-4D97-AF65-F5344CB8AC3E}">
        <p14:creationId xmlns:p14="http://schemas.microsoft.com/office/powerpoint/2010/main" val="11144060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237738-DE66-4CCE-AB58-45E75B5B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Sumber kajian · 15–21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54A1F84-F7A0-4FA8-AD12-F69257FA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WEB15 · WEB16 · WEB17 · WEB18 · WEB19 · WEB20 · WEB21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E107AA-18A6-4120-8D6B-304A02E5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2C934-E853-4A90-B93F-F765483BB4EE}"/>
              </a:ext>
            </a:extLst>
          </p:cNvPr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4305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62050"/>
                <a:gridCol w="7610475"/>
                <a:gridCol w="2200275"/>
              </a:tblGrid>
              <a:tr h="409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Institusi dan publikasi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Tanggal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WEB15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a8fc0a4938734dd7"/>
                        </a:rPr>
                        <a:t>CFA Institute / GIPS — GIPS Handbook for Asset Owners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WEB16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7e661343980b439a"/>
                        </a:rPr>
                        <a:t>OECD — SOE Guidelines 2024: state as owner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WEB17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63355a88524d4a08"/>
                        </a:rPr>
                        <a:t>OECD — SOEs in the marketplace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WEB18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6e623eeac3c54526"/>
                        </a:rPr>
                        <a:t>Sekretariat Kabinet — Launch of 100 GWp solar programme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2026-08-25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WEB19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831dbb9871774d98"/>
                        </a:rPr>
                        <a:t>ANTARA — Danantara: PLTS 100 GW perlu Rp1.130 triliun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2026-08-26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WEB20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331a636b9fe0494f"/>
                        </a:rPr>
                        <a:t>ESDM — Groundbreaking hilirisasi tahap II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2026-04-29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WEB21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5d5caed1f4bc49a2"/>
                        </a:rPr>
                        <a:t>BKPM — 13 proyek hilirisasi tahap II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2026-04-29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1A2AFAAB-0B11-4DE5-A2CA-9AEA38F9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Klik judul untuk membuka sumber. Tanggal data, mutu akses dan batas penggunaan tersedia pada Sumber_Web.</a:t>
            </a:r>
          </a:p>
        </p:txBody>
      </p:sp>
    </p:spTree>
    <p:extLst>
      <p:ext uri="{BB962C8B-B14F-4D97-AF65-F5344CB8AC3E}">
        <p14:creationId xmlns:p14="http://schemas.microsoft.com/office/powerpoint/2010/main" val="43873676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04812A-B106-4CF8-8356-561939A5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Sumber kajian · 22–28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D5DFB06-F634-4E36-8EF1-D7CB1BDC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WEB22 · WEB23 · WEB24 · WEB25 · WEB26 · WEB27 · WEB28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658E3C-0DBD-45E7-A5FB-5E72392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F01E4-487F-48C7-A9D9-329B1452E92D}"/>
              </a:ext>
            </a:extLst>
          </p:cNvPr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4305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62050"/>
                <a:gridCol w="7610475"/>
                <a:gridCol w="2200275"/>
              </a:tblGrid>
              <a:tr h="409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Institusi dan publikasi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Tanggal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WEB22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dacf9cb67ef84201"/>
                        </a:rPr>
                        <a:t>Danantara — PSEL Bali: awal pembangunan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2026-07-08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WEB23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cf667078290d461e"/>
                        </a:rPr>
                        <a:t>Danantara — CLoA delapan mitra PSEL tahap II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2026-07-21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WEB24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ccf231313d614bc9"/>
                        </a:rPr>
                        <a:t>Danantara — MoU teknologi strategis dengan Thales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2026-09-24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WEB25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e2944cda3c104aa3"/>
                        </a:rPr>
                        <a:t>PT PAL Indonesia — PAL sebagai national consolidator galangan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2026-07-25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WEB26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abc886132d79422b"/>
                        </a:rPr>
                        <a:t>Bio Farma — Arah transformasi dan kinerja bisnis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2026-04-21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WEB27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62f99c4ddbda4c89"/>
                        </a:rPr>
                        <a:t>ESDM — Alokasi biodiesel 2026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2026-01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556532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WEB28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1f5d7aa2a8d34d1f"/>
                        </a:rPr>
                        <a:t>IEEFA — Indonesia’s Downstream Coal Plans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2022-01-27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4BC9CD47-BD3B-49BD-A8B3-5BA5EAC6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Klik judul untuk membuka sumber. Tanggal data, mutu akses dan batas penggunaan tersedia pada Sumber_Web.</a:t>
            </a:r>
          </a:p>
        </p:txBody>
      </p:sp>
    </p:spTree>
    <p:extLst>
      <p:ext uri="{BB962C8B-B14F-4D97-AF65-F5344CB8AC3E}">
        <p14:creationId xmlns:p14="http://schemas.microsoft.com/office/powerpoint/2010/main" val="95003564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C91558-3F4B-4A87-86B0-EDA5BAB2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C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C53"/>
                </a:solidFill>
                <a:latin typeface="Arial"/>
                <a:ea typeface="Arial"/>
                <a:cs typeface="Arial"/>
              </a:rPr>
              <a:t>Sumber kajian · 29–32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7FA1F42-1C7A-4791-AFA3-31E02D32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22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8 Oktober 2026  |  WEB29 · WEB30 · WEB31 · WEB32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CC6A40-708D-4222-A2F8-B6975710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34FF3-88CB-4E7D-859C-173B76FC3DCC}"/>
              </a:ext>
            </a:extLst>
          </p:cNvPr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4305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62050"/>
                <a:gridCol w="7610475"/>
                <a:gridCol w="2200275"/>
              </a:tblGrid>
              <a:tr h="4095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Institusi dan publikasi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Tanggal</a:t>
                      </a:r>
                    </a:p>
                  </a:txBody>
                  <a:tcPr marL="114300" marR="114300" marT="57150" marB="57150" anchor="ctr">
                    <a:solidFill>
                      <a:srgbClr val="183C53"/>
                    </a:solidFill>
                  </a:tcPr>
                </a:tc>
              </a:tr>
              <a:tr h="97393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WEB29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df7256805fe34b1e"/>
                        </a:rPr>
                        <a:t>Danantara — Laporan BUMN 2025 dan konsolidasi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2026-07-02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97393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WEB30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6e642667283a4553"/>
                        </a:rPr>
                        <a:t>Danantara — Penerbitan obligasi USD1,5 miliar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2026-06-12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  <a:tr h="97393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WEB31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c1e8b5c8a7b94255"/>
                        </a:rPr>
                        <a:t>MDB / ADB — Mobilization Methodology 2018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2018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97393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WEB32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347A9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1740d389e9c94f56"/>
                        </a:rPr>
                        <a:t>Katadata — Danantara bidik industri hulu panel surya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43846"/>
                          </a:solidFill>
                          <a:latin typeface="Arial"/>
                          <a:ea typeface="Arial"/>
                          <a:cs typeface="Arial"/>
                        </a:rPr>
                        <a:t>2026-07-28</a:t>
                      </a:r>
                    </a:p>
                  </a:txBody>
                  <a:tcPr marL="114300" marR="114300" marT="57150" marB="57150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26ED6943-5F60-47DE-BED5-7CA806BD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7"/>
                </a:solidFill>
                <a:latin typeface="Arial"/>
                <a:ea typeface="Arial"/>
                <a:cs typeface="Arial"/>
              </a:rPr>
              <a:t>Klik judul untuk membuka sumber. Tanggal data, mutu akses dan batas penggunaan tersedia pada Sumber_Web.</a:t>
            </a:r>
          </a:p>
        </p:txBody>
      </p:sp>
    </p:spTree>
    <p:extLst>
      <p:ext uri="{BB962C8B-B14F-4D97-AF65-F5344CB8AC3E}">
        <p14:creationId xmlns:p14="http://schemas.microsoft.com/office/powerpoint/2010/main" val="542671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2026-10-08T09:03:06.8370000Z</dcterms:created>
  <dcterms:modified xsi:type="dcterms:W3CDTF">2026-10-08T09:03:06.8370000Z</dcterms:modified>
</coreProperties>
</file>