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74320"/>
            <a:ext cx="9098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Danantara: Dari Konsolidasi Aset Menjadi Platform Kapabilitas Industri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731520"/>
            <a:ext cx="9098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Danantara saat ini dan isu yang menjadi perhatian · 10 isu dalam tiga kelompok: Industri, Teknologi, Keuangan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738360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3836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" y="10424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INDUSTRI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389888" y="1042416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89888" y="10424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TEKNOLOGI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395728" y="1042416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95728" y="10424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KEUANGAN</a:t>
            </a:r>
            <a:endParaRPr lang="en-US" sz="65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0424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 isu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84048" y="1325880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14356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469" y="1539301"/>
            <a:ext cx="176662" cy="17666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50976" y="14173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 industrialisasi belum tampak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291840" y="1353312"/>
            <a:ext cx="868680" cy="182880"/>
          </a:xfrm>
          <a:prstGeom prst="roundRect">
            <a:avLst>
              <a:gd name="adj" fmla="val 50000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91840" y="13533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INDUSTRI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493776" y="1911096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5216" y="197510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US$600 miliar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22219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awal; target kapasitas ~US$982 miliar (≈Rp15.000 T)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2350008" y="1911096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441448" y="197510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US$14 miliar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441448" y="22219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investasi 2026: 50% pasar publik, 50% sektor riil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493776" y="2606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5216" y="267004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US$1,5 miliar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85216" y="291693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Surat utang DIM Juni 2026; imbal hasil 5,65%, permintaan ~3,07×</a:t>
            </a:r>
            <a:endParaRPr lang="en-US" sz="680" dirty="0"/>
          </a:p>
        </p:txBody>
      </p:sp>
      <p:sp>
        <p:nvSpPr>
          <p:cNvPr id="28" name="Shape 25"/>
          <p:cNvSpPr/>
          <p:nvPr/>
        </p:nvSpPr>
        <p:spPr>
          <a:xfrm>
            <a:off x="2350008" y="2606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441448" y="267004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Rp28 T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2441448" y="291693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2025 empat BUMN Karya; anggaran infra turun ~45%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493776" y="3319272"/>
            <a:ext cx="896112" cy="384048"/>
          </a:xfrm>
          <a:prstGeom prst="roundRect">
            <a:avLst>
              <a:gd name="adj" fmla="val 19048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93776" y="3319272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BPI</a:t>
            </a:r>
            <a:endParaRPr lang="en-US" sz="680" dirty="0"/>
          </a:p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Badan Pelaksana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1453896" y="3319272"/>
            <a:ext cx="85039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453896" y="3319272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 · COO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Kelola BUMN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2368296" y="3319272"/>
            <a:ext cx="85039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368296" y="3319272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 · CIO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3282696" y="3319272"/>
            <a:ext cx="85039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282696" y="3319272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DDMF · CTO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pembangunan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493776" y="3758184"/>
            <a:ext cx="3666744" cy="274320"/>
          </a:xfrm>
          <a:prstGeom prst="roundRect">
            <a:avLst>
              <a:gd name="adj" fmla="val 26667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85216" y="3758184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pasar terbukti, tetapi imbal hasil, nilai BUMN, dan dampak industri belum dapat diukur; belum ada unit yang memegang mandat industrialisasi.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4434840" y="1325880"/>
            <a:ext cx="587044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544568" y="14356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61" y="1539301"/>
            <a:ext cx="176662" cy="176662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5001768" y="14173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proyek strategis · Rp5.094 T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9326880" y="1353312"/>
            <a:ext cx="868680" cy="182880"/>
          </a:xfrm>
          <a:prstGeom prst="roundRect">
            <a:avLst>
              <a:gd name="adj" fmla="val 50000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9326880" y="135331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INDUSTRI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4544568" y="1892808"/>
            <a:ext cx="717676" cy="219456"/>
          </a:xfrm>
          <a:prstGeom prst="rect">
            <a:avLst/>
          </a:prstGeom>
          <a:solidFill>
            <a:srgbClr val="062A6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4590288" y="1892808"/>
            <a:ext cx="671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 12,7%</a:t>
            </a:r>
            <a:endParaRPr lang="en-US" sz="680" dirty="0"/>
          </a:p>
        </p:txBody>
      </p:sp>
      <p:sp>
        <p:nvSpPr>
          <p:cNvPr id="49" name="Shape 45"/>
          <p:cNvSpPr/>
          <p:nvPr/>
        </p:nvSpPr>
        <p:spPr>
          <a:xfrm>
            <a:off x="5262244" y="1892808"/>
            <a:ext cx="2458182" cy="219456"/>
          </a:xfrm>
          <a:prstGeom prst="rect">
            <a:avLst/>
          </a:prstGeom>
          <a:solidFill>
            <a:srgbClr val="0B57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307964" y="1892808"/>
            <a:ext cx="24124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43,5%</a:t>
            </a:r>
            <a:endParaRPr lang="en-US" sz="680" dirty="0"/>
          </a:p>
        </p:txBody>
      </p:sp>
      <p:sp>
        <p:nvSpPr>
          <p:cNvPr id="51" name="Shape 47"/>
          <p:cNvSpPr/>
          <p:nvPr/>
        </p:nvSpPr>
        <p:spPr>
          <a:xfrm>
            <a:off x="7720426" y="1892808"/>
            <a:ext cx="2356464" cy="219456"/>
          </a:xfrm>
          <a:prstGeom prst="rect">
            <a:avLst/>
          </a:prstGeom>
          <a:solidFill>
            <a:srgbClr val="0A0A0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7766146" y="1892808"/>
            <a:ext cx="231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Pertahanan 41,7%</a:t>
            </a:r>
            <a:endParaRPr lang="en-US" sz="680" dirty="0"/>
          </a:p>
        </p:txBody>
      </p:sp>
      <p:sp>
        <p:nvSpPr>
          <p:cNvPr id="53" name="Shape 49"/>
          <p:cNvSpPr/>
          <p:nvPr/>
        </p:nvSpPr>
        <p:spPr>
          <a:xfrm>
            <a:off x="10076889" y="1892808"/>
            <a:ext cx="118671" cy="219456"/>
          </a:xfrm>
          <a:prstGeom prst="rect">
            <a:avLst/>
          </a:prstGeom>
          <a:solidFill>
            <a:srgbClr val="9DBC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9281160" y="213969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 2,1%</a:t>
            </a:r>
            <a:endParaRPr lang="en-US" sz="600" dirty="0"/>
          </a:p>
        </p:txBody>
      </p:sp>
      <p:sp>
        <p:nvSpPr>
          <p:cNvPr id="55" name="Shape 51"/>
          <p:cNvSpPr/>
          <p:nvPr/>
        </p:nvSpPr>
        <p:spPr>
          <a:xfrm>
            <a:off x="4544568" y="2286000"/>
            <a:ext cx="1344168" cy="1353312"/>
          </a:xfrm>
          <a:prstGeom prst="roundRect">
            <a:avLst>
              <a:gd name="adj" fmla="val 5442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617720" y="2377440"/>
            <a:ext cx="329184" cy="329184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600" y="2466320"/>
            <a:ext cx="151425" cy="151425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5001768" y="23774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&amp; hilirisasi</a:t>
            </a:r>
            <a:endParaRPr lang="en-US" sz="750" dirty="0"/>
          </a:p>
        </p:txBody>
      </p:sp>
      <p:sp>
        <p:nvSpPr>
          <p:cNvPr id="59" name="Text 54"/>
          <p:cNvSpPr txBox="1"/>
          <p:nvPr/>
        </p:nvSpPr>
        <p:spPr>
          <a:xfrm>
            <a:off x="4617720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Rp647,9 T</a:t>
            </a:r>
            <a:endParaRPr lang="en-US" sz="1300" dirty="0"/>
          </a:p>
        </p:txBody>
      </p:sp>
      <p:sp>
        <p:nvSpPr>
          <p:cNvPr id="60" name="Text 55"/>
          <p:cNvSpPr txBox="1"/>
          <p:nvPr/>
        </p:nvSpPr>
        <p:spPr>
          <a:xfrm>
            <a:off x="4617720" y="3044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12,7% portofolio</a:t>
            </a:r>
            <a:endParaRPr lang="en-US" sz="650" dirty="0"/>
          </a:p>
        </p:txBody>
      </p:sp>
      <p:sp>
        <p:nvSpPr>
          <p:cNvPr id="61" name="Text 56"/>
          <p:cNvSpPr txBox="1"/>
          <p:nvPr/>
        </p:nvSpPr>
        <p:spPr>
          <a:xfrm>
            <a:off x="4617720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Nikel HPAL, bauksit–alumina, tembaga, material baterai</a:t>
            </a:r>
            <a:endParaRPr lang="en-US" sz="650" dirty="0"/>
          </a:p>
        </p:txBody>
      </p:sp>
      <p:sp>
        <p:nvSpPr>
          <p:cNvPr id="62" name="Shape 57"/>
          <p:cNvSpPr/>
          <p:nvPr/>
        </p:nvSpPr>
        <p:spPr>
          <a:xfrm>
            <a:off x="5980176" y="2286000"/>
            <a:ext cx="1344168" cy="1353312"/>
          </a:xfrm>
          <a:prstGeom prst="roundRect">
            <a:avLst>
              <a:gd name="adj" fmla="val 5442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6053328" y="2377440"/>
            <a:ext cx="329184" cy="329184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6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208" y="2466320"/>
            <a:ext cx="151425" cy="151425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6437376" y="23774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</a:t>
            </a:r>
            <a:endParaRPr lang="en-US" sz="750" dirty="0"/>
          </a:p>
        </p:txBody>
      </p:sp>
      <p:sp>
        <p:nvSpPr>
          <p:cNvPr id="66" name="Text 60"/>
          <p:cNvSpPr txBox="1"/>
          <p:nvPr/>
        </p:nvSpPr>
        <p:spPr>
          <a:xfrm>
            <a:off x="6053328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Rp2.215,6 T</a:t>
            </a:r>
            <a:endParaRPr lang="en-US" sz="1300" dirty="0"/>
          </a:p>
        </p:txBody>
      </p:sp>
      <p:sp>
        <p:nvSpPr>
          <p:cNvPr id="67" name="Text 61"/>
          <p:cNvSpPr txBox="1"/>
          <p:nvPr/>
        </p:nvSpPr>
        <p:spPr>
          <a:xfrm>
            <a:off x="6053328" y="3044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43,5% portofolio</a:t>
            </a:r>
            <a:endParaRPr lang="en-US" sz="650" dirty="0"/>
          </a:p>
        </p:txBody>
      </p:sp>
      <p:sp>
        <p:nvSpPr>
          <p:cNvPr id="68" name="Text 62"/>
          <p:cNvSpPr txBox="1"/>
          <p:nvPr/>
        </p:nvSpPr>
        <p:spPr>
          <a:xfrm>
            <a:off x="6053328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Sea Wall Rp1.200 T, energi, WtE, kota cerdas, perumahan, air</a:t>
            </a:r>
            <a:endParaRPr lang="en-US" sz="650" dirty="0"/>
          </a:p>
        </p:txBody>
      </p:sp>
      <p:sp>
        <p:nvSpPr>
          <p:cNvPr id="69" name="Shape 63"/>
          <p:cNvSpPr/>
          <p:nvPr/>
        </p:nvSpPr>
        <p:spPr>
          <a:xfrm>
            <a:off x="7415784" y="2286000"/>
            <a:ext cx="1344168" cy="1353312"/>
          </a:xfrm>
          <a:prstGeom prst="roundRect">
            <a:avLst>
              <a:gd name="adj" fmla="val 5442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7488936" y="2377440"/>
            <a:ext cx="329184" cy="329184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7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7816" y="2466320"/>
            <a:ext cx="151425" cy="151425"/>
          </a:xfrm>
          <a:prstGeom prst="rect">
            <a:avLst/>
          </a:prstGeom>
        </p:spPr>
      </p:pic>
      <p:sp>
        <p:nvSpPr>
          <p:cNvPr id="72" name="Text 65"/>
          <p:cNvSpPr txBox="1"/>
          <p:nvPr/>
        </p:nvSpPr>
        <p:spPr>
          <a:xfrm>
            <a:off x="7872984" y="23774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pertahanan</a:t>
            </a:r>
            <a:endParaRPr lang="en-US" sz="750" dirty="0"/>
          </a:p>
        </p:txBody>
      </p:sp>
      <p:sp>
        <p:nvSpPr>
          <p:cNvPr id="73" name="Text 66"/>
          <p:cNvSpPr txBox="1"/>
          <p:nvPr/>
        </p:nvSpPr>
        <p:spPr>
          <a:xfrm>
            <a:off x="7488936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Rp2.125 T</a:t>
            </a:r>
            <a:endParaRPr lang="en-US" sz="1300" dirty="0"/>
          </a:p>
        </p:txBody>
      </p:sp>
      <p:sp>
        <p:nvSpPr>
          <p:cNvPr id="74" name="Text 67"/>
          <p:cNvSpPr txBox="1"/>
          <p:nvPr/>
        </p:nvSpPr>
        <p:spPr>
          <a:xfrm>
            <a:off x="7488936" y="3044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41,7% portofolio</a:t>
            </a:r>
            <a:endParaRPr lang="en-US" sz="650" dirty="0"/>
          </a:p>
        </p:txBody>
      </p:sp>
      <p:sp>
        <p:nvSpPr>
          <p:cNvPr id="75" name="Text 68"/>
          <p:cNvSpPr txBox="1"/>
          <p:nvPr/>
        </p:nvSpPr>
        <p:spPr>
          <a:xfrm>
            <a:off x="7488936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 selam, fregat, LPD, MRO, DEFEND ID</a:t>
            </a:r>
            <a:endParaRPr lang="en-US" sz="650" dirty="0"/>
          </a:p>
        </p:txBody>
      </p:sp>
      <p:sp>
        <p:nvSpPr>
          <p:cNvPr id="76" name="Shape 69"/>
          <p:cNvSpPr/>
          <p:nvPr/>
        </p:nvSpPr>
        <p:spPr>
          <a:xfrm>
            <a:off x="8851392" y="2286000"/>
            <a:ext cx="1344168" cy="1353312"/>
          </a:xfrm>
          <a:prstGeom prst="roundRect">
            <a:avLst>
              <a:gd name="adj" fmla="val 5442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8924544" y="2377440"/>
            <a:ext cx="329184" cy="329184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7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3424" y="2466320"/>
            <a:ext cx="151425" cy="151425"/>
          </a:xfrm>
          <a:prstGeom prst="rect">
            <a:avLst/>
          </a:prstGeom>
        </p:spPr>
      </p:pic>
      <p:sp>
        <p:nvSpPr>
          <p:cNvPr id="79" name="Text 71"/>
          <p:cNvSpPr txBox="1"/>
          <p:nvPr/>
        </p:nvSpPr>
        <p:spPr>
          <a:xfrm>
            <a:off x="9308592" y="237744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digital</a:t>
            </a:r>
            <a:endParaRPr lang="en-US" sz="750" dirty="0"/>
          </a:p>
        </p:txBody>
      </p:sp>
      <p:sp>
        <p:nvSpPr>
          <p:cNvPr id="80" name="Text 72"/>
          <p:cNvSpPr txBox="1"/>
          <p:nvPr/>
        </p:nvSpPr>
        <p:spPr>
          <a:xfrm>
            <a:off x="8924544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Rp200 T</a:t>
            </a:r>
            <a:endParaRPr lang="en-US" sz="1300" dirty="0"/>
          </a:p>
        </p:txBody>
      </p:sp>
      <p:sp>
        <p:nvSpPr>
          <p:cNvPr id="81" name="Text 73"/>
          <p:cNvSpPr txBox="1"/>
          <p:nvPr/>
        </p:nvSpPr>
        <p:spPr>
          <a:xfrm>
            <a:off x="8924544" y="3044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berdaulat Rp50 T</a:t>
            </a:r>
            <a:endParaRPr lang="en-US" sz="650" dirty="0"/>
          </a:p>
        </p:txBody>
      </p:sp>
      <p:sp>
        <p:nvSpPr>
          <p:cNvPr id="82" name="Text 74"/>
          <p:cNvSpPr txBox="1"/>
          <p:nvPr/>
        </p:nvSpPr>
        <p:spPr>
          <a:xfrm>
            <a:off x="8924544" y="3200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Semikonduktor Rp100 T, pusat data Rp40 T, kuantum Rp10 T</a:t>
            </a:r>
            <a:endParaRPr lang="en-US" sz="650" dirty="0"/>
          </a:p>
        </p:txBody>
      </p:sp>
      <p:sp>
        <p:nvSpPr>
          <p:cNvPr id="83" name="Text 75"/>
          <p:cNvSpPr txBox="1"/>
          <p:nvPr/>
        </p:nvSpPr>
        <p:spPr>
          <a:xfrm>
            <a:off x="4544568" y="3685032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 (kimia, pangan, tekstil, kesehatan) Rp106 T. Komposisi menurut register RKAP 35 proyek berbiaya, pembaruan 15 Okt 2026 (Giant Sea Wall Rp1.200 T; klaster pertahanan Rp2.125 T). AI &amp; digital adalah program lintas klaster. KDKMP (80.000 koperasi desa, plafon ≈Rp240 T) di luar 40 proyek. Nilai kelas C, belum direkonsiliasi.</a:t>
            </a:r>
            <a:endParaRPr lang="en-US" sz="600" dirty="0"/>
          </a:p>
        </p:txBody>
      </p:sp>
      <p:sp>
        <p:nvSpPr>
          <p:cNvPr id="84" name="Shape 76"/>
          <p:cNvSpPr/>
          <p:nvPr/>
        </p:nvSpPr>
        <p:spPr>
          <a:xfrm>
            <a:off x="384048" y="4187952"/>
            <a:ext cx="9921240" cy="3081528"/>
          </a:xfrm>
          <a:prstGeom prst="roundRect">
            <a:avLst>
              <a:gd name="adj" fmla="val 2374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85" name="Shape 77"/>
          <p:cNvSpPr/>
          <p:nvPr/>
        </p:nvSpPr>
        <p:spPr>
          <a:xfrm>
            <a:off x="493776" y="4279392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8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531" y="4378147"/>
            <a:ext cx="168250" cy="168250"/>
          </a:xfrm>
          <a:prstGeom prst="rect">
            <a:avLst/>
          </a:prstGeom>
        </p:spPr>
      </p:pic>
      <p:sp>
        <p:nvSpPr>
          <p:cNvPr id="87" name="Text 78"/>
          <p:cNvSpPr txBox="1"/>
          <p:nvPr/>
        </p:nvSpPr>
        <p:spPr>
          <a:xfrm>
            <a:off x="932688" y="42793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3–10  </a:t>
            </a:r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Delapan isu struktural: nilai tambah, devisa, dan kapabilitas mengalir ke luar negeri</a:t>
            </a:r>
            <a:endParaRPr lang="en-US" sz="1150" dirty="0"/>
          </a:p>
        </p:txBody>
      </p:sp>
      <p:sp>
        <p:nvSpPr>
          <p:cNvPr id="88" name="Shape 79"/>
          <p:cNvSpPr/>
          <p:nvPr/>
        </p:nvSpPr>
        <p:spPr>
          <a:xfrm>
            <a:off x="493776" y="4919472"/>
            <a:ext cx="1130427" cy="1911096"/>
          </a:xfrm>
          <a:prstGeom prst="roundRect">
            <a:avLst>
              <a:gd name="adj" fmla="val 6471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89" name="Shape 80"/>
          <p:cNvSpPr/>
          <p:nvPr/>
        </p:nvSpPr>
        <p:spPr>
          <a:xfrm>
            <a:off x="566928" y="4992624"/>
            <a:ext cx="310896" cy="310896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pic>
        <p:nvPicPr>
          <p:cNvPr id="9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870" y="5076566"/>
            <a:ext cx="143012" cy="143012"/>
          </a:xfrm>
          <a:prstGeom prst="rect">
            <a:avLst/>
          </a:prstGeom>
        </p:spPr>
      </p:pic>
      <p:sp>
        <p:nvSpPr>
          <p:cNvPr id="91" name="Text 81"/>
          <p:cNvSpPr txBox="1"/>
          <p:nvPr/>
        </p:nvSpPr>
        <p:spPr>
          <a:xfrm>
            <a:off x="1167003" y="50109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92" name="Text 82"/>
          <p:cNvSpPr txBox="1"/>
          <p:nvPr/>
        </p:nvSpPr>
        <p:spPr>
          <a:xfrm>
            <a:off x="566928" y="5349240"/>
            <a:ext cx="1002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lokal tidak dikembangkan</a:t>
            </a:r>
            <a:endParaRPr lang="en-US" sz="750" dirty="0"/>
          </a:p>
        </p:txBody>
      </p:sp>
      <p:sp>
        <p:nvSpPr>
          <p:cNvPr id="93" name="Text 83"/>
          <p:cNvSpPr txBox="1"/>
          <p:nvPr/>
        </p:nvSpPr>
        <p:spPr>
          <a:xfrm>
            <a:off x="566928" y="5687568"/>
            <a:ext cx="1020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~75%</a:t>
            </a:r>
            <a:endParaRPr lang="en-US" sz="1200" dirty="0"/>
          </a:p>
        </p:txBody>
      </p:sp>
      <p:sp>
        <p:nvSpPr>
          <p:cNvPr id="94" name="Text 84"/>
          <p:cNvSpPr txBox="1"/>
          <p:nvPr/>
        </p:nvSpPr>
        <p:spPr>
          <a:xfrm>
            <a:off x="566928" y="5925312"/>
            <a:ext cx="10206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kapal PT PAL masih impor</a:t>
            </a:r>
            <a:endParaRPr lang="en-US" sz="630" dirty="0"/>
          </a:p>
        </p:txBody>
      </p:sp>
      <p:sp>
        <p:nvSpPr>
          <p:cNvPr id="95" name="Text 85"/>
          <p:cNvSpPr txBox="1"/>
          <p:nvPr/>
        </p:nvSpPr>
        <p:spPr>
          <a:xfrm>
            <a:off x="566928" y="6181344"/>
            <a:ext cx="102069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TKDN DEFEND ID 43%; belanja proyek tidak membangun industri dalam negeri.</a:t>
            </a:r>
            <a:endParaRPr lang="en-US" sz="630" dirty="0"/>
          </a:p>
        </p:txBody>
      </p:sp>
      <p:sp>
        <p:nvSpPr>
          <p:cNvPr id="96" name="Shape 86"/>
          <p:cNvSpPr/>
          <p:nvPr/>
        </p:nvSpPr>
        <p:spPr>
          <a:xfrm>
            <a:off x="1697355" y="4919472"/>
            <a:ext cx="1130427" cy="1911096"/>
          </a:xfrm>
          <a:prstGeom prst="roundRect">
            <a:avLst>
              <a:gd name="adj" fmla="val 6471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97" name="Shape 87"/>
          <p:cNvSpPr/>
          <p:nvPr/>
        </p:nvSpPr>
        <p:spPr>
          <a:xfrm>
            <a:off x="1770507" y="4992624"/>
            <a:ext cx="310896" cy="310896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pic>
        <p:nvPicPr>
          <p:cNvPr id="9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4449" y="5076566"/>
            <a:ext cx="143012" cy="143012"/>
          </a:xfrm>
          <a:prstGeom prst="rect">
            <a:avLst/>
          </a:prstGeom>
        </p:spPr>
      </p:pic>
      <p:sp>
        <p:nvSpPr>
          <p:cNvPr id="99" name="Text 88"/>
          <p:cNvSpPr txBox="1"/>
          <p:nvPr/>
        </p:nvSpPr>
        <p:spPr>
          <a:xfrm>
            <a:off x="2370582" y="50109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00" name="Text 89"/>
          <p:cNvSpPr txBox="1"/>
          <p:nvPr/>
        </p:nvSpPr>
        <p:spPr>
          <a:xfrm>
            <a:off x="1770507" y="5349240"/>
            <a:ext cx="1002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pasok domestik tidak pernah dibangun</a:t>
            </a:r>
            <a:endParaRPr lang="en-US" sz="750" dirty="0"/>
          </a:p>
        </p:txBody>
      </p:sp>
      <p:sp>
        <p:nvSpPr>
          <p:cNvPr id="101" name="Text 90"/>
          <p:cNvSpPr txBox="1"/>
          <p:nvPr/>
        </p:nvSpPr>
        <p:spPr>
          <a:xfrm>
            <a:off x="1770507" y="5687568"/>
            <a:ext cx="1020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US$110 miliar</a:t>
            </a:r>
            <a:endParaRPr lang="en-US" sz="1200" dirty="0"/>
          </a:p>
        </p:txBody>
      </p:sp>
      <p:sp>
        <p:nvSpPr>
          <p:cNvPr id="102" name="Text 91"/>
          <p:cNvSpPr txBox="1"/>
          <p:nvPr/>
        </p:nvSpPr>
        <p:spPr>
          <a:xfrm>
            <a:off x="1770507" y="5925312"/>
            <a:ext cx="10206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bocor ke luar negeri 2027–2032</a:t>
            </a:r>
            <a:endParaRPr lang="en-US" sz="630" dirty="0"/>
          </a:p>
        </p:txBody>
      </p:sp>
      <p:sp>
        <p:nvSpPr>
          <p:cNvPr id="103" name="Text 92"/>
          <p:cNvSpPr txBox="1"/>
          <p:nvPr/>
        </p:nvSpPr>
        <p:spPr>
          <a:xfrm>
            <a:off x="1770507" y="6181344"/>
            <a:ext cx="102069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Pemasok Tier 1–3 belum terkualifikasi; UMKM ±62% PDB jarang masuk rantai pasok strategis.</a:t>
            </a:r>
            <a:endParaRPr lang="en-US" sz="630" dirty="0"/>
          </a:p>
        </p:txBody>
      </p:sp>
      <p:sp>
        <p:nvSpPr>
          <p:cNvPr id="104" name="Shape 93"/>
          <p:cNvSpPr/>
          <p:nvPr/>
        </p:nvSpPr>
        <p:spPr>
          <a:xfrm>
            <a:off x="2900934" y="4919472"/>
            <a:ext cx="1130427" cy="1911096"/>
          </a:xfrm>
          <a:prstGeom prst="roundRect">
            <a:avLst>
              <a:gd name="adj" fmla="val 6471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105" name="Shape 94"/>
          <p:cNvSpPr/>
          <p:nvPr/>
        </p:nvSpPr>
        <p:spPr>
          <a:xfrm>
            <a:off x="2974086" y="4992624"/>
            <a:ext cx="310896" cy="310896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pic>
        <p:nvPicPr>
          <p:cNvPr id="10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58028" y="5076566"/>
            <a:ext cx="143012" cy="143012"/>
          </a:xfrm>
          <a:prstGeom prst="rect">
            <a:avLst/>
          </a:prstGeom>
        </p:spPr>
      </p:pic>
      <p:sp>
        <p:nvSpPr>
          <p:cNvPr id="107" name="Text 95"/>
          <p:cNvSpPr txBox="1"/>
          <p:nvPr/>
        </p:nvSpPr>
        <p:spPr>
          <a:xfrm>
            <a:off x="3574161" y="50109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08" name="Text 96"/>
          <p:cNvSpPr txBox="1"/>
          <p:nvPr/>
        </p:nvSpPr>
        <p:spPr>
          <a:xfrm>
            <a:off x="2974086" y="5349240"/>
            <a:ext cx="1002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 belum dimanfaatkan penuh</a:t>
            </a:r>
            <a:endParaRPr lang="en-US" sz="750" dirty="0"/>
          </a:p>
        </p:txBody>
      </p:sp>
      <p:sp>
        <p:nvSpPr>
          <p:cNvPr id="109" name="Text 97"/>
          <p:cNvSpPr txBox="1"/>
          <p:nvPr/>
        </p:nvSpPr>
        <p:spPr>
          <a:xfrm>
            <a:off x="2974086" y="5687568"/>
            <a:ext cx="1020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19,3% → 7,7%</a:t>
            </a:r>
            <a:endParaRPr lang="en-US" sz="1200" dirty="0"/>
          </a:p>
        </p:txBody>
      </p:sp>
      <p:sp>
        <p:nvSpPr>
          <p:cNvPr id="110" name="Text 98"/>
          <p:cNvSpPr txBox="1"/>
          <p:nvPr/>
        </p:nvSpPr>
        <p:spPr>
          <a:xfrm>
            <a:off x="2974086" y="5925312"/>
            <a:ext cx="10206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porsi SDA dalam penerimaan negara</a:t>
            </a:r>
            <a:endParaRPr lang="en-US" sz="630" dirty="0"/>
          </a:p>
        </p:txBody>
      </p:sp>
      <p:sp>
        <p:nvSpPr>
          <p:cNvPr id="111" name="Text 99"/>
          <p:cNvSpPr txBox="1"/>
          <p:nvPr/>
        </p:nvSpPr>
        <p:spPr>
          <a:xfrm>
            <a:off x="2974086" y="6181344"/>
            <a:ext cx="102069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Dijual sebagai komoditas; cadangan belum jadi underlying nilai finansial.</a:t>
            </a:r>
            <a:endParaRPr lang="en-US" sz="630" dirty="0"/>
          </a:p>
        </p:txBody>
      </p:sp>
      <p:sp>
        <p:nvSpPr>
          <p:cNvPr id="112" name="Shape 100"/>
          <p:cNvSpPr/>
          <p:nvPr/>
        </p:nvSpPr>
        <p:spPr>
          <a:xfrm>
            <a:off x="4177665" y="4919472"/>
            <a:ext cx="1130427" cy="1911096"/>
          </a:xfrm>
          <a:prstGeom prst="roundRect">
            <a:avLst>
              <a:gd name="adj" fmla="val 6471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113" name="Shape 101"/>
          <p:cNvSpPr/>
          <p:nvPr/>
        </p:nvSpPr>
        <p:spPr>
          <a:xfrm>
            <a:off x="4250817" y="4992624"/>
            <a:ext cx="310896" cy="31089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11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4759" y="5076566"/>
            <a:ext cx="143012" cy="143012"/>
          </a:xfrm>
          <a:prstGeom prst="rect">
            <a:avLst/>
          </a:prstGeom>
        </p:spPr>
      </p:pic>
      <p:sp>
        <p:nvSpPr>
          <p:cNvPr id="115" name="Text 102"/>
          <p:cNvSpPr txBox="1"/>
          <p:nvPr/>
        </p:nvSpPr>
        <p:spPr>
          <a:xfrm>
            <a:off x="4850892" y="50109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16" name="Text 103"/>
          <p:cNvSpPr txBox="1"/>
          <p:nvPr/>
        </p:nvSpPr>
        <p:spPr>
          <a:xfrm>
            <a:off x="4250817" y="5349240"/>
            <a:ext cx="1002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Ketergantungan teknologi asing</a:t>
            </a:r>
            <a:endParaRPr lang="en-US" sz="750" dirty="0"/>
          </a:p>
        </p:txBody>
      </p:sp>
      <p:sp>
        <p:nvSpPr>
          <p:cNvPr id="117" name="Text 104"/>
          <p:cNvSpPr txBox="1"/>
          <p:nvPr/>
        </p:nvSpPr>
        <p:spPr>
          <a:xfrm>
            <a:off x="4250817" y="5687568"/>
            <a:ext cx="1020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US$14 miliar</a:t>
            </a:r>
            <a:endParaRPr lang="en-US" sz="1200" dirty="0"/>
          </a:p>
        </p:txBody>
      </p:sp>
      <p:sp>
        <p:nvSpPr>
          <p:cNvPr id="118" name="Text 105"/>
          <p:cNvSpPr txBox="1"/>
          <p:nvPr/>
        </p:nvSpPr>
        <p:spPr>
          <a:xfrm>
            <a:off x="4250817" y="5925312"/>
            <a:ext cx="10206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 pipeline &amp; hilirisasi 2029</a:t>
            </a:r>
            <a:endParaRPr lang="en-US" sz="630" dirty="0"/>
          </a:p>
        </p:txBody>
      </p:sp>
      <p:sp>
        <p:nvSpPr>
          <p:cNvPr id="119" name="Text 106"/>
          <p:cNvSpPr txBox="1"/>
          <p:nvPr/>
        </p:nvSpPr>
        <p:spPr>
          <a:xfrm>
            <a:off x="4250817" y="6181344"/>
            <a:ext cx="102069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asing memegang HKI; tanpa alih teknologi, ketergantungan berulang.</a:t>
            </a:r>
            <a:endParaRPr lang="en-US" sz="630" dirty="0"/>
          </a:p>
        </p:txBody>
      </p:sp>
      <p:sp>
        <p:nvSpPr>
          <p:cNvPr id="120" name="Shape 107"/>
          <p:cNvSpPr/>
          <p:nvPr/>
        </p:nvSpPr>
        <p:spPr>
          <a:xfrm>
            <a:off x="5454396" y="4919472"/>
            <a:ext cx="1130427" cy="1911096"/>
          </a:xfrm>
          <a:prstGeom prst="roundRect">
            <a:avLst>
              <a:gd name="adj" fmla="val 6471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121" name="Shape 108"/>
          <p:cNvSpPr/>
          <p:nvPr/>
        </p:nvSpPr>
        <p:spPr>
          <a:xfrm>
            <a:off x="5527548" y="4992624"/>
            <a:ext cx="310896" cy="31089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12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1490" y="5076566"/>
            <a:ext cx="143012" cy="143012"/>
          </a:xfrm>
          <a:prstGeom prst="rect">
            <a:avLst/>
          </a:prstGeom>
        </p:spPr>
      </p:pic>
      <p:sp>
        <p:nvSpPr>
          <p:cNvPr id="123" name="Text 109"/>
          <p:cNvSpPr txBox="1"/>
          <p:nvPr/>
        </p:nvSpPr>
        <p:spPr>
          <a:xfrm>
            <a:off x="6127623" y="50109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24" name="Text 110"/>
          <p:cNvSpPr txBox="1"/>
          <p:nvPr/>
        </p:nvSpPr>
        <p:spPr>
          <a:xfrm>
            <a:off x="5527548" y="5349240"/>
            <a:ext cx="1002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dana tinggi (high cost of fund)</a:t>
            </a:r>
            <a:endParaRPr lang="en-US" sz="750" dirty="0"/>
          </a:p>
        </p:txBody>
      </p:sp>
      <p:sp>
        <p:nvSpPr>
          <p:cNvPr id="125" name="Text 111"/>
          <p:cNvSpPr txBox="1"/>
          <p:nvPr/>
        </p:nvSpPr>
        <p:spPr>
          <a:xfrm>
            <a:off x="5527548" y="5687568"/>
            <a:ext cx="1020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9–11%</a:t>
            </a:r>
            <a:endParaRPr lang="en-US" sz="1200" dirty="0"/>
          </a:p>
        </p:txBody>
      </p:sp>
      <p:sp>
        <p:nvSpPr>
          <p:cNvPr id="126" name="Text 112"/>
          <p:cNvSpPr txBox="1"/>
          <p:nvPr/>
        </p:nvSpPr>
        <p:spPr>
          <a:xfrm>
            <a:off x="5527548" y="5925312"/>
            <a:ext cx="10206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pinjaman bank (contoh PT PAL)</a:t>
            </a:r>
            <a:endParaRPr lang="en-US" sz="630" dirty="0"/>
          </a:p>
        </p:txBody>
      </p:sp>
      <p:sp>
        <p:nvSpPr>
          <p:cNvPr id="127" name="Text 113"/>
          <p:cNvSpPr txBox="1"/>
          <p:nvPr/>
        </p:nvSpPr>
        <p:spPr>
          <a:xfrm>
            <a:off x="5527548" y="6181344"/>
            <a:ext cx="102069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Pinjaman lunak luar negeri pun mahal: risiko kurs dan biaya komitmen.</a:t>
            </a:r>
            <a:endParaRPr lang="en-US" sz="630" dirty="0"/>
          </a:p>
        </p:txBody>
      </p:sp>
      <p:sp>
        <p:nvSpPr>
          <p:cNvPr id="128" name="Shape 114"/>
          <p:cNvSpPr/>
          <p:nvPr/>
        </p:nvSpPr>
        <p:spPr>
          <a:xfrm>
            <a:off x="6657975" y="4919472"/>
            <a:ext cx="1130427" cy="1911096"/>
          </a:xfrm>
          <a:prstGeom prst="roundRect">
            <a:avLst>
              <a:gd name="adj" fmla="val 6471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129" name="Shape 115"/>
          <p:cNvSpPr/>
          <p:nvPr/>
        </p:nvSpPr>
        <p:spPr>
          <a:xfrm>
            <a:off x="6731127" y="4992624"/>
            <a:ext cx="310896" cy="31089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1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5069" y="5076566"/>
            <a:ext cx="143012" cy="143012"/>
          </a:xfrm>
          <a:prstGeom prst="rect">
            <a:avLst/>
          </a:prstGeom>
        </p:spPr>
      </p:pic>
      <p:sp>
        <p:nvSpPr>
          <p:cNvPr id="131" name="Text 116"/>
          <p:cNvSpPr txBox="1"/>
          <p:nvPr/>
        </p:nvSpPr>
        <p:spPr>
          <a:xfrm>
            <a:off x="7331202" y="50109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132" name="Text 117"/>
          <p:cNvSpPr txBox="1"/>
          <p:nvPr/>
        </p:nvSpPr>
        <p:spPr>
          <a:xfrm>
            <a:off x="6731127" y="5349240"/>
            <a:ext cx="1002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investasi tinggi (capex)</a:t>
            </a:r>
            <a:endParaRPr lang="en-US" sz="750" dirty="0"/>
          </a:p>
        </p:txBody>
      </p:sp>
      <p:sp>
        <p:nvSpPr>
          <p:cNvPr id="133" name="Text 118"/>
          <p:cNvSpPr txBox="1"/>
          <p:nvPr/>
        </p:nvSpPr>
        <p:spPr>
          <a:xfrm>
            <a:off x="6731127" y="5687568"/>
            <a:ext cx="1020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ICOR ≈6</a:t>
            </a:r>
            <a:endParaRPr lang="en-US" sz="1200" dirty="0"/>
          </a:p>
        </p:txBody>
      </p:sp>
      <p:sp>
        <p:nvSpPr>
          <p:cNvPr id="134" name="Text 119"/>
          <p:cNvSpPr txBox="1"/>
          <p:nvPr/>
        </p:nvSpPr>
        <p:spPr>
          <a:xfrm>
            <a:off x="6731127" y="5925312"/>
            <a:ext cx="10206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 per unit pertumbuhan</a:t>
            </a:r>
            <a:endParaRPr lang="en-US" sz="630" dirty="0"/>
          </a:p>
        </p:txBody>
      </p:sp>
      <p:sp>
        <p:nvSpPr>
          <p:cNvPr id="135" name="Text 120"/>
          <p:cNvSpPr txBox="1"/>
          <p:nvPr/>
        </p:nvSpPr>
        <p:spPr>
          <a:xfrm>
            <a:off x="6731127" y="6181344"/>
            <a:ext cx="102069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Pengadaan terikat ke pemberi pinjaman, material impor, dan biaya membengkak; Malaysia ICOR 4,5.</a:t>
            </a:r>
            <a:endParaRPr lang="en-US" sz="630" dirty="0"/>
          </a:p>
        </p:txBody>
      </p:sp>
      <p:sp>
        <p:nvSpPr>
          <p:cNvPr id="136" name="Shape 121"/>
          <p:cNvSpPr/>
          <p:nvPr/>
        </p:nvSpPr>
        <p:spPr>
          <a:xfrm>
            <a:off x="7861554" y="4919472"/>
            <a:ext cx="1130427" cy="1911096"/>
          </a:xfrm>
          <a:prstGeom prst="roundRect">
            <a:avLst>
              <a:gd name="adj" fmla="val 6471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137" name="Shape 122"/>
          <p:cNvSpPr/>
          <p:nvPr/>
        </p:nvSpPr>
        <p:spPr>
          <a:xfrm>
            <a:off x="7934706" y="4992624"/>
            <a:ext cx="310896" cy="31089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1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8648" y="5076566"/>
            <a:ext cx="143012" cy="143012"/>
          </a:xfrm>
          <a:prstGeom prst="rect">
            <a:avLst/>
          </a:prstGeom>
        </p:spPr>
      </p:pic>
      <p:sp>
        <p:nvSpPr>
          <p:cNvPr id="139" name="Text 123"/>
          <p:cNvSpPr txBox="1"/>
          <p:nvPr/>
        </p:nvSpPr>
        <p:spPr>
          <a:xfrm>
            <a:off x="8534781" y="50109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140" name="Text 124"/>
          <p:cNvSpPr txBox="1"/>
          <p:nvPr/>
        </p:nvSpPr>
        <p:spPr>
          <a:xfrm>
            <a:off x="7934706" y="5349240"/>
            <a:ext cx="1002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Under-invoicing ekspor SDA</a:t>
            </a:r>
            <a:endParaRPr lang="en-US" sz="750" dirty="0"/>
          </a:p>
        </p:txBody>
      </p:sp>
      <p:sp>
        <p:nvSpPr>
          <p:cNvPr id="141" name="Text 125"/>
          <p:cNvSpPr txBox="1"/>
          <p:nvPr/>
        </p:nvSpPr>
        <p:spPr>
          <a:xfrm>
            <a:off x="7934706" y="5687568"/>
            <a:ext cx="1020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PNBP bocor</a:t>
            </a:r>
            <a:endParaRPr lang="en-US" sz="1200" dirty="0"/>
          </a:p>
        </p:txBody>
      </p:sp>
      <p:sp>
        <p:nvSpPr>
          <p:cNvPr id="142" name="Text 126"/>
          <p:cNvSpPr txBox="1"/>
          <p:nvPr/>
        </p:nvSpPr>
        <p:spPr>
          <a:xfrm>
            <a:off x="7934706" y="5925312"/>
            <a:ext cx="10206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faktur ekspor di bawah nilai riil</a:t>
            </a:r>
            <a:endParaRPr lang="en-US" sz="630" dirty="0"/>
          </a:p>
        </p:txBody>
      </p:sp>
      <p:sp>
        <p:nvSpPr>
          <p:cNvPr id="143" name="Text 127"/>
          <p:cNvSpPr txBox="1"/>
          <p:nvPr/>
        </p:nvSpPr>
        <p:spPr>
          <a:xfrm>
            <a:off x="7934706" y="6181344"/>
            <a:ext cx="102069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Royalti, pajak, dan devisa dihitung dari harga yang dikecilkan.</a:t>
            </a:r>
            <a:endParaRPr lang="en-US" sz="630" dirty="0"/>
          </a:p>
        </p:txBody>
      </p:sp>
      <p:sp>
        <p:nvSpPr>
          <p:cNvPr id="144" name="Shape 128"/>
          <p:cNvSpPr/>
          <p:nvPr/>
        </p:nvSpPr>
        <p:spPr>
          <a:xfrm>
            <a:off x="9065133" y="4919472"/>
            <a:ext cx="1130427" cy="1911096"/>
          </a:xfrm>
          <a:prstGeom prst="roundRect">
            <a:avLst>
              <a:gd name="adj" fmla="val 6471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45" name="Shape 129"/>
          <p:cNvSpPr/>
          <p:nvPr/>
        </p:nvSpPr>
        <p:spPr>
          <a:xfrm>
            <a:off x="9138285" y="4992624"/>
            <a:ext cx="310896" cy="31089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1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227" y="5076566"/>
            <a:ext cx="143012" cy="143012"/>
          </a:xfrm>
          <a:prstGeom prst="rect">
            <a:avLst/>
          </a:prstGeom>
        </p:spPr>
      </p:pic>
      <p:sp>
        <p:nvSpPr>
          <p:cNvPr id="147" name="Text 130"/>
          <p:cNvSpPr txBox="1"/>
          <p:nvPr/>
        </p:nvSpPr>
        <p:spPr>
          <a:xfrm>
            <a:off x="9738360" y="50109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48" name="Text 131"/>
          <p:cNvSpPr txBox="1"/>
          <p:nvPr/>
        </p:nvSpPr>
        <p:spPr>
          <a:xfrm>
            <a:off x="9138285" y="5349240"/>
            <a:ext cx="10024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Uang gelap di luar sistem keuangan</a:t>
            </a:r>
            <a:endParaRPr lang="en-US" sz="750" dirty="0"/>
          </a:p>
        </p:txBody>
      </p:sp>
      <p:sp>
        <p:nvSpPr>
          <p:cNvPr id="149" name="Text 132"/>
          <p:cNvSpPr txBox="1"/>
          <p:nvPr/>
        </p:nvSpPr>
        <p:spPr>
          <a:xfrm>
            <a:off x="9138285" y="5687568"/>
            <a:ext cx="10206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Rp7.000 T</a:t>
            </a:r>
            <a:endParaRPr lang="en-US" sz="1200" dirty="0"/>
          </a:p>
        </p:txBody>
      </p:sp>
      <p:sp>
        <p:nvSpPr>
          <p:cNvPr id="150" name="Text 133"/>
          <p:cNvSpPr txBox="1"/>
          <p:nvPr/>
        </p:nvSpPr>
        <p:spPr>
          <a:xfrm>
            <a:off x="9138285" y="5925312"/>
            <a:ext cx="10206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estimasi: korupsi, narkoba, judi online</a:t>
            </a:r>
            <a:endParaRPr lang="en-US" sz="630" dirty="0"/>
          </a:p>
        </p:txBody>
      </p:sp>
      <p:sp>
        <p:nvSpPr>
          <p:cNvPr id="151" name="Text 134"/>
          <p:cNvSpPr txBox="1"/>
          <p:nvPr/>
        </p:nvSpPr>
        <p:spPr>
          <a:xfrm>
            <a:off x="9138285" y="6181344"/>
            <a:ext cx="1020699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dipajaki dan tidak membiayai pembangunan; perlu ditarik ke sistem formal.</a:t>
            </a:r>
            <a:endParaRPr lang="en-US" sz="630" dirty="0"/>
          </a:p>
        </p:txBody>
      </p:sp>
      <p:sp>
        <p:nvSpPr>
          <p:cNvPr id="152" name="Shape 135"/>
          <p:cNvSpPr/>
          <p:nvPr/>
        </p:nvSpPr>
        <p:spPr>
          <a:xfrm>
            <a:off x="493776" y="4700016"/>
            <a:ext cx="3537585" cy="182880"/>
          </a:xfrm>
          <a:prstGeom prst="roundRect">
            <a:avLst>
              <a:gd name="adj" fmla="val 50000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153" name="Text 136"/>
          <p:cNvSpPr txBox="1"/>
          <p:nvPr/>
        </p:nvSpPr>
        <p:spPr>
          <a:xfrm>
            <a:off x="493776" y="4700016"/>
            <a:ext cx="35375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INDUSTRI</a:t>
            </a:r>
            <a:endParaRPr lang="en-US" sz="650" dirty="0"/>
          </a:p>
        </p:txBody>
      </p:sp>
      <p:sp>
        <p:nvSpPr>
          <p:cNvPr id="154" name="Shape 137"/>
          <p:cNvSpPr/>
          <p:nvPr/>
        </p:nvSpPr>
        <p:spPr>
          <a:xfrm>
            <a:off x="4177665" y="4700016"/>
            <a:ext cx="1130427" cy="182880"/>
          </a:xfrm>
          <a:prstGeom prst="roundRect">
            <a:avLst>
              <a:gd name="adj" fmla="val 50000"/>
            </a:avLst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55" name="Text 138"/>
          <p:cNvSpPr txBox="1"/>
          <p:nvPr/>
        </p:nvSpPr>
        <p:spPr>
          <a:xfrm>
            <a:off x="4177665" y="4700016"/>
            <a:ext cx="11304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TEKNOLOGI</a:t>
            </a:r>
            <a:endParaRPr lang="en-US" sz="650" dirty="0"/>
          </a:p>
        </p:txBody>
      </p:sp>
      <p:sp>
        <p:nvSpPr>
          <p:cNvPr id="156" name="Shape 139"/>
          <p:cNvSpPr/>
          <p:nvPr/>
        </p:nvSpPr>
        <p:spPr>
          <a:xfrm>
            <a:off x="5454396" y="4700016"/>
            <a:ext cx="4741164" cy="18288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7" name="Text 140"/>
          <p:cNvSpPr txBox="1"/>
          <p:nvPr/>
        </p:nvSpPr>
        <p:spPr>
          <a:xfrm>
            <a:off x="5454396" y="4700016"/>
            <a:ext cx="4741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KEUANGAN</a:t>
            </a:r>
            <a:endParaRPr lang="en-US" sz="650" dirty="0"/>
          </a:p>
        </p:txBody>
      </p:sp>
      <p:sp>
        <p:nvSpPr>
          <p:cNvPr id="158" name="Shape 141"/>
          <p:cNvSpPr/>
          <p:nvPr/>
        </p:nvSpPr>
        <p:spPr>
          <a:xfrm>
            <a:off x="493776" y="6885432"/>
            <a:ext cx="9701784" cy="292608"/>
          </a:xfrm>
          <a:prstGeom prst="roundRect">
            <a:avLst>
              <a:gd name="adj" fmla="val 25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9" name="Text 142"/>
          <p:cNvSpPr txBox="1"/>
          <p:nvPr/>
        </p:nvSpPr>
        <p:spPr>
          <a:xfrm>
            <a:off x="585216" y="6885432"/>
            <a:ext cx="9518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Akibatnya: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proyek tinggi, nilai tambah dan devisa bocor, dan kekayaan SDA belum berubah menjadi kapabilitas industri. Angka Rp7.000 T dan under-invoicing adalah estimasi yang perlu diverifikasi.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74320"/>
            <a:ext cx="9098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Sepuluh pertanyaan kunci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731520"/>
            <a:ext cx="9098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pertanyaan untuk setiap isu di halaman 1, masing-masing dengan dua arah jawaban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738360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3836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188720"/>
            <a:ext cx="1881835" cy="2976372"/>
          </a:xfrm>
          <a:prstGeom prst="roundRect">
            <a:avLst>
              <a:gd name="adj" fmla="val 3887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298448"/>
            <a:ext cx="457200" cy="4572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6971" y="1353312"/>
            <a:ext cx="310896" cy="310896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913" y="1437254"/>
            <a:ext cx="143012" cy="14301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05840" y="1435608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14356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INDUSTRI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493776" y="1847088"/>
            <a:ext cx="16623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menjadikan industrialisasi mandat yang terukur?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" y="2432304"/>
            <a:ext cx="16623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93776" y="2651760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2642616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Reposisi sebagai Platform Kapabilitas Industri Nasional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→ permintaan → pemasok → kapabilitas; dijalankan unit DSIM di dalam BPI, diuji 90 hari.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493776" y="3493008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3776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" y="3483864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 sejak hari pertama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hasil, BUMN lebih kuat, dan kapabilitas industri (TKDN, pemasok lolos gerbang, impor tersubstitusi).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2393899" y="1188720"/>
            <a:ext cx="1881835" cy="2976372"/>
          </a:xfrm>
          <a:prstGeom prst="roundRect">
            <a:avLst>
              <a:gd name="adj" fmla="val 3887"/>
            </a:avLst>
          </a:prstGeom>
          <a:solidFill>
            <a:srgbClr val="E3EDFB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03627" y="1298448"/>
            <a:ext cx="457200" cy="4572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503627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36822" y="1353312"/>
            <a:ext cx="310896" cy="310896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764" y="1437254"/>
            <a:ext cx="143012" cy="143012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015691" y="1435608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015691" y="14356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INDUSTRI</a:t>
            </a:r>
            <a:endParaRPr lang="en-US" sz="650" dirty="0"/>
          </a:p>
        </p:txBody>
      </p:sp>
      <p:sp>
        <p:nvSpPr>
          <p:cNvPr id="28" name="Text 24"/>
          <p:cNvSpPr txBox="1"/>
          <p:nvPr/>
        </p:nvSpPr>
        <p:spPr>
          <a:xfrm>
            <a:off x="2503627" y="1847088"/>
            <a:ext cx="16623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memprioritaskan dan mengendalikan 40 proyek senilai Rp5.094 T?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2503627" y="2432304"/>
            <a:ext cx="16623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2503627" y="2651760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503627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32" name="Text 28"/>
          <p:cNvSpPr txBox="1"/>
          <p:nvPr/>
        </p:nvSpPr>
        <p:spPr>
          <a:xfrm>
            <a:off x="2759659" y="2642616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register, satu taksonomi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40 proyek tersahkan paling lambat Hari ke-45; portofolio ganda Alpha &amp; Impact, proyek Impact lewat SPV ring-fenced.</a:t>
            </a:r>
            <a:endParaRPr lang="en-US" sz="680" dirty="0"/>
          </a:p>
        </p:txBody>
      </p:sp>
      <p:sp>
        <p:nvSpPr>
          <p:cNvPr id="33" name="Shape 29"/>
          <p:cNvSpPr/>
          <p:nvPr/>
        </p:nvSpPr>
        <p:spPr>
          <a:xfrm>
            <a:off x="2503627" y="3493008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2503627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5" name="Text 31"/>
          <p:cNvSpPr txBox="1"/>
          <p:nvPr/>
        </p:nvSpPr>
        <p:spPr>
          <a:xfrm>
            <a:off x="2759659" y="3483864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tower AI multi-agen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 (risiko, bid/no-bid, biaya, piutang, jadwal, pengadaan) di atas master data tunggal; manusia memutuskan.</a:t>
            </a:r>
            <a:endParaRPr lang="en-US" sz="680" dirty="0"/>
          </a:p>
        </p:txBody>
      </p:sp>
      <p:sp>
        <p:nvSpPr>
          <p:cNvPr id="36" name="Shape 32"/>
          <p:cNvSpPr/>
          <p:nvPr/>
        </p:nvSpPr>
        <p:spPr>
          <a:xfrm>
            <a:off x="4403750" y="1188720"/>
            <a:ext cx="1881835" cy="2976372"/>
          </a:xfrm>
          <a:prstGeom prst="roundRect">
            <a:avLst>
              <a:gd name="adj" fmla="val 3887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513478" y="1298448"/>
            <a:ext cx="457200" cy="4572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1347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5846674" y="1353312"/>
            <a:ext cx="310896" cy="310896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616" y="1437254"/>
            <a:ext cx="143012" cy="143012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5025542" y="1435608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5025542" y="14356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INDUSTRI</a:t>
            </a:r>
            <a:endParaRPr lang="en-US" sz="650" dirty="0"/>
          </a:p>
        </p:txBody>
      </p:sp>
      <p:sp>
        <p:nvSpPr>
          <p:cNvPr id="43" name="Text 38"/>
          <p:cNvSpPr txBox="1"/>
          <p:nvPr/>
        </p:nvSpPr>
        <p:spPr>
          <a:xfrm>
            <a:off x="4513478" y="1847088"/>
            <a:ext cx="16623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belanja proyek membangun industri lokal?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4513478" y="2432304"/>
            <a:ext cx="16623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4513478" y="2651760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4513478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47" name="Text 42"/>
          <p:cNvSpPr txBox="1"/>
          <p:nvPr/>
        </p:nvSpPr>
        <p:spPr>
          <a:xfrm>
            <a:off x="4769510" y="2642616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wajib jadi pesanan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ofset UU 16/2012 (35% → 85%) disalurkan lewat DOCK-UP sebagai kontrak payung 3–5 tahun bagi pemasok lokal.</a:t>
            </a:r>
            <a:endParaRPr lang="en-US" sz="680" dirty="0"/>
          </a:p>
        </p:txBody>
      </p:sp>
      <p:sp>
        <p:nvSpPr>
          <p:cNvPr id="48" name="Shape 43"/>
          <p:cNvSpPr/>
          <p:nvPr/>
        </p:nvSpPr>
        <p:spPr>
          <a:xfrm>
            <a:off x="4513478" y="3493008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4513478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50" name="Text 45"/>
          <p:cNvSpPr txBox="1"/>
          <p:nvPr/>
        </p:nvSpPr>
        <p:spPr>
          <a:xfrm>
            <a:off x="4769510" y="3483864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integrator membina pemasok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alih teknologi dan supervisi produksi; contoh V-Bracket PT Barata untuk kapal PT PAL, waktu &amp; biaya turun &gt;50%.</a:t>
            </a:r>
            <a:endParaRPr lang="en-US" sz="680" dirty="0"/>
          </a:p>
        </p:txBody>
      </p:sp>
      <p:sp>
        <p:nvSpPr>
          <p:cNvPr id="51" name="Shape 46"/>
          <p:cNvSpPr/>
          <p:nvPr/>
        </p:nvSpPr>
        <p:spPr>
          <a:xfrm>
            <a:off x="6413602" y="1188720"/>
            <a:ext cx="1881835" cy="2976372"/>
          </a:xfrm>
          <a:prstGeom prst="roundRect">
            <a:avLst>
              <a:gd name="adj" fmla="val 3887"/>
            </a:avLst>
          </a:prstGeom>
          <a:solidFill>
            <a:srgbClr val="E3EDFB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6523330" y="1298448"/>
            <a:ext cx="457200" cy="4572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652333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7856525" y="1353312"/>
            <a:ext cx="310896" cy="310896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467" y="1437254"/>
            <a:ext cx="143012" cy="143012"/>
          </a:xfrm>
          <a:prstGeom prst="rect">
            <a:avLst/>
          </a:prstGeom>
        </p:spPr>
      </p:pic>
      <p:sp>
        <p:nvSpPr>
          <p:cNvPr id="56" name="Shape 50"/>
          <p:cNvSpPr/>
          <p:nvPr/>
        </p:nvSpPr>
        <p:spPr>
          <a:xfrm>
            <a:off x="7035394" y="1435608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7035394" y="14356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INDUSTRI</a:t>
            </a:r>
            <a:endParaRPr lang="en-US" sz="650" dirty="0"/>
          </a:p>
        </p:txBody>
      </p:sp>
      <p:sp>
        <p:nvSpPr>
          <p:cNvPr id="58" name="Text 52"/>
          <p:cNvSpPr txBox="1"/>
          <p:nvPr/>
        </p:nvSpPr>
        <p:spPr>
          <a:xfrm>
            <a:off x="6523330" y="1847088"/>
            <a:ext cx="16623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membangun rantai pasok domestik Tier 1–3?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6523330" y="2432304"/>
            <a:ext cx="16623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750" dirty="0"/>
          </a:p>
        </p:txBody>
      </p:sp>
      <p:sp>
        <p:nvSpPr>
          <p:cNvPr id="60" name="Shape 54"/>
          <p:cNvSpPr/>
          <p:nvPr/>
        </p:nvSpPr>
        <p:spPr>
          <a:xfrm>
            <a:off x="6523330" y="2651760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6523330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62" name="Text 56"/>
          <p:cNvSpPr txBox="1"/>
          <p:nvPr/>
        </p:nvSpPr>
        <p:spPr>
          <a:xfrm>
            <a:off x="6779362" y="2642616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Kualifikasi dengan TRL &amp; MRL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dan kredit dibuka per gerbang G1–G4, dari build-to-print ke design &amp; build; mutu diverifikasi pihak ketiga.</a:t>
            </a:r>
            <a:endParaRPr lang="en-US" sz="680" dirty="0"/>
          </a:p>
        </p:txBody>
      </p:sp>
      <p:sp>
        <p:nvSpPr>
          <p:cNvPr id="63" name="Shape 57"/>
          <p:cNvSpPr/>
          <p:nvPr/>
        </p:nvSpPr>
        <p:spPr>
          <a:xfrm>
            <a:off x="6523330" y="3493008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652333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65" name="Text 59"/>
          <p:cNvSpPr txBox="1"/>
          <p:nvPr/>
        </p:nvSpPr>
        <p:spPr>
          <a:xfrm>
            <a:off x="6779362" y="3483864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UMKM &amp; desa masuk rantai pasok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80.000 KDKMP dan UKM terhubung ke pesanan proyek dengan transaksi tertelusur dan pembiayaan rantai pasok.</a:t>
            </a:r>
            <a:endParaRPr lang="en-US" sz="680" dirty="0"/>
          </a:p>
        </p:txBody>
      </p:sp>
      <p:sp>
        <p:nvSpPr>
          <p:cNvPr id="66" name="Shape 60"/>
          <p:cNvSpPr/>
          <p:nvPr/>
        </p:nvSpPr>
        <p:spPr>
          <a:xfrm>
            <a:off x="8423453" y="1188720"/>
            <a:ext cx="1881835" cy="2976372"/>
          </a:xfrm>
          <a:prstGeom prst="roundRect">
            <a:avLst>
              <a:gd name="adj" fmla="val 3887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8533181" y="1298448"/>
            <a:ext cx="457200" cy="4572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8533181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100" dirty="0"/>
          </a:p>
        </p:txBody>
      </p:sp>
      <p:sp>
        <p:nvSpPr>
          <p:cNvPr id="69" name="Shape 63"/>
          <p:cNvSpPr/>
          <p:nvPr/>
        </p:nvSpPr>
        <p:spPr>
          <a:xfrm>
            <a:off x="9866376" y="1353312"/>
            <a:ext cx="310896" cy="310896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pic>
        <p:nvPicPr>
          <p:cNvPr id="7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0318" y="1437254"/>
            <a:ext cx="143012" cy="143012"/>
          </a:xfrm>
          <a:prstGeom prst="rect">
            <a:avLst/>
          </a:prstGeom>
        </p:spPr>
      </p:pic>
      <p:sp>
        <p:nvSpPr>
          <p:cNvPr id="71" name="Shape 64"/>
          <p:cNvSpPr/>
          <p:nvPr/>
        </p:nvSpPr>
        <p:spPr>
          <a:xfrm>
            <a:off x="9045245" y="1435608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72" name="Text 65"/>
          <p:cNvSpPr txBox="1"/>
          <p:nvPr/>
        </p:nvSpPr>
        <p:spPr>
          <a:xfrm>
            <a:off x="9045245" y="14356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INDUSTRI</a:t>
            </a:r>
            <a:endParaRPr lang="en-US" sz="650" dirty="0"/>
          </a:p>
        </p:txBody>
      </p:sp>
      <p:sp>
        <p:nvSpPr>
          <p:cNvPr id="73" name="Text 66"/>
          <p:cNvSpPr txBox="1"/>
          <p:nvPr/>
        </p:nvSpPr>
        <p:spPr>
          <a:xfrm>
            <a:off x="8533181" y="1847088"/>
            <a:ext cx="16623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mengubah cadangan SDA menjadi nilai finansial dan industri?</a:t>
            </a:r>
            <a:endParaRPr lang="en-US" sz="900" dirty="0"/>
          </a:p>
        </p:txBody>
      </p:sp>
      <p:sp>
        <p:nvSpPr>
          <p:cNvPr id="74" name="Text 67"/>
          <p:cNvSpPr txBox="1"/>
          <p:nvPr/>
        </p:nvSpPr>
        <p:spPr>
          <a:xfrm>
            <a:off x="8533181" y="2432304"/>
            <a:ext cx="16623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750" dirty="0"/>
          </a:p>
        </p:txBody>
      </p:sp>
      <p:sp>
        <p:nvSpPr>
          <p:cNvPr id="75" name="Shape 68"/>
          <p:cNvSpPr/>
          <p:nvPr/>
        </p:nvSpPr>
        <p:spPr>
          <a:xfrm>
            <a:off x="8533181" y="2651760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76" name="Text 69"/>
          <p:cNvSpPr txBox="1"/>
          <p:nvPr/>
        </p:nvSpPr>
        <p:spPr>
          <a:xfrm>
            <a:off x="8533181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77" name="Text 70"/>
          <p:cNvSpPr txBox="1"/>
          <p:nvPr/>
        </p:nvSpPr>
        <p:spPr>
          <a:xfrm>
            <a:off x="8789213" y="2642616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Resource Fund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 minerba milik negara jadi aset dasar (valuasi min. Rp10.000 T); manfaat fiskal Rp1.000 T dalam 3 tahun.</a:t>
            </a:r>
            <a:endParaRPr lang="en-US" sz="680" dirty="0"/>
          </a:p>
        </p:txBody>
      </p:sp>
      <p:sp>
        <p:nvSpPr>
          <p:cNvPr id="78" name="Shape 71"/>
          <p:cNvSpPr/>
          <p:nvPr/>
        </p:nvSpPr>
        <p:spPr>
          <a:xfrm>
            <a:off x="8533181" y="3493008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8533181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80" name="Text 73"/>
          <p:cNvSpPr txBox="1"/>
          <p:nvPr/>
        </p:nvSpPr>
        <p:spPr>
          <a:xfrm>
            <a:off x="8789213" y="3483864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Penyaluran bertahap &amp; terpantau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Pemantau Inflasi NRF lima lapis dengan ambang hijau–kuning–merah; hasil diarahkan ke hilirisasi dan pemasok domestik.</a:t>
            </a:r>
            <a:endParaRPr lang="en-US" sz="680" dirty="0"/>
          </a:p>
        </p:txBody>
      </p:sp>
      <p:sp>
        <p:nvSpPr>
          <p:cNvPr id="81" name="Shape 74"/>
          <p:cNvSpPr/>
          <p:nvPr/>
        </p:nvSpPr>
        <p:spPr>
          <a:xfrm>
            <a:off x="384048" y="4311396"/>
            <a:ext cx="1881835" cy="2976372"/>
          </a:xfrm>
          <a:prstGeom prst="roundRect">
            <a:avLst>
              <a:gd name="adj" fmla="val 3887"/>
            </a:avLst>
          </a:prstGeom>
          <a:solidFill>
            <a:srgbClr val="E3EDFB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493776" y="4421124"/>
            <a:ext cx="457200" cy="4572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3" name="Text 76"/>
          <p:cNvSpPr txBox="1"/>
          <p:nvPr/>
        </p:nvSpPr>
        <p:spPr>
          <a:xfrm>
            <a:off x="493776" y="44211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100" dirty="0"/>
          </a:p>
        </p:txBody>
      </p:sp>
      <p:sp>
        <p:nvSpPr>
          <p:cNvPr id="84" name="Shape 77"/>
          <p:cNvSpPr/>
          <p:nvPr/>
        </p:nvSpPr>
        <p:spPr>
          <a:xfrm>
            <a:off x="1826971" y="4475988"/>
            <a:ext cx="310896" cy="31089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8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0913" y="4559930"/>
            <a:ext cx="143012" cy="143012"/>
          </a:xfrm>
          <a:prstGeom prst="rect">
            <a:avLst/>
          </a:prstGeom>
        </p:spPr>
      </p:pic>
      <p:sp>
        <p:nvSpPr>
          <p:cNvPr id="86" name="Shape 78"/>
          <p:cNvSpPr/>
          <p:nvPr/>
        </p:nvSpPr>
        <p:spPr>
          <a:xfrm>
            <a:off x="1005840" y="4558284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87" name="Text 79"/>
          <p:cNvSpPr txBox="1"/>
          <p:nvPr/>
        </p:nvSpPr>
        <p:spPr>
          <a:xfrm>
            <a:off x="1005840" y="455828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TEKNOLOGI</a:t>
            </a:r>
            <a:endParaRPr lang="en-US" sz="650" dirty="0"/>
          </a:p>
        </p:txBody>
      </p:sp>
      <p:sp>
        <p:nvSpPr>
          <p:cNvPr id="88" name="Text 80"/>
          <p:cNvSpPr txBox="1"/>
          <p:nvPr/>
        </p:nvSpPr>
        <p:spPr>
          <a:xfrm>
            <a:off x="493776" y="4969764"/>
            <a:ext cx="16623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mengurangi ketergantungan teknologi asing?</a:t>
            </a:r>
            <a:endParaRPr lang="en-US" sz="900" dirty="0"/>
          </a:p>
        </p:txBody>
      </p:sp>
      <p:sp>
        <p:nvSpPr>
          <p:cNvPr id="89" name="Text 81"/>
          <p:cNvSpPr txBox="1"/>
          <p:nvPr/>
        </p:nvSpPr>
        <p:spPr>
          <a:xfrm>
            <a:off x="493776" y="5554980"/>
            <a:ext cx="16623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750" dirty="0"/>
          </a:p>
        </p:txBody>
      </p:sp>
      <p:sp>
        <p:nvSpPr>
          <p:cNvPr id="90" name="Shape 82"/>
          <p:cNvSpPr/>
          <p:nvPr/>
        </p:nvSpPr>
        <p:spPr>
          <a:xfrm>
            <a:off x="493776" y="5774436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91" name="Text 83"/>
          <p:cNvSpPr txBox="1"/>
          <p:nvPr/>
        </p:nvSpPr>
        <p:spPr>
          <a:xfrm>
            <a:off x="493776" y="57744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92" name="Text 84"/>
          <p:cNvSpPr txBox="1"/>
          <p:nvPr/>
        </p:nvSpPr>
        <p:spPr>
          <a:xfrm>
            <a:off x="749808" y="5765292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Alih teknologi sebagai syarat kontrak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ko-produksi, lisensi, dan kepemilikan HKI bersama dengan mitra asing; CTO mengkaji klaim vendor secara independen.</a:t>
            </a:r>
            <a:endParaRPr lang="en-US" sz="680" dirty="0"/>
          </a:p>
        </p:txBody>
      </p:sp>
      <p:sp>
        <p:nvSpPr>
          <p:cNvPr id="93" name="Shape 85"/>
          <p:cNvSpPr/>
          <p:nvPr/>
        </p:nvSpPr>
        <p:spPr>
          <a:xfrm>
            <a:off x="493776" y="6615684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94" name="Text 86"/>
          <p:cNvSpPr txBox="1"/>
          <p:nvPr/>
        </p:nvSpPr>
        <p:spPr>
          <a:xfrm>
            <a:off x="493776" y="66156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95" name="Text 87"/>
          <p:cNvSpPr txBox="1"/>
          <p:nvPr/>
        </p:nvSpPr>
        <p:spPr>
          <a:xfrm>
            <a:off x="749808" y="6606540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Bangun kapabilitas inti berdaulat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berdaulat Rp50 T, semikonduktor Rp100 T, pusat data Rp40 T sebagai fondasi teknologi bersama klaster.</a:t>
            </a:r>
            <a:endParaRPr lang="en-US" sz="680" dirty="0"/>
          </a:p>
        </p:txBody>
      </p:sp>
      <p:sp>
        <p:nvSpPr>
          <p:cNvPr id="96" name="Shape 88"/>
          <p:cNvSpPr/>
          <p:nvPr/>
        </p:nvSpPr>
        <p:spPr>
          <a:xfrm>
            <a:off x="2393899" y="4311396"/>
            <a:ext cx="1881835" cy="2976372"/>
          </a:xfrm>
          <a:prstGeom prst="roundRect">
            <a:avLst>
              <a:gd name="adj" fmla="val 3887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97" name="Shape 89"/>
          <p:cNvSpPr/>
          <p:nvPr/>
        </p:nvSpPr>
        <p:spPr>
          <a:xfrm>
            <a:off x="2503627" y="4421124"/>
            <a:ext cx="457200" cy="4572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8" name="Text 90"/>
          <p:cNvSpPr txBox="1"/>
          <p:nvPr/>
        </p:nvSpPr>
        <p:spPr>
          <a:xfrm>
            <a:off x="2503627" y="44211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100" dirty="0"/>
          </a:p>
        </p:txBody>
      </p:sp>
      <p:sp>
        <p:nvSpPr>
          <p:cNvPr id="99" name="Shape 91"/>
          <p:cNvSpPr/>
          <p:nvPr/>
        </p:nvSpPr>
        <p:spPr>
          <a:xfrm>
            <a:off x="3836822" y="4475988"/>
            <a:ext cx="310896" cy="31089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10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0764" y="4559930"/>
            <a:ext cx="143012" cy="143012"/>
          </a:xfrm>
          <a:prstGeom prst="rect">
            <a:avLst/>
          </a:prstGeom>
        </p:spPr>
      </p:pic>
      <p:sp>
        <p:nvSpPr>
          <p:cNvPr id="101" name="Shape 92"/>
          <p:cNvSpPr/>
          <p:nvPr/>
        </p:nvSpPr>
        <p:spPr>
          <a:xfrm>
            <a:off x="3015691" y="4558284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02" name="Text 93"/>
          <p:cNvSpPr txBox="1"/>
          <p:nvPr/>
        </p:nvSpPr>
        <p:spPr>
          <a:xfrm>
            <a:off x="3015691" y="455828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KEUANGAN</a:t>
            </a:r>
            <a:endParaRPr lang="en-US" sz="650" dirty="0"/>
          </a:p>
        </p:txBody>
      </p:sp>
      <p:sp>
        <p:nvSpPr>
          <p:cNvPr id="103" name="Text 94"/>
          <p:cNvSpPr txBox="1"/>
          <p:nvPr/>
        </p:nvSpPr>
        <p:spPr>
          <a:xfrm>
            <a:off x="2503627" y="4969764"/>
            <a:ext cx="16623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menurunkan biaya dana proyek?</a:t>
            </a:r>
            <a:endParaRPr lang="en-US" sz="900" dirty="0"/>
          </a:p>
        </p:txBody>
      </p:sp>
      <p:sp>
        <p:nvSpPr>
          <p:cNvPr id="104" name="Text 95"/>
          <p:cNvSpPr txBox="1"/>
          <p:nvPr/>
        </p:nvSpPr>
        <p:spPr>
          <a:xfrm>
            <a:off x="2503627" y="5554980"/>
            <a:ext cx="16623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750" dirty="0"/>
          </a:p>
        </p:txBody>
      </p:sp>
      <p:sp>
        <p:nvSpPr>
          <p:cNvPr id="105" name="Shape 96"/>
          <p:cNvSpPr/>
          <p:nvPr/>
        </p:nvSpPr>
        <p:spPr>
          <a:xfrm>
            <a:off x="2503627" y="5774436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06" name="Text 97"/>
          <p:cNvSpPr txBox="1"/>
          <p:nvPr/>
        </p:nvSpPr>
        <p:spPr>
          <a:xfrm>
            <a:off x="2503627" y="57744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07" name="Text 98"/>
          <p:cNvSpPr txBox="1"/>
          <p:nvPr/>
        </p:nvSpPr>
        <p:spPr>
          <a:xfrm>
            <a:off x="2759659" y="5765292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Ekuitas &amp; ko-investasi di tingkat proyek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global/swasta masuk dengan ekuitas Danantara sebagai jangkar; hibah dan blended finance multilateral.</a:t>
            </a:r>
            <a:endParaRPr lang="en-US" sz="680" dirty="0"/>
          </a:p>
        </p:txBody>
      </p:sp>
      <p:sp>
        <p:nvSpPr>
          <p:cNvPr id="108" name="Shape 99"/>
          <p:cNvSpPr/>
          <p:nvPr/>
        </p:nvSpPr>
        <p:spPr>
          <a:xfrm>
            <a:off x="2503627" y="6615684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09" name="Text 100"/>
          <p:cNvSpPr txBox="1"/>
          <p:nvPr/>
        </p:nvSpPr>
        <p:spPr>
          <a:xfrm>
            <a:off x="2503627" y="66156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10" name="Text 101"/>
          <p:cNvSpPr txBox="1"/>
          <p:nvPr/>
        </p:nvSpPr>
        <p:spPr>
          <a:xfrm>
            <a:off x="2759659" y="6606540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Pembiayaan berbasis aset nyata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tokenisasi piutang kontrak dan pembiayaan rantai pasok (≈10,5% → 7%); dividen BUMN dan penerimaan SDA via NRF.</a:t>
            </a:r>
            <a:endParaRPr lang="en-US" sz="680" dirty="0"/>
          </a:p>
        </p:txBody>
      </p:sp>
      <p:sp>
        <p:nvSpPr>
          <p:cNvPr id="111" name="Shape 102"/>
          <p:cNvSpPr/>
          <p:nvPr/>
        </p:nvSpPr>
        <p:spPr>
          <a:xfrm>
            <a:off x="4403750" y="4311396"/>
            <a:ext cx="1881835" cy="2976372"/>
          </a:xfrm>
          <a:prstGeom prst="roundRect">
            <a:avLst>
              <a:gd name="adj" fmla="val 3887"/>
            </a:avLst>
          </a:prstGeom>
          <a:solidFill>
            <a:srgbClr val="E3EDFB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112" name="Shape 103"/>
          <p:cNvSpPr/>
          <p:nvPr/>
        </p:nvSpPr>
        <p:spPr>
          <a:xfrm>
            <a:off x="4513478" y="4421124"/>
            <a:ext cx="457200" cy="4572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3" name="Text 104"/>
          <p:cNvSpPr txBox="1"/>
          <p:nvPr/>
        </p:nvSpPr>
        <p:spPr>
          <a:xfrm>
            <a:off x="4513478" y="44211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100" dirty="0"/>
          </a:p>
        </p:txBody>
      </p:sp>
      <p:sp>
        <p:nvSpPr>
          <p:cNvPr id="114" name="Shape 105"/>
          <p:cNvSpPr/>
          <p:nvPr/>
        </p:nvSpPr>
        <p:spPr>
          <a:xfrm>
            <a:off x="5846674" y="4475988"/>
            <a:ext cx="310896" cy="31089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1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0616" y="4559930"/>
            <a:ext cx="143012" cy="143012"/>
          </a:xfrm>
          <a:prstGeom prst="rect">
            <a:avLst/>
          </a:prstGeom>
        </p:spPr>
      </p:pic>
      <p:sp>
        <p:nvSpPr>
          <p:cNvPr id="116" name="Shape 106"/>
          <p:cNvSpPr/>
          <p:nvPr/>
        </p:nvSpPr>
        <p:spPr>
          <a:xfrm>
            <a:off x="5025542" y="4558284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7" name="Text 107"/>
          <p:cNvSpPr txBox="1"/>
          <p:nvPr/>
        </p:nvSpPr>
        <p:spPr>
          <a:xfrm>
            <a:off x="5025542" y="455828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KEUANGAN</a:t>
            </a:r>
            <a:endParaRPr lang="en-US" sz="650" dirty="0"/>
          </a:p>
        </p:txBody>
      </p:sp>
      <p:sp>
        <p:nvSpPr>
          <p:cNvPr id="118" name="Text 108"/>
          <p:cNvSpPr txBox="1"/>
          <p:nvPr/>
        </p:nvSpPr>
        <p:spPr>
          <a:xfrm>
            <a:off x="4513478" y="4969764"/>
            <a:ext cx="16623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menekan biaya investasi (capex)?</a:t>
            </a:r>
            <a:endParaRPr lang="en-US" sz="900" dirty="0"/>
          </a:p>
        </p:txBody>
      </p:sp>
      <p:sp>
        <p:nvSpPr>
          <p:cNvPr id="119" name="Text 109"/>
          <p:cNvSpPr txBox="1"/>
          <p:nvPr/>
        </p:nvSpPr>
        <p:spPr>
          <a:xfrm>
            <a:off x="4513478" y="5554980"/>
            <a:ext cx="16623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750" dirty="0"/>
          </a:p>
        </p:txBody>
      </p:sp>
      <p:sp>
        <p:nvSpPr>
          <p:cNvPr id="120" name="Shape 110"/>
          <p:cNvSpPr/>
          <p:nvPr/>
        </p:nvSpPr>
        <p:spPr>
          <a:xfrm>
            <a:off x="4513478" y="5774436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21" name="Text 111"/>
          <p:cNvSpPr txBox="1"/>
          <p:nvPr/>
        </p:nvSpPr>
        <p:spPr>
          <a:xfrm>
            <a:off x="4513478" y="57744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22" name="Text 112"/>
          <p:cNvSpPr txBox="1"/>
          <p:nvPr/>
        </p:nvSpPr>
        <p:spPr>
          <a:xfrm>
            <a:off x="4769510" y="5765292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Kendali biaya, jadwal, pengadaan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multi-agen dan kantor kinerja DSIM membantu menekan ICOR dari ≈5,6 ke ≈4,2; pengadaan terbuka, bukan terikat.</a:t>
            </a:r>
            <a:endParaRPr lang="en-US" sz="680" dirty="0"/>
          </a:p>
        </p:txBody>
      </p:sp>
      <p:sp>
        <p:nvSpPr>
          <p:cNvPr id="123" name="Shape 113"/>
          <p:cNvSpPr/>
          <p:nvPr/>
        </p:nvSpPr>
        <p:spPr>
          <a:xfrm>
            <a:off x="4513478" y="6615684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24" name="Text 114"/>
          <p:cNvSpPr txBox="1"/>
          <p:nvPr/>
        </p:nvSpPr>
        <p:spPr>
          <a:xfrm>
            <a:off x="4513478" y="66156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25" name="Text 115"/>
          <p:cNvSpPr txBox="1"/>
          <p:nvPr/>
        </p:nvSpPr>
        <p:spPr>
          <a:xfrm>
            <a:off x="4769510" y="6606540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Lokalisasi barang impor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mengalihkan 10–30% impor capex ke pemasok DOCK-UP menghemat devisa US$5,8–17,5 miliar; KPBU dan daur ulang aset via INA.</a:t>
            </a:r>
            <a:endParaRPr lang="en-US" sz="680" dirty="0"/>
          </a:p>
        </p:txBody>
      </p:sp>
      <p:sp>
        <p:nvSpPr>
          <p:cNvPr id="126" name="Shape 116"/>
          <p:cNvSpPr/>
          <p:nvPr/>
        </p:nvSpPr>
        <p:spPr>
          <a:xfrm>
            <a:off x="6413602" y="4311396"/>
            <a:ext cx="1881835" cy="2976372"/>
          </a:xfrm>
          <a:prstGeom prst="roundRect">
            <a:avLst>
              <a:gd name="adj" fmla="val 3887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127" name="Shape 117"/>
          <p:cNvSpPr/>
          <p:nvPr/>
        </p:nvSpPr>
        <p:spPr>
          <a:xfrm>
            <a:off x="6523330" y="4421124"/>
            <a:ext cx="457200" cy="4572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28" name="Text 118"/>
          <p:cNvSpPr txBox="1"/>
          <p:nvPr/>
        </p:nvSpPr>
        <p:spPr>
          <a:xfrm>
            <a:off x="6523330" y="44211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100" dirty="0"/>
          </a:p>
        </p:txBody>
      </p:sp>
      <p:sp>
        <p:nvSpPr>
          <p:cNvPr id="129" name="Shape 119"/>
          <p:cNvSpPr/>
          <p:nvPr/>
        </p:nvSpPr>
        <p:spPr>
          <a:xfrm>
            <a:off x="7856525" y="4475988"/>
            <a:ext cx="310896" cy="31089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1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0467" y="4559930"/>
            <a:ext cx="143012" cy="143012"/>
          </a:xfrm>
          <a:prstGeom prst="rect">
            <a:avLst/>
          </a:prstGeom>
        </p:spPr>
      </p:pic>
      <p:sp>
        <p:nvSpPr>
          <p:cNvPr id="131" name="Shape 120"/>
          <p:cNvSpPr/>
          <p:nvPr/>
        </p:nvSpPr>
        <p:spPr>
          <a:xfrm>
            <a:off x="7035394" y="4558284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2" name="Text 121"/>
          <p:cNvSpPr txBox="1"/>
          <p:nvPr/>
        </p:nvSpPr>
        <p:spPr>
          <a:xfrm>
            <a:off x="7035394" y="455828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KEUANGAN</a:t>
            </a:r>
            <a:endParaRPr lang="en-US" sz="650" dirty="0"/>
          </a:p>
        </p:txBody>
      </p:sp>
      <p:sp>
        <p:nvSpPr>
          <p:cNvPr id="133" name="Text 122"/>
          <p:cNvSpPr txBox="1"/>
          <p:nvPr/>
        </p:nvSpPr>
        <p:spPr>
          <a:xfrm>
            <a:off x="6523330" y="4969764"/>
            <a:ext cx="16623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menutup kebocoran under-invoicing ekspor SDA?</a:t>
            </a:r>
            <a:endParaRPr lang="en-US" sz="900" dirty="0"/>
          </a:p>
        </p:txBody>
      </p:sp>
      <p:sp>
        <p:nvSpPr>
          <p:cNvPr id="134" name="Text 123"/>
          <p:cNvSpPr txBox="1"/>
          <p:nvPr/>
        </p:nvSpPr>
        <p:spPr>
          <a:xfrm>
            <a:off x="6523330" y="5554980"/>
            <a:ext cx="16623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750" dirty="0"/>
          </a:p>
        </p:txBody>
      </p:sp>
      <p:sp>
        <p:nvSpPr>
          <p:cNvPr id="135" name="Shape 124"/>
          <p:cNvSpPr/>
          <p:nvPr/>
        </p:nvSpPr>
        <p:spPr>
          <a:xfrm>
            <a:off x="6523330" y="5774436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36" name="Text 125"/>
          <p:cNvSpPr txBox="1"/>
          <p:nvPr/>
        </p:nvSpPr>
        <p:spPr>
          <a:xfrm>
            <a:off x="6523330" y="57744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37" name="Text 126"/>
          <p:cNvSpPr txBox="1"/>
          <p:nvPr/>
        </p:nvSpPr>
        <p:spPr>
          <a:xfrm>
            <a:off x="6779362" y="5765292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acuan &amp; verifikasi independen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royalti dan pajak dihitung dari harga acuan; surveyor pihak ketiga memverifikasi volume dan mutu.</a:t>
            </a:r>
            <a:endParaRPr lang="en-US" sz="680" dirty="0"/>
          </a:p>
        </p:txBody>
      </p:sp>
      <p:sp>
        <p:nvSpPr>
          <p:cNvPr id="138" name="Shape 127"/>
          <p:cNvSpPr/>
          <p:nvPr/>
        </p:nvSpPr>
        <p:spPr>
          <a:xfrm>
            <a:off x="6523330" y="6615684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39" name="Text 128"/>
          <p:cNvSpPr txBox="1"/>
          <p:nvPr/>
        </p:nvSpPr>
        <p:spPr>
          <a:xfrm>
            <a:off x="6523330" y="66156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40" name="Text 129"/>
          <p:cNvSpPr txBox="1"/>
          <p:nvPr/>
        </p:nvSpPr>
        <p:spPr>
          <a:xfrm>
            <a:off x="6779362" y="6606540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Rekonsiliasi data perdagangan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cocokkan data ekspor dengan impor negara mitra (mirror trade); devisa hasil ekspor wajib masuk dan tertelusur.</a:t>
            </a:r>
            <a:endParaRPr lang="en-US" sz="680" dirty="0"/>
          </a:p>
        </p:txBody>
      </p:sp>
      <p:sp>
        <p:nvSpPr>
          <p:cNvPr id="141" name="Shape 130"/>
          <p:cNvSpPr/>
          <p:nvPr/>
        </p:nvSpPr>
        <p:spPr>
          <a:xfrm>
            <a:off x="8423453" y="4311396"/>
            <a:ext cx="1881835" cy="2976372"/>
          </a:xfrm>
          <a:prstGeom prst="roundRect">
            <a:avLst>
              <a:gd name="adj" fmla="val 3887"/>
            </a:avLst>
          </a:prstGeom>
          <a:solidFill>
            <a:srgbClr val="E3EDFB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142" name="Shape 131"/>
          <p:cNvSpPr/>
          <p:nvPr/>
        </p:nvSpPr>
        <p:spPr>
          <a:xfrm>
            <a:off x="8533181" y="4421124"/>
            <a:ext cx="457200" cy="4572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43" name="Text 132"/>
          <p:cNvSpPr txBox="1"/>
          <p:nvPr/>
        </p:nvSpPr>
        <p:spPr>
          <a:xfrm>
            <a:off x="8533181" y="44211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100" dirty="0"/>
          </a:p>
        </p:txBody>
      </p:sp>
      <p:sp>
        <p:nvSpPr>
          <p:cNvPr id="144" name="Shape 133"/>
          <p:cNvSpPr/>
          <p:nvPr/>
        </p:nvSpPr>
        <p:spPr>
          <a:xfrm>
            <a:off x="9866376" y="4475988"/>
            <a:ext cx="310896" cy="31089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1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0318" y="4559930"/>
            <a:ext cx="143012" cy="143012"/>
          </a:xfrm>
          <a:prstGeom prst="rect">
            <a:avLst/>
          </a:prstGeom>
        </p:spPr>
      </p:pic>
      <p:sp>
        <p:nvSpPr>
          <p:cNvPr id="146" name="Shape 134"/>
          <p:cNvSpPr/>
          <p:nvPr/>
        </p:nvSpPr>
        <p:spPr>
          <a:xfrm>
            <a:off x="9045245" y="4558284"/>
            <a:ext cx="804672" cy="18288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47" name="Text 135"/>
          <p:cNvSpPr txBox="1"/>
          <p:nvPr/>
        </p:nvSpPr>
        <p:spPr>
          <a:xfrm>
            <a:off x="9045245" y="455828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KEUANGAN</a:t>
            </a:r>
            <a:endParaRPr lang="en-US" sz="650" dirty="0"/>
          </a:p>
        </p:txBody>
      </p:sp>
      <p:sp>
        <p:nvSpPr>
          <p:cNvPr id="148" name="Text 136"/>
          <p:cNvSpPr txBox="1"/>
          <p:nvPr/>
        </p:nvSpPr>
        <p:spPr>
          <a:xfrm>
            <a:off x="8533181" y="4969764"/>
            <a:ext cx="16623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menarik uang di luar sistem keuangan ke pembangunan?</a:t>
            </a:r>
            <a:endParaRPr lang="en-US" sz="900" dirty="0"/>
          </a:p>
        </p:txBody>
      </p:sp>
      <p:sp>
        <p:nvSpPr>
          <p:cNvPr id="149" name="Text 137"/>
          <p:cNvSpPr txBox="1"/>
          <p:nvPr/>
        </p:nvSpPr>
        <p:spPr>
          <a:xfrm>
            <a:off x="8533181" y="5554980"/>
            <a:ext cx="16623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750" dirty="0"/>
          </a:p>
        </p:txBody>
      </p:sp>
      <p:sp>
        <p:nvSpPr>
          <p:cNvPr id="150" name="Shape 138"/>
          <p:cNvSpPr/>
          <p:nvPr/>
        </p:nvSpPr>
        <p:spPr>
          <a:xfrm>
            <a:off x="8533181" y="5774436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51" name="Text 139"/>
          <p:cNvSpPr txBox="1"/>
          <p:nvPr/>
        </p:nvSpPr>
        <p:spPr>
          <a:xfrm>
            <a:off x="8533181" y="57744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52" name="Text 140"/>
          <p:cNvSpPr txBox="1"/>
          <p:nvPr/>
        </p:nvSpPr>
        <p:spPr>
          <a:xfrm>
            <a:off x="8789213" y="5765292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Penegakan dan perampasan aset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pelacakan PPATK dan perampasan aset hasil kejahatan; dana gelap tidak boleh dilegalkan lewat proyek.</a:t>
            </a:r>
            <a:endParaRPr lang="en-US" sz="680" dirty="0"/>
          </a:p>
        </p:txBody>
      </p:sp>
      <p:sp>
        <p:nvSpPr>
          <p:cNvPr id="153" name="Shape 141"/>
          <p:cNvSpPr/>
          <p:nvPr/>
        </p:nvSpPr>
        <p:spPr>
          <a:xfrm>
            <a:off x="8533181" y="6615684"/>
            <a:ext cx="201168" cy="20116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54" name="Text 142"/>
          <p:cNvSpPr txBox="1"/>
          <p:nvPr/>
        </p:nvSpPr>
        <p:spPr>
          <a:xfrm>
            <a:off x="8533181" y="66156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55" name="Text 143"/>
          <p:cNvSpPr txBox="1"/>
          <p:nvPr/>
        </p:nvSpPr>
        <p:spPr>
          <a:xfrm>
            <a:off x="8789213" y="6606540"/>
            <a:ext cx="14246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formal yang menarik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kepatuhan pajak sukarela dengan KYC/APU-PPT ketat, lalu disalurkan ke instrumen proyek (SBN, reksa dana proyek).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74320"/>
            <a:ext cx="9098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pilar menjadi dampak: alur nilai Danantara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731520"/>
            <a:ext cx="9098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→ NRF mendanai seluruh proyek → DOCK-UP → sistem AI multi-agen → dampak ekonomi dan sosial; hasil kembali ke NRF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738360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3836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58568" y="109728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E3EDFB"/>
          </a:solidFill>
          <a:ln w="19050">
            <a:solidFill>
              <a:srgbClr val="0B57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0008" y="12070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3701" y="1310701"/>
            <a:ext cx="176662" cy="17666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807208" y="1188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Resource Fund (NRF)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807208" y="14264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 minerba milik negara jadi aset dasar; valuasi min. Rp10.000 T; manfaat fiskal Rp1.000 T dalam 3 tahun. Mendanai keempat kelompok proyek.</a:t>
            </a:r>
            <a:endParaRPr lang="en-US" sz="680" dirty="0"/>
          </a:p>
        </p:txBody>
      </p:sp>
      <p:sp>
        <p:nvSpPr>
          <p:cNvPr id="11" name="Shape 8"/>
          <p:cNvSpPr/>
          <p:nvPr/>
        </p:nvSpPr>
        <p:spPr>
          <a:xfrm>
            <a:off x="384048" y="1261872"/>
            <a:ext cx="274320" cy="914"/>
          </a:xfrm>
          <a:prstGeom prst="line">
            <a:avLst/>
          </a:prstGeom>
          <a:noFill/>
          <a:ln w="25400">
            <a:solidFill>
              <a:srgbClr val="0B57C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11887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pendanaan NRF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384048" y="1490472"/>
            <a:ext cx="274320" cy="91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14173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pilar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384048" y="1719072"/>
            <a:ext cx="274320" cy="914"/>
          </a:xfrm>
          <a:prstGeom prst="line">
            <a:avLst/>
          </a:prstGeom>
          <a:noFill/>
          <a:ln w="15875">
            <a:solidFill>
              <a:srgbClr val="062A66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713232" y="16459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6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arus balik ke NRF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 flipH="1">
            <a:off x="2093976" y="1508760"/>
            <a:ext cx="164592" cy="914"/>
          </a:xfrm>
          <a:prstGeom prst="line">
            <a:avLst/>
          </a:prstGeom>
          <a:noFill/>
          <a:ln w="25400">
            <a:solidFill>
              <a:srgbClr val="0B57C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93976" y="1508760"/>
            <a:ext cx="914" cy="4919472"/>
          </a:xfrm>
          <a:prstGeom prst="line">
            <a:avLst/>
          </a:prstGeom>
          <a:noFill/>
          <a:ln w="25400">
            <a:solidFill>
              <a:srgbClr val="0B57C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93976" y="2404872"/>
            <a:ext cx="164592" cy="914"/>
          </a:xfrm>
          <a:prstGeom prst="line">
            <a:avLst/>
          </a:prstGeom>
          <a:noFill/>
          <a:ln w="25400">
            <a:solidFill>
              <a:srgbClr val="0B57C2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093976" y="3745992"/>
            <a:ext cx="164592" cy="914"/>
          </a:xfrm>
          <a:prstGeom prst="line">
            <a:avLst/>
          </a:prstGeom>
          <a:noFill/>
          <a:ln w="25400">
            <a:solidFill>
              <a:srgbClr val="0B57C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093976" y="5087112"/>
            <a:ext cx="164592" cy="914"/>
          </a:xfrm>
          <a:prstGeom prst="line">
            <a:avLst/>
          </a:prstGeom>
          <a:noFill/>
          <a:ln w="25400">
            <a:solidFill>
              <a:srgbClr val="0B57C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093976" y="6428232"/>
            <a:ext cx="164592" cy="914"/>
          </a:xfrm>
          <a:prstGeom prst="line">
            <a:avLst/>
          </a:prstGeom>
          <a:noFill/>
          <a:ln w="25400">
            <a:solidFill>
              <a:srgbClr val="0B57C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84048" y="214884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488" y="22402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" y="2339035"/>
            <a:ext cx="168250" cy="16825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14400" y="224028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&amp; batu bara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475488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Rp647,9 T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475488" y="29900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C9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12,7% portofolio</a:t>
            </a:r>
            <a:endParaRPr lang="en-US" sz="650" dirty="0"/>
          </a:p>
        </p:txBody>
      </p:sp>
      <p:sp>
        <p:nvSpPr>
          <p:cNvPr id="29" name="Shape 25"/>
          <p:cNvSpPr/>
          <p:nvPr/>
        </p:nvSpPr>
        <p:spPr>
          <a:xfrm>
            <a:off x="1938528" y="2834640"/>
            <a:ext cx="320040" cy="91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2258568" y="214884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350008" y="2240280"/>
            <a:ext cx="329184" cy="329184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888" y="2329160"/>
            <a:ext cx="151425" cy="15142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2734056" y="2240280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hulu &amp; hilirisasi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2350008" y="265176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Nikel HPAL, bauksit–alumina, tembaga, material baterai</a:t>
            </a:r>
            <a:endParaRPr lang="en-US" sz="680" dirty="0"/>
          </a:p>
        </p:txBody>
      </p:sp>
      <p:sp>
        <p:nvSpPr>
          <p:cNvPr id="35" name="Shape 30"/>
          <p:cNvSpPr/>
          <p:nvPr/>
        </p:nvSpPr>
        <p:spPr>
          <a:xfrm>
            <a:off x="4224528" y="2697480"/>
            <a:ext cx="237744" cy="91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384048" y="348996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75488" y="35814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" y="3680155"/>
            <a:ext cx="168250" cy="16825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914400" y="358140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475488" y="4038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Rp2.215,6 T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475488" y="43312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C9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43,5% portofolio</a:t>
            </a:r>
            <a:endParaRPr lang="en-US" sz="650" dirty="0"/>
          </a:p>
        </p:txBody>
      </p:sp>
      <p:sp>
        <p:nvSpPr>
          <p:cNvPr id="42" name="Shape 36"/>
          <p:cNvSpPr/>
          <p:nvPr/>
        </p:nvSpPr>
        <p:spPr>
          <a:xfrm>
            <a:off x="1938528" y="4175760"/>
            <a:ext cx="320040" cy="91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43" name="Shape 37"/>
          <p:cNvSpPr/>
          <p:nvPr/>
        </p:nvSpPr>
        <p:spPr>
          <a:xfrm>
            <a:off x="2258568" y="348996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2350008" y="3581400"/>
            <a:ext cx="329184" cy="329184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888" y="3670280"/>
            <a:ext cx="151425" cy="151425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2734056" y="3581400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infrastruktur</a:t>
            </a:r>
            <a:endParaRPr lang="en-US" sz="800" dirty="0"/>
          </a:p>
        </p:txBody>
      </p:sp>
      <p:sp>
        <p:nvSpPr>
          <p:cNvPr id="47" name="Text 40"/>
          <p:cNvSpPr txBox="1"/>
          <p:nvPr/>
        </p:nvSpPr>
        <p:spPr>
          <a:xfrm>
            <a:off x="2350008" y="399288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Sea Wall Rp1.200 T, energi, WtE, kota cerdas, perumahan, air</a:t>
            </a:r>
            <a:endParaRPr lang="en-US" sz="680" dirty="0"/>
          </a:p>
        </p:txBody>
      </p:sp>
      <p:sp>
        <p:nvSpPr>
          <p:cNvPr id="48" name="Shape 41"/>
          <p:cNvSpPr/>
          <p:nvPr/>
        </p:nvSpPr>
        <p:spPr>
          <a:xfrm>
            <a:off x="4224528" y="4038600"/>
            <a:ext cx="237744" cy="91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49" name="Shape 42"/>
          <p:cNvSpPr/>
          <p:nvPr/>
        </p:nvSpPr>
        <p:spPr>
          <a:xfrm>
            <a:off x="384048" y="48310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475488" y="492252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43" y="5021275"/>
            <a:ext cx="168250" cy="16825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914400" y="49225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pertahanan</a:t>
            </a:r>
            <a:endParaRPr lang="en-US" sz="800" dirty="0"/>
          </a:p>
        </p:txBody>
      </p:sp>
      <p:sp>
        <p:nvSpPr>
          <p:cNvPr id="53" name="Text 45"/>
          <p:cNvSpPr txBox="1"/>
          <p:nvPr/>
        </p:nvSpPr>
        <p:spPr>
          <a:xfrm>
            <a:off x="475488" y="5379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Rp2.125 T</a:t>
            </a:r>
            <a:endParaRPr lang="en-US" sz="1400" dirty="0"/>
          </a:p>
        </p:txBody>
      </p:sp>
      <p:sp>
        <p:nvSpPr>
          <p:cNvPr id="54" name="Text 46"/>
          <p:cNvSpPr txBox="1"/>
          <p:nvPr/>
        </p:nvSpPr>
        <p:spPr>
          <a:xfrm>
            <a:off x="475488" y="56723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C9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41,7% portofolio</a:t>
            </a:r>
            <a:endParaRPr lang="en-US" sz="650" dirty="0"/>
          </a:p>
        </p:txBody>
      </p:sp>
      <p:sp>
        <p:nvSpPr>
          <p:cNvPr id="55" name="Shape 47"/>
          <p:cNvSpPr/>
          <p:nvPr/>
        </p:nvSpPr>
        <p:spPr>
          <a:xfrm>
            <a:off x="1938528" y="5516880"/>
            <a:ext cx="320040" cy="91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56" name="Shape 48"/>
          <p:cNvSpPr/>
          <p:nvPr/>
        </p:nvSpPr>
        <p:spPr>
          <a:xfrm>
            <a:off x="2258568" y="483108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2350008" y="4922520"/>
            <a:ext cx="329184" cy="329184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8888" y="5011400"/>
            <a:ext cx="151425" cy="151425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2734056" y="4922520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pertahanan</a:t>
            </a:r>
            <a:endParaRPr lang="en-US" sz="800" dirty="0"/>
          </a:p>
        </p:txBody>
      </p:sp>
      <p:sp>
        <p:nvSpPr>
          <p:cNvPr id="60" name="Text 51"/>
          <p:cNvSpPr txBox="1"/>
          <p:nvPr/>
        </p:nvSpPr>
        <p:spPr>
          <a:xfrm>
            <a:off x="2350008" y="533400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 selam, fregat, LPD, MRO, DEFEND ID</a:t>
            </a:r>
            <a:endParaRPr lang="en-US" sz="680" dirty="0"/>
          </a:p>
        </p:txBody>
      </p:sp>
      <p:sp>
        <p:nvSpPr>
          <p:cNvPr id="61" name="Shape 52"/>
          <p:cNvSpPr/>
          <p:nvPr/>
        </p:nvSpPr>
        <p:spPr>
          <a:xfrm>
            <a:off x="4224528" y="5379720"/>
            <a:ext cx="237744" cy="91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62" name="Shape 53"/>
          <p:cNvSpPr/>
          <p:nvPr/>
        </p:nvSpPr>
        <p:spPr>
          <a:xfrm>
            <a:off x="384048" y="61722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475488" y="626364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243" y="6362395"/>
            <a:ext cx="168250" cy="168250"/>
          </a:xfrm>
          <a:prstGeom prst="rect">
            <a:avLst/>
          </a:prstGeom>
        </p:spPr>
      </p:pic>
      <p:sp>
        <p:nvSpPr>
          <p:cNvPr id="65" name="Text 55"/>
          <p:cNvSpPr txBox="1"/>
          <p:nvPr/>
        </p:nvSpPr>
        <p:spPr>
          <a:xfrm>
            <a:off x="914400" y="62636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multi-agen</a:t>
            </a:r>
            <a:endParaRPr lang="en-US" sz="800" dirty="0"/>
          </a:p>
        </p:txBody>
      </p:sp>
      <p:sp>
        <p:nvSpPr>
          <p:cNvPr id="66" name="Text 56"/>
          <p:cNvSpPr txBox="1"/>
          <p:nvPr/>
        </p:nvSpPr>
        <p:spPr>
          <a:xfrm>
            <a:off x="475488" y="6720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Rp200 T</a:t>
            </a:r>
            <a:endParaRPr lang="en-US" sz="1400" dirty="0"/>
          </a:p>
        </p:txBody>
      </p:sp>
      <p:sp>
        <p:nvSpPr>
          <p:cNvPr id="67" name="Text 57"/>
          <p:cNvSpPr txBox="1"/>
          <p:nvPr/>
        </p:nvSpPr>
        <p:spPr>
          <a:xfrm>
            <a:off x="475488" y="701344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C9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berdaulat Rp50 T</a:t>
            </a:r>
            <a:endParaRPr lang="en-US" sz="650" dirty="0"/>
          </a:p>
        </p:txBody>
      </p:sp>
      <p:sp>
        <p:nvSpPr>
          <p:cNvPr id="68" name="Shape 58"/>
          <p:cNvSpPr/>
          <p:nvPr/>
        </p:nvSpPr>
        <p:spPr>
          <a:xfrm>
            <a:off x="1938528" y="6858000"/>
            <a:ext cx="320040" cy="91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69" name="Shape 59"/>
          <p:cNvSpPr/>
          <p:nvPr/>
        </p:nvSpPr>
        <p:spPr>
          <a:xfrm>
            <a:off x="2258568" y="61722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2350008" y="6263640"/>
            <a:ext cx="329184" cy="329184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7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8888" y="6352520"/>
            <a:ext cx="151425" cy="151425"/>
          </a:xfrm>
          <a:prstGeom prst="rect">
            <a:avLst/>
          </a:prstGeom>
        </p:spPr>
      </p:pic>
      <p:sp>
        <p:nvSpPr>
          <p:cNvPr id="72" name="Text 61"/>
          <p:cNvSpPr txBox="1"/>
          <p:nvPr/>
        </p:nvSpPr>
        <p:spPr>
          <a:xfrm>
            <a:off x="2734056" y="6263640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AI &amp; digital</a:t>
            </a:r>
            <a:endParaRPr lang="en-US" sz="800" dirty="0"/>
          </a:p>
        </p:txBody>
      </p:sp>
      <p:sp>
        <p:nvSpPr>
          <p:cNvPr id="73" name="Text 62"/>
          <p:cNvSpPr txBox="1"/>
          <p:nvPr/>
        </p:nvSpPr>
        <p:spPr>
          <a:xfrm>
            <a:off x="2350008" y="667512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Semikonduktor, pusat data, kuantum; 6 agen AI; KDKMP</a:t>
            </a:r>
            <a:endParaRPr lang="en-US" sz="680" dirty="0"/>
          </a:p>
        </p:txBody>
      </p:sp>
      <p:sp>
        <p:nvSpPr>
          <p:cNvPr id="74" name="Shape 63"/>
          <p:cNvSpPr/>
          <p:nvPr/>
        </p:nvSpPr>
        <p:spPr>
          <a:xfrm>
            <a:off x="4224528" y="6720840"/>
            <a:ext cx="237744" cy="91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75" name="Shape 64"/>
          <p:cNvSpPr/>
          <p:nvPr/>
        </p:nvSpPr>
        <p:spPr>
          <a:xfrm>
            <a:off x="4462272" y="2148840"/>
            <a:ext cx="2331720" cy="5120640"/>
          </a:xfrm>
          <a:prstGeom prst="roundRect">
            <a:avLst>
              <a:gd name="adj" fmla="val 3137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6" name="Text 65"/>
          <p:cNvSpPr txBox="1"/>
          <p:nvPr/>
        </p:nvSpPr>
        <p:spPr>
          <a:xfrm>
            <a:off x="4599432" y="2240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</a:t>
            </a:r>
            <a:endParaRPr lang="en-US" sz="1500" dirty="0"/>
          </a:p>
        </p:txBody>
      </p:sp>
      <p:sp>
        <p:nvSpPr>
          <p:cNvPr id="77" name="Text 66"/>
          <p:cNvSpPr txBox="1"/>
          <p:nvPr/>
        </p:nvSpPr>
        <p:spPr>
          <a:xfrm>
            <a:off x="4599432" y="251460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· Off-taker · Certification · Upgrading</a:t>
            </a:r>
            <a:endParaRPr lang="en-US" sz="680" dirty="0"/>
          </a:p>
        </p:txBody>
      </p:sp>
      <p:sp>
        <p:nvSpPr>
          <p:cNvPr id="78" name="Text 67"/>
          <p:cNvSpPr txBox="1"/>
          <p:nvPr/>
        </p:nvSpPr>
        <p:spPr>
          <a:xfrm>
            <a:off x="4599432" y="271576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Penghubung antara belanja proyek dan pemasok dalam negeri: setiap rupiah proyek diubah menjadi pesanan bagi pemasok lokal, sehingga memutus lingkaran integrator–UKM–bank yang saling menunggu.</a:t>
            </a:r>
            <a:endParaRPr lang="en-US" sz="680" dirty="0"/>
          </a:p>
        </p:txBody>
      </p:sp>
      <p:sp>
        <p:nvSpPr>
          <p:cNvPr id="79" name="Shape 68"/>
          <p:cNvSpPr/>
          <p:nvPr/>
        </p:nvSpPr>
        <p:spPr>
          <a:xfrm>
            <a:off x="4572000" y="3337560"/>
            <a:ext cx="2112264" cy="676656"/>
          </a:xfrm>
          <a:prstGeom prst="roundRect">
            <a:avLst>
              <a:gd name="adj" fmla="val 1081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hape 69"/>
          <p:cNvSpPr/>
          <p:nvPr/>
        </p:nvSpPr>
        <p:spPr>
          <a:xfrm>
            <a:off x="4645152" y="3447288"/>
            <a:ext cx="347472" cy="34747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81" name="Text 70"/>
          <p:cNvSpPr txBox="1"/>
          <p:nvPr/>
        </p:nvSpPr>
        <p:spPr>
          <a:xfrm>
            <a:off x="4645152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82" name="Text 71"/>
          <p:cNvSpPr txBox="1"/>
          <p:nvPr/>
        </p:nvSpPr>
        <p:spPr>
          <a:xfrm>
            <a:off x="5065776" y="3392424"/>
            <a:ext cx="1545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integrator membina pemasok lokal: alih teknologi &amp; supervisi produksi.</a:t>
            </a:r>
            <a:endParaRPr lang="en-US" sz="660" dirty="0"/>
          </a:p>
        </p:txBody>
      </p:sp>
      <p:sp>
        <p:nvSpPr>
          <p:cNvPr id="83" name="Shape 72"/>
          <p:cNvSpPr/>
          <p:nvPr/>
        </p:nvSpPr>
        <p:spPr>
          <a:xfrm>
            <a:off x="4818888" y="4014216"/>
            <a:ext cx="914" cy="109728"/>
          </a:xfrm>
          <a:prstGeom prst="line">
            <a:avLst/>
          </a:prstGeom>
          <a:noFill/>
          <a:ln w="15875">
            <a:solidFill>
              <a:srgbClr val="9DBCEB"/>
            </a:solidFill>
            <a:prstDash val="solid"/>
            <a:tailEnd type="triangle"/>
          </a:ln>
        </p:spPr>
      </p:sp>
      <p:sp>
        <p:nvSpPr>
          <p:cNvPr id="84" name="Shape 73"/>
          <p:cNvSpPr/>
          <p:nvPr/>
        </p:nvSpPr>
        <p:spPr>
          <a:xfrm>
            <a:off x="4572000" y="4123944"/>
            <a:ext cx="2112264" cy="676656"/>
          </a:xfrm>
          <a:prstGeom prst="roundRect">
            <a:avLst>
              <a:gd name="adj" fmla="val 1081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5" name="Shape 74"/>
          <p:cNvSpPr/>
          <p:nvPr/>
        </p:nvSpPr>
        <p:spPr>
          <a:xfrm>
            <a:off x="4645152" y="4233672"/>
            <a:ext cx="347472" cy="34747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86" name="Text 75"/>
          <p:cNvSpPr txBox="1"/>
          <p:nvPr/>
        </p:nvSpPr>
        <p:spPr>
          <a:xfrm>
            <a:off x="4645152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850" dirty="0"/>
          </a:p>
        </p:txBody>
      </p:sp>
      <p:sp>
        <p:nvSpPr>
          <p:cNvPr id="87" name="Text 76"/>
          <p:cNvSpPr txBox="1"/>
          <p:nvPr/>
        </p:nvSpPr>
        <p:spPr>
          <a:xfrm>
            <a:off x="5065776" y="4178808"/>
            <a:ext cx="1545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Off-taker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3–5 th; ofset UU 16/2012 (35% → 85%) jadi pesanan nyata.</a:t>
            </a:r>
            <a:endParaRPr lang="en-US" sz="660" dirty="0"/>
          </a:p>
        </p:txBody>
      </p:sp>
      <p:sp>
        <p:nvSpPr>
          <p:cNvPr id="88" name="Shape 77"/>
          <p:cNvSpPr/>
          <p:nvPr/>
        </p:nvSpPr>
        <p:spPr>
          <a:xfrm>
            <a:off x="4818888" y="4800600"/>
            <a:ext cx="914" cy="109728"/>
          </a:xfrm>
          <a:prstGeom prst="line">
            <a:avLst/>
          </a:prstGeom>
          <a:noFill/>
          <a:ln w="15875">
            <a:solidFill>
              <a:srgbClr val="9DBCEB"/>
            </a:solidFill>
            <a:prstDash val="solid"/>
            <a:tailEnd type="triangle"/>
          </a:ln>
        </p:spPr>
      </p:sp>
      <p:sp>
        <p:nvSpPr>
          <p:cNvPr id="89" name="Shape 78"/>
          <p:cNvSpPr/>
          <p:nvPr/>
        </p:nvSpPr>
        <p:spPr>
          <a:xfrm>
            <a:off x="4572000" y="4910328"/>
            <a:ext cx="2112264" cy="676656"/>
          </a:xfrm>
          <a:prstGeom prst="roundRect">
            <a:avLst>
              <a:gd name="adj" fmla="val 1081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0" name="Shape 79"/>
          <p:cNvSpPr/>
          <p:nvPr/>
        </p:nvSpPr>
        <p:spPr>
          <a:xfrm>
            <a:off x="4645152" y="5020056"/>
            <a:ext cx="347472" cy="34747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91" name="Text 80"/>
          <p:cNvSpPr txBox="1"/>
          <p:nvPr/>
        </p:nvSpPr>
        <p:spPr>
          <a:xfrm>
            <a:off x="4645152" y="5020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92" name="Text 81"/>
          <p:cNvSpPr txBox="1"/>
          <p:nvPr/>
        </p:nvSpPr>
        <p:spPr>
          <a:xfrm>
            <a:off x="5065776" y="4965192"/>
            <a:ext cx="1545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 diverifikasi pihak ketiga; TRL/MRL jadi bahasa bersama.</a:t>
            </a:r>
            <a:endParaRPr lang="en-US" sz="660" dirty="0"/>
          </a:p>
        </p:txBody>
      </p:sp>
      <p:sp>
        <p:nvSpPr>
          <p:cNvPr id="93" name="Shape 82"/>
          <p:cNvSpPr/>
          <p:nvPr/>
        </p:nvSpPr>
        <p:spPr>
          <a:xfrm>
            <a:off x="4818888" y="5586984"/>
            <a:ext cx="914" cy="109728"/>
          </a:xfrm>
          <a:prstGeom prst="line">
            <a:avLst/>
          </a:prstGeom>
          <a:noFill/>
          <a:ln w="15875">
            <a:solidFill>
              <a:srgbClr val="9DBCEB"/>
            </a:solidFill>
            <a:prstDash val="solid"/>
            <a:tailEnd type="triangle"/>
          </a:ln>
        </p:spPr>
      </p:sp>
      <p:sp>
        <p:nvSpPr>
          <p:cNvPr id="94" name="Shape 83"/>
          <p:cNvSpPr/>
          <p:nvPr/>
        </p:nvSpPr>
        <p:spPr>
          <a:xfrm>
            <a:off x="4572000" y="5696712"/>
            <a:ext cx="2112264" cy="676656"/>
          </a:xfrm>
          <a:prstGeom prst="roundRect">
            <a:avLst>
              <a:gd name="adj" fmla="val 10811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5" name="Shape 84"/>
          <p:cNvSpPr/>
          <p:nvPr/>
        </p:nvSpPr>
        <p:spPr>
          <a:xfrm>
            <a:off x="4645152" y="5806440"/>
            <a:ext cx="347472" cy="34747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96" name="Text 85"/>
          <p:cNvSpPr txBox="1"/>
          <p:nvPr/>
        </p:nvSpPr>
        <p:spPr>
          <a:xfrm>
            <a:off x="4645152" y="5806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850" dirty="0"/>
          </a:p>
        </p:txBody>
      </p:sp>
      <p:sp>
        <p:nvSpPr>
          <p:cNvPr id="97" name="Text 86"/>
          <p:cNvSpPr txBox="1"/>
          <p:nvPr/>
        </p:nvSpPr>
        <p:spPr>
          <a:xfrm>
            <a:off x="5065776" y="5751576"/>
            <a:ext cx="1545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&amp; kredit dibuka per gerbang G1–G4: dari build-to-print ke design &amp; build.</a:t>
            </a:r>
            <a:endParaRPr lang="en-US" sz="660" dirty="0"/>
          </a:p>
        </p:txBody>
      </p:sp>
      <p:sp>
        <p:nvSpPr>
          <p:cNvPr id="98" name="Text 87"/>
          <p:cNvSpPr txBox="1"/>
          <p:nvPr/>
        </p:nvSpPr>
        <p:spPr>
          <a:xfrm>
            <a:off x="4599432" y="6519672"/>
            <a:ext cx="2057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</a:t>
            </a:r>
            <a:pPr indent="0" marL="0">
              <a:buNone/>
            </a:pPr>
            <a:r>
              <a:rPr lang="en-US" sz="660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V-Bracket PT Barata untuk kapal PT PAL; waktu &amp; biaya turun &gt;50% vs impor. Tanpa DOCK-UP, uang proyek mengalir ke impor.</a:t>
            </a:r>
            <a:endParaRPr lang="en-US" sz="660" dirty="0"/>
          </a:p>
        </p:txBody>
      </p:sp>
      <p:sp>
        <p:nvSpPr>
          <p:cNvPr id="99" name="Shape 88"/>
          <p:cNvSpPr/>
          <p:nvPr/>
        </p:nvSpPr>
        <p:spPr>
          <a:xfrm>
            <a:off x="6793992" y="4709160"/>
            <a:ext cx="210312" cy="91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  <a:tailEnd type="triangle"/>
          </a:ln>
        </p:spPr>
      </p:sp>
      <p:sp>
        <p:nvSpPr>
          <p:cNvPr id="100" name="Shape 89"/>
          <p:cNvSpPr/>
          <p:nvPr/>
        </p:nvSpPr>
        <p:spPr>
          <a:xfrm>
            <a:off x="7004304" y="2148840"/>
            <a:ext cx="502920" cy="5120640"/>
          </a:xfrm>
          <a:prstGeom prst="roundRect">
            <a:avLst>
              <a:gd name="adj" fmla="val 14545"/>
            </a:avLst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01" name="Text 90"/>
          <p:cNvSpPr txBox="1"/>
          <p:nvPr/>
        </p:nvSpPr>
        <p:spPr>
          <a:xfrm rot="16200000">
            <a:off x="4695444" y="44577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AI MULTI-AGEN</a:t>
            </a:r>
            <a:endParaRPr lang="en-US" sz="75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tunggal · control tower portofolio</a:t>
            </a:r>
            <a:endParaRPr lang="en-US" sz="750" dirty="0"/>
          </a:p>
        </p:txBody>
      </p:sp>
      <p:sp>
        <p:nvSpPr>
          <p:cNvPr id="102" name="Shape 91"/>
          <p:cNvSpPr/>
          <p:nvPr/>
        </p:nvSpPr>
        <p:spPr>
          <a:xfrm>
            <a:off x="7717536" y="1097280"/>
            <a:ext cx="2587752" cy="6172200"/>
          </a:xfrm>
          <a:prstGeom prst="roundRect">
            <a:avLst>
              <a:gd name="adj" fmla="val 2827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103" name="Shape 92"/>
          <p:cNvSpPr/>
          <p:nvPr/>
        </p:nvSpPr>
        <p:spPr>
          <a:xfrm>
            <a:off x="7827264" y="1207008"/>
            <a:ext cx="402336" cy="40233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10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5895" y="1315639"/>
            <a:ext cx="185075" cy="185075"/>
          </a:xfrm>
          <a:prstGeom prst="rect">
            <a:avLst/>
          </a:prstGeom>
        </p:spPr>
      </p:pic>
      <p:sp>
        <p:nvSpPr>
          <p:cNvPr id="105" name="Text 93"/>
          <p:cNvSpPr txBox="1"/>
          <p:nvPr/>
        </p:nvSpPr>
        <p:spPr>
          <a:xfrm>
            <a:off x="8321040" y="120700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ekonomi &amp; sosial</a:t>
            </a:r>
            <a:endParaRPr lang="en-US" sz="1150" dirty="0"/>
          </a:p>
        </p:txBody>
      </p:sp>
      <p:sp>
        <p:nvSpPr>
          <p:cNvPr id="106" name="Text 94"/>
          <p:cNvSpPr txBox="1"/>
          <p:nvPr/>
        </p:nvSpPr>
        <p:spPr>
          <a:xfrm>
            <a:off x="7854696" y="1755648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EKONOMI</a:t>
            </a:r>
            <a:endParaRPr lang="en-US" sz="750" dirty="0"/>
          </a:p>
        </p:txBody>
      </p:sp>
      <p:sp>
        <p:nvSpPr>
          <p:cNvPr id="107" name="Shape 95"/>
          <p:cNvSpPr/>
          <p:nvPr/>
        </p:nvSpPr>
        <p:spPr>
          <a:xfrm>
            <a:off x="7507224" y="2221992"/>
            <a:ext cx="210312" cy="914"/>
          </a:xfrm>
          <a:prstGeom prst="line">
            <a:avLst/>
          </a:prstGeom>
          <a:noFill/>
          <a:ln w="19050">
            <a:solidFill>
              <a:srgbClr val="0B57C2"/>
            </a:solidFill>
            <a:prstDash val="solid"/>
            <a:tailEnd type="triangle"/>
          </a:ln>
        </p:spPr>
      </p:sp>
      <p:sp>
        <p:nvSpPr>
          <p:cNvPr id="108" name="Text 96"/>
          <p:cNvSpPr txBox="1"/>
          <p:nvPr/>
        </p:nvSpPr>
        <p:spPr>
          <a:xfrm>
            <a:off x="7854696" y="2066544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+3,15%</a:t>
            </a:r>
            <a:endParaRPr lang="en-US" sz="1600" dirty="0"/>
          </a:p>
        </p:txBody>
      </p:sp>
      <p:sp>
        <p:nvSpPr>
          <p:cNvPr id="109" name="Text 97"/>
          <p:cNvSpPr txBox="1"/>
          <p:nvPr/>
        </p:nvSpPr>
        <p:spPr>
          <a:xfrm>
            <a:off x="7854696" y="240487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puncak level PDB 2030–2031; +1,30% permanen (≈Rp455 T/tahun)</a:t>
            </a:r>
            <a:endParaRPr lang="en-US" sz="740" dirty="0"/>
          </a:p>
        </p:txBody>
      </p:sp>
      <p:sp>
        <p:nvSpPr>
          <p:cNvPr id="110" name="Shape 98"/>
          <p:cNvSpPr/>
          <p:nvPr/>
        </p:nvSpPr>
        <p:spPr>
          <a:xfrm>
            <a:off x="7507224" y="3022092"/>
            <a:ext cx="210312" cy="914"/>
          </a:xfrm>
          <a:prstGeom prst="line">
            <a:avLst/>
          </a:prstGeom>
          <a:noFill/>
          <a:ln w="19050">
            <a:solidFill>
              <a:srgbClr val="0B57C2"/>
            </a:solidFill>
            <a:prstDash val="solid"/>
            <a:tailEnd type="triangle"/>
          </a:ln>
        </p:spPr>
      </p:sp>
      <p:sp>
        <p:nvSpPr>
          <p:cNvPr id="111" name="Text 99"/>
          <p:cNvSpPr txBox="1"/>
          <p:nvPr/>
        </p:nvSpPr>
        <p:spPr>
          <a:xfrm>
            <a:off x="7854696" y="2866644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Rp386 T</a:t>
            </a:r>
            <a:endParaRPr lang="en-US" sz="1600" dirty="0"/>
          </a:p>
        </p:txBody>
      </p:sp>
      <p:sp>
        <p:nvSpPr>
          <p:cNvPr id="112" name="Text 100"/>
          <p:cNvSpPr txBox="1"/>
          <p:nvPr/>
        </p:nvSpPr>
        <p:spPr>
          <a:xfrm>
            <a:off x="7854696" y="320497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pajak tambahan selama pembangunan; lalu +Rp42 T/tahun</a:t>
            </a:r>
            <a:endParaRPr lang="en-US" sz="740" dirty="0"/>
          </a:p>
        </p:txBody>
      </p:sp>
      <p:sp>
        <p:nvSpPr>
          <p:cNvPr id="113" name="Shape 101"/>
          <p:cNvSpPr/>
          <p:nvPr/>
        </p:nvSpPr>
        <p:spPr>
          <a:xfrm>
            <a:off x="7507224" y="3822192"/>
            <a:ext cx="210312" cy="914"/>
          </a:xfrm>
          <a:prstGeom prst="line">
            <a:avLst/>
          </a:prstGeom>
          <a:noFill/>
          <a:ln w="19050">
            <a:solidFill>
              <a:srgbClr val="0B57C2"/>
            </a:solidFill>
            <a:prstDash val="solid"/>
            <a:tailEnd type="triangle"/>
          </a:ln>
        </p:spPr>
      </p:sp>
      <p:sp>
        <p:nvSpPr>
          <p:cNvPr id="114" name="Text 102"/>
          <p:cNvSpPr txBox="1"/>
          <p:nvPr/>
        </p:nvSpPr>
        <p:spPr>
          <a:xfrm>
            <a:off x="7854696" y="3666744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US$5,8–17,5 miliar</a:t>
            </a:r>
            <a:endParaRPr lang="en-US" sz="1600" dirty="0"/>
          </a:p>
        </p:txBody>
      </p:sp>
      <p:sp>
        <p:nvSpPr>
          <p:cNvPr id="115" name="Text 103"/>
          <p:cNvSpPr txBox="1"/>
          <p:nvPr/>
        </p:nvSpPr>
        <p:spPr>
          <a:xfrm>
            <a:off x="7854696" y="4005072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 devisa bila 10–30% impor capex dilokalkan</a:t>
            </a:r>
            <a:endParaRPr lang="en-US" sz="740" dirty="0"/>
          </a:p>
        </p:txBody>
      </p:sp>
      <p:sp>
        <p:nvSpPr>
          <p:cNvPr id="116" name="Text 104"/>
          <p:cNvSpPr txBox="1"/>
          <p:nvPr/>
        </p:nvSpPr>
        <p:spPr>
          <a:xfrm>
            <a:off x="7854696" y="4466844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SOSIAL</a:t>
            </a:r>
            <a:endParaRPr lang="en-US" sz="750" dirty="0"/>
          </a:p>
        </p:txBody>
      </p:sp>
      <p:sp>
        <p:nvSpPr>
          <p:cNvPr id="117" name="Shape 105"/>
          <p:cNvSpPr/>
          <p:nvPr/>
        </p:nvSpPr>
        <p:spPr>
          <a:xfrm>
            <a:off x="7507224" y="4933188"/>
            <a:ext cx="210312" cy="914"/>
          </a:xfrm>
          <a:prstGeom prst="line">
            <a:avLst/>
          </a:prstGeom>
          <a:noFill/>
          <a:ln w="19050">
            <a:solidFill>
              <a:srgbClr val="0B57C2"/>
            </a:solidFill>
            <a:prstDash val="solid"/>
            <a:tailEnd type="triangle"/>
          </a:ln>
        </p:spPr>
      </p:sp>
      <p:sp>
        <p:nvSpPr>
          <p:cNvPr id="118" name="Text 106"/>
          <p:cNvSpPr txBox="1"/>
          <p:nvPr/>
        </p:nvSpPr>
        <p:spPr>
          <a:xfrm>
            <a:off x="7854696" y="477774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21,6–24,9 jt</a:t>
            </a:r>
            <a:endParaRPr lang="en-US" sz="1600" dirty="0"/>
          </a:p>
        </p:txBody>
      </p:sp>
      <p:sp>
        <p:nvSpPr>
          <p:cNvPr id="119" name="Text 107"/>
          <p:cNvSpPr txBox="1"/>
          <p:nvPr/>
        </p:nvSpPr>
        <p:spPr>
          <a:xfrm>
            <a:off x="7854696" y="511606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tahun-kerja; 1,60–2,31 jt pekerjaan tetap</a:t>
            </a:r>
            <a:endParaRPr lang="en-US" sz="740" dirty="0"/>
          </a:p>
        </p:txBody>
      </p:sp>
      <p:sp>
        <p:nvSpPr>
          <p:cNvPr id="120" name="Shape 108"/>
          <p:cNvSpPr/>
          <p:nvPr/>
        </p:nvSpPr>
        <p:spPr>
          <a:xfrm>
            <a:off x="7507224" y="5733288"/>
            <a:ext cx="210312" cy="914"/>
          </a:xfrm>
          <a:prstGeom prst="line">
            <a:avLst/>
          </a:prstGeom>
          <a:noFill/>
          <a:ln w="19050">
            <a:solidFill>
              <a:srgbClr val="0B57C2"/>
            </a:solidFill>
            <a:prstDash val="solid"/>
            <a:tailEnd type="triangle"/>
          </a:ln>
        </p:spPr>
      </p:sp>
      <p:sp>
        <p:nvSpPr>
          <p:cNvPr id="121" name="Text 109"/>
          <p:cNvSpPr txBox="1"/>
          <p:nvPr/>
        </p:nvSpPr>
        <p:spPr>
          <a:xfrm>
            <a:off x="7854696" y="557784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4,68% → ~3,3%</a:t>
            </a:r>
            <a:endParaRPr lang="en-US" sz="1600" dirty="0"/>
          </a:p>
        </p:txBody>
      </p:sp>
      <p:sp>
        <p:nvSpPr>
          <p:cNvPr id="122" name="Text 110"/>
          <p:cNvSpPr txBox="1"/>
          <p:nvPr/>
        </p:nvSpPr>
        <p:spPr>
          <a:xfrm>
            <a:off x="7854696" y="591616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tingkat pengangguran terbuka 2028–2029</a:t>
            </a:r>
            <a:endParaRPr lang="en-US" sz="740" dirty="0"/>
          </a:p>
        </p:txBody>
      </p:sp>
      <p:sp>
        <p:nvSpPr>
          <p:cNvPr id="123" name="Shape 111"/>
          <p:cNvSpPr/>
          <p:nvPr/>
        </p:nvSpPr>
        <p:spPr>
          <a:xfrm>
            <a:off x="7507224" y="6533388"/>
            <a:ext cx="210312" cy="914"/>
          </a:xfrm>
          <a:prstGeom prst="line">
            <a:avLst/>
          </a:prstGeom>
          <a:noFill/>
          <a:ln w="19050">
            <a:solidFill>
              <a:srgbClr val="0B57C2"/>
            </a:solidFill>
            <a:prstDash val="solid"/>
            <a:tailEnd type="triangle"/>
          </a:ln>
        </p:spPr>
      </p:sp>
      <p:sp>
        <p:nvSpPr>
          <p:cNvPr id="124" name="Text 112"/>
          <p:cNvSpPr txBox="1"/>
          <p:nvPr/>
        </p:nvSpPr>
        <p:spPr>
          <a:xfrm>
            <a:off x="7854696" y="6377940"/>
            <a:ext cx="2313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80.000 KDKMP</a:t>
            </a:r>
            <a:endParaRPr lang="en-US" sz="1600" dirty="0"/>
          </a:p>
        </p:txBody>
      </p:sp>
      <p:sp>
        <p:nvSpPr>
          <p:cNvPr id="125" name="Text 113"/>
          <p:cNvSpPr txBox="1"/>
          <p:nvPr/>
        </p:nvSpPr>
        <p:spPr>
          <a:xfrm>
            <a:off x="7854696" y="671626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UKM &amp; koperasi desa masuk rantai pasok</a:t>
            </a:r>
            <a:endParaRPr lang="en-US" sz="740" dirty="0"/>
          </a:p>
        </p:txBody>
      </p:sp>
      <p:sp>
        <p:nvSpPr>
          <p:cNvPr id="126" name="Shape 114"/>
          <p:cNvSpPr/>
          <p:nvPr/>
        </p:nvSpPr>
        <p:spPr>
          <a:xfrm flipH="1">
            <a:off x="5843016" y="1371600"/>
            <a:ext cx="1874520" cy="914"/>
          </a:xfrm>
          <a:prstGeom prst="line">
            <a:avLst/>
          </a:prstGeom>
          <a:noFill/>
          <a:ln w="19050">
            <a:solidFill>
              <a:srgbClr val="062A66"/>
            </a:solidFill>
            <a:prstDash val="dash"/>
            <a:tailEnd type="triangle"/>
          </a:ln>
        </p:spPr>
      </p:sp>
      <p:sp>
        <p:nvSpPr>
          <p:cNvPr id="127" name="Shape 115"/>
          <p:cNvSpPr/>
          <p:nvPr/>
        </p:nvSpPr>
        <p:spPr>
          <a:xfrm>
            <a:off x="6007608" y="102412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1799" y="1088319"/>
            <a:ext cx="109362" cy="109362"/>
          </a:xfrm>
          <a:prstGeom prst="rect">
            <a:avLst/>
          </a:prstGeom>
        </p:spPr>
      </p:pic>
      <p:sp>
        <p:nvSpPr>
          <p:cNvPr id="129" name="Text 116"/>
          <p:cNvSpPr txBox="1"/>
          <p:nvPr/>
        </p:nvSpPr>
        <p:spPr>
          <a:xfrm>
            <a:off x="6281928" y="1042416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6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Dividen, pajak &amp; penerimaan SDA kembali ke NRF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74320"/>
            <a:ext cx="9098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Penggerak kelembagaan dan usulan platform DSIM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731520"/>
            <a:ext cx="9098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BPI mengorkestrasi; DSIM (Danantara Strategic Industrial Management) menjalankan proyek rinci dan DOCK-UP; manusia memutuskan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738360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3836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3657600" cy="6126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25272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469" y="1356421"/>
            <a:ext cx="176662" cy="17666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50976" y="123444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Penggerak kelembagaan</a:t>
            </a:r>
            <a:endParaRPr lang="en-US" sz="1150" dirty="0"/>
          </a:p>
          <a:p>
            <a:pPr indent="0" marL="0">
              <a:buNone/>
            </a:pPr>
            <a:r>
              <a:rPr lang="en-US" sz="75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BPI mengorkestrasi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115568" y="178308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9DBCEB"/>
          </a:solidFill>
          <a:ln w="12700">
            <a:solidFill>
              <a:srgbClr val="9DBC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15568" y="17830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2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Dewan Pengawas · Presiden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212848" y="2130552"/>
            <a:ext cx="914" cy="128016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15568" y="2258568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15568" y="22585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BPI · Kepala Badan Pelaksana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prioritas, eskalasi lintas lini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2212848" y="2679192"/>
            <a:ext cx="914" cy="14630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39952" y="2825496"/>
            <a:ext cx="2255520" cy="914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39952" y="2825496"/>
            <a:ext cx="914" cy="128016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" y="2953512"/>
            <a:ext cx="1072896" cy="658368"/>
          </a:xfrm>
          <a:prstGeom prst="roundRect">
            <a:avLst>
              <a:gd name="adj" fmla="val 11111"/>
            </a:avLst>
          </a:prstGeom>
          <a:solidFill>
            <a:srgbClr val="E3EDFB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" y="2971800"/>
            <a:ext cx="981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 · COO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Kelola BUMN; diagnostik BUMN Karya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2286000" y="2825496"/>
            <a:ext cx="914" cy="128016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749552" y="2953512"/>
            <a:ext cx="1072896" cy="658368"/>
          </a:xfrm>
          <a:prstGeom prst="roundRect">
            <a:avLst>
              <a:gd name="adj" fmla="val 11111"/>
            </a:avLst>
          </a:prstGeom>
          <a:solidFill>
            <a:srgbClr val="E3EDFB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795272" y="2971800"/>
            <a:ext cx="981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 · CIO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Investasi; menyalurkan NRF &amp; dividen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3432048" y="2825496"/>
            <a:ext cx="914" cy="128016"/>
          </a:xfrm>
          <a:prstGeom prst="line">
            <a:avLst/>
          </a:prstGeom>
          <a:noFill/>
          <a:ln w="15875">
            <a:solidFill>
              <a:srgbClr val="6B778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95600" y="2953512"/>
            <a:ext cx="1072896" cy="658368"/>
          </a:xfrm>
          <a:prstGeom prst="roundRect">
            <a:avLst>
              <a:gd name="adj" fmla="val 11111"/>
            </a:avLst>
          </a:prstGeom>
          <a:solidFill>
            <a:srgbClr val="E3EDFB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41320" y="2971800"/>
            <a:ext cx="981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DDMF · CTO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pembangunan; kajian teknis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493776" y="2468880"/>
            <a:ext cx="914" cy="1755648"/>
          </a:xfrm>
          <a:prstGeom prst="line">
            <a:avLst/>
          </a:prstGeom>
          <a:noFill/>
          <a:ln w="19050">
            <a:solidFill>
              <a:srgbClr val="062A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3776" y="2468880"/>
            <a:ext cx="621792" cy="914"/>
          </a:xfrm>
          <a:prstGeom prst="line">
            <a:avLst/>
          </a:prstGeom>
          <a:noFill/>
          <a:ln w="19050">
            <a:solidFill>
              <a:srgbClr val="062A6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3776" y="4224528"/>
            <a:ext cx="109728" cy="914"/>
          </a:xfrm>
          <a:prstGeom prst="line">
            <a:avLst/>
          </a:prstGeom>
          <a:noFill/>
          <a:ln w="19050">
            <a:solidFill>
              <a:srgbClr val="062A66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03504" y="3840480"/>
            <a:ext cx="3328416" cy="768096"/>
          </a:xfrm>
          <a:prstGeom prst="roundRect">
            <a:avLst>
              <a:gd name="adj" fmla="val 9524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13232" y="38953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DSIM · Unit Industri Strategis &amp; Pelaksanaan Proyek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C9D9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Melapor ke Kepala Badan Pelaksana; menyiapkan paket keputusan bagi DIM, DAM, dan DDMF; tidak menyetujui modal.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493776" y="4754880"/>
            <a:ext cx="3438144" cy="685800"/>
          </a:xfrm>
          <a:prstGeom prst="roundRect">
            <a:avLst>
              <a:gd name="adj" fmla="val 10667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6928" y="4919472"/>
            <a:ext cx="347472" cy="34747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45" y="5013289"/>
            <a:ext cx="159837" cy="159837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987552" y="4800600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Fungsi independen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Risiko, Hukum &amp; Kepatuhan, dan Audit Internal memberi asurans di luar DSIM: unit tidak menilai pekerjaannya sendiri.</a:t>
            </a:r>
            <a:endParaRPr lang="en-US" sz="680" dirty="0"/>
          </a:p>
        </p:txBody>
      </p:sp>
      <p:sp>
        <p:nvSpPr>
          <p:cNvPr id="35" name="Shape 31"/>
          <p:cNvSpPr/>
          <p:nvPr/>
        </p:nvSpPr>
        <p:spPr>
          <a:xfrm>
            <a:off x="493776" y="5550408"/>
            <a:ext cx="3438144" cy="685800"/>
          </a:xfrm>
          <a:prstGeom prst="roundRect">
            <a:avLst>
              <a:gd name="adj" fmla="val 10667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66928" y="5715000"/>
            <a:ext cx="347472" cy="34747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" y="5808817"/>
            <a:ext cx="159837" cy="159837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987552" y="5596128"/>
            <a:ext cx="2871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Manusia memutuskan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multi-agen hanya memberi rekomendasi; keputusan material tetap pada pejabat berwenang dengan jejak keputusan.</a:t>
            </a:r>
            <a:endParaRPr lang="en-US" sz="680" dirty="0"/>
          </a:p>
        </p:txBody>
      </p:sp>
      <p:sp>
        <p:nvSpPr>
          <p:cNvPr id="39" name="Shape 34"/>
          <p:cNvSpPr/>
          <p:nvPr/>
        </p:nvSpPr>
        <p:spPr>
          <a:xfrm>
            <a:off x="493776" y="6345936"/>
            <a:ext cx="3438144" cy="813816"/>
          </a:xfrm>
          <a:prstGeom prst="roundRect">
            <a:avLst>
              <a:gd name="adj" fmla="val 8989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585216" y="6400800"/>
            <a:ext cx="32552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Matriks RASCI (usulan): </a:t>
            </a:r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 setiap organ pada enam kelompok keputusan (register, kesiapan &amp; pembiayaan, persetujuan, pelaksanaan, asurans, eskalasi) disahkan Kepala Badan Pelaksana pada Hari ke-90 sebagai dasar tupoksi dan KPI.</a:t>
            </a:r>
            <a:endParaRPr lang="en-US" sz="680" dirty="0"/>
          </a:p>
        </p:txBody>
      </p:sp>
      <p:sp>
        <p:nvSpPr>
          <p:cNvPr id="41" name="Shape 36"/>
          <p:cNvSpPr/>
          <p:nvPr/>
        </p:nvSpPr>
        <p:spPr>
          <a:xfrm>
            <a:off x="4206240" y="1143000"/>
            <a:ext cx="6099048" cy="868680"/>
          </a:xfrm>
          <a:prstGeom prst="roundRect">
            <a:avLst>
              <a:gd name="adj" fmla="val 8421"/>
            </a:avLst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334256" y="129844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389" y="1446581"/>
            <a:ext cx="252374" cy="252374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5010912" y="1216152"/>
            <a:ext cx="5184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Usulan: DSIM sebagai platform baru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di dalam BPI (Opsi B), bukan holding atau badan hukum baru. Piagam terbatas: menyatukan strategi industri, pengembangan proyek, rantai pasok, dan kinerja portofolio dalam satu meja; diuji 90 hari sebelum dipermanenkan.</a:t>
            </a:r>
            <a:endParaRPr lang="en-US" sz="730" dirty="0"/>
          </a:p>
        </p:txBody>
      </p:sp>
      <p:sp>
        <p:nvSpPr>
          <p:cNvPr id="45" name="Text 39"/>
          <p:cNvSpPr txBox="1"/>
          <p:nvPr/>
        </p:nvSpPr>
        <p:spPr>
          <a:xfrm>
            <a:off x="4206240" y="21214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unit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4206240" y="2340864"/>
            <a:ext cx="1456182" cy="731520"/>
          </a:xfrm>
          <a:prstGeom prst="roundRect">
            <a:avLst>
              <a:gd name="adj" fmla="val 10000"/>
            </a:avLst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279392" y="2377440"/>
            <a:ext cx="13098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Industri Strategis &amp; Pelaksanaan Proyek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prioritas terintegrasi, mutu paket keputusan</a:t>
            </a:r>
            <a:endParaRPr lang="en-US" sz="660" dirty="0"/>
          </a:p>
        </p:txBody>
      </p:sp>
      <p:sp>
        <p:nvSpPr>
          <p:cNvPr id="48" name="Shape 42"/>
          <p:cNvSpPr/>
          <p:nvPr/>
        </p:nvSpPr>
        <p:spPr>
          <a:xfrm>
            <a:off x="5753862" y="2340864"/>
            <a:ext cx="1456182" cy="731520"/>
          </a:xfrm>
          <a:prstGeom prst="roundRect">
            <a:avLst>
              <a:gd name="adj" fmla="val 10000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5827014" y="2377440"/>
            <a:ext cx="13098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Portofolio &amp; Pelaksanaan Proyek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40 proyek, jadwal, data, manfaat</a:t>
            </a:r>
            <a:endParaRPr lang="en-US" sz="660" dirty="0"/>
          </a:p>
        </p:txBody>
      </p:sp>
      <p:sp>
        <p:nvSpPr>
          <p:cNvPr id="50" name="Shape 44"/>
          <p:cNvSpPr/>
          <p:nvPr/>
        </p:nvSpPr>
        <p:spPr>
          <a:xfrm>
            <a:off x="7301484" y="2340864"/>
            <a:ext cx="1456182" cy="731520"/>
          </a:xfrm>
          <a:prstGeom prst="roundRect">
            <a:avLst>
              <a:gd name="adj" fmla="val 10000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7374636" y="2377440"/>
            <a:ext cx="13098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Pengembangan Industri Strategis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nilai, offtake, mitra, substitusi impor</a:t>
            </a:r>
            <a:endParaRPr lang="en-US" sz="660" dirty="0"/>
          </a:p>
        </p:txBody>
      </p:sp>
      <p:sp>
        <p:nvSpPr>
          <p:cNvPr id="52" name="Shape 46"/>
          <p:cNvSpPr/>
          <p:nvPr/>
        </p:nvSpPr>
        <p:spPr>
          <a:xfrm>
            <a:off x="8849106" y="2340864"/>
            <a:ext cx="1456182" cy="731520"/>
          </a:xfrm>
          <a:prstGeom prst="roundRect">
            <a:avLst>
              <a:gd name="adj" fmla="val 10000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8922258" y="2377440"/>
            <a:ext cx="13098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Rekayasa &amp; Pelaksanaan</a:t>
            </a:r>
            <a:endParaRPr lang="en-US" sz="660" dirty="0"/>
          </a:p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kajian, kontrak, biaya, commissioning</a:t>
            </a:r>
            <a:endParaRPr lang="en-US" sz="660" dirty="0"/>
          </a:p>
        </p:txBody>
      </p:sp>
      <p:sp>
        <p:nvSpPr>
          <p:cNvPr id="54" name="Text 48"/>
          <p:cNvSpPr txBox="1"/>
          <p:nvPr/>
        </p:nvSpPr>
        <p:spPr>
          <a:xfrm>
            <a:off x="4206240" y="3127248"/>
            <a:ext cx="6099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pimpinan klaster </a:t>
            </a:r>
            <a:pPr indent="0" marL="0">
              <a:buNone/>
            </a:pPr>
            <a:r>
              <a:rPr lang="en-US" sz="68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(Mineral, Infrastruktur, Pertahanan, AI &amp; digital) memimpin tim matriks dari BUMN, holding, dan fungsi BPI.</a:t>
            </a:r>
            <a:endParaRPr lang="en-US" sz="680" dirty="0"/>
          </a:p>
        </p:txBody>
      </p:sp>
      <p:sp>
        <p:nvSpPr>
          <p:cNvPr id="55" name="Text 49"/>
          <p:cNvSpPr txBox="1"/>
          <p:nvPr/>
        </p:nvSpPr>
        <p:spPr>
          <a:xfrm>
            <a:off x="4206240" y="34198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Delapan fungsi DSIM</a:t>
            </a:r>
            <a:endParaRPr lang="en-US" sz="850" dirty="0"/>
          </a:p>
        </p:txBody>
      </p:sp>
      <p:sp>
        <p:nvSpPr>
          <p:cNvPr id="56" name="Shape 50"/>
          <p:cNvSpPr/>
          <p:nvPr/>
        </p:nvSpPr>
        <p:spPr>
          <a:xfrm>
            <a:off x="4206240" y="3639312"/>
            <a:ext cx="145618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4279392" y="3730752"/>
            <a:ext cx="292608" cy="29260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396" y="3809756"/>
            <a:ext cx="134600" cy="134600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4626864" y="3712464"/>
            <a:ext cx="9989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&amp; peta jalan industri</a:t>
            </a:r>
            <a:endParaRPr lang="en-US" sz="690" dirty="0"/>
          </a:p>
        </p:txBody>
      </p:sp>
      <p:sp>
        <p:nvSpPr>
          <p:cNvPr id="60" name="Text 53"/>
          <p:cNvSpPr txBox="1"/>
          <p:nvPr/>
        </p:nvSpPr>
        <p:spPr>
          <a:xfrm>
            <a:off x="4279392" y="4078224"/>
            <a:ext cx="13281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klaster, pasar, dan prioritas nasional</a:t>
            </a:r>
            <a:endParaRPr lang="en-US" sz="660" dirty="0"/>
          </a:p>
        </p:txBody>
      </p:sp>
      <p:sp>
        <p:nvSpPr>
          <p:cNvPr id="61" name="Shape 54"/>
          <p:cNvSpPr/>
          <p:nvPr/>
        </p:nvSpPr>
        <p:spPr>
          <a:xfrm>
            <a:off x="5753862" y="3639312"/>
            <a:ext cx="145618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5827014" y="3730752"/>
            <a:ext cx="292608" cy="29260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6018" y="3809756"/>
            <a:ext cx="134600" cy="134600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6174486" y="3712464"/>
            <a:ext cx="9989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proyek</a:t>
            </a:r>
            <a:endParaRPr lang="en-US" sz="690" dirty="0"/>
          </a:p>
        </p:txBody>
      </p:sp>
      <p:sp>
        <p:nvSpPr>
          <p:cNvPr id="65" name="Text 57"/>
          <p:cNvSpPr txBox="1"/>
          <p:nvPr/>
        </p:nvSpPr>
        <p:spPr>
          <a:xfrm>
            <a:off x="5827014" y="4078224"/>
            <a:ext cx="13281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pra-FEED, FEED, sampai FID</a:t>
            </a:r>
            <a:endParaRPr lang="en-US" sz="660" dirty="0"/>
          </a:p>
        </p:txBody>
      </p:sp>
      <p:sp>
        <p:nvSpPr>
          <p:cNvPr id="66" name="Shape 58"/>
          <p:cNvSpPr/>
          <p:nvPr/>
        </p:nvSpPr>
        <p:spPr>
          <a:xfrm>
            <a:off x="7301484" y="3639312"/>
            <a:ext cx="145618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7374636" y="3730752"/>
            <a:ext cx="292608" cy="29260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3640" y="3809756"/>
            <a:ext cx="134600" cy="134600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7722108" y="3712464"/>
            <a:ext cx="9989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&amp; HKI</a:t>
            </a:r>
            <a:endParaRPr lang="en-US" sz="690" dirty="0"/>
          </a:p>
        </p:txBody>
      </p:sp>
      <p:sp>
        <p:nvSpPr>
          <p:cNvPr id="70" name="Text 61"/>
          <p:cNvSpPr txBox="1"/>
          <p:nvPr/>
        </p:nvSpPr>
        <p:spPr>
          <a:xfrm>
            <a:off x="7374636" y="4078224"/>
            <a:ext cx="13281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alih teknologi; CTO mengkaji klaim vendor</a:t>
            </a:r>
            <a:endParaRPr lang="en-US" sz="660" dirty="0"/>
          </a:p>
        </p:txBody>
      </p:sp>
      <p:sp>
        <p:nvSpPr>
          <p:cNvPr id="71" name="Shape 62"/>
          <p:cNvSpPr/>
          <p:nvPr/>
        </p:nvSpPr>
        <p:spPr>
          <a:xfrm>
            <a:off x="8849106" y="3639312"/>
            <a:ext cx="145618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8922258" y="3730752"/>
            <a:ext cx="292608" cy="29260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7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1262" y="3809756"/>
            <a:ext cx="134600" cy="134600"/>
          </a:xfrm>
          <a:prstGeom prst="rect">
            <a:avLst/>
          </a:prstGeom>
        </p:spPr>
      </p:pic>
      <p:sp>
        <p:nvSpPr>
          <p:cNvPr id="74" name="Text 64"/>
          <p:cNvSpPr txBox="1"/>
          <p:nvPr/>
        </p:nvSpPr>
        <p:spPr>
          <a:xfrm>
            <a:off x="9269730" y="3712464"/>
            <a:ext cx="9989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pasok (DOCK-UP)</a:t>
            </a:r>
            <a:endParaRPr lang="en-US" sz="690" dirty="0"/>
          </a:p>
        </p:txBody>
      </p:sp>
      <p:sp>
        <p:nvSpPr>
          <p:cNvPr id="75" name="Text 65"/>
          <p:cNvSpPr txBox="1"/>
          <p:nvPr/>
        </p:nvSpPr>
        <p:spPr>
          <a:xfrm>
            <a:off x="8922258" y="4078224"/>
            <a:ext cx="13281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kantor DOCK-UP dan register kesiapan pemasok</a:t>
            </a:r>
            <a:endParaRPr lang="en-US" sz="660" dirty="0"/>
          </a:p>
        </p:txBody>
      </p:sp>
      <p:sp>
        <p:nvSpPr>
          <p:cNvPr id="76" name="Shape 66"/>
          <p:cNvSpPr/>
          <p:nvPr/>
        </p:nvSpPr>
        <p:spPr>
          <a:xfrm>
            <a:off x="4206240" y="4489704"/>
            <a:ext cx="145618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>
            <a:off x="4279392" y="4581144"/>
            <a:ext cx="292608" cy="29260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7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8396" y="4660148"/>
            <a:ext cx="134600" cy="134600"/>
          </a:xfrm>
          <a:prstGeom prst="rect">
            <a:avLst/>
          </a:prstGeom>
        </p:spPr>
      </p:pic>
      <p:sp>
        <p:nvSpPr>
          <p:cNvPr id="79" name="Text 68"/>
          <p:cNvSpPr txBox="1"/>
          <p:nvPr/>
        </p:nvSpPr>
        <p:spPr>
          <a:xfrm>
            <a:off x="4626864" y="4562856"/>
            <a:ext cx="9989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permintaan BUMN</a:t>
            </a:r>
            <a:endParaRPr lang="en-US" sz="690" dirty="0"/>
          </a:p>
        </p:txBody>
      </p:sp>
      <p:sp>
        <p:nvSpPr>
          <p:cNvPr id="80" name="Text 69"/>
          <p:cNvSpPr txBox="1"/>
          <p:nvPr/>
        </p:nvSpPr>
        <p:spPr>
          <a:xfrm>
            <a:off x="4279392" y="4928616"/>
            <a:ext cx="13281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himpun permintaan proyek jangkar ke rencana lokalisasi</a:t>
            </a:r>
            <a:endParaRPr lang="en-US" sz="660" dirty="0"/>
          </a:p>
        </p:txBody>
      </p:sp>
      <p:sp>
        <p:nvSpPr>
          <p:cNvPr id="81" name="Shape 70"/>
          <p:cNvSpPr/>
          <p:nvPr/>
        </p:nvSpPr>
        <p:spPr>
          <a:xfrm>
            <a:off x="5753862" y="4489704"/>
            <a:ext cx="145618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82" name="Shape 71"/>
          <p:cNvSpPr/>
          <p:nvPr/>
        </p:nvSpPr>
        <p:spPr>
          <a:xfrm>
            <a:off x="5827014" y="4581144"/>
            <a:ext cx="292608" cy="29260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8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6018" y="4660148"/>
            <a:ext cx="134600" cy="134600"/>
          </a:xfrm>
          <a:prstGeom prst="rect">
            <a:avLst/>
          </a:prstGeom>
        </p:spPr>
      </p:pic>
      <p:sp>
        <p:nvSpPr>
          <p:cNvPr id="84" name="Text 72"/>
          <p:cNvSpPr txBox="1"/>
          <p:nvPr/>
        </p:nvSpPr>
        <p:spPr>
          <a:xfrm>
            <a:off x="6174486" y="4562856"/>
            <a:ext cx="9989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Pembiayaan industri</a:t>
            </a:r>
            <a:endParaRPr lang="en-US" sz="690" dirty="0"/>
          </a:p>
        </p:txBody>
      </p:sp>
      <p:sp>
        <p:nvSpPr>
          <p:cNvPr id="85" name="Text 73"/>
          <p:cNvSpPr txBox="1"/>
          <p:nvPr/>
        </p:nvSpPr>
        <p:spPr>
          <a:xfrm>
            <a:off x="5827014" y="4928616"/>
            <a:ext cx="13281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menyiapkan paket; DIM &amp; DDMF memutuskan</a:t>
            </a:r>
            <a:endParaRPr lang="en-US" sz="660" dirty="0"/>
          </a:p>
        </p:txBody>
      </p:sp>
      <p:sp>
        <p:nvSpPr>
          <p:cNvPr id="86" name="Shape 74"/>
          <p:cNvSpPr/>
          <p:nvPr/>
        </p:nvSpPr>
        <p:spPr>
          <a:xfrm>
            <a:off x="7301484" y="4489704"/>
            <a:ext cx="145618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87" name="Shape 75"/>
          <p:cNvSpPr/>
          <p:nvPr/>
        </p:nvSpPr>
        <p:spPr>
          <a:xfrm>
            <a:off x="7374636" y="4581144"/>
            <a:ext cx="292608" cy="29260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8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3640" y="4660148"/>
            <a:ext cx="134600" cy="134600"/>
          </a:xfrm>
          <a:prstGeom prst="rect">
            <a:avLst/>
          </a:prstGeom>
        </p:spPr>
      </p:pic>
      <p:sp>
        <p:nvSpPr>
          <p:cNvPr id="89" name="Text 76"/>
          <p:cNvSpPr txBox="1"/>
          <p:nvPr/>
        </p:nvSpPr>
        <p:spPr>
          <a:xfrm>
            <a:off x="7722108" y="4562856"/>
            <a:ext cx="9989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Kantor kinerja</a:t>
            </a:r>
            <a:endParaRPr lang="en-US" sz="690" dirty="0"/>
          </a:p>
        </p:txBody>
      </p:sp>
      <p:sp>
        <p:nvSpPr>
          <p:cNvPr id="90" name="Text 77"/>
          <p:cNvSpPr txBox="1"/>
          <p:nvPr/>
        </p:nvSpPr>
        <p:spPr>
          <a:xfrm>
            <a:off x="7374636" y="4928616"/>
            <a:ext cx="13281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register, scorecard, pelacakan manfaat</a:t>
            </a:r>
            <a:endParaRPr lang="en-US" sz="660" dirty="0"/>
          </a:p>
        </p:txBody>
      </p:sp>
      <p:sp>
        <p:nvSpPr>
          <p:cNvPr id="91" name="Shape 78"/>
          <p:cNvSpPr/>
          <p:nvPr/>
        </p:nvSpPr>
        <p:spPr>
          <a:xfrm>
            <a:off x="8849106" y="4489704"/>
            <a:ext cx="1456182" cy="777240"/>
          </a:xfrm>
          <a:prstGeom prst="roundRect">
            <a:avLst>
              <a:gd name="adj" fmla="val 9412"/>
            </a:avLst>
          </a:prstGeom>
          <a:solidFill>
            <a:srgbClr val="E3EDFB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92" name="Shape 79"/>
          <p:cNvSpPr/>
          <p:nvPr/>
        </p:nvSpPr>
        <p:spPr>
          <a:xfrm>
            <a:off x="8922258" y="4581144"/>
            <a:ext cx="292608" cy="292608"/>
          </a:xfrm>
          <a:prstGeom prst="ellipse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pic>
        <p:nvPicPr>
          <p:cNvPr id="9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1262" y="4660148"/>
            <a:ext cx="134600" cy="134600"/>
          </a:xfrm>
          <a:prstGeom prst="rect">
            <a:avLst/>
          </a:prstGeom>
        </p:spPr>
      </p:pic>
      <p:sp>
        <p:nvSpPr>
          <p:cNvPr id="94" name="Text 80"/>
          <p:cNvSpPr txBox="1"/>
          <p:nvPr/>
        </p:nvSpPr>
        <p:spPr>
          <a:xfrm>
            <a:off x="9269730" y="4562856"/>
            <a:ext cx="9989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Asurans independen</a:t>
            </a:r>
            <a:endParaRPr lang="en-US" sz="690" dirty="0"/>
          </a:p>
        </p:txBody>
      </p:sp>
      <p:sp>
        <p:nvSpPr>
          <p:cNvPr id="95" name="Text 81"/>
          <p:cNvSpPr txBox="1"/>
          <p:nvPr/>
        </p:nvSpPr>
        <p:spPr>
          <a:xfrm>
            <a:off x="8922258" y="4928616"/>
            <a:ext cx="13281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luar unit: Audit Internal &amp; evaluator</a:t>
            </a:r>
            <a:endParaRPr lang="en-US" sz="660" dirty="0"/>
          </a:p>
        </p:txBody>
      </p:sp>
      <p:sp>
        <p:nvSpPr>
          <p:cNvPr id="96" name="Text 82"/>
          <p:cNvSpPr txBox="1"/>
          <p:nvPr/>
        </p:nvSpPr>
        <p:spPr>
          <a:xfrm>
            <a:off x="4206240" y="5413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jalan 90 hari (usulan)</a:t>
            </a:r>
            <a:endParaRPr lang="en-US" sz="850" dirty="0"/>
          </a:p>
        </p:txBody>
      </p:sp>
      <p:sp>
        <p:nvSpPr>
          <p:cNvPr id="97" name="Shape 83"/>
          <p:cNvSpPr/>
          <p:nvPr/>
        </p:nvSpPr>
        <p:spPr>
          <a:xfrm>
            <a:off x="4297680" y="5760720"/>
            <a:ext cx="5916168" cy="914"/>
          </a:xfrm>
          <a:prstGeom prst="line">
            <a:avLst/>
          </a:prstGeom>
          <a:noFill/>
          <a:ln w="25400">
            <a:solidFill>
              <a:srgbClr val="9DBCEB"/>
            </a:solidFill>
            <a:prstDash val="solid"/>
          </a:ln>
        </p:spPr>
      </p:sp>
      <p:sp>
        <p:nvSpPr>
          <p:cNvPr id="98" name="Shape 84"/>
          <p:cNvSpPr/>
          <p:nvPr/>
        </p:nvSpPr>
        <p:spPr>
          <a:xfrm>
            <a:off x="4224528" y="5669280"/>
            <a:ext cx="182880" cy="182880"/>
          </a:xfrm>
          <a:prstGeom prst="ellipse">
            <a:avLst/>
          </a:prstGeom>
          <a:solidFill>
            <a:srgbClr val="0B57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9" name="Text 85"/>
          <p:cNvSpPr txBox="1"/>
          <p:nvPr/>
        </p:nvSpPr>
        <p:spPr>
          <a:xfrm>
            <a:off x="4462272" y="5650992"/>
            <a:ext cx="1181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0–30</a:t>
            </a:r>
            <a:endParaRPr lang="en-US" sz="750" dirty="0"/>
          </a:p>
        </p:txBody>
      </p:sp>
      <p:sp>
        <p:nvSpPr>
          <p:cNvPr id="100" name="Text 86"/>
          <p:cNvSpPr txBox="1"/>
          <p:nvPr/>
        </p:nvSpPr>
        <p:spPr>
          <a:xfrm>
            <a:off x="4206240" y="5925312"/>
            <a:ext cx="1410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Piagam unit, penunjukan kepala &amp; MD, tim inti klaster; master data dan baseline portofolio</a:t>
            </a:r>
            <a:endParaRPr lang="en-US" sz="660" dirty="0"/>
          </a:p>
        </p:txBody>
      </p:sp>
      <p:sp>
        <p:nvSpPr>
          <p:cNvPr id="101" name="Shape 87"/>
          <p:cNvSpPr/>
          <p:nvPr/>
        </p:nvSpPr>
        <p:spPr>
          <a:xfrm>
            <a:off x="5772150" y="5669280"/>
            <a:ext cx="182880" cy="182880"/>
          </a:xfrm>
          <a:prstGeom prst="ellipse">
            <a:avLst/>
          </a:prstGeom>
          <a:solidFill>
            <a:srgbClr val="0B57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2" name="Text 88"/>
          <p:cNvSpPr txBox="1"/>
          <p:nvPr/>
        </p:nvSpPr>
        <p:spPr>
          <a:xfrm>
            <a:off x="6009894" y="5650992"/>
            <a:ext cx="1181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≤45</a:t>
            </a:r>
            <a:endParaRPr lang="en-US" sz="750" dirty="0"/>
          </a:p>
        </p:txBody>
      </p:sp>
      <p:sp>
        <p:nvSpPr>
          <p:cNvPr id="103" name="Text 89"/>
          <p:cNvSpPr txBox="1"/>
          <p:nvPr/>
        </p:nvSpPr>
        <p:spPr>
          <a:xfrm>
            <a:off x="5753862" y="5925312"/>
            <a:ext cx="1410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40 proyek tersahkan dengan identitas 100% dan satu taksonomi klaster</a:t>
            </a:r>
            <a:endParaRPr lang="en-US" sz="660" dirty="0"/>
          </a:p>
        </p:txBody>
      </p:sp>
      <p:sp>
        <p:nvSpPr>
          <p:cNvPr id="104" name="Shape 90"/>
          <p:cNvSpPr/>
          <p:nvPr/>
        </p:nvSpPr>
        <p:spPr>
          <a:xfrm>
            <a:off x="7319772" y="5669280"/>
            <a:ext cx="182880" cy="182880"/>
          </a:xfrm>
          <a:prstGeom prst="ellipse">
            <a:avLst/>
          </a:prstGeom>
          <a:solidFill>
            <a:srgbClr val="0B57C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5" name="Text 91"/>
          <p:cNvSpPr txBox="1"/>
          <p:nvPr/>
        </p:nvSpPr>
        <p:spPr>
          <a:xfrm>
            <a:off x="7557516" y="5650992"/>
            <a:ext cx="1181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45–90</a:t>
            </a:r>
            <a:endParaRPr lang="en-US" sz="750" dirty="0"/>
          </a:p>
        </p:txBody>
      </p:sp>
      <p:sp>
        <p:nvSpPr>
          <p:cNvPr id="106" name="Text 92"/>
          <p:cNvSpPr txBox="1"/>
          <p:nvPr/>
        </p:nvSpPr>
        <p:spPr>
          <a:xfrm>
            <a:off x="7301484" y="5925312"/>
            <a:ext cx="1410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Percontohan DOCK-UP dan MVP AI 6 agen pada 2–3 proyek BUMN</a:t>
            </a:r>
            <a:endParaRPr lang="en-US" sz="660" dirty="0"/>
          </a:p>
        </p:txBody>
      </p:sp>
      <p:sp>
        <p:nvSpPr>
          <p:cNvPr id="107" name="Shape 93"/>
          <p:cNvSpPr/>
          <p:nvPr/>
        </p:nvSpPr>
        <p:spPr>
          <a:xfrm>
            <a:off x="8867394" y="5669280"/>
            <a:ext cx="182880" cy="182880"/>
          </a:xfrm>
          <a:prstGeom prst="ellipse">
            <a:avLst/>
          </a:prstGeom>
          <a:solidFill>
            <a:srgbClr val="0A0A0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8" name="Text 94"/>
          <p:cNvSpPr txBox="1"/>
          <p:nvPr/>
        </p:nvSpPr>
        <p:spPr>
          <a:xfrm>
            <a:off x="9105138" y="5650992"/>
            <a:ext cx="1181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90</a:t>
            </a:r>
            <a:endParaRPr lang="en-US" sz="750" dirty="0"/>
          </a:p>
        </p:txBody>
      </p:sp>
      <p:sp>
        <p:nvSpPr>
          <p:cNvPr id="109" name="Text 95"/>
          <p:cNvSpPr txBox="1"/>
          <p:nvPr/>
        </p:nvSpPr>
        <p:spPr>
          <a:xfrm>
            <a:off x="8849106" y="5925312"/>
            <a:ext cx="14104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desain unit; RASCI disahkan; putuskan permanen atau perbaiki</a:t>
            </a:r>
            <a:endParaRPr lang="en-US" sz="660" dirty="0"/>
          </a:p>
        </p:txBody>
      </p:sp>
      <p:sp>
        <p:nvSpPr>
          <p:cNvPr id="110" name="Shape 96"/>
          <p:cNvSpPr/>
          <p:nvPr/>
        </p:nvSpPr>
        <p:spPr>
          <a:xfrm>
            <a:off x="4206240" y="6455664"/>
            <a:ext cx="6099048" cy="813816"/>
          </a:xfrm>
          <a:prstGeom prst="roundRect">
            <a:avLst>
              <a:gd name="adj" fmla="val 8989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1" name="Text 97"/>
          <p:cNvSpPr txBox="1"/>
          <p:nvPr/>
        </p:nvSpPr>
        <p:spPr>
          <a:xfrm>
            <a:off x="4343400" y="6510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Diukur dengan tiga scorecard</a:t>
            </a:r>
            <a:endParaRPr lang="en-US" sz="800" dirty="0"/>
          </a:p>
        </p:txBody>
      </p:sp>
      <p:sp>
        <p:nvSpPr>
          <p:cNvPr id="112" name="Text 98"/>
          <p:cNvSpPr txBox="1"/>
          <p:nvPr/>
        </p:nvSpPr>
        <p:spPr>
          <a:xfrm>
            <a:off x="4343400" y="6748272"/>
            <a:ext cx="18653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b="1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 per kelompok modal; portofolio Alpha vs Impact terpisah</a:t>
            </a:r>
            <a:endParaRPr lang="en-US" sz="670" dirty="0"/>
          </a:p>
        </p:txBody>
      </p:sp>
      <p:sp>
        <p:nvSpPr>
          <p:cNvPr id="113" name="Text 99"/>
          <p:cNvSpPr txBox="1"/>
          <p:nvPr/>
        </p:nvSpPr>
        <p:spPr>
          <a:xfrm>
            <a:off x="6300216" y="6748272"/>
            <a:ext cx="18653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b="1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lebih kuat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kesehatan keuangan, ketepatan jadwal &amp; biaya proyek</a:t>
            </a:r>
            <a:endParaRPr lang="en-US" sz="670" dirty="0"/>
          </a:p>
        </p:txBody>
      </p:sp>
      <p:sp>
        <p:nvSpPr>
          <p:cNvPr id="114" name="Text 100"/>
          <p:cNvSpPr txBox="1"/>
          <p:nvPr/>
        </p:nvSpPr>
        <p:spPr>
          <a:xfrm>
            <a:off x="8257032" y="6748272"/>
            <a:ext cx="18653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b="1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Kapabilitas industri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TKDN, pemasok lolos G1–G4, impor yang tersubstitusi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74320"/>
            <a:ext cx="9098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Narasi dampak: PDB, pekerjaan, fiskal, devisa, dan sosial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84048" y="731520"/>
            <a:ext cx="9098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ilustratif atas pipeline Rp5.094 T, 2027–2032; angka bruto, belum dikurangi efek pengalihan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738360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3836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2370582" cy="841248"/>
          </a:xfrm>
          <a:prstGeom prst="roundRect">
            <a:avLst>
              <a:gd name="adj" fmla="val 8696"/>
            </a:avLst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" y="1216152"/>
            <a:ext cx="2187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+3,15%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" y="1600200"/>
            <a:ext cx="2187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Puncak level PDB 2030–2031; permanen +1,30% ≈ Rp455 T/tahun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900934" y="1143000"/>
            <a:ext cx="2370582" cy="841248"/>
          </a:xfrm>
          <a:prstGeom prst="roundRect">
            <a:avLst>
              <a:gd name="adj" fmla="val 8696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0662" y="1216152"/>
            <a:ext cx="2187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21,6–24,9 jt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010662" y="1600200"/>
            <a:ext cx="2187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Tahun-kerja selama pembangunan; 1,60–2,31 jt pekerjaan tetap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417820" y="1143000"/>
            <a:ext cx="2370582" cy="841248"/>
          </a:xfrm>
          <a:prstGeom prst="roundRect">
            <a:avLst>
              <a:gd name="adj" fmla="val 8696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27548" y="1216152"/>
            <a:ext cx="2187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Rp386 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527548" y="1600200"/>
            <a:ext cx="2187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Pajak tambahan selama pembangunan; lalu +Rp42 T/tahun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934706" y="1143000"/>
            <a:ext cx="2370582" cy="841248"/>
          </a:xfrm>
          <a:prstGeom prst="roundRect">
            <a:avLst>
              <a:gd name="adj" fmla="val 8696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4434" y="1216152"/>
            <a:ext cx="2187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US$5,8–17,5 miliar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044434" y="1600200"/>
            <a:ext cx="21877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 devisa bila 10–30% barang impor dilokalkan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4048" y="2130552"/>
            <a:ext cx="2370582" cy="2450592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" y="225856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469" y="2362261"/>
            <a:ext cx="176662" cy="17666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50976" y="2258568"/>
            <a:ext cx="1730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PDB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93776" y="2770632"/>
            <a:ext cx="2187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+3,15% → +1,30%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93776" y="3063240"/>
            <a:ext cx="215112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Selama konstruksi pengganda investasi publik naik dari 0,5 ke 1,2. Tambahan PDB kumulatif ≈Rp4.135 T: infrastruktur &gt;½ efek pembangunan, pertahanan ≈⅓; SDA ≈⅕ efek permanen. Setelah selesai, PDB tetap ≈1,30% lebih tinggi; dengan efisiensi investasi, puncak bisa ≈4,1%.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2900934" y="2130552"/>
            <a:ext cx="2370582" cy="2450592"/>
          </a:xfrm>
          <a:prstGeom prst="roundRect">
            <a:avLst>
              <a:gd name="adj" fmla="val 3086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10662" y="225856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355" y="2362261"/>
            <a:ext cx="176662" cy="17666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3467862" y="2258568"/>
            <a:ext cx="1730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Lapangan kerja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3010662" y="2770632"/>
            <a:ext cx="2187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21,6–24,9 jt tahun-kerja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3010662" y="3063240"/>
            <a:ext cx="215112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paling padat karya (≈6.100 tahun-kerja per Rp1 T; SDA 4.650; pertahanan 3.640). Pengangguran terbuka turun dari 4,68% ke ≈3,3% pada 2028–2029, lalu ≈4,3% pada 2033. Rekrutmen lokal dan vokasi menentukan berapa yang jatuh ke pekerja Indonesia.</a:t>
            </a:r>
            <a:endParaRPr lang="en-US" sz="820" dirty="0"/>
          </a:p>
        </p:txBody>
      </p:sp>
      <p:sp>
        <p:nvSpPr>
          <p:cNvPr id="30" name="Shape 26"/>
          <p:cNvSpPr/>
          <p:nvPr/>
        </p:nvSpPr>
        <p:spPr>
          <a:xfrm>
            <a:off x="5417820" y="2130552"/>
            <a:ext cx="2370582" cy="2450592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527548" y="225856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241" y="2362261"/>
            <a:ext cx="176662" cy="176662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5984748" y="2258568"/>
            <a:ext cx="1730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Konsumsi rumah tangga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5527548" y="2770632"/>
            <a:ext cx="2187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Rp164 T upah/tahun (2029)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5527548" y="3063240"/>
            <a:ext cx="215112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≈4,1 juta pekerja di lokasi dan pemasok menerima upah ≈Rp164 T. Rp83–131 T merupakan pendapatan baru yang menambah konsumsi Rp62–110 T (0,21–0,37% PDB), lalu mendorong PDB 0,4–0,8% pada putaran berikutnya.</a:t>
            </a:r>
            <a:endParaRPr lang="en-US" sz="820" dirty="0"/>
          </a:p>
        </p:txBody>
      </p:sp>
      <p:sp>
        <p:nvSpPr>
          <p:cNvPr id="36" name="Shape 31"/>
          <p:cNvSpPr/>
          <p:nvPr/>
        </p:nvSpPr>
        <p:spPr>
          <a:xfrm>
            <a:off x="7934706" y="2130552"/>
            <a:ext cx="2370582" cy="2450592"/>
          </a:xfrm>
          <a:prstGeom prst="roundRect">
            <a:avLst>
              <a:gd name="adj" fmla="val 3086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044434" y="225856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127" y="2362261"/>
            <a:ext cx="176662" cy="176662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501634" y="2258568"/>
            <a:ext cx="1730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Penerimaan negara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8044434" y="2770632"/>
            <a:ext cx="2187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Rp386 T + Rp42 T/tahun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8044434" y="3063240"/>
            <a:ext cx="215112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Pajak tambahan selama pembangunan Rp386 T, lalu ≈Rp42 T per tahun dari kapasitas permanen. NRF menambah manfaat fiskal Rp100 T pada tahun ke-1 dan Rp1.000 T dalam 3 tahun, memulihkan peran SDA yang porsinya turun dari 19,3% ke 7,7%.</a:t>
            </a:r>
            <a:endParaRPr lang="en-US" sz="820" dirty="0"/>
          </a:p>
        </p:txBody>
      </p:sp>
      <p:sp>
        <p:nvSpPr>
          <p:cNvPr id="42" name="Shape 36"/>
          <p:cNvSpPr/>
          <p:nvPr/>
        </p:nvSpPr>
        <p:spPr>
          <a:xfrm>
            <a:off x="384048" y="4727448"/>
            <a:ext cx="2370582" cy="2450592"/>
          </a:xfrm>
          <a:prstGeom prst="roundRect">
            <a:avLst>
              <a:gd name="adj" fmla="val 3086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93776" y="4855464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469" y="4959157"/>
            <a:ext cx="176662" cy="176662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50976" y="4855464"/>
            <a:ext cx="1730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Devisa &amp; neraca pembayaran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493776" y="5367528"/>
            <a:ext cx="2187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US$110 miliar bocor</a:t>
            </a:r>
            <a:endParaRPr lang="en-US" sz="1050" dirty="0"/>
          </a:p>
        </p:txBody>
      </p:sp>
      <p:sp>
        <p:nvSpPr>
          <p:cNvPr id="47" name="Text 40"/>
          <p:cNvSpPr txBox="1"/>
          <p:nvPr/>
        </p:nvSpPr>
        <p:spPr>
          <a:xfrm>
            <a:off x="493776" y="5660136"/>
            <a:ext cx="215112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≈US$18,4 miliar/tahun belanja modal mengalir ke luar negeri (≈14% ekspor SDA 2025); ≈60% dari klaster pertahanan. Mengalihkan 10–30% barang impor ke pemasok DOCK-UP menghemat devisa US$5,8–17,5 miliar dan menambah nilai tambah Rp55–165 T.</a:t>
            </a:r>
            <a:endParaRPr lang="en-US" sz="820" dirty="0"/>
          </a:p>
        </p:txBody>
      </p:sp>
      <p:sp>
        <p:nvSpPr>
          <p:cNvPr id="48" name="Shape 41"/>
          <p:cNvSpPr/>
          <p:nvPr/>
        </p:nvSpPr>
        <p:spPr>
          <a:xfrm>
            <a:off x="2900934" y="4727448"/>
            <a:ext cx="2370582" cy="2450592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3010662" y="4855464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4355" y="4959157"/>
            <a:ext cx="176662" cy="176662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3467862" y="4855464"/>
            <a:ext cx="1730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lokal, UKM &amp; desa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3010662" y="5367528"/>
            <a:ext cx="2187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Ofset 35% → 85%</a:t>
            </a:r>
            <a:endParaRPr lang="en-US" sz="1050" dirty="0"/>
          </a:p>
        </p:txBody>
      </p:sp>
      <p:sp>
        <p:nvSpPr>
          <p:cNvPr id="53" name="Text 45"/>
          <p:cNvSpPr txBox="1"/>
          <p:nvPr/>
        </p:nvSpPr>
        <p:spPr>
          <a:xfrm>
            <a:off x="3010662" y="5660136"/>
            <a:ext cx="215112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wajib UU 16/2012 menjadi pesanan bagi pemasok lokal. Gerbang G1–G4 membawa UKM dari build-to-print ke design-and-build (≈220–660 ribu tahun-kerja). 80.000 KDKMP menyalurkan manfaat sampai desa dengan transaksi tertelusur.</a:t>
            </a:r>
            <a:endParaRPr lang="en-US" sz="820" dirty="0"/>
          </a:p>
        </p:txBody>
      </p:sp>
      <p:sp>
        <p:nvSpPr>
          <p:cNvPr id="54" name="Shape 46"/>
          <p:cNvSpPr/>
          <p:nvPr/>
        </p:nvSpPr>
        <p:spPr>
          <a:xfrm>
            <a:off x="5417820" y="4727448"/>
            <a:ext cx="2370582" cy="2450592"/>
          </a:xfrm>
          <a:prstGeom prst="roundRect">
            <a:avLst>
              <a:gd name="adj" fmla="val 3086"/>
            </a:avLst>
          </a:prstGeom>
          <a:solidFill>
            <a:srgbClr val="E3EDFB"/>
          </a:solidFill>
          <a:ln w="12700">
            <a:solidFill>
              <a:srgbClr val="E3EDFB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5527548" y="4855464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1241" y="4959157"/>
            <a:ext cx="176662" cy="176662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5984748" y="4855464"/>
            <a:ext cx="1730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Pertumbuhan 8%</a:t>
            </a:r>
            <a:endParaRPr lang="en-US" sz="900" dirty="0"/>
          </a:p>
        </p:txBody>
      </p:sp>
      <p:sp>
        <p:nvSpPr>
          <p:cNvPr id="58" name="Text 49"/>
          <p:cNvSpPr txBox="1"/>
          <p:nvPr/>
        </p:nvSpPr>
        <p:spPr>
          <a:xfrm>
            <a:off x="5527548" y="5367528"/>
            <a:ext cx="2187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5,1% → 6,6% → 7,1% → 8%</a:t>
            </a:r>
            <a:endParaRPr lang="en-US" sz="1050" dirty="0"/>
          </a:p>
        </p:txBody>
      </p:sp>
      <p:sp>
        <p:nvSpPr>
          <p:cNvPr id="59" name="Text 50"/>
          <p:cNvSpPr txBox="1"/>
          <p:nvPr/>
        </p:nvSpPr>
        <p:spPr>
          <a:xfrm>
            <a:off x="5527548" y="5660136"/>
            <a:ext cx="215112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pengungkit SDA, termasuk pipeline (+0,69 poin), membawa pertumbuhan 2029 ke ≈6,6%; efisiensi investasi (ICOR 5,6 → 5,1) ke ≈7,1%; sisanya dari reformasi non-SDA. Target investasi ≈33,5% PDB dengan ICOR ≈4,2; AI multi-agen membantu menekan ICOR.</a:t>
            </a:r>
            <a:endParaRPr lang="en-US" sz="820" dirty="0"/>
          </a:p>
        </p:txBody>
      </p:sp>
      <p:sp>
        <p:nvSpPr>
          <p:cNvPr id="60" name="Shape 51"/>
          <p:cNvSpPr/>
          <p:nvPr/>
        </p:nvSpPr>
        <p:spPr>
          <a:xfrm>
            <a:off x="7934706" y="4727448"/>
            <a:ext cx="2370582" cy="2450592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240">
            <a:solidFill>
              <a:srgbClr val="0B57C2"/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8044434" y="4855464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8127" y="4959157"/>
            <a:ext cx="176662" cy="176662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8501634" y="4855464"/>
            <a:ext cx="1730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Inflasi &amp; risiko 2032</a:t>
            </a:r>
            <a:endParaRPr lang="en-US" sz="900" dirty="0"/>
          </a:p>
        </p:txBody>
      </p:sp>
      <p:sp>
        <p:nvSpPr>
          <p:cNvPr id="64" name="Text 54"/>
          <p:cNvSpPr txBox="1"/>
          <p:nvPr/>
        </p:nvSpPr>
        <p:spPr>
          <a:xfrm>
            <a:off x="8044434" y="5367528"/>
            <a:ext cx="2187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+0,1–1,0 poin inflasi</a:t>
            </a:r>
            <a:endParaRPr lang="en-US" sz="1050" dirty="0"/>
          </a:p>
        </p:txBody>
      </p:sp>
      <p:sp>
        <p:nvSpPr>
          <p:cNvPr id="65" name="Text 55"/>
          <p:cNvSpPr txBox="1"/>
          <p:nvPr/>
        </p:nvSpPr>
        <p:spPr>
          <a:xfrm>
            <a:off x="8044434" y="5660136"/>
            <a:ext cx="215112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 Rp1.000 T NRF (≈4% PDB) dibelanjakan dalam setahun, inflasi naik 0,1–1,0 poin. Investasi turun dari ≈Rp977 T (2031) ke Rp378 T (2032), memangkas pertumbuhan ≈1,6 poin. Respons: penyaluran bertahap, pemantau inflasi, pipeline penerus sejak 2030.</a:t>
            </a:r>
            <a:endParaRPr lang="en-US" sz="820" dirty="0"/>
          </a:p>
        </p:txBody>
      </p:sp>
      <p:sp>
        <p:nvSpPr>
          <p:cNvPr id="66" name="Text 56"/>
          <p:cNvSpPr txBox="1"/>
          <p:nvPr/>
        </p:nvSpPr>
        <p:spPr>
          <a:xfrm>
            <a:off x="384048" y="7287768"/>
            <a:ext cx="9921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model ilustratif (kelas D) atas register RKAP pembaruan 15 Okt 2026 (Giant Sea Wall Rp1.200 T; klaster pertahanan Rp2.125 T). Rentang pekerjaan: estimasi turunan-PDB dan bawah-atas. Lokalisasi 10–30% adalah skenario terpisah dan tidak dijumlahkan dengan dampak PDB.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Infografis Danantara: Empat Pilar menjadi Dampak (v4)</dc:title>
  <dc:subject>PptxGenJS Presentation</dc:subject>
  <dc:creator>PptxGenJS</dc:creator>
  <cp:lastModifiedBy>PptxGenJS</cp:lastModifiedBy>
  <cp:revision>1</cp:revision>
  <dcterms:created xsi:type="dcterms:W3CDTF">2026-10-16T13:30:00Z</dcterms:created>
  <dcterms:modified xsi:type="dcterms:W3CDTF">2026-10-16T13:30:00Z</dcterms:modified>
</cp:coreProperties>
</file>