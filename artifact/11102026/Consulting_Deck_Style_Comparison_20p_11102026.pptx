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50a563f-d2b1-2d92-39b7-c20943bfbc0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Firm profiles" id="{bd2b1edd-4bec-ffae-6f32-c69e557f5041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Synthesis" id="{ea6c6057-769f-4ab4-bdcd-5a20e2782deb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time, weeks</c:v>
                </c:pt>
              </c:strCache>
            </c:strRef>
          </c:tx>
          <c:spPr>
            <a:solidFill>
              <a:srgbClr val="BFC5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C5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Import</c:v>
                  </c:pt>
                  <c:pt idx="1">
                    <c:v>Local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4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Import</c:v>
                  </c:pt>
                  <c:pt idx="1">
                    <c:v>Change</c:v>
                  </c:pt>
                  <c:pt idx="2">
                    <c:v>Local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level</c:v>
                </c:pt>
              </c:strCache>
            </c:strRef>
          </c:tx>
          <c:spPr>
            <a:solidFill>
              <a:srgbClr val="7A828C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Import</c:v>
                  </c:pt>
                  <c:pt idx="1">
                    <c:v>Change</c:v>
                  </c:pt>
                  <c:pt idx="2">
                    <c:v>Local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0</c:v>
                </c:pt>
                <c:pt idx="2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Import</c:v>
                  </c:pt>
                  <c:pt idx="1">
                    <c:v>Change</c:v>
                  </c:pt>
                  <c:pt idx="2">
                    <c:v>Local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13</c:v>
                </c:pt>
                <c:pt idx="2">
                  <c:v>0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4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time, weeks</c:v>
                </c:pt>
              </c:strCache>
            </c:strRef>
          </c:tx>
          <c:spPr>
            <a:solidFill>
              <a:srgbClr val="9CC7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C7E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338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Import</c:v>
                  </c:pt>
                  <c:pt idx="1">
                    <c:v>Local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4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seven dots carry each style's approximate accent 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three families, one shared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Dimensions used throughout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matrix. Accent column shows the approximate hex 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Storyline flows per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headlines.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Typography rules from the style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idioms on identical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McKinsey-style profile. Colours are approximate; no logos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BCG-style profile. Colours are approximate; no logos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Bain-style profile. Colours are approximate; no logos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Deloitte-style profile. Colours are approximate; no logos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Accenture-style profile. Colours are approximate; no logos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KPMG-style profile. Colours are approximate; no logos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PwC-style profile. Colours are approximate; no logos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shared DNA and how to use the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Consulting deck styles compared · styles emulated from public conventions, no logos or trademarks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Consulting deck styles compared · illustrative content · no logos or trademarks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consulting deck styles, side by side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McKinsey-, BCG-, Bain-, Deloitte-, Accenture-, KPMG- and PwC-style decks differ in storyline, headline, colour, visuals and density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657600"/>
            <a:ext cx="384048" cy="384048"/>
          </a:xfrm>
          <a:prstGeom prst="ellipse">
            <a:avLst/>
          </a:prstGeom>
          <a:solidFill>
            <a:srgbClr val="29BA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82496" y="3657600"/>
            <a:ext cx="384048" cy="38404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9424" y="3657600"/>
            <a:ext cx="384048" cy="384048"/>
          </a:xfrm>
          <a:prstGeom prst="ellipse">
            <a:avLst/>
          </a:prstGeom>
          <a:solidFill>
            <a:srgbClr val="86BC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3657600"/>
            <a:ext cx="384048" cy="38404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3657600"/>
            <a:ext cx="384048" cy="38404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50208" y="3657600"/>
            <a:ext cx="384048" cy="384048"/>
          </a:xfrm>
          <a:prstGeom prst="ellipse">
            <a:avLst/>
          </a:prstGeom>
          <a:solidFill>
            <a:srgbClr val="D04A0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20-page comparison · October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styles share one grammar but differ in how loudly they argue, and in how much evidence they show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06040" cy="12344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compared across six dimensions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325880"/>
            <a:ext cx="2606040" cy="12344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898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families: strategy, Big Four advisory, tech transformation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325880"/>
            <a:ext cx="2606040" cy="12344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898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constant: one message per slide, sourced and quantified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houses lead with the answer.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BCG and Bain use full-sentence headlines, one message per slide and sparse, chart-led pages; they differ in accent (blue, green, red) and in favourite device (issue tree, 2x2, bridge).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Four decks lead with traceability.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Deloitte, KPMG and PwC show scope, approach, findings and ratings, so tables, legends and roadmaps are normal and detail moves to the appendix.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Accenture-style decks lead with the build.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Journeys, architecture stacks and wave roadmaps turn strategy into something that looks deliverable.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compare each style on six dimensions that a reader notices within seconds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argument is ordered: answer first, or context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554480"/>
            <a:ext cx="384048" cy="38404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length of the slide title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384048" cy="38404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and type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Accent, background, font size and contrast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charts, frameworks and diagrams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108960"/>
            <a:ext cx="384048" cy="38404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and detail per slide; role of the appendix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108960"/>
            <a:ext cx="384048" cy="38404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and decision the style fits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glance: each style has a signature colour, a signature opening and a signature device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822960"/>
                <a:gridCol w="2377440"/>
                <a:gridCol w="21945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McKinsey-style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summary with the answer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tree, 2x2, waterfall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BCG-style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takeaways and a point of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matrix, takeaway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Bain-style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and sized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bridge, 90-day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Deloitte-style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Four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Agenda, scope and 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status, maturity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Accenture-style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transformation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change now and the 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 map, architecture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KPMG-style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Four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Scope, approach, key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 legend, control heat 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PwC-style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Four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and our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callout, takeaways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is the fastest tell: one dominant accent per firm, with greys doing the structural work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1280160"/>
            <a:ext cx="822960" cy="365760"/>
          </a:xfrm>
          <a:prstGeom prst="rect">
            <a:avLst/>
          </a:prstGeom>
          <a:solidFill>
            <a:srgbClr val="051C2C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280160"/>
            <a:ext cx="822960" cy="365760"/>
          </a:xfrm>
          <a:prstGeom prst="rect">
            <a:avLst/>
          </a:prstGeom>
          <a:solidFill>
            <a:srgbClr val="2251FF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280160"/>
            <a:ext cx="822960" cy="365760"/>
          </a:xfrm>
          <a:prstGeom prst="rect">
            <a:avLst/>
          </a:prstGeom>
          <a:solidFill>
            <a:srgbClr val="00A9F4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0" y="1280160"/>
            <a:ext cx="822960" cy="365760"/>
          </a:xfrm>
          <a:prstGeom prst="rect">
            <a:avLst/>
          </a:prstGeom>
          <a:solidFill>
            <a:srgbClr val="E6ECFF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1280160"/>
            <a:ext cx="822960" cy="365760"/>
          </a:xfrm>
          <a:prstGeom prst="rect">
            <a:avLst/>
          </a:prstGeom>
          <a:solidFill>
            <a:srgbClr val="D5D9DE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280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#2251FF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Answer-first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1737360"/>
            <a:ext cx="822960" cy="365760"/>
          </a:xfrm>
          <a:prstGeom prst="rect">
            <a:avLst/>
          </a:prstGeom>
          <a:solidFill>
            <a:srgbClr val="175E54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737360"/>
            <a:ext cx="822960" cy="365760"/>
          </a:xfrm>
          <a:prstGeom prst="rect">
            <a:avLst/>
          </a:prstGeom>
          <a:solidFill>
            <a:srgbClr val="29BA74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737360"/>
            <a:ext cx="822960" cy="365760"/>
          </a:xfrm>
          <a:prstGeom prst="rect">
            <a:avLst/>
          </a:prstGeom>
          <a:solidFill>
            <a:srgbClr val="175E54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737360"/>
            <a:ext cx="822960" cy="365760"/>
          </a:xfrm>
          <a:prstGeom prst="rect">
            <a:avLst/>
          </a:prstGeom>
          <a:solidFill>
            <a:srgbClr val="E3F6EC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737360"/>
            <a:ext cx="822960" cy="365760"/>
          </a:xfrm>
          <a:prstGeom prst="rect">
            <a:avLst/>
          </a:prstGeom>
          <a:solidFill>
            <a:srgbClr val="D5D9DE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737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#29BA74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framework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2194560"/>
            <a:ext cx="822960" cy="365760"/>
          </a:xfrm>
          <a:prstGeom prst="rect">
            <a:avLst/>
          </a:prstGeom>
          <a:solidFill>
            <a:srgbClr val="333333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194560"/>
            <a:ext cx="822960" cy="365760"/>
          </a:xfrm>
          <a:prstGeom prst="rect">
            <a:avLst/>
          </a:prstGeom>
          <a:solidFill>
            <a:srgbClr val="CC0000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2194560"/>
            <a:ext cx="822960" cy="365760"/>
          </a:xfrm>
          <a:prstGeom prst="rect">
            <a:avLst/>
          </a:prstGeom>
          <a:solidFill>
            <a:srgbClr val="CC0000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194560"/>
            <a:ext cx="822960" cy="365760"/>
          </a:xfrm>
          <a:prstGeom prst="rect">
            <a:avLst/>
          </a:prstGeom>
          <a:solidFill>
            <a:srgbClr val="FBE5E5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194560"/>
            <a:ext cx="822960" cy="365760"/>
          </a:xfrm>
          <a:prstGeom prst="rect">
            <a:avLst/>
          </a:prstGeom>
          <a:solidFill>
            <a:srgbClr val="D5D9DE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#CC0000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+ impact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737360" y="2651760"/>
            <a:ext cx="822960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2651760"/>
            <a:ext cx="822960" cy="365760"/>
          </a:xfrm>
          <a:prstGeom prst="rect">
            <a:avLst/>
          </a:prstGeom>
          <a:solidFill>
            <a:srgbClr val="86BC25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2651760"/>
            <a:ext cx="822960" cy="365760"/>
          </a:xfrm>
          <a:prstGeom prst="rect">
            <a:avLst/>
          </a:prstGeom>
          <a:solidFill>
            <a:srgbClr val="53565A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2651760"/>
            <a:ext cx="822960" cy="365760"/>
          </a:xfrm>
          <a:prstGeom prst="rect">
            <a:avLst/>
          </a:prstGeom>
          <a:solidFill>
            <a:srgbClr val="EEF6DC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2651760"/>
            <a:ext cx="822960" cy="365760"/>
          </a:xfrm>
          <a:prstGeom prst="rect">
            <a:avLst/>
          </a:prstGeom>
          <a:solidFill>
            <a:srgbClr val="D5D9DE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#86BC25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Methodical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737360" y="3108960"/>
            <a:ext cx="8229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51760" y="3108960"/>
            <a:ext cx="822960" cy="365760"/>
          </a:xfrm>
          <a:prstGeom prst="rect">
            <a:avLst/>
          </a:prstGeom>
          <a:solidFill>
            <a:srgbClr val="A100FF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3108960"/>
            <a:ext cx="822960" cy="365760"/>
          </a:xfrm>
          <a:prstGeom prst="rect">
            <a:avLst/>
          </a:prstGeom>
          <a:solidFill>
            <a:srgbClr val="7500C0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3108960"/>
            <a:ext cx="822960" cy="365760"/>
          </a:xfrm>
          <a:prstGeom prst="rect">
            <a:avLst/>
          </a:prstGeom>
          <a:solidFill>
            <a:srgbClr val="F1E0FF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3108960"/>
            <a:ext cx="822960" cy="365760"/>
          </a:xfrm>
          <a:prstGeom prst="rect">
            <a:avLst/>
          </a:prstGeom>
          <a:solidFill>
            <a:srgbClr val="D5D9DE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#A100FF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+ architecture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737360" y="3566160"/>
            <a:ext cx="822960" cy="365760"/>
          </a:xfrm>
          <a:prstGeom prst="rect">
            <a:avLst/>
          </a:prstGeom>
          <a:solidFill>
            <a:srgbClr val="00338D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3566160"/>
            <a:ext cx="822960" cy="365760"/>
          </a:xfrm>
          <a:prstGeom prst="rect">
            <a:avLst/>
          </a:prstGeom>
          <a:solidFill>
            <a:srgbClr val="005EB8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66160" y="3566160"/>
            <a:ext cx="822960" cy="365760"/>
          </a:xfrm>
          <a:prstGeom prst="rect">
            <a:avLst/>
          </a:prstGeom>
          <a:solidFill>
            <a:srgbClr val="00A3A1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3566160"/>
            <a:ext cx="822960" cy="365760"/>
          </a:xfrm>
          <a:prstGeom prst="rect">
            <a:avLst/>
          </a:prstGeom>
          <a:solidFill>
            <a:srgbClr val="E6EEF9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94960" y="3566160"/>
            <a:ext cx="822960" cy="365760"/>
          </a:xfrm>
          <a:prstGeom prst="rect">
            <a:avLst/>
          </a:prstGeom>
          <a:solidFill>
            <a:srgbClr val="D5D9DE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#005EB8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22376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risk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737360" y="4023360"/>
            <a:ext cx="822960" cy="365760"/>
          </a:xfrm>
          <a:prstGeom prst="rect">
            <a:avLst/>
          </a:prstGeom>
          <a:solidFill>
            <a:srgbClr val="2D2D2D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51760" y="4023360"/>
            <a:ext cx="822960" cy="365760"/>
          </a:xfrm>
          <a:prstGeom prst="rect">
            <a:avLst/>
          </a:prstGeom>
          <a:solidFill>
            <a:srgbClr val="D04A02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4023360"/>
            <a:ext cx="822960" cy="365760"/>
          </a:xfrm>
          <a:prstGeom prst="rect">
            <a:avLst/>
          </a:prstGeom>
          <a:solidFill>
            <a:srgbClr val="EB8C00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80560" y="4023360"/>
            <a:ext cx="822960" cy="365760"/>
          </a:xfrm>
          <a:prstGeom prst="rect">
            <a:avLst/>
          </a:prstGeom>
          <a:solidFill>
            <a:srgbClr val="FDEBDD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94960" y="4023360"/>
            <a:ext cx="822960" cy="365760"/>
          </a:xfrm>
          <a:prstGeom prst="rect">
            <a:avLst/>
          </a:prstGeom>
          <a:solidFill>
            <a:srgbClr val="D5D9DE"/>
          </a:solidFill>
          <a:ln w="6350">
            <a:solidFill>
              <a:srgbClr val="D5D9D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00800" y="4023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#D04A02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22376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outcomes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Swatches: base · accent · support · tint · grey. Hex values are approximate.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Storylines diverge early: strategy decks conclude first, Big Four decks establish scope first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00200" y="1234440"/>
            <a:ext cx="1417320" cy="384048"/>
          </a:xfrm>
          <a:prstGeom prst="chevron">
            <a:avLst/>
          </a:prstGeom>
          <a:solidFill>
            <a:srgbClr val="2251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123444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43400" y="123444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15000" y="123444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86600" y="123444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099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709928"/>
            <a:ext cx="1417320" cy="384048"/>
          </a:xfrm>
          <a:prstGeom prst="chevron">
            <a:avLst/>
          </a:prstGeom>
          <a:solidFill>
            <a:srgbClr val="29BA74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170992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70992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70992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70992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854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185416"/>
            <a:ext cx="1417320" cy="384048"/>
          </a:xfrm>
          <a:prstGeom prst="chevron">
            <a:avLst/>
          </a:prstGeom>
          <a:solidFill>
            <a:srgbClr val="CC00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2185416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3400" y="2185416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impact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2185416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owners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86600" y="2185416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6609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2660904"/>
            <a:ext cx="1417320" cy="384048"/>
          </a:xfrm>
          <a:prstGeom prst="chevron">
            <a:avLst/>
          </a:prstGeom>
          <a:solidFill>
            <a:srgbClr val="86BC25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1800" y="2660904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2660904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660904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86600" y="2660904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3136392"/>
            <a:ext cx="1417320" cy="384048"/>
          </a:xfrm>
          <a:prstGeom prst="chevron">
            <a:avLst/>
          </a:prstGeom>
          <a:solidFill>
            <a:srgbClr val="A100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1800" y="3136392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43400" y="3136392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3136392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86600" y="3136392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+ value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611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00200" y="3611880"/>
            <a:ext cx="1417320" cy="384048"/>
          </a:xfrm>
          <a:prstGeom prst="chevron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71800" y="361188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361188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361188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3611880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0873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600200" y="4087368"/>
            <a:ext cx="1417320" cy="384048"/>
          </a:xfrm>
          <a:prstGeom prst="chevron">
            <a:avLst/>
          </a:prstGeom>
          <a:solidFill>
            <a:srgbClr val="D04A02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71800" y="408736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view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43400" y="408736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408736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4087368"/>
            <a:ext cx="1417320" cy="384048"/>
          </a:xfrm>
          <a:prstGeom prst="chevron">
            <a:avLst/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there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first step marks where each style starts the argument.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finding gets a different headline voice in each style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84632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headline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Localising bracket supply cuts lead time by more than half within 18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55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Full-sentence 'so what', quantified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supply turns a cost problem into a capability: lead time halves when suppliers are certified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55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with an idea, sentence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falls 54%, worth an estimated $40M a year, if five suppliers qualify by Q2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55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and number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Deloitte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3: lead time for imported brackets is materially above the local 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55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Descriptive, finding-numbered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Reinvent the supply chain with a certified local supplier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55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Forward-looking, active verb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Dependence on a single import source is a high-rated risk; local qualification reduces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55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Measured, risk-rated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 shorter lead times are achievable when local suppliers meet certified standards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55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message with a statistic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537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are illustrative and used only to show headline voice.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and layout rules are close; the differences lie in contrast and in how dividers are treated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005840"/>
                <a:gridCol w="2103120"/>
                <a:gridCol w="24688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Dividers and emphasis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24–28 pt, navy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rules, one highlight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 pt, left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Shaded takeaway box, chevrons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 pt, charcoal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 bar, big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Deloitte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24–28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dividers, light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numbered dividers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28+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with black hero slides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Full-bleed dark statements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 pt, left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White, blue dividers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dividers, thin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24–28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 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White, accent blocks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Colour-block dividers, stat callouts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rules: clean sans-serif, no 3D, no clip-art, source line in small grey text, slide number bottom right.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idioms differ: highlight one bar, bridge the change, or rate the status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McKinsey-style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bar in accent, rest grey; direct labels, no gridlines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25603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29184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Bain-style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current to target; the change in red</a:t>
            </a:r>
            <a:endParaRPr lang="en-US" sz="10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3291840" y="2011680"/>
          <a:ext cx="25603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1264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/ Deloitte-style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tints, darkest for the key series; RAG only for status</a:t>
            </a:r>
            <a:endParaRPr lang="en-US" sz="105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6126480" y="2011680"/>
          <a:ext cx="25603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in weeks, illustrative data. Bain-style bridge: grey import level, red reduction of 13 weeks, local level.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McKinsey-style: the answer comes first and every title is a full sentence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316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Localising bracket supply cuts lead time by more than half within 18 months</a:t>
            </a:r>
            <a:endParaRPr lang="en-US" sz="84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37160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868680" y="2125980"/>
            <a:ext cx="548640" cy="1005840"/>
          </a:xfrm>
          <a:prstGeom prst="rect">
            <a:avLst/>
          </a:prstGeom>
          <a:solidFill>
            <a:srgbClr val="C9CED4"/>
          </a:solidFill>
          <a:ln w="12700">
            <a:solidFill>
              <a:srgbClr val="C9CE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674620"/>
            <a:ext cx="548640" cy="45720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659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5146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683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1683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6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-54%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5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time, weeks (illustrative)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474720" y="2194560"/>
            <a:ext cx="13716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51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local suppliers remove two logistics steps</a:t>
            </a:r>
            <a:endParaRPr lang="en-US" sz="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68046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illustrative. Note: weeks from order to delivery.</a:t>
            </a:r>
            <a:endParaRPr lang="en-US" sz="6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68046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page in this style (same finding, invented data)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2251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437083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Answer-first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1325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states the recommendation, then three MECE arguments; titles alone tell the story.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1762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423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page, deep navy titles, one bright blue accent; one chart, one message; direct labels, no gridlines.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per slide; every number has unit, period and source; at most five bullets, ideally none.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38770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41239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and CEO decisions where the logic must be audited at a glance.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BCG-style: a point of view proven by a memorable framework and a takeaway box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175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supply turns a cost problem into a capability: lead time halves once suppliers are certified</a:t>
            </a:r>
            <a:endParaRPr lang="en-US" sz="7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8882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by source, weeks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548640" cy="1005840"/>
          </a:xfrm>
          <a:prstGeom prst="rect">
            <a:avLst/>
          </a:prstGeom>
          <a:solidFill>
            <a:srgbClr val="BFC5CC"/>
          </a:solidFill>
          <a:ln w="12700">
            <a:solidFill>
              <a:srgbClr val="BFC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651760"/>
            <a:ext cx="548640" cy="457200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431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4917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4553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14553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017520" y="2011680"/>
            <a:ext cx="1828800" cy="1463040"/>
          </a:xfrm>
          <a:prstGeom prst="rect">
            <a:avLst/>
          </a:prstGeom>
          <a:solidFill>
            <a:srgbClr val="E3F6EC"/>
          </a:solidFill>
          <a:ln w="12700">
            <a:solidFill>
              <a:srgbClr val="E3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20665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175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6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286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falls from 24 to 11 weeks</a:t>
            </a:r>
            <a:endParaRPr lang="en-US" sz="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Certification, not price, unlocks it</a:t>
            </a:r>
            <a:endParaRPr lang="en-US" sz="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five largest parts</a:t>
            </a: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8046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</a:t>
            </a:r>
            <a:endParaRPr lang="en-US" sz="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page in this style (same finding, invented data)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29BA74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437083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framework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1325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Hypothesis-driven: key takeaways first, then insights, options and a recommended path.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1762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423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and bright green, greys; 2x2s, archetypes, bubble charts; shaded takeaway panel beside the chart.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holds an insight, proof and a 'so what'; compare options on consistent criteria with Harvey balls.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8770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1239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and growth choices where a big idea must stick.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Bain-style: lead with the result, size the impact and name the owner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falls 54%, worth an estimated $40M a year, if five suppliers qualify by Q2</a:t>
            </a:r>
            <a:endParaRPr lang="en-US" sz="7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4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-54%</a:t>
            </a:r>
            <a:endParaRPr lang="en-US" sz="204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5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versus import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286000" y="2217420"/>
            <a:ext cx="594360" cy="1005840"/>
          </a:xfrm>
          <a:prstGeom prst="rect">
            <a:avLst/>
          </a:prstGeom>
          <a:solidFill>
            <a:srgbClr val="BFC5CC"/>
          </a:solidFill>
          <a:ln w="12700">
            <a:solidFill>
              <a:srgbClr val="BFC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217420"/>
            <a:ext cx="59436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2766060"/>
            <a:ext cx="59436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08026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08026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</a:t>
            </a:r>
            <a:endParaRPr lang="en-US" sz="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62890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85800" y="3383280"/>
            <a:ext cx="4114800" cy="25146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38144"/>
            <a:ext cx="3931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</a:t>
            </a:r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five suppliers by Q2; owner: Head of Supply; KPI: lead time</a:t>
            </a: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page in this style (same finding, invented data)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708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CC00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437083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+ impact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1325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Results-first: summary, diagnostic, sized recommendation, plan with owners and KPIs, risks.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1762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423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charcoal text, a single red accent; bridges and waterfalls; bold number callouts; bottom takeaway bar.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baseline, target and delta; separate facts from judgment; implementation slides name owners and dates.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8770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41239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cost and value-creation work where the number is the story.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Deloitte-style: structure and traceability, with RAG status and maturity models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3: lead time for imported brackets is materially above the local benchmark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685800" y="1988820"/>
            <a:ext cx="1097280" cy="274320"/>
          </a:xfrm>
          <a:prstGeom prst="chevron">
            <a:avLst/>
          </a:prstGeom>
          <a:solidFill>
            <a:srgbClr val="D9DC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737360" y="1988820"/>
            <a:ext cx="1097280" cy="274320"/>
          </a:xfrm>
          <a:prstGeom prst="chevron">
            <a:avLst/>
          </a:prstGeom>
          <a:solidFill>
            <a:srgbClr val="86BC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88920" y="1988820"/>
            <a:ext cx="1097280" cy="274320"/>
          </a:xfrm>
          <a:prstGeom prst="chevron">
            <a:avLst/>
          </a:prstGeom>
          <a:solidFill>
            <a:srgbClr val="D9DC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840480" y="1988820"/>
            <a:ext cx="1097280" cy="274320"/>
          </a:xfrm>
          <a:prstGeom prst="chevron">
            <a:avLst/>
          </a:prstGeom>
          <a:solidFill>
            <a:srgbClr val="D9DC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685800" y="2400300"/>
            <a:ext cx="41148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4380" y="245516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45516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6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45516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85800" y="2665476"/>
            <a:ext cx="41148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" y="27203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24 weeks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286000" y="2729484"/>
            <a:ext cx="100584" cy="100584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72034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6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7203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local sources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85800" y="2930652"/>
            <a:ext cx="4114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" y="298551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import source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286000" y="2994660"/>
            <a:ext cx="100584" cy="1005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23160" y="298551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6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298551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second supplier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85800" y="3195828"/>
            <a:ext cx="41148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" y="325069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records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286000" y="3259836"/>
            <a:ext cx="100584" cy="10058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23160" y="32506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600" dirty="0"/>
          </a:p>
        </p:txBody>
      </p:sp>
      <p:sp>
        <p:nvSpPr>
          <p:cNvPr id="27" name="Text 25"/>
          <p:cNvSpPr txBox="1"/>
          <p:nvPr/>
        </p:nvSpPr>
        <p:spPr>
          <a:xfrm>
            <a:off x="2971800" y="325069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</a:t>
            </a:r>
            <a:endParaRPr lang="en-US" sz="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68046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analysis. Confidential.</a:t>
            </a:r>
            <a:endParaRPr lang="en-US" sz="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page in this style (same finding, invented data)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3708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4F7A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Four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437083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Methodical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1325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approach, findings, recommendations, roadmap, governance; scope and assumptions are shown.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21762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2423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and white with vivid green; dark section dividers; chevron processes, RACI, heat maps, clean tables.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finding to evidence and a recommendation; define RAG and maturity legends; detail goes to the appendix.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38770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349240" y="41239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committees and programmes that need methodical, auditable detail.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Accenture-style: a bold vision made concrete with architecture, journeys and waves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25880"/>
            <a:ext cx="2377440" cy="257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Reinvent the supply chain with a </a:t>
            </a:r>
            <a:pPr indent="0" marL="0">
              <a:buNone/>
            </a:pPr>
            <a:r>
              <a:rPr lang="en-US" sz="108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local supplier platform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import dependence to a supplier base ready for production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063240" y="1645920"/>
            <a:ext cx="1691640" cy="434340"/>
          </a:xfrm>
          <a:prstGeom prst="roundRect">
            <a:avLst>
              <a:gd name="adj" fmla="val 12632"/>
            </a:avLst>
          </a:prstGeom>
          <a:solidFill>
            <a:srgbClr val="A10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demand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063240" y="2171700"/>
            <a:ext cx="1691640" cy="434340"/>
          </a:xfrm>
          <a:prstGeom prst="roundRect">
            <a:avLst>
              <a:gd name="adj" fmla="val 12632"/>
            </a:avLst>
          </a:prstGeom>
          <a:solidFill>
            <a:srgbClr val="B84D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platform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063240" y="2697480"/>
            <a:ext cx="1691640" cy="434340"/>
          </a:xfrm>
          <a:prstGeom prst="roundRect">
            <a:avLst>
              <a:gd name="adj" fmla="val 12632"/>
            </a:avLst>
          </a:prstGeom>
          <a:solidFill>
            <a:srgbClr val="D19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0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data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063240" y="3223260"/>
            <a:ext cx="1691640" cy="434340"/>
          </a:xfrm>
          <a:prstGeom prst="roundRect">
            <a:avLst>
              <a:gd name="adj" fmla="val 12632"/>
            </a:avLst>
          </a:prstGeom>
          <a:solidFill>
            <a:srgbClr val="ECD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0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6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703320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· Wave 2 · Wave 3</a:t>
            </a:r>
            <a:endParaRPr lang="en-US" sz="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page in this style (same finding, invented data)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708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A100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transformation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437083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+ architecture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325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now, vision, capabilities, architecture, journeys, wave roadmap, value case.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1762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423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white and purple; hero statements in large type; layered stacks, journey maps, capability heat maps.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it looks like; tie every technology element to an outcome and metric; plan in waves with dependencies.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8770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41239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and technology transformations that move from strategy to delivery.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KPMG-style: measured findings with ratings, controls and a phased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Dependence on a single import source is a high-rated risk; local qualification reduces it</a:t>
            </a:r>
            <a:endParaRPr lang="en-US" sz="78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55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are rated High, Medium or Low against the defined scale.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" y="2226564"/>
            <a:ext cx="1508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226564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6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226564"/>
            <a:ext cx="1783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411480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" y="2546604"/>
            <a:ext cx="1508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import source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331720" y="2532888"/>
            <a:ext cx="457200" cy="155448"/>
          </a:xfrm>
          <a:prstGeom prst="roundRect">
            <a:avLst>
              <a:gd name="adj" fmla="val 29412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546604"/>
            <a:ext cx="1783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two local suppliers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685800" y="2788920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4380" y="2866644"/>
            <a:ext cx="1508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lead time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331720" y="2852928"/>
            <a:ext cx="457200" cy="155448"/>
          </a:xfrm>
          <a:prstGeom prst="roundRect">
            <a:avLst>
              <a:gd name="adj" fmla="val 29412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866644"/>
            <a:ext cx="1783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gates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85800" y="3108960"/>
            <a:ext cx="4114800" cy="27432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" y="3186684"/>
            <a:ext cx="1508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records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331720" y="3172968"/>
            <a:ext cx="457200" cy="155448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6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186684"/>
            <a:ext cx="1783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controls</a:t>
            </a:r>
            <a:endParaRPr lang="en-US" sz="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68046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analysis. Assumes data as provided; ratings are indicative.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page in this style (same finding, invented data)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3708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5E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Four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437083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risk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1325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Situation, scope and approach, key findings, implications, recommendations, roadmap, governance.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1762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423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anchor with blue tints; blue dividers with large numerals; tables, maturity and control assessments.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rating scales in a legend; state assumptions and limitations; each recommendation maps to a finding.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38770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41239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audit committee and risk or compliance audiences.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PwC-style: practical outcomes, statistic callouts and takeaways boxes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shorter lead times are achievable when local suppliers meet certified standards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783080" cy="1508760"/>
          </a:xfrm>
          <a:prstGeom prst="rect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665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lead time is 24 weeks</a:t>
            </a:r>
            <a:endParaRPr lang="en-US" sz="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local supply needs 11</a:t>
            </a:r>
            <a:endParaRPr lang="en-US" sz="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win: five priority parts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6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76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6746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lead time with certified local suppliers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697480" y="3108960"/>
            <a:ext cx="662940" cy="27432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406140" y="3108960"/>
            <a:ext cx="662940" cy="27432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114800" y="3108960"/>
            <a:ext cx="662940" cy="27432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8046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survey and team analysis</a:t>
            </a:r>
            <a:endParaRPr lang="en-US" sz="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page in this style (same finding, invented data)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D04A02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Four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437083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E5E8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outcomes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1325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15727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Challenge, our view, what it means, what to do, how to get there; benchmarks and surveys back claims.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1762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4231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with orange and coral accents; large stat callouts in accent colour; colour-block dividers; flat icons.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section with a takeaways box (three bullets max); cite source and sample size; concise phrases.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8770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1239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and deals work where benchmarks and a clear next step persuade.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Scorecard: strategy styles score high on impact and sparseness, Big Four styles on traceability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/ 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boldness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per slide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●●●●●</a:t>
                      </a:r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●●●●●</a:t>
                      </a:r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Deloitte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A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A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A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●●●●●</a:t>
                      </a:r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A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A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FA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●●●●●</a:t>
                      </a:r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●●●●●</a:t>
                      </a:r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●●●●●</a:t>
                      </a:r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●●●●</a:t>
                      </a:r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5D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(1–5 dots) are our qualitative reading of style conventions, not measured data. Text per slide: more dots, more text.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map: the styles spread along two axes, concept versus evidence and sparse versus detailed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97280" y="1234440"/>
            <a:ext cx="7223760" cy="2834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234440"/>
            <a:ext cx="0" cy="2834640"/>
          </a:xfrm>
          <a:prstGeom prst="line">
            <a:avLst/>
          </a:prstGeom>
          <a:noFill/>
          <a:ln w="12700">
            <a:solidFill>
              <a:srgbClr val="D5D9D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97280" y="2651760"/>
            <a:ext cx="722376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097280" y="4123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 and impact-led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 and delivery-led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2344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8404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5396" y="3346704"/>
            <a:ext cx="310896" cy="310896"/>
          </a:xfrm>
          <a:prstGeom prst="ellipse">
            <a:avLst/>
          </a:prstGeom>
          <a:solidFill>
            <a:srgbClr val="2251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09444" y="3374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92247" y="2978201"/>
            <a:ext cx="310896" cy="310896"/>
          </a:xfrm>
          <a:prstGeom prst="ellipse">
            <a:avLst/>
          </a:prstGeom>
          <a:solidFill>
            <a:srgbClr val="29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76295" y="300563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3573475"/>
            <a:ext cx="310896" cy="310896"/>
          </a:xfrm>
          <a:prstGeom prst="ellipse">
            <a:avLst/>
          </a:prstGeom>
          <a:solidFill>
            <a:srgbClr val="CC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93008" y="360090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65315" y="1645920"/>
            <a:ext cx="310896" cy="310896"/>
          </a:xfrm>
          <a:prstGeom prst="ellipse">
            <a:avLst/>
          </a:prstGeom>
          <a:solidFill>
            <a:srgbClr val="86BC2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49363" y="1673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3119933"/>
            <a:ext cx="310896" cy="310896"/>
          </a:xfrm>
          <a:prstGeom prst="ellipse">
            <a:avLst/>
          </a:prstGeom>
          <a:solidFill>
            <a:srgbClr val="A100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04888" y="3147365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7691" y="1929384"/>
            <a:ext cx="310896" cy="310896"/>
          </a:xfrm>
          <a:prstGeom prst="ellipse">
            <a:avLst/>
          </a:prstGeom>
          <a:solidFill>
            <a:srgbClr val="005E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7259" y="1956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31613" y="2496312"/>
            <a:ext cx="310896" cy="310896"/>
          </a:xfrm>
          <a:prstGeom prst="ellipse">
            <a:avLst/>
          </a:prstGeom>
          <a:solidFill>
            <a:srgbClr val="D04A0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15661" y="2523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positions based on documented style conventions.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style by audience and decision: each situation has a best fit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audience needs…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toward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fast decision from a CEO or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5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Answer-first titles let them read only the headlines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memorable idea for a strategic 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9B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Frameworks and takeaway boxes make the logic stick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sized business case with owners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 and big numbers put the value on one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Audit-ready findings and a controls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legends and finding-to-recommendation mapping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programme plan with status and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Deloitte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RAG, maturity and RACI layouts show detail cleanly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concrete digital target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10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stacks and journeys show what it looks like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Persuasion with benchmarks and next 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04A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callouts and takeaways boxes carry the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is normal: many teams use an answer-first spine with Big Four-style findings tables in the appendix.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all seven share, and how to apply a style with the skills in this folder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1089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DNA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per slide, with a full-sentence title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carries unit, period and source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accent colour; greys for structure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sans-serif, no 3D or clip-art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moves to the appendix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apply a style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828800"/>
            <a:ext cx="365760" cy="3657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style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075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choosing guide on page 19.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2606040"/>
            <a:ext cx="365760" cy="3657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587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its skill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folder from consulting-deck-skills into ~/.claude/skills/.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3383280"/>
            <a:ext cx="365760" cy="3657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titles first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630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story as headlines, then build visuals and check sources.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are emulated from public conventions; colours are approximate and no firm logos or trademarks are used.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yleCompare">
  <a:themeElements>
    <a:clrScheme name="StyleCompare">
      <a:dk1>
        <a:srgbClr val="1A1A1A"/>
      </a:dk1>
      <a:lt1>
        <a:srgbClr val="FFFFFF"/>
      </a:lt1>
      <a:dk2>
        <a:srgbClr val="3A3F47"/>
      </a:dk2>
      <a:lt2>
        <a:srgbClr val="F2F4F7"/>
      </a:lt2>
      <a:accent1>
        <a:srgbClr val="2251FF"/>
      </a:accent1>
      <a:accent2>
        <a:srgbClr val="29BA74"/>
      </a:accent2>
      <a:accent3>
        <a:srgbClr val="CC0000"/>
      </a:accent3>
      <a:accent4>
        <a:srgbClr val="86BC25"/>
      </a:accent4>
      <a:accent5>
        <a:srgbClr val="A100FF"/>
      </a:accent5>
      <a:accent6>
        <a:srgbClr val="00338D"/>
      </a:accent6>
      <a:hlink>
        <a:srgbClr val="2251FF"/>
      </a:hlink>
      <a:folHlink>
        <a:srgbClr val="7500C0"/>
      </a:folHlink>
    </a:clrScheme>
    <a:fontScheme name="StyleCompa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deck styles compared</dc:title>
  <dc:subject>PptxGenJS Presentation</dc:subject>
  <dc:creator>Tim Kajian</dc:creator>
  <cp:lastModifiedBy>Tim Kajian</cp:lastModifiedBy>
  <cp:revision>1</cp:revision>
  <dcterms:created xsi:type="dcterms:W3CDTF">2026-10-11T04:24:32Z</dcterms:created>
  <dcterms:modified xsi:type="dcterms:W3CDTF">2026-10-11T04:24:32Z</dcterms:modified>
</cp:coreProperties>
</file>