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Halaman 1: arsitektur hibrida. Odoo Community + OCA menangani akuntansi, persediaan, pembelian, dan kasir; Django + Next.js menangani kebutuhan khas koperasi; lapisan sinkron dan SSO menyatukan keduanya.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Halaman 2: pemetaan 16 epik PRD ke Odoo, Django, atau hibrida; peluncuran per tingkat koperasi; perbandingan dengan opsi kustom penuh; risiko dan mitigasi.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 1"/>
          <p:cNvSpPr/>
          <p:nvPr/>
        </p:nvSpPr>
        <p:spPr>
          <a:xfrm>
            <a:off x="0" y="0"/>
            <a:ext cx="10689336" cy="642777"/>
          </a:xfrm>
          <a:prstGeom prst="rect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235165" y="95682"/>
            <a:ext cx="10216896" cy="29260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Arsitektur hibrida: Odoo untuk ERP dasar, Django + Next.js untuk yang khas KDKMP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235165" y="433754"/>
            <a:ext cx="6600651" cy="16093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880" b="0" i="0">
                <a:solidFill>
                  <a:srgbClr val="9CC7EF"/>
                </a:solidFill>
                <a:latin typeface="Arial"/>
              </a:rPr>
              <a:t>Beli yang sudah standar, bangun yang membedakan koperasi, dan satukan keduanya lewat API, event, dan SSO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984778" y="233729"/>
            <a:ext cx="469392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1000" b="1" i="0">
                <a:solidFill>
                  <a:srgbClr val="9CC7EF"/>
                </a:solidFill>
                <a:latin typeface="Arial"/>
              </a:rPr>
              <a:t>1 / 2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8737732" y="448385"/>
            <a:ext cx="1716438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720" b="0" i="0">
                <a:solidFill>
                  <a:srgbClr val="9CC7EF"/>
                </a:solidFill>
                <a:latin typeface="Arial"/>
              </a:rPr>
              <a:t>Opsi hibrida KDKMP · 12 Okt 2026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235165" y="7379171"/>
            <a:ext cx="8565605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6B7280"/>
                </a:solidFill>
                <a:latin typeface="Arial"/>
              </a:rPr>
              <a:t>Draf untuk diskusi. Turunan dari Arsitektur_Sistem_KDKMP_Berbasis_Riset_12102026 dan PRD (E1–E16). Pembagian modul, lisensi, dan perkiraan bersifat usulan dan perlu diuji dalam percontohan.</a:t>
            </a:r>
          </a:p>
        </p:txBody>
      </p:sp>
      <p:sp>
        <p:nvSpPr>
          <p:cNvPr id="8" name="Box 7"/>
          <p:cNvSpPr/>
          <p:nvPr/>
        </p:nvSpPr>
        <p:spPr>
          <a:xfrm>
            <a:off x="235165" y="756208"/>
            <a:ext cx="3335072" cy="453725"/>
          </a:xfrm>
          <a:prstGeom prst="roundRect">
            <a:avLst>
              <a:gd name="adj" fmla="val 13704"/>
            </a:avLst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 8"/>
          <p:cNvSpPr txBox="1"/>
          <p:nvPr/>
        </p:nvSpPr>
        <p:spPr>
          <a:xfrm>
            <a:off x="363437" y="819000"/>
            <a:ext cx="405993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BELI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910731" y="845518"/>
            <a:ext cx="832030" cy="13898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60" b="0" i="0">
                <a:solidFill>
                  <a:srgbClr val="FFFFFF"/>
                </a:solidFill>
                <a:latin typeface="Arial"/>
              </a:rPr>
              <a:t>· yang standar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363437" y="1045543"/>
            <a:ext cx="1853379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FFFFFF"/>
                </a:solidFill>
                <a:latin typeface="Arial"/>
              </a:rPr>
              <a:t>Akuntansi, stok, pembelian, kasir: Odoo</a:t>
            </a:r>
          </a:p>
        </p:txBody>
      </p:sp>
      <p:sp>
        <p:nvSpPr>
          <p:cNvPr id="12" name="Box 11"/>
          <p:cNvSpPr/>
          <p:nvPr/>
        </p:nvSpPr>
        <p:spPr>
          <a:xfrm>
            <a:off x="3677131" y="756208"/>
            <a:ext cx="3335072" cy="453725"/>
          </a:xfrm>
          <a:prstGeom prst="roundRect">
            <a:avLst>
              <a:gd name="adj" fmla="val 1370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 12"/>
          <p:cNvSpPr txBox="1"/>
          <p:nvPr/>
        </p:nvSpPr>
        <p:spPr>
          <a:xfrm>
            <a:off x="3805403" y="819000"/>
            <a:ext cx="572414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BANGUN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626344" y="845518"/>
            <a:ext cx="1157264" cy="13898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60" b="0" i="0">
                <a:solidFill>
                  <a:srgbClr val="FFFFFF"/>
                </a:solidFill>
                <a:latin typeface="Arial"/>
              </a:rPr>
              <a:t>· yang khas koperasi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3805403" y="1045543"/>
            <a:ext cx="3222784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FFFFFF"/>
                </a:solidFill>
                <a:latin typeface="Arial"/>
              </a:rPr>
              <a:t>Anggota &amp; RAT, subsidi, offtake, SHU, simpan pinjam: Django + Next.js</a:t>
            </a:r>
          </a:p>
        </p:txBody>
      </p:sp>
      <p:sp>
        <p:nvSpPr>
          <p:cNvPr id="16" name="Box 15"/>
          <p:cNvSpPr/>
          <p:nvPr/>
        </p:nvSpPr>
        <p:spPr>
          <a:xfrm>
            <a:off x="7119097" y="756208"/>
            <a:ext cx="3335072" cy="453725"/>
          </a:xfrm>
          <a:prstGeom prst="roundRect">
            <a:avLst>
              <a:gd name="adj" fmla="val 13704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 16"/>
          <p:cNvSpPr txBox="1"/>
          <p:nvPr/>
        </p:nvSpPr>
        <p:spPr>
          <a:xfrm>
            <a:off x="7247369" y="819000"/>
            <a:ext cx="655624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SATUKAN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8205134" y="845518"/>
            <a:ext cx="1157264" cy="13898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60" b="0" i="0">
                <a:solidFill>
                  <a:srgbClr val="FFFFFF"/>
                </a:solidFill>
                <a:latin typeface="Arial"/>
              </a:rPr>
              <a:t>· lewat kontrak data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7247369" y="1045543"/>
            <a:ext cx="2948903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FFFFFF"/>
                </a:solidFill>
                <a:latin typeface="Arial"/>
              </a:rPr>
              <a:t>JSON-RPC, event, ID bersama, SSO; satu pemilik data per entitas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235165" y="1329537"/>
            <a:ext cx="1182624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Kanal pengguna</a:t>
            </a:r>
          </a:p>
        </p:txBody>
      </p:sp>
      <p:sp>
        <p:nvSpPr>
          <p:cNvPr id="21" name="Box 20"/>
          <p:cNvSpPr/>
          <p:nvPr/>
        </p:nvSpPr>
        <p:spPr>
          <a:xfrm>
            <a:off x="235165" y="1625848"/>
            <a:ext cx="1624779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 21"/>
          <p:cNvSpPr txBox="1"/>
          <p:nvPr/>
        </p:nvSpPr>
        <p:spPr>
          <a:xfrm>
            <a:off x="351635" y="1718569"/>
            <a:ext cx="1391838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Next.js · Aplikasi Anggota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421849" y="1897069"/>
            <a:ext cx="1251411" cy="10789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6B7280"/>
                </a:solidFill>
                <a:latin typeface="Arial"/>
              </a:rPr>
              <a:t>kartu QR, simpanan, SHU, RAT</a:t>
            </a:r>
          </a:p>
        </p:txBody>
      </p:sp>
      <p:sp>
        <p:nvSpPr>
          <p:cNvPr id="24" name="Box 23"/>
          <p:cNvSpPr/>
          <p:nvPr/>
        </p:nvSpPr>
        <p:spPr>
          <a:xfrm>
            <a:off x="1958286" y="1625848"/>
            <a:ext cx="1624779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 24"/>
          <p:cNvSpPr txBox="1"/>
          <p:nvPr/>
        </p:nvSpPr>
        <p:spPr>
          <a:xfrm>
            <a:off x="2024037" y="1718569"/>
            <a:ext cx="1493276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Next.js · Pengurus &amp; Pembina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1976647" y="1897069"/>
            <a:ext cx="1588056" cy="10789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6B7280"/>
                </a:solidFill>
                <a:latin typeface="Arial"/>
              </a:rPr>
              <a:t>persetujuan, dasbor, peringatan dini</a:t>
            </a:r>
          </a:p>
        </p:txBody>
      </p:sp>
      <p:sp>
        <p:nvSpPr>
          <p:cNvPr id="27" name="Box 26"/>
          <p:cNvSpPr/>
          <p:nvPr/>
        </p:nvSpPr>
        <p:spPr>
          <a:xfrm>
            <a:off x="3681407" y="1625848"/>
            <a:ext cx="1624779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 27"/>
          <p:cNvSpPr txBox="1"/>
          <p:nvPr/>
        </p:nvSpPr>
        <p:spPr>
          <a:xfrm>
            <a:off x="3747158" y="1718569"/>
            <a:ext cx="1493276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Next.js · Offtake &amp; Operator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3847050" y="1897069"/>
            <a:ext cx="1293491" cy="10789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6B7280"/>
                </a:solidFill>
                <a:latin typeface="Arial"/>
              </a:rPr>
              <a:t>timbang hasil, konsol Agrinas</a:t>
            </a:r>
          </a:p>
        </p:txBody>
      </p:sp>
      <p:sp>
        <p:nvSpPr>
          <p:cNvPr id="30" name="Box 29"/>
          <p:cNvSpPr/>
          <p:nvPr/>
        </p:nvSpPr>
        <p:spPr>
          <a:xfrm>
            <a:off x="5404528" y="1625848"/>
            <a:ext cx="1624779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 30"/>
          <p:cNvSpPr txBox="1"/>
          <p:nvPr/>
        </p:nvSpPr>
        <p:spPr>
          <a:xfrm>
            <a:off x="5597076" y="1718569"/>
            <a:ext cx="1239682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Next.js · Portal Publik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5612252" y="1897069"/>
            <a:ext cx="1209330" cy="10789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6B7280"/>
                </a:solidFill>
                <a:latin typeface="Arial"/>
              </a:rPr>
              <a:t>kinerja per desa, pengaduan</a:t>
            </a:r>
          </a:p>
        </p:txBody>
      </p:sp>
      <p:sp>
        <p:nvSpPr>
          <p:cNvPr id="33" name="Box 32"/>
          <p:cNvSpPr/>
          <p:nvPr/>
        </p:nvSpPr>
        <p:spPr>
          <a:xfrm>
            <a:off x="7127649" y="1625848"/>
            <a:ext cx="1624779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1270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Text 33"/>
          <p:cNvSpPr txBox="1"/>
          <p:nvPr/>
        </p:nvSpPr>
        <p:spPr>
          <a:xfrm>
            <a:off x="7446994" y="1718569"/>
            <a:ext cx="986088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714B67"/>
                </a:solidFill>
                <a:latin typeface="Arial"/>
              </a:rPr>
              <a:t>Odoo POS (offline)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7188091" y="1897069"/>
            <a:ext cx="1503895" cy="10789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6B7280"/>
                </a:solidFill>
                <a:latin typeface="Arial"/>
              </a:rPr>
              <a:t>kasir gerai sembako, pupuk, apotek</a:t>
            </a:r>
          </a:p>
        </p:txBody>
      </p:sp>
      <p:sp>
        <p:nvSpPr>
          <p:cNvPr id="36" name="Box 35"/>
          <p:cNvSpPr/>
          <p:nvPr/>
        </p:nvSpPr>
        <p:spPr>
          <a:xfrm>
            <a:off x="8850770" y="1625848"/>
            <a:ext cx="1624779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1270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Text 36"/>
          <p:cNvSpPr txBox="1"/>
          <p:nvPr/>
        </p:nvSpPr>
        <p:spPr>
          <a:xfrm>
            <a:off x="9322271" y="1718569"/>
            <a:ext cx="681776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714B67"/>
                </a:solidFill>
                <a:latin typeface="Arial"/>
              </a:rPr>
              <a:t>Odoo Backend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8953292" y="1897069"/>
            <a:ext cx="1419734" cy="10789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6B7280"/>
                </a:solidFill>
                <a:latin typeface="Arial"/>
              </a:rPr>
              <a:t>staf: akuntansi, stok, pembelian</a:t>
            </a:r>
          </a:p>
        </p:txBody>
      </p:sp>
      <p:sp>
        <p:nvSpPr>
          <p:cNvPr id="39" name="Box 38"/>
          <p:cNvSpPr/>
          <p:nvPr/>
        </p:nvSpPr>
        <p:spPr>
          <a:xfrm>
            <a:off x="235165" y="2230815"/>
            <a:ext cx="3848160" cy="3138266"/>
          </a:xfrm>
          <a:prstGeom prst="roundRect">
            <a:avLst>
              <a:gd name="adj" fmla="val 1981"/>
            </a:avLst>
          </a:prstGeom>
          <a:solidFill>
            <a:srgbClr val="F3ECF1"/>
          </a:solidFill>
          <a:ln w="1524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Text 39"/>
          <p:cNvSpPr txBox="1"/>
          <p:nvPr/>
        </p:nvSpPr>
        <p:spPr>
          <a:xfrm>
            <a:off x="363437" y="2252807"/>
            <a:ext cx="1341120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714B67"/>
                </a:solidFill>
                <a:latin typeface="Arial"/>
              </a:rPr>
              <a:t>Odoo · ERP dasar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363437" y="2453006"/>
            <a:ext cx="2769168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Community + modul OCA (LGPL v3) · satu database per koperasi</a:t>
            </a:r>
          </a:p>
        </p:txBody>
      </p:sp>
      <p:sp>
        <p:nvSpPr>
          <p:cNvPr id="42" name="Box 41"/>
          <p:cNvSpPr/>
          <p:nvPr/>
        </p:nvSpPr>
        <p:spPr>
          <a:xfrm>
            <a:off x="363437" y="2752600"/>
            <a:ext cx="1753051" cy="499097"/>
          </a:xfrm>
          <a:prstGeom prst="roundRect">
            <a:avLst>
              <a:gd name="adj" fmla="val 12458"/>
            </a:avLst>
          </a:prstGeom>
          <a:solidFill>
            <a:srgbClr val="FFFFFF"/>
          </a:solidFill>
          <a:ln w="762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Text 42"/>
          <p:cNvSpPr txBox="1"/>
          <p:nvPr/>
        </p:nvSpPr>
        <p:spPr>
          <a:xfrm>
            <a:off x="448952" y="2809585"/>
            <a:ext cx="1238097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714B67"/>
                </a:solidFill>
                <a:latin typeface="Arial"/>
              </a:rPr>
              <a:t>Akuntansi / Invoicing</a:t>
            </a:r>
          </a:p>
        </p:txBody>
      </p:sp>
      <p:sp>
        <p:nvSpPr>
          <p:cNvPr id="44" name="Text 43"/>
          <p:cNvSpPr txBox="1"/>
          <p:nvPr/>
        </p:nvSpPr>
        <p:spPr>
          <a:xfrm>
            <a:off x="448952" y="2972936"/>
            <a:ext cx="1293491" cy="2247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l10n_id + bagan akun koperasi</a:t>
            </a:r>
          </a:p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OCA laporan keuangan · E7</a:t>
            </a:r>
          </a:p>
        </p:txBody>
      </p:sp>
      <p:sp>
        <p:nvSpPr>
          <p:cNvPr id="45" name="Box 44"/>
          <p:cNvSpPr/>
          <p:nvPr/>
        </p:nvSpPr>
        <p:spPr>
          <a:xfrm>
            <a:off x="2202003" y="2752600"/>
            <a:ext cx="1753051" cy="499097"/>
          </a:xfrm>
          <a:prstGeom prst="roundRect">
            <a:avLst>
              <a:gd name="adj" fmla="val 12458"/>
            </a:avLst>
          </a:prstGeom>
          <a:solidFill>
            <a:srgbClr val="FFFFFF"/>
          </a:solidFill>
          <a:ln w="762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Text 45"/>
          <p:cNvSpPr txBox="1"/>
          <p:nvPr/>
        </p:nvSpPr>
        <p:spPr>
          <a:xfrm>
            <a:off x="2287517" y="2809585"/>
            <a:ext cx="627888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714B67"/>
                </a:solidFill>
                <a:latin typeface="Arial"/>
              </a:rPr>
              <a:t>Persediaan</a:t>
            </a:r>
          </a:p>
        </p:txBody>
      </p:sp>
      <p:sp>
        <p:nvSpPr>
          <p:cNvPr id="47" name="Text 46"/>
          <p:cNvSpPr txBox="1"/>
          <p:nvPr/>
        </p:nvSpPr>
        <p:spPr>
          <a:xfrm>
            <a:off x="2287517" y="2972936"/>
            <a:ext cx="1167249" cy="2247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kartu stok, opname, gudang</a:t>
            </a:r>
          </a:p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koperasi · E4</a:t>
            </a:r>
          </a:p>
        </p:txBody>
      </p:sp>
      <p:sp>
        <p:nvSpPr>
          <p:cNvPr id="48" name="Box 47"/>
          <p:cNvSpPr/>
          <p:nvPr/>
        </p:nvSpPr>
        <p:spPr>
          <a:xfrm>
            <a:off x="363437" y="3410501"/>
            <a:ext cx="1753051" cy="499097"/>
          </a:xfrm>
          <a:prstGeom prst="roundRect">
            <a:avLst>
              <a:gd name="adj" fmla="val 12458"/>
            </a:avLst>
          </a:prstGeom>
          <a:solidFill>
            <a:srgbClr val="FFFFFF"/>
          </a:solidFill>
          <a:ln w="762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9" name="Text 48"/>
          <p:cNvSpPr txBox="1"/>
          <p:nvPr/>
        </p:nvSpPr>
        <p:spPr>
          <a:xfrm>
            <a:off x="448952" y="3467487"/>
            <a:ext cx="572414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714B67"/>
                </a:solidFill>
                <a:latin typeface="Arial"/>
              </a:rPr>
              <a:t>Pembelian</a:t>
            </a:r>
          </a:p>
        </p:txBody>
      </p:sp>
      <p:sp>
        <p:nvSpPr>
          <p:cNvPr id="50" name="Text 49"/>
          <p:cNvSpPr txBox="1"/>
          <p:nvPr/>
        </p:nvSpPr>
        <p:spPr>
          <a:xfrm>
            <a:off x="448952" y="3630838"/>
            <a:ext cx="1167249" cy="2247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pesanan ke hub &amp; pemasok</a:t>
            </a:r>
          </a:p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pencocokan penerimaan · E4</a:t>
            </a:r>
          </a:p>
        </p:txBody>
      </p:sp>
      <p:sp>
        <p:nvSpPr>
          <p:cNvPr id="51" name="Box 50"/>
          <p:cNvSpPr/>
          <p:nvPr/>
        </p:nvSpPr>
        <p:spPr>
          <a:xfrm>
            <a:off x="2202003" y="3410501"/>
            <a:ext cx="1753051" cy="499097"/>
          </a:xfrm>
          <a:prstGeom prst="roundRect">
            <a:avLst>
              <a:gd name="adj" fmla="val 12458"/>
            </a:avLst>
          </a:prstGeom>
          <a:solidFill>
            <a:srgbClr val="FFFFFF"/>
          </a:solidFill>
          <a:ln w="762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Text 51"/>
          <p:cNvSpPr txBox="1"/>
          <p:nvPr/>
        </p:nvSpPr>
        <p:spPr>
          <a:xfrm>
            <a:off x="2287517" y="3467487"/>
            <a:ext cx="794308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714B67"/>
                </a:solidFill>
                <a:latin typeface="Arial"/>
              </a:rPr>
              <a:t>Point of Sale</a:t>
            </a:r>
          </a:p>
        </p:txBody>
      </p:sp>
      <p:sp>
        <p:nvSpPr>
          <p:cNvPr id="53" name="Text 52"/>
          <p:cNvSpPr txBox="1"/>
          <p:nvPr/>
        </p:nvSpPr>
        <p:spPr>
          <a:xfrm>
            <a:off x="2287517" y="3630838"/>
            <a:ext cx="1209330" cy="2247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offline, multi-gerai, QRIS</a:t>
            </a:r>
          </a:p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+ modul subsidi kustom · E3</a:t>
            </a:r>
          </a:p>
        </p:txBody>
      </p:sp>
      <p:sp>
        <p:nvSpPr>
          <p:cNvPr id="54" name="Box 53"/>
          <p:cNvSpPr/>
          <p:nvPr/>
        </p:nvSpPr>
        <p:spPr>
          <a:xfrm>
            <a:off x="363437" y="4068403"/>
            <a:ext cx="1753051" cy="499097"/>
          </a:xfrm>
          <a:prstGeom prst="roundRect">
            <a:avLst>
              <a:gd name="adj" fmla="val 12458"/>
            </a:avLst>
          </a:prstGeom>
          <a:solidFill>
            <a:srgbClr val="FFFFFF"/>
          </a:solidFill>
          <a:ln w="762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5" name="Text 54"/>
          <p:cNvSpPr txBox="1"/>
          <p:nvPr/>
        </p:nvSpPr>
        <p:spPr>
          <a:xfrm>
            <a:off x="448952" y="4125388"/>
            <a:ext cx="1404518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714B67"/>
                </a:solidFill>
                <a:latin typeface="Arial"/>
              </a:rPr>
              <a:t>Kontak (salinan anggota)</a:t>
            </a:r>
          </a:p>
        </p:txBody>
      </p:sp>
      <p:sp>
        <p:nvSpPr>
          <p:cNvPr id="56" name="Text 55"/>
          <p:cNvSpPr txBox="1"/>
          <p:nvPr/>
        </p:nvSpPr>
        <p:spPr>
          <a:xfrm>
            <a:off x="448952" y="4288740"/>
            <a:ext cx="1125169" cy="2247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disinkron dari Django;</a:t>
            </a:r>
          </a:p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bukan sumber data anggota</a:t>
            </a:r>
          </a:p>
        </p:txBody>
      </p:sp>
      <p:sp>
        <p:nvSpPr>
          <p:cNvPr id="57" name="Box 56"/>
          <p:cNvSpPr/>
          <p:nvPr/>
        </p:nvSpPr>
        <p:spPr>
          <a:xfrm>
            <a:off x="2202003" y="4068403"/>
            <a:ext cx="1753051" cy="499097"/>
          </a:xfrm>
          <a:prstGeom prst="roundRect">
            <a:avLst>
              <a:gd name="adj" fmla="val 12458"/>
            </a:avLst>
          </a:prstGeom>
          <a:solidFill>
            <a:srgbClr val="FFFFFF"/>
          </a:solidFill>
          <a:ln w="762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8" name="Text 57"/>
          <p:cNvSpPr txBox="1"/>
          <p:nvPr/>
        </p:nvSpPr>
        <p:spPr>
          <a:xfrm>
            <a:off x="2287517" y="4125388"/>
            <a:ext cx="794308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714B67"/>
                </a:solidFill>
                <a:latin typeface="Arial"/>
              </a:rPr>
              <a:t>Penjualan B2B</a:t>
            </a:r>
          </a:p>
        </p:txBody>
      </p:sp>
      <p:sp>
        <p:nvSpPr>
          <p:cNvPr id="59" name="Text 58"/>
          <p:cNvSpPr txBox="1"/>
          <p:nvPr/>
        </p:nvSpPr>
        <p:spPr>
          <a:xfrm>
            <a:off x="2287517" y="4288740"/>
            <a:ext cx="1251411" cy="2247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grosir ke warung mitra</a:t>
            </a:r>
          </a:p>
          <a:p>
            <a:pPr algn="l">
              <a:lnSpc>
                <a:spcPct val="1225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(PD: tidak menggeser warung)</a:t>
            </a:r>
          </a:p>
        </p:txBody>
      </p:sp>
      <p:sp>
        <p:nvSpPr>
          <p:cNvPr id="60" name="Box 59"/>
          <p:cNvSpPr/>
          <p:nvPr/>
        </p:nvSpPr>
        <p:spPr>
          <a:xfrm>
            <a:off x="363437" y="4839736"/>
            <a:ext cx="3591616" cy="453725"/>
          </a:xfrm>
          <a:prstGeom prst="roundRect">
            <a:avLst>
              <a:gd name="adj" fmla="val 13704"/>
            </a:avLst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 60"/>
          <p:cNvSpPr txBox="1"/>
          <p:nvPr/>
        </p:nvSpPr>
        <p:spPr>
          <a:xfrm>
            <a:off x="1272338" y="4900626"/>
            <a:ext cx="1773814" cy="1353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40" b="1" i="0">
                <a:solidFill>
                  <a:srgbClr val="FFFFFF"/>
                </a:solidFill>
                <a:latin typeface="Arial"/>
              </a:rPr>
              <a:t>Odoo hub kabupaten (Torasera)</a:t>
            </a:r>
          </a:p>
        </p:txBody>
      </p:sp>
      <p:sp>
        <p:nvSpPr>
          <p:cNvPr id="62" name="Text 61"/>
          <p:cNvSpPr txBox="1"/>
          <p:nvPr/>
        </p:nvSpPr>
        <p:spPr>
          <a:xfrm>
            <a:off x="663397" y="5108213"/>
            <a:ext cx="2991697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FFFFFF"/>
                </a:solidFill>
                <a:latin typeface="Arial"/>
              </a:rPr>
              <a:t>Inventory multi-gudang · Purchase konsolidasi · Fleet · rute (E13)</a:t>
            </a:r>
          </a:p>
        </p:txBody>
      </p:sp>
      <p:sp>
        <p:nvSpPr>
          <p:cNvPr id="63" name="Box 62"/>
          <p:cNvSpPr/>
          <p:nvPr/>
        </p:nvSpPr>
        <p:spPr>
          <a:xfrm>
            <a:off x="4190219" y="2230815"/>
            <a:ext cx="748253" cy="3138266"/>
          </a:xfrm>
          <a:prstGeom prst="roundRect">
            <a:avLst>
              <a:gd name="adj" fmla="val 8309"/>
            </a:avLst>
          </a:prstGeom>
          <a:solidFill>
            <a:srgbClr val="F3F4F6"/>
          </a:solidFill>
          <a:ln w="7620">
            <a:solidFill>
              <a:srgbClr val="6B728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4" name="Text 63"/>
          <p:cNvSpPr txBox="1"/>
          <p:nvPr/>
        </p:nvSpPr>
        <p:spPr>
          <a:xfrm>
            <a:off x="4322518" y="2295814"/>
            <a:ext cx="483656" cy="24810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1F2937"/>
                </a:solidFill>
                <a:latin typeface="Arial"/>
              </a:rPr>
              <a:t>Lapisan</a:t>
            </a:r>
          </a:p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1F2937"/>
                </a:solidFill>
                <a:latin typeface="Arial"/>
              </a:rPr>
              <a:t>sinkron</a:t>
            </a:r>
          </a:p>
        </p:txBody>
      </p:sp>
      <p:sp>
        <p:nvSpPr>
          <p:cNvPr id="65" name="Box 64"/>
          <p:cNvSpPr/>
          <p:nvPr/>
        </p:nvSpPr>
        <p:spPr>
          <a:xfrm>
            <a:off x="4254355" y="2760162"/>
            <a:ext cx="619981" cy="378104"/>
          </a:xfrm>
          <a:prstGeom prst="roundRect">
            <a:avLst>
              <a:gd name="adj" fmla="val 16444"/>
            </a:avLst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6" name="Text 65"/>
          <p:cNvSpPr txBox="1"/>
          <p:nvPr/>
        </p:nvSpPr>
        <p:spPr>
          <a:xfrm>
            <a:off x="4362300" y="2851983"/>
            <a:ext cx="404091" cy="19446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JSON-RPC</a:t>
            </a:r>
          </a:p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Odoo</a:t>
            </a:r>
          </a:p>
        </p:txBody>
      </p:sp>
      <p:sp>
        <p:nvSpPr>
          <p:cNvPr id="67" name="Box 66"/>
          <p:cNvSpPr/>
          <p:nvPr/>
        </p:nvSpPr>
        <p:spPr>
          <a:xfrm>
            <a:off x="4254355" y="3213887"/>
            <a:ext cx="619981" cy="378104"/>
          </a:xfrm>
          <a:prstGeom prst="roundRect">
            <a:avLst>
              <a:gd name="adj" fmla="val 16444"/>
            </a:avLst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8" name="Text 67"/>
          <p:cNvSpPr txBox="1"/>
          <p:nvPr/>
        </p:nvSpPr>
        <p:spPr>
          <a:xfrm>
            <a:off x="4362300" y="3305708"/>
            <a:ext cx="404091" cy="19446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event</a:t>
            </a:r>
          </a:p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RabbitMQ</a:t>
            </a:r>
          </a:p>
        </p:txBody>
      </p:sp>
      <p:sp>
        <p:nvSpPr>
          <p:cNvPr id="69" name="Box 68"/>
          <p:cNvSpPr/>
          <p:nvPr/>
        </p:nvSpPr>
        <p:spPr>
          <a:xfrm>
            <a:off x="4254355" y="3667612"/>
            <a:ext cx="619981" cy="378104"/>
          </a:xfrm>
          <a:prstGeom prst="roundRect">
            <a:avLst>
              <a:gd name="adj" fmla="val 16444"/>
            </a:avLst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0" name="Text 69"/>
          <p:cNvSpPr txBox="1"/>
          <p:nvPr/>
        </p:nvSpPr>
        <p:spPr>
          <a:xfrm>
            <a:off x="4382984" y="3759433"/>
            <a:ext cx="362724" cy="19446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ID</a:t>
            </a:r>
          </a:p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bersama</a:t>
            </a:r>
          </a:p>
        </p:txBody>
      </p:sp>
      <p:sp>
        <p:nvSpPr>
          <p:cNvPr id="71" name="Box 70"/>
          <p:cNvSpPr/>
          <p:nvPr/>
        </p:nvSpPr>
        <p:spPr>
          <a:xfrm>
            <a:off x="4254355" y="4121337"/>
            <a:ext cx="619981" cy="378104"/>
          </a:xfrm>
          <a:prstGeom prst="roundRect">
            <a:avLst>
              <a:gd name="adj" fmla="val 16444"/>
            </a:avLst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2" name="Text 71"/>
          <p:cNvSpPr txBox="1"/>
          <p:nvPr/>
        </p:nvSpPr>
        <p:spPr>
          <a:xfrm>
            <a:off x="4341616" y="4213158"/>
            <a:ext cx="445459" cy="19446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idempoten</a:t>
            </a:r>
          </a:p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&amp; retry</a:t>
            </a:r>
          </a:p>
        </p:txBody>
      </p:sp>
      <p:sp>
        <p:nvSpPr>
          <p:cNvPr id="73" name="Box 72"/>
          <p:cNvSpPr/>
          <p:nvPr/>
        </p:nvSpPr>
        <p:spPr>
          <a:xfrm>
            <a:off x="4254355" y="4575063"/>
            <a:ext cx="619981" cy="378104"/>
          </a:xfrm>
          <a:prstGeom prst="roundRect">
            <a:avLst>
              <a:gd name="adj" fmla="val 16444"/>
            </a:avLst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4" name="Text 73"/>
          <p:cNvSpPr txBox="1"/>
          <p:nvPr/>
        </p:nvSpPr>
        <p:spPr>
          <a:xfrm>
            <a:off x="4279565" y="4666884"/>
            <a:ext cx="569561" cy="19446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rekonsiliasi</a:t>
            </a:r>
          </a:p>
          <a:p>
            <a:pPr algn="ctr">
              <a:lnSpc>
                <a:spcPct val="107800"/>
              </a:lnSpc>
            </a:pPr>
            <a:r>
              <a:rPr sz="580" b="0" i="0">
                <a:solidFill>
                  <a:srgbClr val="1F2937"/>
                </a:solidFill>
                <a:latin typeface="Arial"/>
              </a:rPr>
              <a:t>harian</a:t>
            </a:r>
          </a:p>
        </p:txBody>
      </p:sp>
      <p:cxnSp>
        <p:nvCxnSpPr>
          <p:cNvPr id="75" name="Arrow 74"/>
          <p:cNvCxnSpPr/>
          <p:nvPr/>
        </p:nvCxnSpPr>
        <p:spPr>
          <a:xfrm>
            <a:off x="4094015" y="3781044"/>
            <a:ext cx="85515" cy="0"/>
          </a:xfrm>
          <a:prstGeom prst="line">
            <a:avLst/>
          </a:prstGeom>
          <a:ln w="15240">
            <a:solidFill>
              <a:srgbClr val="6B7280"/>
            </a:solidFill>
            <a:tailEnd type="triangle" w="med" len="med"/>
          </a:ln>
        </p:spPr>
      </p:cxnSp>
      <p:cxnSp>
        <p:nvCxnSpPr>
          <p:cNvPr id="76" name="Arrow 75"/>
          <p:cNvCxnSpPr/>
          <p:nvPr/>
        </p:nvCxnSpPr>
        <p:spPr>
          <a:xfrm>
            <a:off x="4949162" y="3781044"/>
            <a:ext cx="85515" cy="0"/>
          </a:xfrm>
          <a:prstGeom prst="line">
            <a:avLst/>
          </a:prstGeom>
          <a:ln w="15240">
            <a:solidFill>
              <a:srgbClr val="6B7280"/>
            </a:solidFill>
            <a:tailEnd type="triangle" w="med" len="med"/>
          </a:ln>
        </p:spPr>
      </p:cxnSp>
      <p:sp>
        <p:nvSpPr>
          <p:cNvPr id="77" name="Box 76"/>
          <p:cNvSpPr/>
          <p:nvPr/>
        </p:nvSpPr>
        <p:spPr>
          <a:xfrm>
            <a:off x="5045366" y="2230815"/>
            <a:ext cx="3527480" cy="3138266"/>
          </a:xfrm>
          <a:prstGeom prst="roundRect">
            <a:avLst>
              <a:gd name="adj" fmla="val 1981"/>
            </a:avLst>
          </a:prstGeom>
          <a:solidFill>
            <a:srgbClr val="EAF2FB"/>
          </a:solidFill>
          <a:ln w="1524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8" name="Text 77"/>
          <p:cNvSpPr txBox="1"/>
          <p:nvPr/>
        </p:nvSpPr>
        <p:spPr>
          <a:xfrm>
            <a:off x="5173638" y="2252807"/>
            <a:ext cx="2292096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Django · platform khas KDKMP</a:t>
            </a:r>
          </a:p>
        </p:txBody>
      </p:sp>
      <p:sp>
        <p:nvSpPr>
          <p:cNvPr id="79" name="Text 78"/>
          <p:cNvSpPr txBox="1"/>
          <p:nvPr/>
        </p:nvSpPr>
        <p:spPr>
          <a:xfrm>
            <a:off x="5173638" y="2453006"/>
            <a:ext cx="2948903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DRF API · Celery · PostgreSQL platform · fleksibel per kebijakan</a:t>
            </a:r>
          </a:p>
        </p:txBody>
      </p:sp>
      <p:sp>
        <p:nvSpPr>
          <p:cNvPr id="80" name="Box 79"/>
          <p:cNvSpPr/>
          <p:nvPr/>
        </p:nvSpPr>
        <p:spPr>
          <a:xfrm>
            <a:off x="5173638" y="2737475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1" name="Text 80"/>
          <p:cNvSpPr txBox="1"/>
          <p:nvPr/>
        </p:nvSpPr>
        <p:spPr>
          <a:xfrm>
            <a:off x="5463076" y="2836664"/>
            <a:ext cx="468678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tenants</a:t>
            </a:r>
          </a:p>
        </p:txBody>
      </p:sp>
      <p:sp>
        <p:nvSpPr>
          <p:cNvPr id="82" name="Text 81"/>
          <p:cNvSpPr txBox="1"/>
          <p:nvPr/>
        </p:nvSpPr>
        <p:spPr>
          <a:xfrm>
            <a:off x="5254297" y="3001147"/>
            <a:ext cx="886236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E1 provisioning Odoo</a:t>
            </a:r>
          </a:p>
        </p:txBody>
      </p:sp>
      <p:sp>
        <p:nvSpPr>
          <p:cNvPr id="83" name="Box 82"/>
          <p:cNvSpPr/>
          <p:nvPr/>
        </p:nvSpPr>
        <p:spPr>
          <a:xfrm>
            <a:off x="6285329" y="2737475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4" name="Text 83"/>
          <p:cNvSpPr txBox="1"/>
          <p:nvPr/>
        </p:nvSpPr>
        <p:spPr>
          <a:xfrm>
            <a:off x="6574767" y="2836664"/>
            <a:ext cx="468678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members</a:t>
            </a:r>
          </a:p>
        </p:txBody>
      </p:sp>
      <p:sp>
        <p:nvSpPr>
          <p:cNvPr id="85" name="Text 84"/>
          <p:cNvSpPr txBox="1"/>
          <p:nvPr/>
        </p:nvSpPr>
        <p:spPr>
          <a:xfrm>
            <a:off x="6528605" y="3001147"/>
            <a:ext cx="561002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E2 NIK &amp; RAT</a:t>
            </a:r>
          </a:p>
        </p:txBody>
      </p:sp>
      <p:sp>
        <p:nvSpPr>
          <p:cNvPr id="86" name="Box 85"/>
          <p:cNvSpPr/>
          <p:nvPr/>
        </p:nvSpPr>
        <p:spPr>
          <a:xfrm>
            <a:off x="7397020" y="2737475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7" name="Text 86"/>
          <p:cNvSpPr txBox="1"/>
          <p:nvPr/>
        </p:nvSpPr>
        <p:spPr>
          <a:xfrm>
            <a:off x="7686458" y="2836664"/>
            <a:ext cx="468678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subsidy</a:t>
            </a:r>
          </a:p>
        </p:txBody>
      </p:sp>
      <p:sp>
        <p:nvSpPr>
          <p:cNvPr id="88" name="Text 87"/>
          <p:cNvSpPr txBox="1"/>
          <p:nvPr/>
        </p:nvSpPr>
        <p:spPr>
          <a:xfrm>
            <a:off x="7599642" y="3001147"/>
            <a:ext cx="642311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E5 hak &amp; kuota</a:t>
            </a:r>
          </a:p>
        </p:txBody>
      </p:sp>
      <p:sp>
        <p:nvSpPr>
          <p:cNvPr id="89" name="Box 88"/>
          <p:cNvSpPr/>
          <p:nvPr/>
        </p:nvSpPr>
        <p:spPr>
          <a:xfrm>
            <a:off x="5173638" y="3304632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0" name="Text 89"/>
          <p:cNvSpPr txBox="1"/>
          <p:nvPr/>
        </p:nvSpPr>
        <p:spPr>
          <a:xfrm>
            <a:off x="5463076" y="3403821"/>
            <a:ext cx="468678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offtake</a:t>
            </a:r>
          </a:p>
        </p:txBody>
      </p:sp>
      <p:sp>
        <p:nvSpPr>
          <p:cNvPr id="91" name="Text 90"/>
          <p:cNvSpPr txBox="1"/>
          <p:nvPr/>
        </p:nvSpPr>
        <p:spPr>
          <a:xfrm>
            <a:off x="5335606" y="3568304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E6 lot &amp; pembeli</a:t>
            </a:r>
          </a:p>
        </p:txBody>
      </p:sp>
      <p:sp>
        <p:nvSpPr>
          <p:cNvPr id="92" name="Box 91"/>
          <p:cNvSpPr/>
          <p:nvPr/>
        </p:nvSpPr>
        <p:spPr>
          <a:xfrm>
            <a:off x="6285329" y="3304632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3" name="Text 92"/>
          <p:cNvSpPr txBox="1"/>
          <p:nvPr/>
        </p:nvSpPr>
        <p:spPr>
          <a:xfrm>
            <a:off x="6574767" y="3403821"/>
            <a:ext cx="468678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savings</a:t>
            </a:r>
          </a:p>
        </p:txBody>
      </p:sp>
      <p:sp>
        <p:nvSpPr>
          <p:cNvPr id="94" name="Text 93"/>
          <p:cNvSpPr txBox="1"/>
          <p:nvPr/>
        </p:nvSpPr>
        <p:spPr>
          <a:xfrm>
            <a:off x="6447297" y="3568304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E8 → jurnal Odoo</a:t>
            </a:r>
          </a:p>
        </p:txBody>
      </p:sp>
      <p:sp>
        <p:nvSpPr>
          <p:cNvPr id="95" name="Box 94"/>
          <p:cNvSpPr/>
          <p:nvPr/>
        </p:nvSpPr>
        <p:spPr>
          <a:xfrm>
            <a:off x="7397020" y="3304632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6" name="Text 95"/>
          <p:cNvSpPr txBox="1"/>
          <p:nvPr/>
        </p:nvSpPr>
        <p:spPr>
          <a:xfrm>
            <a:off x="7799466" y="3403821"/>
            <a:ext cx="242663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shu</a:t>
            </a:r>
          </a:p>
        </p:txBody>
      </p:sp>
      <p:sp>
        <p:nvSpPr>
          <p:cNvPr id="97" name="Text 96"/>
          <p:cNvSpPr txBox="1"/>
          <p:nvPr/>
        </p:nvSpPr>
        <p:spPr>
          <a:xfrm>
            <a:off x="7558988" y="3568304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E9 → jurnal Odoo</a:t>
            </a:r>
          </a:p>
        </p:txBody>
      </p:sp>
      <p:sp>
        <p:nvSpPr>
          <p:cNvPr id="98" name="Box 97"/>
          <p:cNvSpPr/>
          <p:nvPr/>
        </p:nvSpPr>
        <p:spPr>
          <a:xfrm>
            <a:off x="5173638" y="3871789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9" name="Text 98"/>
          <p:cNvSpPr txBox="1"/>
          <p:nvPr/>
        </p:nvSpPr>
        <p:spPr>
          <a:xfrm>
            <a:off x="5491328" y="3970977"/>
            <a:ext cx="412174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assets</a:t>
            </a:r>
          </a:p>
        </p:txBody>
      </p:sp>
      <p:sp>
        <p:nvSpPr>
          <p:cNvPr id="100" name="Text 99"/>
          <p:cNvSpPr txBox="1"/>
          <p:nvPr/>
        </p:nvSpPr>
        <p:spPr>
          <a:xfrm>
            <a:off x="5396587" y="4135461"/>
            <a:ext cx="601656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E10 aset desa</a:t>
            </a:r>
          </a:p>
        </p:txBody>
      </p:sp>
      <p:sp>
        <p:nvSpPr>
          <p:cNvPr id="101" name="Box 100"/>
          <p:cNvSpPr/>
          <p:nvPr/>
        </p:nvSpPr>
        <p:spPr>
          <a:xfrm>
            <a:off x="6285329" y="3871789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2" name="Text 101"/>
          <p:cNvSpPr txBox="1"/>
          <p:nvPr/>
        </p:nvSpPr>
        <p:spPr>
          <a:xfrm>
            <a:off x="6461760" y="3970977"/>
            <a:ext cx="694694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procurement</a:t>
            </a:r>
          </a:p>
        </p:txBody>
      </p:sp>
      <p:sp>
        <p:nvSpPr>
          <p:cNvPr id="103" name="Text 102"/>
          <p:cNvSpPr txBox="1"/>
          <p:nvPr/>
        </p:nvSpPr>
        <p:spPr>
          <a:xfrm>
            <a:off x="6447297" y="4135461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E11 transparansi</a:t>
            </a:r>
          </a:p>
        </p:txBody>
      </p:sp>
      <p:sp>
        <p:nvSpPr>
          <p:cNvPr id="104" name="Box 103"/>
          <p:cNvSpPr/>
          <p:nvPr/>
        </p:nvSpPr>
        <p:spPr>
          <a:xfrm>
            <a:off x="7397020" y="3871789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5" name="Text 104"/>
          <p:cNvSpPr txBox="1"/>
          <p:nvPr/>
        </p:nvSpPr>
        <p:spPr>
          <a:xfrm>
            <a:off x="7658206" y="3970977"/>
            <a:ext cx="525182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operator</a:t>
            </a:r>
          </a:p>
        </p:txBody>
      </p:sp>
      <p:sp>
        <p:nvSpPr>
          <p:cNvPr id="106" name="Text 105"/>
          <p:cNvSpPr txBox="1"/>
          <p:nvPr/>
        </p:nvSpPr>
        <p:spPr>
          <a:xfrm>
            <a:off x="7558988" y="4135461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E12 mode Agrinas</a:t>
            </a:r>
          </a:p>
        </p:txBody>
      </p:sp>
      <p:sp>
        <p:nvSpPr>
          <p:cNvPr id="107" name="Box 106"/>
          <p:cNvSpPr/>
          <p:nvPr/>
        </p:nvSpPr>
        <p:spPr>
          <a:xfrm>
            <a:off x="5173638" y="4438945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8" name="Text 107"/>
          <p:cNvSpPr txBox="1"/>
          <p:nvPr/>
        </p:nvSpPr>
        <p:spPr>
          <a:xfrm>
            <a:off x="5321817" y="4538134"/>
            <a:ext cx="751197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integrations</a:t>
            </a:r>
          </a:p>
        </p:txBody>
      </p:sp>
      <p:sp>
        <p:nvSpPr>
          <p:cNvPr id="109" name="Text 108"/>
          <p:cNvSpPr txBox="1"/>
          <p:nvPr/>
        </p:nvSpPr>
        <p:spPr>
          <a:xfrm>
            <a:off x="5376260" y="4702617"/>
            <a:ext cx="642311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E14 gerbang L4</a:t>
            </a:r>
          </a:p>
        </p:txBody>
      </p:sp>
      <p:sp>
        <p:nvSpPr>
          <p:cNvPr id="110" name="Box 109"/>
          <p:cNvSpPr/>
          <p:nvPr/>
        </p:nvSpPr>
        <p:spPr>
          <a:xfrm>
            <a:off x="6285329" y="4438945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FFFFF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1" name="Text 110"/>
          <p:cNvSpPr txBox="1"/>
          <p:nvPr/>
        </p:nvSpPr>
        <p:spPr>
          <a:xfrm>
            <a:off x="6518263" y="4538134"/>
            <a:ext cx="581686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00338D"/>
                </a:solidFill>
                <a:latin typeface="Courier New"/>
              </a:rPr>
              <a:t>analytics</a:t>
            </a:r>
          </a:p>
        </p:txBody>
      </p:sp>
      <p:sp>
        <p:nvSpPr>
          <p:cNvPr id="112" name="Text 111"/>
          <p:cNvSpPr txBox="1"/>
          <p:nvPr/>
        </p:nvSpPr>
        <p:spPr>
          <a:xfrm>
            <a:off x="6386315" y="4702617"/>
            <a:ext cx="845582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E15 peringatan dini</a:t>
            </a:r>
          </a:p>
        </p:txBody>
      </p:sp>
      <p:sp>
        <p:nvSpPr>
          <p:cNvPr id="113" name="Box 112"/>
          <p:cNvSpPr/>
          <p:nvPr/>
        </p:nvSpPr>
        <p:spPr>
          <a:xfrm>
            <a:off x="7397020" y="4438945"/>
            <a:ext cx="1047554" cy="438601"/>
          </a:xfrm>
          <a:prstGeom prst="roundRect">
            <a:avLst>
              <a:gd name="adj" fmla="val 14176"/>
            </a:avLst>
          </a:prstGeom>
          <a:solidFill>
            <a:srgbClr val="FEF3C7"/>
          </a:solidFill>
          <a:ln w="7620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4" name="Text 113"/>
          <p:cNvSpPr txBox="1"/>
          <p:nvPr/>
        </p:nvSpPr>
        <p:spPr>
          <a:xfrm>
            <a:off x="7545199" y="4538134"/>
            <a:ext cx="751197" cy="12618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90" b="1" i="0">
                <a:solidFill>
                  <a:srgbClr val="B45309"/>
                </a:solidFill>
                <a:latin typeface="Courier New"/>
              </a:rPr>
              <a:t>ai_assistant</a:t>
            </a:r>
          </a:p>
        </p:txBody>
      </p:sp>
      <p:sp>
        <p:nvSpPr>
          <p:cNvPr id="115" name="Text 114"/>
          <p:cNvSpPr txBox="1"/>
          <p:nvPr/>
        </p:nvSpPr>
        <p:spPr>
          <a:xfrm>
            <a:off x="7701277" y="4702617"/>
            <a:ext cx="439040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70" b="0" i="0">
                <a:solidFill>
                  <a:srgbClr val="6B7280"/>
                </a:solidFill>
                <a:latin typeface="Arial"/>
              </a:rPr>
              <a:t>LLM lokal</a:t>
            </a:r>
          </a:p>
        </p:txBody>
      </p:sp>
      <p:sp>
        <p:nvSpPr>
          <p:cNvPr id="116" name="Text 115"/>
          <p:cNvSpPr txBox="1"/>
          <p:nvPr/>
        </p:nvSpPr>
        <p:spPr>
          <a:xfrm>
            <a:off x="5574301" y="5136779"/>
            <a:ext cx="2469611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00" b="0" i="0">
                <a:solidFill>
                  <a:srgbClr val="00338D"/>
                </a:solidFill>
                <a:latin typeface="Arial"/>
              </a:rPr>
              <a:t>Next.js memakai API Django; Django membaca/menulis Odoo,</a:t>
            </a:r>
          </a:p>
          <a:p>
            <a:pPr algn="ctr">
              <a:lnSpc>
                <a:spcPct val="127400"/>
              </a:lnSpc>
            </a:pPr>
            <a:r>
              <a:rPr sz="600" b="0" i="0">
                <a:solidFill>
                  <a:srgbClr val="00338D"/>
                </a:solidFill>
                <a:latin typeface="Arial"/>
              </a:rPr>
              <a:t>sehingga aplikasi tidak bergantung langsung pada Odoo</a:t>
            </a:r>
          </a:p>
        </p:txBody>
      </p:sp>
      <p:sp>
        <p:nvSpPr>
          <p:cNvPr id="117" name="Box 116"/>
          <p:cNvSpPr/>
          <p:nvPr/>
        </p:nvSpPr>
        <p:spPr>
          <a:xfrm>
            <a:off x="8679740" y="2230815"/>
            <a:ext cx="1774429" cy="3138266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1270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8" name="Text 117"/>
          <p:cNvSpPr txBox="1"/>
          <p:nvPr/>
        </p:nvSpPr>
        <p:spPr>
          <a:xfrm>
            <a:off x="9019230" y="2265608"/>
            <a:ext cx="1095451" cy="1572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860" b="1" i="0">
                <a:solidFill>
                  <a:srgbClr val="005EB8"/>
                </a:solidFill>
                <a:latin typeface="Arial"/>
              </a:rPr>
              <a:t>Pihak luar (L4)</a:t>
            </a:r>
          </a:p>
        </p:txBody>
      </p:sp>
      <p:sp>
        <p:nvSpPr>
          <p:cNvPr id="119" name="Text 118"/>
          <p:cNvSpPr txBox="1"/>
          <p:nvPr/>
        </p:nvSpPr>
        <p:spPr>
          <a:xfrm>
            <a:off x="9132396" y="2453920"/>
            <a:ext cx="869118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6B7280"/>
                </a:solidFill>
                <a:latin typeface="Arial"/>
              </a:rPr>
              <a:t>hanya lewat Django</a:t>
            </a:r>
          </a:p>
        </p:txBody>
      </p:sp>
      <p:sp>
        <p:nvSpPr>
          <p:cNvPr id="120" name="Box 119"/>
          <p:cNvSpPr/>
          <p:nvPr/>
        </p:nvSpPr>
        <p:spPr>
          <a:xfrm>
            <a:off x="8808012" y="2661854"/>
            <a:ext cx="1517885" cy="287359"/>
          </a:xfrm>
          <a:prstGeom prst="roundRect">
            <a:avLst>
              <a:gd name="adj" fmla="val 2163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1" name="Text 120"/>
          <p:cNvSpPr txBox="1"/>
          <p:nvPr/>
        </p:nvSpPr>
        <p:spPr>
          <a:xfrm>
            <a:off x="9295013" y="2745184"/>
            <a:ext cx="543885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Simkopdes</a:t>
            </a:r>
          </a:p>
        </p:txBody>
      </p:sp>
      <p:sp>
        <p:nvSpPr>
          <p:cNvPr id="122" name="Box 121"/>
          <p:cNvSpPr/>
          <p:nvPr/>
        </p:nvSpPr>
        <p:spPr>
          <a:xfrm>
            <a:off x="8808012" y="3002148"/>
            <a:ext cx="1517885" cy="287359"/>
          </a:xfrm>
          <a:prstGeom prst="roundRect">
            <a:avLst>
              <a:gd name="adj" fmla="val 2163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3" name="Text 122"/>
          <p:cNvSpPr txBox="1"/>
          <p:nvPr/>
        </p:nvSpPr>
        <p:spPr>
          <a:xfrm>
            <a:off x="9164253" y="3085478"/>
            <a:ext cx="805403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Dukcapil (NIK)</a:t>
            </a:r>
          </a:p>
        </p:txBody>
      </p:sp>
      <p:sp>
        <p:nvSpPr>
          <p:cNvPr id="124" name="Box 123"/>
          <p:cNvSpPr/>
          <p:nvPr/>
        </p:nvSpPr>
        <p:spPr>
          <a:xfrm>
            <a:off x="8808012" y="3342442"/>
            <a:ext cx="1517885" cy="287359"/>
          </a:xfrm>
          <a:prstGeom prst="roundRect">
            <a:avLst>
              <a:gd name="adj" fmla="val 2163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5" name="Text 124"/>
          <p:cNvSpPr txBox="1"/>
          <p:nvPr/>
        </p:nvSpPr>
        <p:spPr>
          <a:xfrm>
            <a:off x="9138102" y="3425772"/>
            <a:ext cx="857707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Pupuk Indonesia</a:t>
            </a:r>
          </a:p>
        </p:txBody>
      </p:sp>
      <p:sp>
        <p:nvSpPr>
          <p:cNvPr id="126" name="Box 125"/>
          <p:cNvSpPr/>
          <p:nvPr/>
        </p:nvSpPr>
        <p:spPr>
          <a:xfrm>
            <a:off x="8808012" y="3682736"/>
            <a:ext cx="1517885" cy="287359"/>
          </a:xfrm>
          <a:prstGeom prst="roundRect">
            <a:avLst>
              <a:gd name="adj" fmla="val 2163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Text 126"/>
          <p:cNvSpPr txBox="1"/>
          <p:nvPr/>
        </p:nvSpPr>
        <p:spPr>
          <a:xfrm>
            <a:off x="9138102" y="3766066"/>
            <a:ext cx="857707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Pertamina (LPG)</a:t>
            </a:r>
          </a:p>
        </p:txBody>
      </p:sp>
      <p:sp>
        <p:nvSpPr>
          <p:cNvPr id="128" name="Box 127"/>
          <p:cNvSpPr/>
          <p:nvPr/>
        </p:nvSpPr>
        <p:spPr>
          <a:xfrm>
            <a:off x="8808012" y="4023030"/>
            <a:ext cx="1517885" cy="287359"/>
          </a:xfrm>
          <a:prstGeom prst="roundRect">
            <a:avLst>
              <a:gd name="adj" fmla="val 2163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 128"/>
          <p:cNvSpPr txBox="1"/>
          <p:nvPr/>
        </p:nvSpPr>
        <p:spPr>
          <a:xfrm>
            <a:off x="9138102" y="4106360"/>
            <a:ext cx="857707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Bulog / ID Food</a:t>
            </a:r>
          </a:p>
        </p:txBody>
      </p:sp>
      <p:sp>
        <p:nvSpPr>
          <p:cNvPr id="130" name="Box 129"/>
          <p:cNvSpPr/>
          <p:nvPr/>
        </p:nvSpPr>
        <p:spPr>
          <a:xfrm>
            <a:off x="8808012" y="4363324"/>
            <a:ext cx="1517885" cy="287359"/>
          </a:xfrm>
          <a:prstGeom prst="roundRect">
            <a:avLst>
              <a:gd name="adj" fmla="val 2163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1" name="Text 130"/>
          <p:cNvSpPr txBox="1"/>
          <p:nvPr/>
        </p:nvSpPr>
        <p:spPr>
          <a:xfrm>
            <a:off x="9242709" y="4446654"/>
            <a:ext cx="648492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Bank &amp; QRIS</a:t>
            </a:r>
          </a:p>
        </p:txBody>
      </p:sp>
      <p:sp>
        <p:nvSpPr>
          <p:cNvPr id="132" name="Box 131"/>
          <p:cNvSpPr/>
          <p:nvPr/>
        </p:nvSpPr>
        <p:spPr>
          <a:xfrm>
            <a:off x="8808012" y="4703618"/>
            <a:ext cx="1517885" cy="287359"/>
          </a:xfrm>
          <a:prstGeom prst="roundRect">
            <a:avLst>
              <a:gd name="adj" fmla="val 2163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3" name="Text 132"/>
          <p:cNvSpPr txBox="1"/>
          <p:nvPr/>
        </p:nvSpPr>
        <p:spPr>
          <a:xfrm>
            <a:off x="9216557" y="4786948"/>
            <a:ext cx="700796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Pemda / desa</a:t>
            </a:r>
          </a:p>
        </p:txBody>
      </p:sp>
      <p:cxnSp>
        <p:nvCxnSpPr>
          <p:cNvPr id="134" name="Arrow 133"/>
          <p:cNvCxnSpPr/>
          <p:nvPr/>
        </p:nvCxnSpPr>
        <p:spPr>
          <a:xfrm flipH="1">
            <a:off x="8583536" y="3781044"/>
            <a:ext cx="85515" cy="0"/>
          </a:xfrm>
          <a:prstGeom prst="line">
            <a:avLst/>
          </a:prstGeom>
          <a:ln w="16510">
            <a:solidFill>
              <a:srgbClr val="005EB8"/>
            </a:solidFill>
            <a:tailEnd type="triangle" w="med" len="med"/>
          </a:ln>
        </p:spPr>
      </p:cxnSp>
      <p:sp>
        <p:nvSpPr>
          <p:cNvPr id="135" name="Box 134"/>
          <p:cNvSpPr/>
          <p:nvPr/>
        </p:nvSpPr>
        <p:spPr>
          <a:xfrm>
            <a:off x="235165" y="5505200"/>
            <a:ext cx="4970541" cy="544470"/>
          </a:xfrm>
          <a:prstGeom prst="roundRect">
            <a:avLst>
              <a:gd name="adj" fmla="val 1142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6" name="Text 135"/>
          <p:cNvSpPr txBox="1"/>
          <p:nvPr/>
        </p:nvSpPr>
        <p:spPr>
          <a:xfrm>
            <a:off x="363437" y="5549136"/>
            <a:ext cx="3144804" cy="13898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60" b="1" i="0">
                <a:solidFill>
                  <a:srgbClr val="B45309"/>
                </a:solidFill>
                <a:latin typeface="Arial"/>
              </a:rPr>
              <a:t>Contoh alur: penjualan pupuk bersubsidi di Odoo POS</a:t>
            </a:r>
          </a:p>
        </p:txBody>
      </p:sp>
      <p:sp>
        <p:nvSpPr>
          <p:cNvPr id="137" name="Text 136"/>
          <p:cNvSpPr txBox="1"/>
          <p:nvPr/>
        </p:nvSpPr>
        <p:spPr>
          <a:xfrm>
            <a:off x="363437" y="5745345"/>
            <a:ext cx="4539410" cy="2456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Modul kustom kdkmp_pos_subsidy memanggil API hak subsidi Django (NIK, sisa alokasi, HET) sebelum</a:t>
            </a:r>
          </a:p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pembayaran · luring: salinan alokasi terakhir · transaksi masuk jurnal Odoo, rekonsiliasi oleh Django</a:t>
            </a:r>
          </a:p>
        </p:txBody>
      </p:sp>
      <p:sp>
        <p:nvSpPr>
          <p:cNvPr id="138" name="Box 137"/>
          <p:cNvSpPr/>
          <p:nvPr/>
        </p:nvSpPr>
        <p:spPr>
          <a:xfrm>
            <a:off x="5312599" y="5505200"/>
            <a:ext cx="5141570" cy="544470"/>
          </a:xfrm>
          <a:prstGeom prst="roundRect">
            <a:avLst>
              <a:gd name="adj" fmla="val 11420"/>
            </a:avLst>
          </a:prstGeom>
          <a:solidFill>
            <a:srgbClr val="E6F4F1"/>
          </a:solidFill>
          <a:ln w="1270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9" name="Text 138"/>
          <p:cNvSpPr txBox="1"/>
          <p:nvPr/>
        </p:nvSpPr>
        <p:spPr>
          <a:xfrm>
            <a:off x="5440872" y="5549136"/>
            <a:ext cx="2964119" cy="13898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60" b="1" i="0">
                <a:solidFill>
                  <a:srgbClr val="0F7B6C"/>
                </a:solidFill>
                <a:latin typeface="Arial"/>
              </a:rPr>
              <a:t>Satu pemilik data per entitas (system of record)</a:t>
            </a:r>
          </a:p>
        </p:txBody>
      </p:sp>
      <p:sp>
        <p:nvSpPr>
          <p:cNvPr id="140" name="Text 139"/>
          <p:cNvSpPr txBox="1"/>
          <p:nvPr/>
        </p:nvSpPr>
        <p:spPr>
          <a:xfrm>
            <a:off x="5440872" y="5745345"/>
            <a:ext cx="4097206" cy="2456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Odoo: buku besar, stok, pembelian, transaksi kasir · Django: anggota &amp; NIK, hak subsidi,</a:t>
            </a:r>
          </a:p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simpanan &amp; pinjaman, SHU, lot offtake, aset desa, akses operator · salinan selalu read-only</a:t>
            </a:r>
          </a:p>
        </p:txBody>
      </p:sp>
      <p:sp>
        <p:nvSpPr>
          <p:cNvPr id="141" name="Text 140"/>
          <p:cNvSpPr txBox="1"/>
          <p:nvPr/>
        </p:nvSpPr>
        <p:spPr>
          <a:xfrm>
            <a:off x="235165" y="6207084"/>
            <a:ext cx="1261872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Fondasi bersama</a:t>
            </a:r>
          </a:p>
        </p:txBody>
      </p:sp>
      <p:sp>
        <p:nvSpPr>
          <p:cNvPr id="142" name="Box 141"/>
          <p:cNvSpPr/>
          <p:nvPr/>
        </p:nvSpPr>
        <p:spPr>
          <a:xfrm>
            <a:off x="235165" y="6503395"/>
            <a:ext cx="1982871" cy="567156"/>
          </a:xfrm>
          <a:prstGeom prst="roundRect">
            <a:avLst>
              <a:gd name="adj" fmla="val 1096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3" name="Text 142"/>
          <p:cNvSpPr txBox="1"/>
          <p:nvPr/>
        </p:nvSpPr>
        <p:spPr>
          <a:xfrm>
            <a:off x="647968" y="6594140"/>
            <a:ext cx="1157264" cy="120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20" b="1" i="0">
                <a:solidFill>
                  <a:srgbClr val="1F2937"/>
                </a:solidFill>
                <a:latin typeface="Arial"/>
              </a:rPr>
              <a:t>Keycloak SSO (OIDC)</a:t>
            </a:r>
          </a:p>
        </p:txBody>
      </p:sp>
      <p:sp>
        <p:nvSpPr>
          <p:cNvPr id="144" name="Text 143"/>
          <p:cNvSpPr txBox="1"/>
          <p:nvPr/>
        </p:nvSpPr>
        <p:spPr>
          <a:xfrm>
            <a:off x="376940" y="6815292"/>
            <a:ext cx="1699320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satu login untuk Odoo, Next.js, Django</a:t>
            </a:r>
          </a:p>
        </p:txBody>
      </p:sp>
      <p:sp>
        <p:nvSpPr>
          <p:cNvPr id="145" name="Box 144"/>
          <p:cNvSpPr/>
          <p:nvPr/>
        </p:nvSpPr>
        <p:spPr>
          <a:xfrm>
            <a:off x="2293931" y="6503395"/>
            <a:ext cx="1982871" cy="567156"/>
          </a:xfrm>
          <a:prstGeom prst="roundRect">
            <a:avLst>
              <a:gd name="adj" fmla="val 1096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6" name="Text 145"/>
          <p:cNvSpPr txBox="1"/>
          <p:nvPr/>
        </p:nvSpPr>
        <p:spPr>
          <a:xfrm>
            <a:off x="2963498" y="6594140"/>
            <a:ext cx="643737" cy="120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20" b="1" i="0">
                <a:solidFill>
                  <a:srgbClr val="1F2937"/>
                </a:solidFill>
                <a:latin typeface="Arial"/>
              </a:rPr>
              <a:t>PostgreSQL</a:t>
            </a:r>
          </a:p>
        </p:txBody>
      </p:sp>
      <p:sp>
        <p:nvSpPr>
          <p:cNvPr id="147" name="Text 146"/>
          <p:cNvSpPr txBox="1"/>
          <p:nvPr/>
        </p:nvSpPr>
        <p:spPr>
          <a:xfrm>
            <a:off x="2521294" y="6815292"/>
            <a:ext cx="1528145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DB Odoo per koperasi · DB platform</a:t>
            </a:r>
          </a:p>
        </p:txBody>
      </p:sp>
      <p:sp>
        <p:nvSpPr>
          <p:cNvPr id="148" name="Box 147"/>
          <p:cNvSpPr/>
          <p:nvPr/>
        </p:nvSpPr>
        <p:spPr>
          <a:xfrm>
            <a:off x="4352697" y="6503395"/>
            <a:ext cx="1982871" cy="567156"/>
          </a:xfrm>
          <a:prstGeom prst="roundRect">
            <a:avLst>
              <a:gd name="adj" fmla="val 1096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9" name="Text 148"/>
          <p:cNvSpPr txBox="1"/>
          <p:nvPr/>
        </p:nvSpPr>
        <p:spPr>
          <a:xfrm>
            <a:off x="4993735" y="6594140"/>
            <a:ext cx="700796" cy="120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20" b="1" i="0">
                <a:solidFill>
                  <a:srgbClr val="1F2937"/>
                </a:solidFill>
                <a:latin typeface="Arial"/>
              </a:rPr>
              <a:t>Gudang data</a:t>
            </a:r>
          </a:p>
        </p:txBody>
      </p:sp>
      <p:sp>
        <p:nvSpPr>
          <p:cNvPr id="150" name="Text 149"/>
          <p:cNvSpPr txBox="1"/>
          <p:nvPr/>
        </p:nvSpPr>
        <p:spPr>
          <a:xfrm>
            <a:off x="4601457" y="6815292"/>
            <a:ext cx="1485351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CDC dari Odoo + Django → dbt → L5</a:t>
            </a:r>
          </a:p>
        </p:txBody>
      </p:sp>
      <p:sp>
        <p:nvSpPr>
          <p:cNvPr id="151" name="Box 150"/>
          <p:cNvSpPr/>
          <p:nvPr/>
        </p:nvSpPr>
        <p:spPr>
          <a:xfrm>
            <a:off x="6411463" y="6503395"/>
            <a:ext cx="1982871" cy="567156"/>
          </a:xfrm>
          <a:prstGeom prst="roundRect">
            <a:avLst>
              <a:gd name="adj" fmla="val 1096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2" name="Text 151"/>
          <p:cNvSpPr txBox="1"/>
          <p:nvPr/>
        </p:nvSpPr>
        <p:spPr>
          <a:xfrm>
            <a:off x="6767208" y="6594140"/>
            <a:ext cx="1271381" cy="120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20" b="1" i="0">
                <a:solidFill>
                  <a:srgbClr val="1F2937"/>
                </a:solidFill>
                <a:latin typeface="Arial"/>
              </a:rPr>
              <a:t>LLM open-weight lokal</a:t>
            </a:r>
          </a:p>
        </p:txBody>
      </p:sp>
      <p:sp>
        <p:nvSpPr>
          <p:cNvPr id="153" name="Text 152"/>
          <p:cNvSpPr txBox="1"/>
          <p:nvPr/>
        </p:nvSpPr>
        <p:spPr>
          <a:xfrm>
            <a:off x="6617430" y="6815292"/>
            <a:ext cx="15709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Ollama/llama.cpp, data tidak keluar</a:t>
            </a:r>
          </a:p>
        </p:txBody>
      </p:sp>
      <p:sp>
        <p:nvSpPr>
          <p:cNvPr id="154" name="Box 153"/>
          <p:cNvSpPr/>
          <p:nvPr/>
        </p:nvSpPr>
        <p:spPr>
          <a:xfrm>
            <a:off x="8470229" y="6503395"/>
            <a:ext cx="1982871" cy="567156"/>
          </a:xfrm>
          <a:prstGeom prst="roundRect">
            <a:avLst>
              <a:gd name="adj" fmla="val 1096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5" name="Text 154"/>
          <p:cNvSpPr txBox="1"/>
          <p:nvPr/>
        </p:nvSpPr>
        <p:spPr>
          <a:xfrm>
            <a:off x="8854504" y="6594140"/>
            <a:ext cx="1214323" cy="120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20" b="1" i="0">
                <a:solidFill>
                  <a:srgbClr val="1F2937"/>
                </a:solidFill>
                <a:latin typeface="Arial"/>
              </a:rPr>
              <a:t>Hosting di Indonesia</a:t>
            </a:r>
          </a:p>
        </p:txBody>
      </p:sp>
      <p:sp>
        <p:nvSpPr>
          <p:cNvPr id="156" name="Text 155"/>
          <p:cNvSpPr txBox="1"/>
          <p:nvPr/>
        </p:nvSpPr>
        <p:spPr>
          <a:xfrm>
            <a:off x="8676196" y="6815292"/>
            <a:ext cx="15709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klaster Odoo per kabupaten, otomasi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 1"/>
          <p:cNvSpPr/>
          <p:nvPr/>
        </p:nvSpPr>
        <p:spPr>
          <a:xfrm>
            <a:off x="0" y="0"/>
            <a:ext cx="10689336" cy="642777"/>
          </a:xfrm>
          <a:prstGeom prst="rect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235165" y="95682"/>
            <a:ext cx="8695334" cy="29260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Pembagian kerja, peluncuran bertahap, dan kapan memilih opsi hibrida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235165" y="433754"/>
            <a:ext cx="6035771" cy="16093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880" b="0" i="0">
                <a:solidFill>
                  <a:srgbClr val="9CC7EF"/>
                </a:solidFill>
                <a:latin typeface="Arial"/>
              </a:rPr>
              <a:t>Epik PRD mana yang memakai Odoo, mana yang dibangun di Django + Next.js, dan apa konsekuensinya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984778" y="233729"/>
            <a:ext cx="469392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1000" b="1" i="0">
                <a:solidFill>
                  <a:srgbClr val="9CC7EF"/>
                </a:solidFill>
                <a:latin typeface="Arial"/>
              </a:rPr>
              <a:t>2 / 2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8737732" y="448385"/>
            <a:ext cx="1716438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720" b="0" i="0">
                <a:solidFill>
                  <a:srgbClr val="9CC7EF"/>
                </a:solidFill>
                <a:latin typeface="Arial"/>
              </a:rPr>
              <a:t>Opsi hibrida KDKMP · 12 Okt 2026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235165" y="7379171"/>
            <a:ext cx="8565605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6B7280"/>
                </a:solidFill>
                <a:latin typeface="Arial"/>
              </a:rPr>
              <a:t>Draf untuk diskusi. Turunan dari Arsitektur_Sistem_KDKMP_Berbasis_Riset_12102026 dan PRD (E1–E16). Pembagian modul, lisensi, dan perkiraan bersifat usulan dan perlu diuji dalam percontohan.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235165" y="838001"/>
            <a:ext cx="1658112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Pemetaan 16 epik PRD</a:t>
            </a:r>
          </a:p>
        </p:txBody>
      </p:sp>
      <p:sp>
        <p:nvSpPr>
          <p:cNvPr id="9" name="Box 8"/>
          <p:cNvSpPr/>
          <p:nvPr/>
        </p:nvSpPr>
        <p:spPr>
          <a:xfrm>
            <a:off x="235165" y="1194809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Box 9"/>
          <p:cNvSpPr/>
          <p:nvPr/>
        </p:nvSpPr>
        <p:spPr>
          <a:xfrm>
            <a:off x="235165" y="1194809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 10"/>
          <p:cNvSpPr txBox="1"/>
          <p:nvPr/>
        </p:nvSpPr>
        <p:spPr>
          <a:xfrm>
            <a:off x="295936" y="1331073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E1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577224" y="1240877"/>
            <a:ext cx="508223" cy="1952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Tenant &amp;</a:t>
            </a:r>
          </a:p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orientasi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577224" y="1467858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14" name="Box 13"/>
          <p:cNvSpPr/>
          <p:nvPr/>
        </p:nvSpPr>
        <p:spPr>
          <a:xfrm>
            <a:off x="1496507" y="1194809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Box 14"/>
          <p:cNvSpPr/>
          <p:nvPr/>
        </p:nvSpPr>
        <p:spPr>
          <a:xfrm>
            <a:off x="1496507" y="1194809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 15"/>
          <p:cNvSpPr txBox="1"/>
          <p:nvPr/>
        </p:nvSpPr>
        <p:spPr>
          <a:xfrm>
            <a:off x="1557278" y="1331073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E2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1838565" y="1289683"/>
            <a:ext cx="701588" cy="976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Anggota &amp; RAT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1838565" y="1467858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19" name="Box 18"/>
          <p:cNvSpPr/>
          <p:nvPr/>
        </p:nvSpPr>
        <p:spPr>
          <a:xfrm>
            <a:off x="2757848" y="1194809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Box 19"/>
          <p:cNvSpPr/>
          <p:nvPr/>
        </p:nvSpPr>
        <p:spPr>
          <a:xfrm>
            <a:off x="2757848" y="1194809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 20"/>
          <p:cNvSpPr txBox="1"/>
          <p:nvPr/>
        </p:nvSpPr>
        <p:spPr>
          <a:xfrm>
            <a:off x="2818619" y="1331073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E3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3099907" y="1289683"/>
            <a:ext cx="749929" cy="976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POS multi-unit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3099907" y="1467858"/>
            <a:ext cx="235768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714B67"/>
                </a:solidFill>
                <a:latin typeface="Arial"/>
              </a:rPr>
              <a:t>Odoo</a:t>
            </a:r>
          </a:p>
        </p:txBody>
      </p:sp>
      <p:sp>
        <p:nvSpPr>
          <p:cNvPr id="24" name="Box 23"/>
          <p:cNvSpPr/>
          <p:nvPr/>
        </p:nvSpPr>
        <p:spPr>
          <a:xfrm>
            <a:off x="4019190" y="1194809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Box 24"/>
          <p:cNvSpPr/>
          <p:nvPr/>
        </p:nvSpPr>
        <p:spPr>
          <a:xfrm>
            <a:off x="4019190" y="1194809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 25"/>
          <p:cNvSpPr txBox="1"/>
          <p:nvPr/>
        </p:nvSpPr>
        <p:spPr>
          <a:xfrm>
            <a:off x="4079961" y="1331073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E4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4361249" y="1240877"/>
            <a:ext cx="556564" cy="1952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Persediaan</a:t>
            </a:r>
          </a:p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&amp; pesanan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4361249" y="1467858"/>
            <a:ext cx="235768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714B67"/>
                </a:solidFill>
                <a:latin typeface="Arial"/>
              </a:rPr>
              <a:t>Odoo</a:t>
            </a:r>
          </a:p>
        </p:txBody>
      </p:sp>
      <p:sp>
        <p:nvSpPr>
          <p:cNvPr id="29" name="Box 28"/>
          <p:cNvSpPr/>
          <p:nvPr/>
        </p:nvSpPr>
        <p:spPr>
          <a:xfrm>
            <a:off x="235165" y="1648535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Box 29"/>
          <p:cNvSpPr/>
          <p:nvPr/>
        </p:nvSpPr>
        <p:spPr>
          <a:xfrm>
            <a:off x="235165" y="1648535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 30"/>
          <p:cNvSpPr txBox="1"/>
          <p:nvPr/>
        </p:nvSpPr>
        <p:spPr>
          <a:xfrm>
            <a:off x="295936" y="1784799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E5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577224" y="1694602"/>
            <a:ext cx="556564" cy="1952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Penyaluran</a:t>
            </a:r>
          </a:p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subsidi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577224" y="1921584"/>
            <a:ext cx="357731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F7B6C"/>
                </a:solidFill>
                <a:latin typeface="Arial"/>
              </a:rPr>
              <a:t>Hibrida</a:t>
            </a:r>
          </a:p>
        </p:txBody>
      </p:sp>
      <p:sp>
        <p:nvSpPr>
          <p:cNvPr id="34" name="Box 33"/>
          <p:cNvSpPr/>
          <p:nvPr/>
        </p:nvSpPr>
        <p:spPr>
          <a:xfrm>
            <a:off x="1496507" y="1648535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Box 34"/>
          <p:cNvSpPr/>
          <p:nvPr/>
        </p:nvSpPr>
        <p:spPr>
          <a:xfrm>
            <a:off x="1496507" y="1648535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 35"/>
          <p:cNvSpPr txBox="1"/>
          <p:nvPr/>
        </p:nvSpPr>
        <p:spPr>
          <a:xfrm>
            <a:off x="1557278" y="1784799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E6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1838565" y="1694602"/>
            <a:ext cx="556564" cy="1952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Offtake</a:t>
            </a:r>
          </a:p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hasil desa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1838565" y="1921584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39" name="Box 38"/>
          <p:cNvSpPr/>
          <p:nvPr/>
        </p:nvSpPr>
        <p:spPr>
          <a:xfrm>
            <a:off x="2757848" y="1648535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Box 39"/>
          <p:cNvSpPr/>
          <p:nvPr/>
        </p:nvSpPr>
        <p:spPr>
          <a:xfrm>
            <a:off x="2757848" y="1648535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 40"/>
          <p:cNvSpPr txBox="1"/>
          <p:nvPr/>
        </p:nvSpPr>
        <p:spPr>
          <a:xfrm>
            <a:off x="2818619" y="1784799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E7</a:t>
            </a:r>
          </a:p>
        </p:txBody>
      </p:sp>
      <p:sp>
        <p:nvSpPr>
          <p:cNvPr id="42" name="Text 41"/>
          <p:cNvSpPr txBox="1"/>
          <p:nvPr/>
        </p:nvSpPr>
        <p:spPr>
          <a:xfrm>
            <a:off x="3099907" y="1694602"/>
            <a:ext cx="508223" cy="1952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Akuntansi</a:t>
            </a:r>
          </a:p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koperasi</a:t>
            </a:r>
          </a:p>
        </p:txBody>
      </p:sp>
      <p:sp>
        <p:nvSpPr>
          <p:cNvPr id="43" name="Text 42"/>
          <p:cNvSpPr txBox="1"/>
          <p:nvPr/>
        </p:nvSpPr>
        <p:spPr>
          <a:xfrm>
            <a:off x="3099907" y="1921584"/>
            <a:ext cx="235768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714B67"/>
                </a:solidFill>
                <a:latin typeface="Arial"/>
              </a:rPr>
              <a:t>Odoo</a:t>
            </a:r>
          </a:p>
        </p:txBody>
      </p:sp>
      <p:sp>
        <p:nvSpPr>
          <p:cNvPr id="44" name="Box 43"/>
          <p:cNvSpPr/>
          <p:nvPr/>
        </p:nvSpPr>
        <p:spPr>
          <a:xfrm>
            <a:off x="4019190" y="1648535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5" name="Box 44"/>
          <p:cNvSpPr/>
          <p:nvPr/>
        </p:nvSpPr>
        <p:spPr>
          <a:xfrm>
            <a:off x="4019190" y="1648535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 45"/>
          <p:cNvSpPr txBox="1"/>
          <p:nvPr/>
        </p:nvSpPr>
        <p:spPr>
          <a:xfrm>
            <a:off x="4079961" y="1784799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E8</a:t>
            </a:r>
          </a:p>
        </p:txBody>
      </p:sp>
      <p:sp>
        <p:nvSpPr>
          <p:cNvPr id="47" name="Text 46"/>
          <p:cNvSpPr txBox="1"/>
          <p:nvPr/>
        </p:nvSpPr>
        <p:spPr>
          <a:xfrm>
            <a:off x="4361249" y="1743408"/>
            <a:ext cx="701588" cy="976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Simpan pinjam</a:t>
            </a:r>
          </a:p>
        </p:txBody>
      </p:sp>
      <p:sp>
        <p:nvSpPr>
          <p:cNvPr id="48" name="Text 47"/>
          <p:cNvSpPr txBox="1"/>
          <p:nvPr/>
        </p:nvSpPr>
        <p:spPr>
          <a:xfrm>
            <a:off x="4361249" y="1921584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49" name="Box 48"/>
          <p:cNvSpPr/>
          <p:nvPr/>
        </p:nvSpPr>
        <p:spPr>
          <a:xfrm>
            <a:off x="235165" y="2102260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Box 49"/>
          <p:cNvSpPr/>
          <p:nvPr/>
        </p:nvSpPr>
        <p:spPr>
          <a:xfrm>
            <a:off x="235165" y="2102260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 50"/>
          <p:cNvSpPr txBox="1"/>
          <p:nvPr/>
        </p:nvSpPr>
        <p:spPr>
          <a:xfrm>
            <a:off x="295936" y="2238524"/>
            <a:ext cx="17775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E9</a:t>
            </a:r>
          </a:p>
        </p:txBody>
      </p:sp>
      <p:sp>
        <p:nvSpPr>
          <p:cNvPr id="52" name="Text 51"/>
          <p:cNvSpPr txBox="1"/>
          <p:nvPr/>
        </p:nvSpPr>
        <p:spPr>
          <a:xfrm>
            <a:off x="577224" y="2197134"/>
            <a:ext cx="508223" cy="976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Mesin SHU</a:t>
            </a:r>
          </a:p>
        </p:txBody>
      </p:sp>
      <p:sp>
        <p:nvSpPr>
          <p:cNvPr id="53" name="Text 52"/>
          <p:cNvSpPr txBox="1"/>
          <p:nvPr/>
        </p:nvSpPr>
        <p:spPr>
          <a:xfrm>
            <a:off x="577224" y="2375309"/>
            <a:ext cx="357731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F7B6C"/>
                </a:solidFill>
                <a:latin typeface="Arial"/>
              </a:rPr>
              <a:t>Hibrida</a:t>
            </a:r>
          </a:p>
        </p:txBody>
      </p:sp>
      <p:sp>
        <p:nvSpPr>
          <p:cNvPr id="54" name="Box 53"/>
          <p:cNvSpPr/>
          <p:nvPr/>
        </p:nvSpPr>
        <p:spPr>
          <a:xfrm>
            <a:off x="1496507" y="2102260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5" name="Box 54"/>
          <p:cNvSpPr/>
          <p:nvPr/>
        </p:nvSpPr>
        <p:spPr>
          <a:xfrm>
            <a:off x="1496507" y="2102260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 55"/>
          <p:cNvSpPr txBox="1"/>
          <p:nvPr/>
        </p:nvSpPr>
        <p:spPr>
          <a:xfrm>
            <a:off x="1531126" y="2238524"/>
            <a:ext cx="230063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E10</a:t>
            </a:r>
          </a:p>
        </p:txBody>
      </p:sp>
      <p:sp>
        <p:nvSpPr>
          <p:cNvPr id="57" name="Text 56"/>
          <p:cNvSpPr txBox="1"/>
          <p:nvPr/>
        </p:nvSpPr>
        <p:spPr>
          <a:xfrm>
            <a:off x="1838565" y="2197134"/>
            <a:ext cx="846612" cy="976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Aset &amp; kewajiban</a:t>
            </a:r>
          </a:p>
        </p:txBody>
      </p:sp>
      <p:sp>
        <p:nvSpPr>
          <p:cNvPr id="58" name="Text 57"/>
          <p:cNvSpPr txBox="1"/>
          <p:nvPr/>
        </p:nvSpPr>
        <p:spPr>
          <a:xfrm>
            <a:off x="1838565" y="2375309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59" name="Box 58"/>
          <p:cNvSpPr/>
          <p:nvPr/>
        </p:nvSpPr>
        <p:spPr>
          <a:xfrm>
            <a:off x="2757848" y="2102260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0" name="Box 59"/>
          <p:cNvSpPr/>
          <p:nvPr/>
        </p:nvSpPr>
        <p:spPr>
          <a:xfrm>
            <a:off x="2757848" y="2102260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 60"/>
          <p:cNvSpPr txBox="1"/>
          <p:nvPr/>
        </p:nvSpPr>
        <p:spPr>
          <a:xfrm>
            <a:off x="2792467" y="2238524"/>
            <a:ext cx="230063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E11</a:t>
            </a:r>
          </a:p>
        </p:txBody>
      </p:sp>
      <p:sp>
        <p:nvSpPr>
          <p:cNvPr id="62" name="Text 61"/>
          <p:cNvSpPr txBox="1"/>
          <p:nvPr/>
        </p:nvSpPr>
        <p:spPr>
          <a:xfrm>
            <a:off x="3099907" y="2148327"/>
            <a:ext cx="556564" cy="1952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Pengadaan</a:t>
            </a:r>
          </a:p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transparan</a:t>
            </a:r>
          </a:p>
        </p:txBody>
      </p:sp>
      <p:sp>
        <p:nvSpPr>
          <p:cNvPr id="63" name="Text 62"/>
          <p:cNvSpPr txBox="1"/>
          <p:nvPr/>
        </p:nvSpPr>
        <p:spPr>
          <a:xfrm>
            <a:off x="3099907" y="2375309"/>
            <a:ext cx="357731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F7B6C"/>
                </a:solidFill>
                <a:latin typeface="Arial"/>
              </a:rPr>
              <a:t>Hibrida</a:t>
            </a:r>
          </a:p>
        </p:txBody>
      </p:sp>
      <p:sp>
        <p:nvSpPr>
          <p:cNvPr id="64" name="Box 63"/>
          <p:cNvSpPr/>
          <p:nvPr/>
        </p:nvSpPr>
        <p:spPr>
          <a:xfrm>
            <a:off x="4019190" y="2102260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5" name="Box 64"/>
          <p:cNvSpPr/>
          <p:nvPr/>
        </p:nvSpPr>
        <p:spPr>
          <a:xfrm>
            <a:off x="4019190" y="2102260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 65"/>
          <p:cNvSpPr txBox="1"/>
          <p:nvPr/>
        </p:nvSpPr>
        <p:spPr>
          <a:xfrm>
            <a:off x="4053809" y="2238524"/>
            <a:ext cx="230063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E12</a:t>
            </a:r>
          </a:p>
        </p:txBody>
      </p:sp>
      <p:sp>
        <p:nvSpPr>
          <p:cNvPr id="67" name="Text 66"/>
          <p:cNvSpPr txBox="1"/>
          <p:nvPr/>
        </p:nvSpPr>
        <p:spPr>
          <a:xfrm>
            <a:off x="4361249" y="2197134"/>
            <a:ext cx="701588" cy="976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Mode operator</a:t>
            </a:r>
          </a:p>
        </p:txBody>
      </p:sp>
      <p:sp>
        <p:nvSpPr>
          <p:cNvPr id="68" name="Text 67"/>
          <p:cNvSpPr txBox="1"/>
          <p:nvPr/>
        </p:nvSpPr>
        <p:spPr>
          <a:xfrm>
            <a:off x="4361249" y="2375309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69" name="Box 68"/>
          <p:cNvSpPr/>
          <p:nvPr/>
        </p:nvSpPr>
        <p:spPr>
          <a:xfrm>
            <a:off x="235165" y="2555985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714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0" name="Box 69"/>
          <p:cNvSpPr/>
          <p:nvPr/>
        </p:nvSpPr>
        <p:spPr>
          <a:xfrm>
            <a:off x="235165" y="2555985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 70"/>
          <p:cNvSpPr txBox="1"/>
          <p:nvPr/>
        </p:nvSpPr>
        <p:spPr>
          <a:xfrm>
            <a:off x="269784" y="2692249"/>
            <a:ext cx="230063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E13</a:t>
            </a:r>
          </a:p>
        </p:txBody>
      </p:sp>
      <p:sp>
        <p:nvSpPr>
          <p:cNvPr id="72" name="Text 71"/>
          <p:cNvSpPr txBox="1"/>
          <p:nvPr/>
        </p:nvSpPr>
        <p:spPr>
          <a:xfrm>
            <a:off x="577224" y="2650859"/>
            <a:ext cx="604906" cy="976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Layanan hub</a:t>
            </a:r>
          </a:p>
        </p:txBody>
      </p:sp>
      <p:sp>
        <p:nvSpPr>
          <p:cNvPr id="73" name="Text 72"/>
          <p:cNvSpPr txBox="1"/>
          <p:nvPr/>
        </p:nvSpPr>
        <p:spPr>
          <a:xfrm>
            <a:off x="577224" y="2829034"/>
            <a:ext cx="235768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714B67"/>
                </a:solidFill>
                <a:latin typeface="Arial"/>
              </a:rPr>
              <a:t>Odoo</a:t>
            </a:r>
          </a:p>
        </p:txBody>
      </p:sp>
      <p:sp>
        <p:nvSpPr>
          <p:cNvPr id="74" name="Box 73"/>
          <p:cNvSpPr/>
          <p:nvPr/>
        </p:nvSpPr>
        <p:spPr>
          <a:xfrm>
            <a:off x="1496507" y="2555985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5" name="Box 74"/>
          <p:cNvSpPr/>
          <p:nvPr/>
        </p:nvSpPr>
        <p:spPr>
          <a:xfrm>
            <a:off x="1496507" y="2555985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Text 75"/>
          <p:cNvSpPr txBox="1"/>
          <p:nvPr/>
        </p:nvSpPr>
        <p:spPr>
          <a:xfrm>
            <a:off x="1531126" y="2692249"/>
            <a:ext cx="230063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E14</a:t>
            </a:r>
          </a:p>
        </p:txBody>
      </p:sp>
      <p:sp>
        <p:nvSpPr>
          <p:cNvPr id="77" name="Text 76"/>
          <p:cNvSpPr txBox="1"/>
          <p:nvPr/>
        </p:nvSpPr>
        <p:spPr>
          <a:xfrm>
            <a:off x="1838565" y="2650859"/>
            <a:ext cx="508223" cy="976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Integrasi</a:t>
            </a:r>
          </a:p>
        </p:txBody>
      </p:sp>
      <p:sp>
        <p:nvSpPr>
          <p:cNvPr id="78" name="Text 77"/>
          <p:cNvSpPr txBox="1"/>
          <p:nvPr/>
        </p:nvSpPr>
        <p:spPr>
          <a:xfrm>
            <a:off x="1838565" y="2829034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79" name="Box 78"/>
          <p:cNvSpPr/>
          <p:nvPr/>
        </p:nvSpPr>
        <p:spPr>
          <a:xfrm>
            <a:off x="2757848" y="2555985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0" name="Box 79"/>
          <p:cNvSpPr/>
          <p:nvPr/>
        </p:nvSpPr>
        <p:spPr>
          <a:xfrm>
            <a:off x="2757848" y="2555985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 80"/>
          <p:cNvSpPr txBox="1"/>
          <p:nvPr/>
        </p:nvSpPr>
        <p:spPr>
          <a:xfrm>
            <a:off x="2792467" y="2692249"/>
            <a:ext cx="230063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E15</a:t>
            </a:r>
          </a:p>
        </p:txBody>
      </p:sp>
      <p:sp>
        <p:nvSpPr>
          <p:cNvPr id="82" name="Text 81"/>
          <p:cNvSpPr txBox="1"/>
          <p:nvPr/>
        </p:nvSpPr>
        <p:spPr>
          <a:xfrm>
            <a:off x="3099907" y="2602053"/>
            <a:ext cx="798271" cy="1952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Dasbor &amp;</a:t>
            </a:r>
          </a:p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peringatan dini</a:t>
            </a:r>
          </a:p>
        </p:txBody>
      </p:sp>
      <p:sp>
        <p:nvSpPr>
          <p:cNvPr id="83" name="Text 82"/>
          <p:cNvSpPr txBox="1"/>
          <p:nvPr/>
        </p:nvSpPr>
        <p:spPr>
          <a:xfrm>
            <a:off x="3099907" y="2829034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84" name="Box 83"/>
          <p:cNvSpPr/>
          <p:nvPr/>
        </p:nvSpPr>
        <p:spPr>
          <a:xfrm>
            <a:off x="4019190" y="2555985"/>
            <a:ext cx="1197205" cy="393228"/>
          </a:xfrm>
          <a:prstGeom prst="roundRect">
            <a:avLst>
              <a:gd name="adj" fmla="val 15812"/>
            </a:avLst>
          </a:prstGeom>
          <a:solidFill>
            <a:srgbClr val="FFFFFF"/>
          </a:solidFill>
          <a:ln w="1270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Box 84"/>
          <p:cNvSpPr/>
          <p:nvPr/>
        </p:nvSpPr>
        <p:spPr>
          <a:xfrm>
            <a:off x="4019190" y="2555985"/>
            <a:ext cx="299301" cy="393228"/>
          </a:xfrm>
          <a:prstGeom prst="roundRect">
            <a:avLst>
              <a:gd name="adj" fmla="val 2077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 85"/>
          <p:cNvSpPr txBox="1"/>
          <p:nvPr/>
        </p:nvSpPr>
        <p:spPr>
          <a:xfrm>
            <a:off x="4053809" y="2692249"/>
            <a:ext cx="230063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E16</a:t>
            </a:r>
          </a:p>
        </p:txBody>
      </p:sp>
      <p:sp>
        <p:nvSpPr>
          <p:cNvPr id="87" name="Text 86"/>
          <p:cNvSpPr txBox="1"/>
          <p:nvPr/>
        </p:nvSpPr>
        <p:spPr>
          <a:xfrm>
            <a:off x="4361249" y="2602053"/>
            <a:ext cx="604906" cy="1952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Sertifikasi</a:t>
            </a:r>
          </a:p>
          <a:p>
            <a:pPr algn="l">
              <a:lnSpc>
                <a:spcPct val="102900"/>
              </a:lnSpc>
            </a:pPr>
            <a:r>
              <a:rPr sz="610" b="1" i="0">
                <a:solidFill>
                  <a:srgbClr val="1F2937"/>
                </a:solidFill>
                <a:latin typeface="Arial"/>
              </a:rPr>
              <a:t>vendor</a:t>
            </a:r>
          </a:p>
        </p:txBody>
      </p:sp>
      <p:sp>
        <p:nvSpPr>
          <p:cNvPr id="88" name="Text 87"/>
          <p:cNvSpPr txBox="1"/>
          <p:nvPr/>
        </p:nvSpPr>
        <p:spPr>
          <a:xfrm>
            <a:off x="4361249" y="2829034"/>
            <a:ext cx="723619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89" name="Text 88"/>
          <p:cNvSpPr txBox="1"/>
          <p:nvPr/>
        </p:nvSpPr>
        <p:spPr>
          <a:xfrm>
            <a:off x="235165" y="3046095"/>
            <a:ext cx="5824654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6B7280"/>
                </a:solidFill>
                <a:latin typeface="Arial"/>
              </a:rPr>
              <a:t>Hibrida = data transaksi di Odoo, aturan &amp; kontrol di Django (mis. HET dan kuota subsidi, parameter SHU, persetujuan pengadaan).</a:t>
            </a:r>
          </a:p>
        </p:txBody>
      </p:sp>
      <p:sp>
        <p:nvSpPr>
          <p:cNvPr id="90" name="Text 89"/>
          <p:cNvSpPr txBox="1"/>
          <p:nvPr/>
        </p:nvSpPr>
        <p:spPr>
          <a:xfrm>
            <a:off x="5451561" y="838001"/>
            <a:ext cx="2846832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Peluncuran menurut tingkat koperasi</a:t>
            </a:r>
          </a:p>
        </p:txBody>
      </p:sp>
      <p:sp>
        <p:nvSpPr>
          <p:cNvPr id="91" name="Box 90"/>
          <p:cNvSpPr/>
          <p:nvPr/>
        </p:nvSpPr>
        <p:spPr>
          <a:xfrm>
            <a:off x="5451561" y="1172123"/>
            <a:ext cx="1175826" cy="415914"/>
          </a:xfrm>
          <a:prstGeom prst="roundRect">
            <a:avLst>
              <a:gd name="adj" fmla="val 1494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Text 91"/>
          <p:cNvSpPr txBox="1"/>
          <p:nvPr/>
        </p:nvSpPr>
        <p:spPr>
          <a:xfrm>
            <a:off x="5670057" y="1321407"/>
            <a:ext cx="738835" cy="11734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T0 Terdaftar</a:t>
            </a:r>
          </a:p>
        </p:txBody>
      </p:sp>
      <p:sp>
        <p:nvSpPr>
          <p:cNvPr id="93" name="Box 92"/>
          <p:cNvSpPr/>
          <p:nvPr/>
        </p:nvSpPr>
        <p:spPr>
          <a:xfrm>
            <a:off x="6670145" y="1172123"/>
            <a:ext cx="3784024" cy="415914"/>
          </a:xfrm>
          <a:prstGeom prst="roundRect">
            <a:avLst>
              <a:gd name="adj" fmla="val 14949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Text 93"/>
          <p:cNvSpPr txBox="1"/>
          <p:nvPr/>
        </p:nvSpPr>
        <p:spPr>
          <a:xfrm>
            <a:off x="6755660" y="1271491"/>
            <a:ext cx="2205715" cy="1188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50" b="0" i="0">
                <a:solidFill>
                  <a:srgbClr val="1F2937"/>
                </a:solidFill>
                <a:latin typeface="Arial"/>
              </a:rPr>
              <a:t>Django saja: anggota, RAT, rencana usaha, aset</a:t>
            </a:r>
          </a:p>
        </p:txBody>
      </p:sp>
      <p:sp>
        <p:nvSpPr>
          <p:cNvPr id="95" name="Text 94"/>
          <p:cNvSpPr txBox="1"/>
          <p:nvPr/>
        </p:nvSpPr>
        <p:spPr>
          <a:xfrm>
            <a:off x="6755660" y="1427305"/>
            <a:ext cx="548640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00" b="1" i="0">
                <a:solidFill>
                  <a:srgbClr val="00338D"/>
                </a:solidFill>
                <a:latin typeface="Arial"/>
              </a:rPr>
              <a:t>tanpa Odoo</a:t>
            </a:r>
          </a:p>
        </p:txBody>
      </p:sp>
      <p:sp>
        <p:nvSpPr>
          <p:cNvPr id="96" name="Box 95"/>
          <p:cNvSpPr/>
          <p:nvPr/>
        </p:nvSpPr>
        <p:spPr>
          <a:xfrm>
            <a:off x="5451561" y="1663659"/>
            <a:ext cx="1175826" cy="415914"/>
          </a:xfrm>
          <a:prstGeom prst="roundRect">
            <a:avLst>
              <a:gd name="adj" fmla="val 14949"/>
            </a:avLst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Text 96"/>
          <p:cNvSpPr txBox="1"/>
          <p:nvPr/>
        </p:nvSpPr>
        <p:spPr>
          <a:xfrm>
            <a:off x="5614583" y="1812942"/>
            <a:ext cx="849782" cy="11734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T1 Gerai dasar</a:t>
            </a:r>
          </a:p>
        </p:txBody>
      </p:sp>
      <p:sp>
        <p:nvSpPr>
          <p:cNvPr id="98" name="Box 97"/>
          <p:cNvSpPr/>
          <p:nvPr/>
        </p:nvSpPr>
        <p:spPr>
          <a:xfrm>
            <a:off x="6670145" y="1663659"/>
            <a:ext cx="3784024" cy="415914"/>
          </a:xfrm>
          <a:prstGeom prst="roundRect">
            <a:avLst>
              <a:gd name="adj" fmla="val 14949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Text 98"/>
          <p:cNvSpPr txBox="1"/>
          <p:nvPr/>
        </p:nvSpPr>
        <p:spPr>
          <a:xfrm>
            <a:off x="6755660" y="1763027"/>
            <a:ext cx="2622956" cy="1188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50" b="0" i="0">
                <a:solidFill>
                  <a:srgbClr val="1F2937"/>
                </a:solidFill>
                <a:latin typeface="Arial"/>
              </a:rPr>
              <a:t>+ Odoo POS, Persediaan, Invoicing (template siap pakai)</a:t>
            </a:r>
          </a:p>
        </p:txBody>
      </p:sp>
      <p:sp>
        <p:nvSpPr>
          <p:cNvPr id="100" name="Text 99"/>
          <p:cNvSpPr txBox="1"/>
          <p:nvPr/>
        </p:nvSpPr>
        <p:spPr>
          <a:xfrm>
            <a:off x="6755660" y="1918840"/>
            <a:ext cx="596188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00" b="1" i="0">
                <a:solidFill>
                  <a:srgbClr val="714B67"/>
                </a:solidFill>
                <a:latin typeface="Arial"/>
              </a:rPr>
              <a:t>Odoo ringan</a:t>
            </a:r>
          </a:p>
        </p:txBody>
      </p:sp>
      <p:sp>
        <p:nvSpPr>
          <p:cNvPr id="101" name="Box 100"/>
          <p:cNvSpPr/>
          <p:nvPr/>
        </p:nvSpPr>
        <p:spPr>
          <a:xfrm>
            <a:off x="5451561" y="2155195"/>
            <a:ext cx="1175826" cy="415914"/>
          </a:xfrm>
          <a:prstGeom prst="roundRect">
            <a:avLst>
              <a:gd name="adj" fmla="val 14949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2" name="Text 101"/>
          <p:cNvSpPr txBox="1"/>
          <p:nvPr/>
        </p:nvSpPr>
        <p:spPr>
          <a:xfrm>
            <a:off x="5614583" y="2304478"/>
            <a:ext cx="849782" cy="11734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T2 Multi-usaha</a:t>
            </a:r>
          </a:p>
        </p:txBody>
      </p:sp>
      <p:sp>
        <p:nvSpPr>
          <p:cNvPr id="103" name="Box 102"/>
          <p:cNvSpPr/>
          <p:nvPr/>
        </p:nvSpPr>
        <p:spPr>
          <a:xfrm>
            <a:off x="6670145" y="2155195"/>
            <a:ext cx="3784024" cy="415914"/>
          </a:xfrm>
          <a:prstGeom prst="roundRect">
            <a:avLst>
              <a:gd name="adj" fmla="val 14949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4" name="Text 103"/>
          <p:cNvSpPr txBox="1"/>
          <p:nvPr/>
        </p:nvSpPr>
        <p:spPr>
          <a:xfrm>
            <a:off x="6755660" y="2254562"/>
            <a:ext cx="2483876" cy="1188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50" b="0" i="0">
                <a:solidFill>
                  <a:srgbClr val="1F2937"/>
                </a:solidFill>
                <a:latin typeface="Arial"/>
              </a:rPr>
              <a:t>+ modul subsidi POS, simpan pinjam Django, agen bank</a:t>
            </a:r>
          </a:p>
        </p:txBody>
      </p:sp>
      <p:sp>
        <p:nvSpPr>
          <p:cNvPr id="105" name="Text 104"/>
          <p:cNvSpPr txBox="1"/>
          <p:nvPr/>
        </p:nvSpPr>
        <p:spPr>
          <a:xfrm>
            <a:off x="6755660" y="2410376"/>
            <a:ext cx="691286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00" b="1" i="0">
                <a:solidFill>
                  <a:srgbClr val="0F7B6C"/>
                </a:solidFill>
                <a:latin typeface="Arial"/>
              </a:rPr>
              <a:t>hibrida penuh</a:t>
            </a:r>
          </a:p>
        </p:txBody>
      </p:sp>
      <p:sp>
        <p:nvSpPr>
          <p:cNvPr id="106" name="Box 105"/>
          <p:cNvSpPr/>
          <p:nvPr/>
        </p:nvSpPr>
        <p:spPr>
          <a:xfrm>
            <a:off x="5451561" y="2646730"/>
            <a:ext cx="1175826" cy="415914"/>
          </a:xfrm>
          <a:prstGeom prst="roundRect">
            <a:avLst>
              <a:gd name="adj" fmla="val 14949"/>
            </a:avLst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Text 106"/>
          <p:cNvSpPr txBox="1"/>
          <p:nvPr/>
        </p:nvSpPr>
        <p:spPr>
          <a:xfrm>
            <a:off x="5670057" y="2737340"/>
            <a:ext cx="738835" cy="2346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T3 Pusat</a:t>
            </a:r>
          </a:p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ekonomi desa</a:t>
            </a:r>
          </a:p>
        </p:txBody>
      </p:sp>
      <p:sp>
        <p:nvSpPr>
          <p:cNvPr id="108" name="Box 107"/>
          <p:cNvSpPr/>
          <p:nvPr/>
        </p:nvSpPr>
        <p:spPr>
          <a:xfrm>
            <a:off x="6670145" y="2646730"/>
            <a:ext cx="3784024" cy="415914"/>
          </a:xfrm>
          <a:prstGeom prst="roundRect">
            <a:avLst>
              <a:gd name="adj" fmla="val 14949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9" name="Text 108"/>
          <p:cNvSpPr txBox="1"/>
          <p:nvPr/>
        </p:nvSpPr>
        <p:spPr>
          <a:xfrm>
            <a:off x="6755660" y="2746098"/>
            <a:ext cx="2066635" cy="1188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50" b="0" i="0">
                <a:solidFill>
                  <a:srgbClr val="1F2937"/>
                </a:solidFill>
                <a:latin typeface="Arial"/>
              </a:rPr>
              <a:t>+ offtake, cold storage, terhubung Odoo hub</a:t>
            </a:r>
          </a:p>
        </p:txBody>
      </p:sp>
      <p:sp>
        <p:nvSpPr>
          <p:cNvPr id="110" name="Text 109"/>
          <p:cNvSpPr txBox="1"/>
          <p:nvPr/>
        </p:nvSpPr>
        <p:spPr>
          <a:xfrm>
            <a:off x="6755660" y="2901912"/>
            <a:ext cx="691286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00" b="1" i="0">
                <a:solidFill>
                  <a:srgbClr val="B45309"/>
                </a:solidFill>
                <a:latin typeface="Arial"/>
              </a:rPr>
              <a:t>hibrida + hub</a:t>
            </a:r>
          </a:p>
        </p:txBody>
      </p:sp>
      <p:sp>
        <p:nvSpPr>
          <p:cNvPr id="111" name="Text 110"/>
          <p:cNvSpPr txBox="1"/>
          <p:nvPr/>
        </p:nvSpPr>
        <p:spPr>
          <a:xfrm>
            <a:off x="235165" y="3673784"/>
            <a:ext cx="1420368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Perbandingan opsi</a:t>
            </a:r>
          </a:p>
        </p:txBody>
      </p:sp>
      <p:sp>
        <p:nvSpPr>
          <p:cNvPr id="112" name="Box 111"/>
          <p:cNvSpPr/>
          <p:nvPr/>
        </p:nvSpPr>
        <p:spPr>
          <a:xfrm>
            <a:off x="235165" y="3970096"/>
            <a:ext cx="4970541" cy="3062645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0160">
            <a:solidFill>
              <a:srgbClr val="9CC7E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3" name="Text 112"/>
          <p:cNvSpPr txBox="1"/>
          <p:nvPr/>
        </p:nvSpPr>
        <p:spPr>
          <a:xfrm>
            <a:off x="2739115" y="4030029"/>
            <a:ext cx="935370" cy="2279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680" b="1" i="0">
                <a:solidFill>
                  <a:srgbClr val="00338D"/>
                </a:solidFill>
                <a:latin typeface="Arial"/>
              </a:rPr>
              <a:t>A. Kustom penuh</a:t>
            </a:r>
          </a:p>
          <a:p>
            <a:pPr algn="ctr">
              <a:lnSpc>
                <a:spcPct val="107800"/>
              </a:lnSpc>
            </a:pPr>
            <a:r>
              <a:rPr sz="680" b="1" i="0">
                <a:solidFill>
                  <a:srgbClr val="00338D"/>
                </a:solidFill>
                <a:latin typeface="Arial"/>
              </a:rPr>
              <a:t>Django + Next.js</a:t>
            </a:r>
          </a:p>
        </p:txBody>
      </p:sp>
      <p:sp>
        <p:nvSpPr>
          <p:cNvPr id="114" name="Text 113"/>
          <p:cNvSpPr txBox="1"/>
          <p:nvPr/>
        </p:nvSpPr>
        <p:spPr>
          <a:xfrm>
            <a:off x="3995775" y="4030029"/>
            <a:ext cx="773704" cy="2279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7800"/>
              </a:lnSpc>
            </a:pPr>
            <a:r>
              <a:rPr sz="680" b="1" i="0">
                <a:solidFill>
                  <a:srgbClr val="714B67"/>
                </a:solidFill>
                <a:latin typeface="Arial"/>
              </a:rPr>
              <a:t>B. Hibrida</a:t>
            </a:r>
          </a:p>
          <a:p>
            <a:pPr algn="ctr">
              <a:lnSpc>
                <a:spcPct val="107800"/>
              </a:lnSpc>
            </a:pPr>
            <a:r>
              <a:rPr sz="680" b="1" i="0">
                <a:solidFill>
                  <a:srgbClr val="714B67"/>
                </a:solidFill>
                <a:latin typeface="Arial"/>
              </a:rPr>
              <a:t>Odoo + Django</a:t>
            </a:r>
          </a:p>
        </p:txBody>
      </p:sp>
      <p:sp>
        <p:nvSpPr>
          <p:cNvPr id="115" name="Box 114"/>
          <p:cNvSpPr/>
          <p:nvPr/>
        </p:nvSpPr>
        <p:spPr>
          <a:xfrm>
            <a:off x="320680" y="4408697"/>
            <a:ext cx="4799511" cy="257110"/>
          </a:xfrm>
          <a:prstGeom prst="roundRect">
            <a:avLst>
              <a:gd name="adj" fmla="val 12091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Text 115"/>
          <p:cNvSpPr txBox="1"/>
          <p:nvPr/>
        </p:nvSpPr>
        <p:spPr>
          <a:xfrm>
            <a:off x="406194" y="4476902"/>
            <a:ext cx="1014618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60" b="0" i="0">
                <a:solidFill>
                  <a:srgbClr val="1F2937"/>
                </a:solidFill>
                <a:latin typeface="Arial"/>
              </a:rPr>
              <a:t>Waktu ke percontohan</a:t>
            </a:r>
          </a:p>
        </p:txBody>
      </p:sp>
      <p:sp>
        <p:nvSpPr>
          <p:cNvPr id="117" name="Badge 116"/>
          <p:cNvSpPr/>
          <p:nvPr/>
        </p:nvSpPr>
        <p:spPr>
          <a:xfrm>
            <a:off x="2976980" y="4495661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Badge 117"/>
          <p:cNvSpPr/>
          <p:nvPr/>
        </p:nvSpPr>
        <p:spPr>
          <a:xfrm>
            <a:off x="3148009" y="4495661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Badge 118"/>
          <p:cNvSpPr/>
          <p:nvPr/>
        </p:nvSpPr>
        <p:spPr>
          <a:xfrm>
            <a:off x="3319038" y="4495661"/>
            <a:ext cx="117582" cy="831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33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Badge 119"/>
          <p:cNvSpPr/>
          <p:nvPr/>
        </p:nvSpPr>
        <p:spPr>
          <a:xfrm>
            <a:off x="4152807" y="4495661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Badge 120"/>
          <p:cNvSpPr/>
          <p:nvPr/>
        </p:nvSpPr>
        <p:spPr>
          <a:xfrm>
            <a:off x="4323836" y="4495661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Badge 121"/>
          <p:cNvSpPr/>
          <p:nvPr/>
        </p:nvSpPr>
        <p:spPr>
          <a:xfrm>
            <a:off x="4494865" y="4495661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 122"/>
          <p:cNvSpPr txBox="1"/>
          <p:nvPr/>
        </p:nvSpPr>
        <p:spPr>
          <a:xfrm>
            <a:off x="406194" y="4794510"/>
            <a:ext cx="1626571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60" b="0" i="0">
                <a:solidFill>
                  <a:srgbClr val="1F2937"/>
                </a:solidFill>
                <a:latin typeface="Arial"/>
              </a:rPr>
              <a:t>Kematangan akuntansi, stok, kasir</a:t>
            </a:r>
          </a:p>
        </p:txBody>
      </p:sp>
      <p:sp>
        <p:nvSpPr>
          <p:cNvPr id="124" name="Badge 123"/>
          <p:cNvSpPr/>
          <p:nvPr/>
        </p:nvSpPr>
        <p:spPr>
          <a:xfrm>
            <a:off x="2976980" y="4813269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Badge 124"/>
          <p:cNvSpPr/>
          <p:nvPr/>
        </p:nvSpPr>
        <p:spPr>
          <a:xfrm>
            <a:off x="3148009" y="4813269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Badge 125"/>
          <p:cNvSpPr/>
          <p:nvPr/>
        </p:nvSpPr>
        <p:spPr>
          <a:xfrm>
            <a:off x="3319038" y="4813269"/>
            <a:ext cx="117582" cy="831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33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Badge 126"/>
          <p:cNvSpPr/>
          <p:nvPr/>
        </p:nvSpPr>
        <p:spPr>
          <a:xfrm>
            <a:off x="4152807" y="4813269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Badge 127"/>
          <p:cNvSpPr/>
          <p:nvPr/>
        </p:nvSpPr>
        <p:spPr>
          <a:xfrm>
            <a:off x="4323836" y="4813269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Badge 128"/>
          <p:cNvSpPr/>
          <p:nvPr/>
        </p:nvSpPr>
        <p:spPr>
          <a:xfrm>
            <a:off x="4494865" y="4813269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Box 129"/>
          <p:cNvSpPr/>
          <p:nvPr/>
        </p:nvSpPr>
        <p:spPr>
          <a:xfrm>
            <a:off x="320680" y="5043912"/>
            <a:ext cx="4799511" cy="257110"/>
          </a:xfrm>
          <a:prstGeom prst="roundRect">
            <a:avLst>
              <a:gd name="adj" fmla="val 12091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1" name="Text 130"/>
          <p:cNvSpPr txBox="1"/>
          <p:nvPr/>
        </p:nvSpPr>
        <p:spPr>
          <a:xfrm>
            <a:off x="406194" y="5112117"/>
            <a:ext cx="1673644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60" b="0" i="0">
                <a:solidFill>
                  <a:srgbClr val="1F2937"/>
                </a:solidFill>
                <a:latin typeface="Arial"/>
              </a:rPr>
              <a:t>Kesesuaian kebutuhan khas koperasi</a:t>
            </a:r>
          </a:p>
        </p:txBody>
      </p:sp>
      <p:sp>
        <p:nvSpPr>
          <p:cNvPr id="132" name="Badge 131"/>
          <p:cNvSpPr/>
          <p:nvPr/>
        </p:nvSpPr>
        <p:spPr>
          <a:xfrm>
            <a:off x="2976980" y="5130876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Badge 132"/>
          <p:cNvSpPr/>
          <p:nvPr/>
        </p:nvSpPr>
        <p:spPr>
          <a:xfrm>
            <a:off x="3148009" y="5130876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Badge 133"/>
          <p:cNvSpPr/>
          <p:nvPr/>
        </p:nvSpPr>
        <p:spPr>
          <a:xfrm>
            <a:off x="3319038" y="5130876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Badge 134"/>
          <p:cNvSpPr/>
          <p:nvPr/>
        </p:nvSpPr>
        <p:spPr>
          <a:xfrm>
            <a:off x="4152807" y="5130876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Badge 135"/>
          <p:cNvSpPr/>
          <p:nvPr/>
        </p:nvSpPr>
        <p:spPr>
          <a:xfrm>
            <a:off x="4323836" y="5130876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Badge 136"/>
          <p:cNvSpPr/>
          <p:nvPr/>
        </p:nvSpPr>
        <p:spPr>
          <a:xfrm>
            <a:off x="4494865" y="5130876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 137"/>
          <p:cNvSpPr txBox="1"/>
          <p:nvPr/>
        </p:nvSpPr>
        <p:spPr>
          <a:xfrm>
            <a:off x="406194" y="5429725"/>
            <a:ext cx="1155838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60" b="0" i="0">
                <a:solidFill>
                  <a:srgbClr val="1F2937"/>
                </a:solidFill>
                <a:latin typeface="Arial"/>
              </a:rPr>
              <a:t>Biaya pengembangan awal</a:t>
            </a:r>
          </a:p>
        </p:txBody>
      </p:sp>
      <p:sp>
        <p:nvSpPr>
          <p:cNvPr id="139" name="Badge 138"/>
          <p:cNvSpPr/>
          <p:nvPr/>
        </p:nvSpPr>
        <p:spPr>
          <a:xfrm>
            <a:off x="2976980" y="5448484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Badge 139"/>
          <p:cNvSpPr/>
          <p:nvPr/>
        </p:nvSpPr>
        <p:spPr>
          <a:xfrm>
            <a:off x="3148009" y="5448484"/>
            <a:ext cx="117582" cy="831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33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Badge 140"/>
          <p:cNvSpPr/>
          <p:nvPr/>
        </p:nvSpPr>
        <p:spPr>
          <a:xfrm>
            <a:off x="3319038" y="5448484"/>
            <a:ext cx="117582" cy="831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33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Badge 141"/>
          <p:cNvSpPr/>
          <p:nvPr/>
        </p:nvSpPr>
        <p:spPr>
          <a:xfrm>
            <a:off x="4152807" y="5448484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Badge 142"/>
          <p:cNvSpPr/>
          <p:nvPr/>
        </p:nvSpPr>
        <p:spPr>
          <a:xfrm>
            <a:off x="4323836" y="5448484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Badge 143"/>
          <p:cNvSpPr/>
          <p:nvPr/>
        </p:nvSpPr>
        <p:spPr>
          <a:xfrm>
            <a:off x="4494865" y="5448484"/>
            <a:ext cx="117582" cy="831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14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Box 144"/>
          <p:cNvSpPr/>
          <p:nvPr/>
        </p:nvSpPr>
        <p:spPr>
          <a:xfrm>
            <a:off x="320680" y="5679128"/>
            <a:ext cx="4799511" cy="257110"/>
          </a:xfrm>
          <a:prstGeom prst="roundRect">
            <a:avLst>
              <a:gd name="adj" fmla="val 12091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6" name="Text 145"/>
          <p:cNvSpPr txBox="1"/>
          <p:nvPr/>
        </p:nvSpPr>
        <p:spPr>
          <a:xfrm>
            <a:off x="406194" y="5747333"/>
            <a:ext cx="1391204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60" b="0" i="0">
                <a:solidFill>
                  <a:srgbClr val="1F2937"/>
                </a:solidFill>
                <a:latin typeface="Arial"/>
              </a:rPr>
              <a:t>Beban operasi 80 ribu tenant</a:t>
            </a:r>
          </a:p>
        </p:txBody>
      </p:sp>
      <p:sp>
        <p:nvSpPr>
          <p:cNvPr id="147" name="Badge 146"/>
          <p:cNvSpPr/>
          <p:nvPr/>
        </p:nvSpPr>
        <p:spPr>
          <a:xfrm>
            <a:off x="2976980" y="5766092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Badge 147"/>
          <p:cNvSpPr/>
          <p:nvPr/>
        </p:nvSpPr>
        <p:spPr>
          <a:xfrm>
            <a:off x="3148009" y="5766092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Badge 148"/>
          <p:cNvSpPr/>
          <p:nvPr/>
        </p:nvSpPr>
        <p:spPr>
          <a:xfrm>
            <a:off x="3319038" y="5766092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Badge 149"/>
          <p:cNvSpPr/>
          <p:nvPr/>
        </p:nvSpPr>
        <p:spPr>
          <a:xfrm>
            <a:off x="4152807" y="5766092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Badge 150"/>
          <p:cNvSpPr/>
          <p:nvPr/>
        </p:nvSpPr>
        <p:spPr>
          <a:xfrm>
            <a:off x="4323836" y="5766092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Badge 151"/>
          <p:cNvSpPr/>
          <p:nvPr/>
        </p:nvSpPr>
        <p:spPr>
          <a:xfrm>
            <a:off x="4494865" y="5766092"/>
            <a:ext cx="117582" cy="831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14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 152"/>
          <p:cNvSpPr txBox="1"/>
          <p:nvPr/>
        </p:nvSpPr>
        <p:spPr>
          <a:xfrm>
            <a:off x="406194" y="6064940"/>
            <a:ext cx="873398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60" b="0" i="0">
                <a:solidFill>
                  <a:srgbClr val="1F2937"/>
                </a:solidFill>
                <a:latin typeface="Arial"/>
              </a:rPr>
              <a:t>Kemudahan upgrade</a:t>
            </a:r>
          </a:p>
        </p:txBody>
      </p:sp>
      <p:sp>
        <p:nvSpPr>
          <p:cNvPr id="154" name="Badge 153"/>
          <p:cNvSpPr/>
          <p:nvPr/>
        </p:nvSpPr>
        <p:spPr>
          <a:xfrm>
            <a:off x="2976980" y="6083699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Badge 154"/>
          <p:cNvSpPr/>
          <p:nvPr/>
        </p:nvSpPr>
        <p:spPr>
          <a:xfrm>
            <a:off x="3148009" y="6083699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adge 155"/>
          <p:cNvSpPr/>
          <p:nvPr/>
        </p:nvSpPr>
        <p:spPr>
          <a:xfrm>
            <a:off x="3319038" y="6083699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Badge 156"/>
          <p:cNvSpPr/>
          <p:nvPr/>
        </p:nvSpPr>
        <p:spPr>
          <a:xfrm>
            <a:off x="4152807" y="6083699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Badge 157"/>
          <p:cNvSpPr/>
          <p:nvPr/>
        </p:nvSpPr>
        <p:spPr>
          <a:xfrm>
            <a:off x="4323836" y="6083699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Badge 158"/>
          <p:cNvSpPr/>
          <p:nvPr/>
        </p:nvSpPr>
        <p:spPr>
          <a:xfrm>
            <a:off x="4494865" y="6083699"/>
            <a:ext cx="117582" cy="831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14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Box 159"/>
          <p:cNvSpPr/>
          <p:nvPr/>
        </p:nvSpPr>
        <p:spPr>
          <a:xfrm>
            <a:off x="320680" y="6314343"/>
            <a:ext cx="4799511" cy="257110"/>
          </a:xfrm>
          <a:prstGeom prst="roundRect">
            <a:avLst>
              <a:gd name="adj" fmla="val 12091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Text 160"/>
          <p:cNvSpPr txBox="1"/>
          <p:nvPr/>
        </p:nvSpPr>
        <p:spPr>
          <a:xfrm>
            <a:off x="406194" y="6382548"/>
            <a:ext cx="1391204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60" b="0" i="0">
                <a:solidFill>
                  <a:srgbClr val="1F2937"/>
                </a:solidFill>
                <a:latin typeface="Arial"/>
              </a:rPr>
              <a:t>Risiko ketergantungan vendor</a:t>
            </a:r>
          </a:p>
        </p:txBody>
      </p:sp>
      <p:sp>
        <p:nvSpPr>
          <p:cNvPr id="162" name="Badge 161"/>
          <p:cNvSpPr/>
          <p:nvPr/>
        </p:nvSpPr>
        <p:spPr>
          <a:xfrm>
            <a:off x="2976980" y="6401307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Badge 162"/>
          <p:cNvSpPr/>
          <p:nvPr/>
        </p:nvSpPr>
        <p:spPr>
          <a:xfrm>
            <a:off x="3148009" y="6401307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 163"/>
          <p:cNvSpPr/>
          <p:nvPr/>
        </p:nvSpPr>
        <p:spPr>
          <a:xfrm>
            <a:off x="3319038" y="6401307"/>
            <a:ext cx="117582" cy="83182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Badge 164"/>
          <p:cNvSpPr/>
          <p:nvPr/>
        </p:nvSpPr>
        <p:spPr>
          <a:xfrm>
            <a:off x="4152807" y="6401307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 165"/>
          <p:cNvSpPr/>
          <p:nvPr/>
        </p:nvSpPr>
        <p:spPr>
          <a:xfrm>
            <a:off x="4323836" y="6401307"/>
            <a:ext cx="117582" cy="83182"/>
          </a:xfrm>
          <a:prstGeom prst="ellipse">
            <a:avLst/>
          </a:prstGeom>
          <a:solidFill>
            <a:srgbClr val="714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 166"/>
          <p:cNvSpPr/>
          <p:nvPr/>
        </p:nvSpPr>
        <p:spPr>
          <a:xfrm>
            <a:off x="4494865" y="6401307"/>
            <a:ext cx="117582" cy="831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14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 167"/>
          <p:cNvSpPr txBox="1"/>
          <p:nvPr/>
        </p:nvSpPr>
        <p:spPr>
          <a:xfrm>
            <a:off x="406194" y="6777752"/>
            <a:ext cx="413857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74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●●● = paling menguntungkan bagi program. "Beban operasi" dan "upgrade" lebih berat</a:t>
            </a:r>
          </a:p>
          <a:p>
            <a:pPr algn="l">
              <a:lnSpc>
                <a:spcPct val="1274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pada Odoo karena banyak database dan versi mayor yang harus diikuti. Penilaian kualitatif kami.</a:t>
            </a:r>
          </a:p>
        </p:txBody>
      </p:sp>
      <p:sp>
        <p:nvSpPr>
          <p:cNvPr id="169" name="Text 168"/>
          <p:cNvSpPr txBox="1"/>
          <p:nvPr/>
        </p:nvSpPr>
        <p:spPr>
          <a:xfrm>
            <a:off x="5451561" y="3673784"/>
            <a:ext cx="2846832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Risiko opsi hibrida dan mitigasinya</a:t>
            </a:r>
          </a:p>
        </p:txBody>
      </p:sp>
      <p:sp>
        <p:nvSpPr>
          <p:cNvPr id="170" name="Box 169"/>
          <p:cNvSpPr/>
          <p:nvPr/>
        </p:nvSpPr>
        <p:spPr>
          <a:xfrm>
            <a:off x="5451561" y="4045717"/>
            <a:ext cx="5002609" cy="453725"/>
          </a:xfrm>
          <a:prstGeom prst="roundRect">
            <a:avLst>
              <a:gd name="adj" fmla="val 13704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1" name="Text 170"/>
          <p:cNvSpPr txBox="1"/>
          <p:nvPr/>
        </p:nvSpPr>
        <p:spPr>
          <a:xfrm>
            <a:off x="5558454" y="4125388"/>
            <a:ext cx="1182624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B45309"/>
                </a:solidFill>
                <a:latin typeface="Arial"/>
              </a:rPr>
              <a:t>Ribuan database Odoo</a:t>
            </a:r>
          </a:p>
        </p:txBody>
      </p:sp>
      <p:sp>
        <p:nvSpPr>
          <p:cNvPr id="172" name="Text 171"/>
          <p:cNvSpPr txBox="1"/>
          <p:nvPr/>
        </p:nvSpPr>
        <p:spPr>
          <a:xfrm>
            <a:off x="5558454" y="4306631"/>
            <a:ext cx="3831884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klaster per kabupaten, provisioning &amp; backup otomatis dari Django (E1); T0 tanpa Odoo</a:t>
            </a:r>
          </a:p>
        </p:txBody>
      </p:sp>
      <p:sp>
        <p:nvSpPr>
          <p:cNvPr id="173" name="Box 172"/>
          <p:cNvSpPr/>
          <p:nvPr/>
        </p:nvSpPr>
        <p:spPr>
          <a:xfrm>
            <a:off x="5451561" y="4559939"/>
            <a:ext cx="5002609" cy="453725"/>
          </a:xfrm>
          <a:prstGeom prst="roundRect">
            <a:avLst>
              <a:gd name="adj" fmla="val 13704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" name="Text 173"/>
          <p:cNvSpPr txBox="1"/>
          <p:nvPr/>
        </p:nvSpPr>
        <p:spPr>
          <a:xfrm>
            <a:off x="5558454" y="4639610"/>
            <a:ext cx="1127150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B45309"/>
                </a:solidFill>
                <a:latin typeface="Arial"/>
              </a:rPr>
              <a:t>Upgrade versi mayor</a:t>
            </a:r>
          </a:p>
        </p:txBody>
      </p:sp>
      <p:sp>
        <p:nvSpPr>
          <p:cNvPr id="175" name="Text 174"/>
          <p:cNvSpPr txBox="1"/>
          <p:nvPr/>
        </p:nvSpPr>
        <p:spPr>
          <a:xfrm>
            <a:off x="5558454" y="4820853"/>
            <a:ext cx="3964545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modul kustom seminimal mungkin, pakai OCA, uji regresi otomatis, jendela upgrade tahunan</a:t>
            </a:r>
          </a:p>
        </p:txBody>
      </p:sp>
      <p:sp>
        <p:nvSpPr>
          <p:cNvPr id="176" name="Box 175"/>
          <p:cNvSpPr/>
          <p:nvPr/>
        </p:nvSpPr>
        <p:spPr>
          <a:xfrm>
            <a:off x="5451561" y="5074161"/>
            <a:ext cx="5002609" cy="453725"/>
          </a:xfrm>
          <a:prstGeom prst="roundRect">
            <a:avLst>
              <a:gd name="adj" fmla="val 1370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7" name="Text 176"/>
          <p:cNvSpPr txBox="1"/>
          <p:nvPr/>
        </p:nvSpPr>
        <p:spPr>
          <a:xfrm>
            <a:off x="5558454" y="5153832"/>
            <a:ext cx="905256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00338D"/>
                </a:solidFill>
                <a:latin typeface="Arial"/>
              </a:rPr>
              <a:t>Dua sumber data</a:t>
            </a:r>
          </a:p>
        </p:txBody>
      </p:sp>
      <p:sp>
        <p:nvSpPr>
          <p:cNvPr id="178" name="Text 177"/>
          <p:cNvSpPr txBox="1"/>
          <p:nvPr/>
        </p:nvSpPr>
        <p:spPr>
          <a:xfrm>
            <a:off x="5558454" y="5335075"/>
            <a:ext cx="3212799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satu pemilik per entitas, ID bersama, rekonsiliasi harian Odoo ↔ Django</a:t>
            </a:r>
          </a:p>
        </p:txBody>
      </p:sp>
      <p:sp>
        <p:nvSpPr>
          <p:cNvPr id="179" name="Box 178"/>
          <p:cNvSpPr/>
          <p:nvPr/>
        </p:nvSpPr>
        <p:spPr>
          <a:xfrm>
            <a:off x="5451561" y="5588383"/>
            <a:ext cx="5002609" cy="453725"/>
          </a:xfrm>
          <a:prstGeom prst="roundRect">
            <a:avLst>
              <a:gd name="adj" fmla="val 1370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0" name="Text 179"/>
          <p:cNvSpPr txBox="1"/>
          <p:nvPr/>
        </p:nvSpPr>
        <p:spPr>
          <a:xfrm>
            <a:off x="5558454" y="5668054"/>
            <a:ext cx="905256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00338D"/>
                </a:solidFill>
                <a:latin typeface="Arial"/>
              </a:rPr>
              <a:t>Lisensi &amp; biaya</a:t>
            </a:r>
          </a:p>
        </p:txBody>
      </p:sp>
      <p:sp>
        <p:nvSpPr>
          <p:cNvPr id="181" name="Text 180"/>
          <p:cNvSpPr txBox="1"/>
          <p:nvPr/>
        </p:nvSpPr>
        <p:spPr>
          <a:xfrm>
            <a:off x="5558454" y="5849297"/>
            <a:ext cx="4406749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Community + OCA (LGPL v3) tanpa biaya per pengguna; Enterprise hanya bila nilai tambahnya terbukti</a:t>
            </a:r>
          </a:p>
        </p:txBody>
      </p:sp>
      <p:sp>
        <p:nvSpPr>
          <p:cNvPr id="182" name="Box 181"/>
          <p:cNvSpPr/>
          <p:nvPr/>
        </p:nvSpPr>
        <p:spPr>
          <a:xfrm>
            <a:off x="5451561" y="6102605"/>
            <a:ext cx="5002609" cy="453725"/>
          </a:xfrm>
          <a:prstGeom prst="roundRect">
            <a:avLst>
              <a:gd name="adj" fmla="val 1370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3" name="Text 182"/>
          <p:cNvSpPr txBox="1"/>
          <p:nvPr/>
        </p:nvSpPr>
        <p:spPr>
          <a:xfrm>
            <a:off x="5558454" y="6182276"/>
            <a:ext cx="905256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00" b="1" i="0">
                <a:solidFill>
                  <a:srgbClr val="00338D"/>
                </a:solidFill>
                <a:latin typeface="Arial"/>
              </a:rPr>
              <a:t>Kunci pada Odoo</a:t>
            </a:r>
          </a:p>
        </p:txBody>
      </p:sp>
      <p:sp>
        <p:nvSpPr>
          <p:cNvPr id="184" name="Text 183"/>
          <p:cNvSpPr txBox="1"/>
          <p:nvPr/>
        </p:nvSpPr>
        <p:spPr>
          <a:xfrm>
            <a:off x="5558454" y="6363519"/>
            <a:ext cx="3345460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Next.js tidak memanggil Odoo langsung; Django sebagai lapisan anti-korupsi</a:t>
            </a:r>
          </a:p>
        </p:txBody>
      </p:sp>
      <p:sp>
        <p:nvSpPr>
          <p:cNvPr id="185" name="Box 184"/>
          <p:cNvSpPr/>
          <p:nvPr/>
        </p:nvSpPr>
        <p:spPr>
          <a:xfrm>
            <a:off x="5451561" y="6616827"/>
            <a:ext cx="5002609" cy="453725"/>
          </a:xfrm>
          <a:prstGeom prst="roundRect">
            <a:avLst>
              <a:gd name="adj" fmla="val 1370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6" name="Text 185"/>
          <p:cNvSpPr txBox="1"/>
          <p:nvPr/>
        </p:nvSpPr>
        <p:spPr>
          <a:xfrm>
            <a:off x="5641872" y="6688936"/>
            <a:ext cx="4621987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Rekomendasi: Opsi B untuk percontohan bila kecepatan ke lapangan menjadi prioritas</a:t>
            </a:r>
          </a:p>
        </p:txBody>
      </p:sp>
      <p:sp>
        <p:nvSpPr>
          <p:cNvPr id="187" name="Text 186"/>
          <p:cNvSpPr txBox="1"/>
          <p:nvPr/>
        </p:nvSpPr>
        <p:spPr>
          <a:xfrm>
            <a:off x="5815821" y="6885303"/>
            <a:ext cx="4274088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9CC7EF"/>
                </a:solidFill>
                <a:latin typeface="Arial"/>
              </a:rPr>
              <a:t>tinjau ulang pada gerbang R1 (bulan 9) berdasarkan beban operasi dan biaya upgrade yang terukur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Infografis Arsitektur Hibrida Odoo + Django KDKMP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