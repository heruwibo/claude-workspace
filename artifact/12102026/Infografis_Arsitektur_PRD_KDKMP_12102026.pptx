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Halaman 1: kenyataan program KDKMP, enam lapisan Platform Federasi, delapan prinsip desain, dan rantai pasok dua arah.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Halaman 2: arsitektur teknis dengan frontend Next.js, backend Django (16 app = 16 epik PRD), dan LLM open-weight yang berjalan di komputer lokal.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Halaman 3: PRD dalam satu halaman: visi, sasaran G1–G6, persona, rilis R0–R3, 16 epik, kebutuhan non-fungsional, gerbang penerimaan R1.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 1"/>
          <p:cNvSpPr/>
          <p:nvPr/>
        </p:nvSpPr>
        <p:spPr>
          <a:xfrm>
            <a:off x="0" y="0"/>
            <a:ext cx="10689336" cy="642777"/>
          </a:xfrm>
          <a:prstGeom prst="rect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235165" y="86538"/>
            <a:ext cx="6674510" cy="3108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KDKMP: dari rantai toko menjadi Platform Federasi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235165" y="433754"/>
            <a:ext cx="6098535" cy="16093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880" b="0" i="0">
                <a:solidFill>
                  <a:srgbClr val="9CC7EF"/>
                </a:solidFill>
                <a:latin typeface="Arial"/>
              </a:rPr>
              <a:t>Mengapa arsitektur diubah, seperti apa bentuknya, dan bagaimana barang serta hasil desa mengalir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984778" y="233729"/>
            <a:ext cx="469392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1000" b="1" i="0">
                <a:solidFill>
                  <a:srgbClr val="9CC7EF"/>
                </a:solidFill>
                <a:latin typeface="Arial"/>
              </a:rPr>
              <a:t>1 / 3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8480968" y="448385"/>
            <a:ext cx="1973202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720" b="0" i="0">
                <a:solidFill>
                  <a:srgbClr val="9CC7EF"/>
                </a:solidFill>
                <a:latin typeface="Arial"/>
              </a:rPr>
              <a:t>Platform Federasi KDKMP · 12 Okt 2026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235165" y="7379171"/>
            <a:ext cx="8251070" cy="1152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30" b="0" i="0">
                <a:solidFill>
                  <a:srgbClr val="6B7280"/>
                </a:solidFill>
                <a:latin typeface="Arial"/>
              </a:rPr>
              <a:t>Draf untuk diskusi. Sumber: Arsitektur_Sistem_KDKMP_Berbasis_Riset_12102026 (Bab 1–15 dan PRD P1–P8). Angka program per Sep–Okt 2026 dari Simkopdes/ANTARA; rancangan bersifat usulan.</a:t>
            </a:r>
          </a:p>
        </p:txBody>
      </p:sp>
      <p:sp>
        <p:nvSpPr>
          <p:cNvPr id="8" name="Box 7"/>
          <p:cNvSpPr/>
          <p:nvPr/>
        </p:nvSpPr>
        <p:spPr>
          <a:xfrm>
            <a:off x="235165" y="794019"/>
            <a:ext cx="1624779" cy="604967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 w="12700">
            <a:solidFill>
              <a:srgbClr val="9CC7E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 8"/>
          <p:cNvSpPr txBox="1"/>
          <p:nvPr/>
        </p:nvSpPr>
        <p:spPr>
          <a:xfrm>
            <a:off x="701911" y="849075"/>
            <a:ext cx="691286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300" b="1" i="0">
                <a:solidFill>
                  <a:srgbClr val="00338D"/>
                </a:solidFill>
                <a:latin typeface="Arial"/>
              </a:rPr>
              <a:t>83.363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453231" y="1193127"/>
            <a:ext cx="1188646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0" i="0">
                <a:solidFill>
                  <a:srgbClr val="6B7280"/>
                </a:solidFill>
                <a:latin typeface="Arial"/>
              </a:rPr>
              <a:t>koperasi berbadan hukum</a:t>
            </a:r>
          </a:p>
        </p:txBody>
      </p:sp>
      <p:sp>
        <p:nvSpPr>
          <p:cNvPr id="11" name="Box 10"/>
          <p:cNvSpPr/>
          <p:nvPr/>
        </p:nvSpPr>
        <p:spPr>
          <a:xfrm>
            <a:off x="1958286" y="794019"/>
            <a:ext cx="1624779" cy="604967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 w="12700">
            <a:solidFill>
              <a:srgbClr val="9CC7E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 11"/>
          <p:cNvSpPr txBox="1"/>
          <p:nvPr/>
        </p:nvSpPr>
        <p:spPr>
          <a:xfrm>
            <a:off x="2322010" y="849075"/>
            <a:ext cx="897331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300" b="1" i="0">
                <a:solidFill>
                  <a:srgbClr val="00338D"/>
                </a:solidFill>
                <a:latin typeface="Arial"/>
              </a:rPr>
              <a:t>± 27.589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2224852" y="1193127"/>
            <a:ext cx="1091647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0" i="0">
                <a:solidFill>
                  <a:srgbClr val="6B7280"/>
                </a:solidFill>
                <a:latin typeface="Arial"/>
              </a:rPr>
              <a:t>gerai fisik terbangun</a:t>
            </a:r>
          </a:p>
        </p:txBody>
      </p:sp>
      <p:sp>
        <p:nvSpPr>
          <p:cNvPr id="14" name="Box 13"/>
          <p:cNvSpPr/>
          <p:nvPr/>
        </p:nvSpPr>
        <p:spPr>
          <a:xfrm>
            <a:off x="3681407" y="794019"/>
            <a:ext cx="1624779" cy="604967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 w="12700">
            <a:solidFill>
              <a:srgbClr val="9CC7E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 14"/>
          <p:cNvSpPr txBox="1"/>
          <p:nvPr/>
        </p:nvSpPr>
        <p:spPr>
          <a:xfrm>
            <a:off x="3993620" y="849075"/>
            <a:ext cx="1000353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300" b="1" i="0">
                <a:solidFill>
                  <a:srgbClr val="00338D"/>
                </a:solidFill>
                <a:latin typeface="Arial"/>
              </a:rPr>
              <a:t>&gt; Rp207 M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3826723" y="1193127"/>
            <a:ext cx="1334146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0" i="0">
                <a:solidFill>
                  <a:srgbClr val="6B7280"/>
                </a:solidFill>
                <a:latin typeface="Arial"/>
              </a:rPr>
              <a:t>transaksi gerai beroperasi</a:t>
            </a:r>
          </a:p>
        </p:txBody>
      </p:sp>
      <p:sp>
        <p:nvSpPr>
          <p:cNvPr id="17" name="Box 16"/>
          <p:cNvSpPr/>
          <p:nvPr/>
        </p:nvSpPr>
        <p:spPr>
          <a:xfrm>
            <a:off x="5404528" y="794019"/>
            <a:ext cx="1624779" cy="604967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 w="12700">
            <a:solidFill>
              <a:srgbClr val="9CC7E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 17"/>
          <p:cNvSpPr txBox="1"/>
          <p:nvPr/>
        </p:nvSpPr>
        <p:spPr>
          <a:xfrm>
            <a:off x="6025808" y="849075"/>
            <a:ext cx="382219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300" b="1" i="0">
                <a:solidFill>
                  <a:srgbClr val="00338D"/>
                </a:solidFill>
                <a:latin typeface="Arial"/>
              </a:rPr>
              <a:t>7–8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5622594" y="1193127"/>
            <a:ext cx="1188646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0" i="0">
                <a:solidFill>
                  <a:srgbClr val="6B7280"/>
                </a:solidFill>
                <a:latin typeface="Arial"/>
              </a:rPr>
              <a:t>unit usaha per koperasi</a:t>
            </a:r>
          </a:p>
        </p:txBody>
      </p:sp>
      <p:sp>
        <p:nvSpPr>
          <p:cNvPr id="20" name="Box 19"/>
          <p:cNvSpPr/>
          <p:nvPr/>
        </p:nvSpPr>
        <p:spPr>
          <a:xfrm>
            <a:off x="7127649" y="794019"/>
            <a:ext cx="1624779" cy="604967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 w="12700">
            <a:solidFill>
              <a:srgbClr val="9CC7E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 20"/>
          <p:cNvSpPr txBox="1"/>
          <p:nvPr/>
        </p:nvSpPr>
        <p:spPr>
          <a:xfrm>
            <a:off x="7542884" y="849075"/>
            <a:ext cx="794308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300" b="1" i="0">
                <a:solidFill>
                  <a:srgbClr val="00338D"/>
                </a:solidFill>
                <a:latin typeface="Arial"/>
              </a:rPr>
              <a:t>2 tahun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7200216" y="1193127"/>
            <a:ext cx="1479645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0" i="0">
                <a:solidFill>
                  <a:srgbClr val="6B7280"/>
                </a:solidFill>
                <a:latin typeface="Arial"/>
              </a:rPr>
              <a:t>operasi transisi oleh Agrinas</a:t>
            </a:r>
          </a:p>
        </p:txBody>
      </p:sp>
      <p:sp>
        <p:nvSpPr>
          <p:cNvPr id="23" name="Box 22"/>
          <p:cNvSpPr/>
          <p:nvPr/>
        </p:nvSpPr>
        <p:spPr>
          <a:xfrm>
            <a:off x="8850770" y="794019"/>
            <a:ext cx="1624779" cy="604967"/>
          </a:xfrm>
          <a:prstGeom prst="roundRect">
            <a:avLst>
              <a:gd name="adj" fmla="val 10278"/>
            </a:avLst>
          </a:prstGeom>
          <a:solidFill>
            <a:srgbClr val="FFFFFF"/>
          </a:solidFill>
          <a:ln w="12700">
            <a:solidFill>
              <a:srgbClr val="9CC7E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 23"/>
          <p:cNvSpPr txBox="1"/>
          <p:nvPr/>
        </p:nvSpPr>
        <p:spPr>
          <a:xfrm>
            <a:off x="8836084" y="871935"/>
            <a:ext cx="1654149" cy="1920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050" b="1" i="0">
                <a:solidFill>
                  <a:srgbClr val="00338D"/>
                </a:solidFill>
                <a:latin typeface="Arial"/>
              </a:rPr>
              <a:t>Rp3 M · 6% · 72 bln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9141585" y="1193127"/>
            <a:ext cx="1043147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0" i="0">
                <a:solidFill>
                  <a:srgbClr val="6B7280"/>
                </a:solidFill>
                <a:latin typeface="Arial"/>
              </a:rPr>
              <a:t>pembiayaan per gerai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235165" y="1518589"/>
            <a:ext cx="2688336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Kenyataan program mengubah desain</a:t>
            </a:r>
          </a:p>
        </p:txBody>
      </p:sp>
      <p:sp>
        <p:nvSpPr>
          <p:cNvPr id="27" name="Box 26"/>
          <p:cNvSpPr/>
          <p:nvPr/>
        </p:nvSpPr>
        <p:spPr>
          <a:xfrm>
            <a:off x="235165" y="1739280"/>
            <a:ext cx="1261341" cy="302483"/>
          </a:xfrm>
          <a:prstGeom prst="roundRect">
            <a:avLst>
              <a:gd name="adj" fmla="val 20556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 27"/>
          <p:cNvSpPr txBox="1"/>
          <p:nvPr/>
        </p:nvSpPr>
        <p:spPr>
          <a:xfrm>
            <a:off x="276505" y="1833829"/>
            <a:ext cx="1178661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6B7280"/>
                </a:solidFill>
                <a:latin typeface="Arial"/>
              </a:rPr>
              <a:t>Satu perusahaan, satu ERP</a:t>
            </a:r>
          </a:p>
        </p:txBody>
      </p:sp>
      <p:cxnSp>
        <p:nvCxnSpPr>
          <p:cNvPr id="29" name="Arrow 28"/>
          <p:cNvCxnSpPr/>
          <p:nvPr/>
        </p:nvCxnSpPr>
        <p:spPr>
          <a:xfrm>
            <a:off x="1517885" y="1890522"/>
            <a:ext cx="171030" cy="0"/>
          </a:xfrm>
          <a:prstGeom prst="line">
            <a:avLst/>
          </a:prstGeom>
          <a:ln w="15240">
            <a:solidFill>
              <a:srgbClr val="00338D"/>
            </a:solidFill>
            <a:tailEnd type="triangle" w="med" len="med"/>
          </a:ln>
        </p:spPr>
      </p:cxnSp>
      <p:sp>
        <p:nvSpPr>
          <p:cNvPr id="30" name="Box 29"/>
          <p:cNvSpPr/>
          <p:nvPr/>
        </p:nvSpPr>
        <p:spPr>
          <a:xfrm>
            <a:off x="1710293" y="1739280"/>
            <a:ext cx="1838565" cy="302483"/>
          </a:xfrm>
          <a:prstGeom prst="roundRect">
            <a:avLst>
              <a:gd name="adj" fmla="val 20556"/>
            </a:avLst>
          </a:prstGeom>
          <a:solidFill>
            <a:srgbClr val="EAF2FB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 30"/>
          <p:cNvSpPr txBox="1"/>
          <p:nvPr/>
        </p:nvSpPr>
        <p:spPr>
          <a:xfrm>
            <a:off x="1984376" y="1832000"/>
            <a:ext cx="1290401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Satu tenant per koperasi</a:t>
            </a:r>
          </a:p>
        </p:txBody>
      </p:sp>
      <p:sp>
        <p:nvSpPr>
          <p:cNvPr id="32" name="Box 31"/>
          <p:cNvSpPr/>
          <p:nvPr/>
        </p:nvSpPr>
        <p:spPr>
          <a:xfrm>
            <a:off x="235165" y="2102260"/>
            <a:ext cx="1261341" cy="302483"/>
          </a:xfrm>
          <a:prstGeom prst="roundRect">
            <a:avLst>
              <a:gd name="adj" fmla="val 20556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 32"/>
          <p:cNvSpPr txBox="1"/>
          <p:nvPr/>
        </p:nvSpPr>
        <p:spPr>
          <a:xfrm>
            <a:off x="563937" y="2196809"/>
            <a:ext cx="603796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6B7280"/>
                </a:solidFill>
                <a:latin typeface="Arial"/>
              </a:rPr>
              <a:t>SHU jaringan</a:t>
            </a:r>
          </a:p>
        </p:txBody>
      </p:sp>
      <p:cxnSp>
        <p:nvCxnSpPr>
          <p:cNvPr id="34" name="Arrow 33"/>
          <p:cNvCxnSpPr/>
          <p:nvPr/>
        </p:nvCxnSpPr>
        <p:spPr>
          <a:xfrm>
            <a:off x="1517885" y="2253502"/>
            <a:ext cx="171030" cy="0"/>
          </a:xfrm>
          <a:prstGeom prst="line">
            <a:avLst/>
          </a:prstGeom>
          <a:ln w="15240">
            <a:solidFill>
              <a:srgbClr val="00338D"/>
            </a:solidFill>
            <a:tailEnd type="triangle" w="med" len="med"/>
          </a:ln>
        </p:spPr>
      </p:cxnSp>
      <p:sp>
        <p:nvSpPr>
          <p:cNvPr id="35" name="Box 34"/>
          <p:cNvSpPr/>
          <p:nvPr/>
        </p:nvSpPr>
        <p:spPr>
          <a:xfrm>
            <a:off x="1710293" y="2102260"/>
            <a:ext cx="1838565" cy="302483"/>
          </a:xfrm>
          <a:prstGeom prst="roundRect">
            <a:avLst>
              <a:gd name="adj" fmla="val 20556"/>
            </a:avLst>
          </a:prstGeom>
          <a:solidFill>
            <a:srgbClr val="EAF2FB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Text 35"/>
          <p:cNvSpPr txBox="1"/>
          <p:nvPr/>
        </p:nvSpPr>
        <p:spPr>
          <a:xfrm>
            <a:off x="1832219" y="2194980"/>
            <a:ext cx="1594713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SHU per koperasi, disahkan RAT</a:t>
            </a:r>
          </a:p>
        </p:txBody>
      </p:sp>
      <p:sp>
        <p:nvSpPr>
          <p:cNvPr id="37" name="Box 36"/>
          <p:cNvSpPr/>
          <p:nvPr/>
        </p:nvSpPr>
        <p:spPr>
          <a:xfrm>
            <a:off x="235165" y="2465240"/>
            <a:ext cx="1261341" cy="302483"/>
          </a:xfrm>
          <a:prstGeom prst="roundRect">
            <a:avLst>
              <a:gd name="adj" fmla="val 20556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 37"/>
          <p:cNvSpPr txBox="1"/>
          <p:nvPr/>
        </p:nvSpPr>
        <p:spPr>
          <a:xfrm>
            <a:off x="254395" y="2559789"/>
            <a:ext cx="1222881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6B7280"/>
                </a:solidFill>
                <a:latin typeface="Arial"/>
              </a:rPr>
              <a:t>Satu format: toko swalayan</a:t>
            </a:r>
          </a:p>
        </p:txBody>
      </p:sp>
      <p:cxnSp>
        <p:nvCxnSpPr>
          <p:cNvPr id="39" name="Arrow 38"/>
          <p:cNvCxnSpPr/>
          <p:nvPr/>
        </p:nvCxnSpPr>
        <p:spPr>
          <a:xfrm>
            <a:off x="1517885" y="2616482"/>
            <a:ext cx="171030" cy="0"/>
          </a:xfrm>
          <a:prstGeom prst="line">
            <a:avLst/>
          </a:prstGeom>
          <a:ln w="15240">
            <a:solidFill>
              <a:srgbClr val="00338D"/>
            </a:solidFill>
            <a:tailEnd type="triangle" w="med" len="med"/>
          </a:ln>
        </p:spPr>
      </p:cxnSp>
      <p:sp>
        <p:nvSpPr>
          <p:cNvPr id="40" name="Box 39"/>
          <p:cNvSpPr/>
          <p:nvPr/>
        </p:nvSpPr>
        <p:spPr>
          <a:xfrm>
            <a:off x="1710293" y="2465240"/>
            <a:ext cx="1838565" cy="302483"/>
          </a:xfrm>
          <a:prstGeom prst="roundRect">
            <a:avLst>
              <a:gd name="adj" fmla="val 20556"/>
            </a:avLst>
          </a:prstGeom>
          <a:solidFill>
            <a:srgbClr val="EAF2FB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Text 40"/>
          <p:cNvSpPr txBox="1"/>
          <p:nvPr/>
        </p:nvSpPr>
        <p:spPr>
          <a:xfrm>
            <a:off x="1806860" y="2557960"/>
            <a:ext cx="1645432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Modul usaha sesuai potensi desa</a:t>
            </a:r>
          </a:p>
        </p:txBody>
      </p:sp>
      <p:sp>
        <p:nvSpPr>
          <p:cNvPr id="42" name="Box 41"/>
          <p:cNvSpPr/>
          <p:nvPr/>
        </p:nvSpPr>
        <p:spPr>
          <a:xfrm>
            <a:off x="235165" y="2828220"/>
            <a:ext cx="1261341" cy="302483"/>
          </a:xfrm>
          <a:prstGeom prst="roundRect">
            <a:avLst>
              <a:gd name="adj" fmla="val 20556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 42"/>
          <p:cNvSpPr txBox="1"/>
          <p:nvPr/>
        </p:nvSpPr>
        <p:spPr>
          <a:xfrm>
            <a:off x="320725" y="2922769"/>
            <a:ext cx="1090220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6B7280"/>
                </a:solidFill>
                <a:latin typeface="Arial"/>
              </a:rPr>
              <a:t>Barang hanya masuk desa</a:t>
            </a:r>
          </a:p>
        </p:txBody>
      </p:sp>
      <p:cxnSp>
        <p:nvCxnSpPr>
          <p:cNvPr id="44" name="Arrow 43"/>
          <p:cNvCxnSpPr/>
          <p:nvPr/>
        </p:nvCxnSpPr>
        <p:spPr>
          <a:xfrm>
            <a:off x="1517885" y="2979462"/>
            <a:ext cx="171030" cy="0"/>
          </a:xfrm>
          <a:prstGeom prst="line">
            <a:avLst/>
          </a:prstGeom>
          <a:ln w="15240">
            <a:solidFill>
              <a:srgbClr val="00338D"/>
            </a:solidFill>
            <a:tailEnd type="triangle" w="med" len="med"/>
          </a:ln>
        </p:spPr>
      </p:cxnSp>
      <p:sp>
        <p:nvSpPr>
          <p:cNvPr id="45" name="Box 44"/>
          <p:cNvSpPr/>
          <p:nvPr/>
        </p:nvSpPr>
        <p:spPr>
          <a:xfrm>
            <a:off x="1710293" y="2828220"/>
            <a:ext cx="1838565" cy="302483"/>
          </a:xfrm>
          <a:prstGeom prst="roundRect">
            <a:avLst>
              <a:gd name="adj" fmla="val 20556"/>
            </a:avLst>
          </a:prstGeom>
          <a:solidFill>
            <a:srgbClr val="EAF2FB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Text 45"/>
          <p:cNvSpPr txBox="1"/>
          <p:nvPr/>
        </p:nvSpPr>
        <p:spPr>
          <a:xfrm>
            <a:off x="2060454" y="2920941"/>
            <a:ext cx="1138245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Rantai pasok dua arah</a:t>
            </a:r>
          </a:p>
        </p:txBody>
      </p:sp>
      <p:sp>
        <p:nvSpPr>
          <p:cNvPr id="47" name="Box 46"/>
          <p:cNvSpPr/>
          <p:nvPr/>
        </p:nvSpPr>
        <p:spPr>
          <a:xfrm>
            <a:off x="235165" y="3191201"/>
            <a:ext cx="1261341" cy="302483"/>
          </a:xfrm>
          <a:prstGeom prst="roundRect">
            <a:avLst>
              <a:gd name="adj" fmla="val 20556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 47"/>
          <p:cNvSpPr txBox="1"/>
          <p:nvPr/>
        </p:nvSpPr>
        <p:spPr>
          <a:xfrm>
            <a:off x="298615" y="3285750"/>
            <a:ext cx="1134441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6B7280"/>
                </a:solidFill>
                <a:latin typeface="Arial"/>
              </a:rPr>
              <a:t>Integrasi pemasok &amp; bank</a:t>
            </a:r>
          </a:p>
        </p:txBody>
      </p:sp>
      <p:cxnSp>
        <p:nvCxnSpPr>
          <p:cNvPr id="49" name="Arrow 48"/>
          <p:cNvCxnSpPr/>
          <p:nvPr/>
        </p:nvCxnSpPr>
        <p:spPr>
          <a:xfrm>
            <a:off x="1517885" y="3342442"/>
            <a:ext cx="171030" cy="0"/>
          </a:xfrm>
          <a:prstGeom prst="line">
            <a:avLst/>
          </a:prstGeom>
          <a:ln w="15240">
            <a:solidFill>
              <a:srgbClr val="00338D"/>
            </a:solidFill>
            <a:tailEnd type="triangle" w="med" len="med"/>
          </a:ln>
        </p:spPr>
      </p:cxnSp>
      <p:sp>
        <p:nvSpPr>
          <p:cNvPr id="50" name="Box 49"/>
          <p:cNvSpPr/>
          <p:nvPr/>
        </p:nvSpPr>
        <p:spPr>
          <a:xfrm>
            <a:off x="1710293" y="3191201"/>
            <a:ext cx="1838565" cy="302483"/>
          </a:xfrm>
          <a:prstGeom prst="roundRect">
            <a:avLst>
              <a:gd name="adj" fmla="val 20556"/>
            </a:avLst>
          </a:prstGeom>
          <a:solidFill>
            <a:srgbClr val="EAF2FB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Text 50"/>
          <p:cNvSpPr txBox="1"/>
          <p:nvPr/>
        </p:nvSpPr>
        <p:spPr>
          <a:xfrm>
            <a:off x="1832219" y="3283921"/>
            <a:ext cx="1594713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Kepatuhan subsidi berbasis NIK</a:t>
            </a:r>
          </a:p>
        </p:txBody>
      </p:sp>
      <p:sp>
        <p:nvSpPr>
          <p:cNvPr id="52" name="Box 51"/>
          <p:cNvSpPr/>
          <p:nvPr/>
        </p:nvSpPr>
        <p:spPr>
          <a:xfrm>
            <a:off x="235165" y="3554181"/>
            <a:ext cx="1261341" cy="302483"/>
          </a:xfrm>
          <a:prstGeom prst="roundRect">
            <a:avLst>
              <a:gd name="adj" fmla="val 20556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 52"/>
          <p:cNvSpPr txBox="1"/>
          <p:nvPr/>
        </p:nvSpPr>
        <p:spPr>
          <a:xfrm>
            <a:off x="232285" y="3648730"/>
            <a:ext cx="1267102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6B7280"/>
                </a:solidFill>
                <a:latin typeface="Arial"/>
              </a:rPr>
              <a:t>Steering Committee internal</a:t>
            </a:r>
          </a:p>
        </p:txBody>
      </p:sp>
      <p:cxnSp>
        <p:nvCxnSpPr>
          <p:cNvPr id="54" name="Arrow 53"/>
          <p:cNvCxnSpPr/>
          <p:nvPr/>
        </p:nvCxnSpPr>
        <p:spPr>
          <a:xfrm>
            <a:off x="1517885" y="3705423"/>
            <a:ext cx="171030" cy="0"/>
          </a:xfrm>
          <a:prstGeom prst="line">
            <a:avLst/>
          </a:prstGeom>
          <a:ln w="15240">
            <a:solidFill>
              <a:srgbClr val="00338D"/>
            </a:solidFill>
            <a:tailEnd type="triangle" w="med" len="med"/>
          </a:ln>
        </p:spPr>
      </p:cxnSp>
      <p:sp>
        <p:nvSpPr>
          <p:cNvPr id="55" name="Box 54"/>
          <p:cNvSpPr/>
          <p:nvPr/>
        </p:nvSpPr>
        <p:spPr>
          <a:xfrm>
            <a:off x="1710293" y="3554181"/>
            <a:ext cx="1838565" cy="302483"/>
          </a:xfrm>
          <a:prstGeom prst="roundRect">
            <a:avLst>
              <a:gd name="adj" fmla="val 20556"/>
            </a:avLst>
          </a:prstGeom>
          <a:solidFill>
            <a:srgbClr val="EAF2FB"/>
          </a:solidFill>
          <a:ln w="762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6" name="Text 55"/>
          <p:cNvSpPr txBox="1"/>
          <p:nvPr/>
        </p:nvSpPr>
        <p:spPr>
          <a:xfrm>
            <a:off x="1730782" y="3646901"/>
            <a:ext cx="1797588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Operator dapat dicabut, transparan</a:t>
            </a:r>
          </a:p>
        </p:txBody>
      </p:sp>
      <p:sp>
        <p:nvSpPr>
          <p:cNvPr id="57" name="Text 56"/>
          <p:cNvSpPr txBox="1"/>
          <p:nvPr/>
        </p:nvSpPr>
        <p:spPr>
          <a:xfrm>
            <a:off x="235165" y="3973305"/>
            <a:ext cx="2159355" cy="11887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50" b="0" i="1">
                <a:solidFill>
                  <a:srgbClr val="6B7280"/>
                </a:solidFill>
                <a:latin typeface="Arial"/>
              </a:rPr>
              <a:t>Konsep awal (abu-abu) → rancangan baru (biru)</a:t>
            </a:r>
          </a:p>
        </p:txBody>
      </p:sp>
      <p:sp>
        <p:nvSpPr>
          <p:cNvPr id="58" name="Text 57"/>
          <p:cNvSpPr txBox="1"/>
          <p:nvPr/>
        </p:nvSpPr>
        <p:spPr>
          <a:xfrm>
            <a:off x="3741267" y="1518589"/>
            <a:ext cx="1895856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Enam lapisan arsitektur</a:t>
            </a:r>
          </a:p>
        </p:txBody>
      </p:sp>
      <p:sp>
        <p:nvSpPr>
          <p:cNvPr id="59" name="Box 58"/>
          <p:cNvSpPr/>
          <p:nvPr/>
        </p:nvSpPr>
        <p:spPr>
          <a:xfrm>
            <a:off x="3741267" y="1777090"/>
            <a:ext cx="1068933" cy="378104"/>
          </a:xfrm>
          <a:prstGeom prst="roundRect">
            <a:avLst>
              <a:gd name="adj" fmla="val 16444"/>
            </a:avLst>
          </a:prstGeom>
          <a:solidFill>
            <a:srgbClr val="005E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 59"/>
          <p:cNvSpPr txBox="1"/>
          <p:nvPr/>
        </p:nvSpPr>
        <p:spPr>
          <a:xfrm>
            <a:off x="4029943" y="1850471"/>
            <a:ext cx="491581" cy="2313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Kanal &amp;</a:t>
            </a:r>
          </a:p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pengguna</a:t>
            </a:r>
          </a:p>
        </p:txBody>
      </p:sp>
      <p:sp>
        <p:nvSpPr>
          <p:cNvPr id="61" name="Box 60"/>
          <p:cNvSpPr/>
          <p:nvPr/>
        </p:nvSpPr>
        <p:spPr>
          <a:xfrm>
            <a:off x="4852958" y="1777090"/>
            <a:ext cx="2287517" cy="378104"/>
          </a:xfrm>
          <a:prstGeom prst="roundRect">
            <a:avLst>
              <a:gd name="adj" fmla="val 1644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 61"/>
          <p:cNvSpPr txBox="1"/>
          <p:nvPr/>
        </p:nvSpPr>
        <p:spPr>
          <a:xfrm>
            <a:off x="5218736" y="1841327"/>
            <a:ext cx="1555961" cy="24963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Anggota · produsen · warung mitra</a:t>
            </a:r>
          </a:p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pengurus · pembina · publik</a:t>
            </a:r>
          </a:p>
        </p:txBody>
      </p:sp>
      <p:sp>
        <p:nvSpPr>
          <p:cNvPr id="63" name="Box 62"/>
          <p:cNvSpPr/>
          <p:nvPr/>
        </p:nvSpPr>
        <p:spPr>
          <a:xfrm>
            <a:off x="3741267" y="2200567"/>
            <a:ext cx="1068933" cy="378104"/>
          </a:xfrm>
          <a:prstGeom prst="roundRect">
            <a:avLst>
              <a:gd name="adj" fmla="val 1644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Text 63"/>
          <p:cNvSpPr txBox="1"/>
          <p:nvPr/>
        </p:nvSpPr>
        <p:spPr>
          <a:xfrm>
            <a:off x="3951488" y="2273948"/>
            <a:ext cx="648492" cy="2313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L1  Gerai &amp;</a:t>
            </a:r>
          </a:p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unit usaha</a:t>
            </a:r>
          </a:p>
        </p:txBody>
      </p:sp>
      <p:sp>
        <p:nvSpPr>
          <p:cNvPr id="65" name="Box 64"/>
          <p:cNvSpPr/>
          <p:nvPr/>
        </p:nvSpPr>
        <p:spPr>
          <a:xfrm>
            <a:off x="4852958" y="2200567"/>
            <a:ext cx="2287517" cy="378104"/>
          </a:xfrm>
          <a:prstGeom prst="roundRect">
            <a:avLst>
              <a:gd name="adj" fmla="val 1644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 65"/>
          <p:cNvSpPr txBox="1"/>
          <p:nvPr/>
        </p:nvSpPr>
        <p:spPr>
          <a:xfrm>
            <a:off x="5039002" y="2264804"/>
            <a:ext cx="1915430" cy="24963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POS multi-unit offline · penerimaan hasil</a:t>
            </a:r>
          </a:p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agen layanan · gudang</a:t>
            </a:r>
          </a:p>
        </p:txBody>
      </p:sp>
      <p:sp>
        <p:nvSpPr>
          <p:cNvPr id="67" name="Box 66"/>
          <p:cNvSpPr/>
          <p:nvPr/>
        </p:nvSpPr>
        <p:spPr>
          <a:xfrm>
            <a:off x="3741267" y="2624044"/>
            <a:ext cx="1068933" cy="453725"/>
          </a:xfrm>
          <a:prstGeom prst="roundRect">
            <a:avLst>
              <a:gd name="adj" fmla="val 1370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 67"/>
          <p:cNvSpPr txBox="1"/>
          <p:nvPr/>
        </p:nvSpPr>
        <p:spPr>
          <a:xfrm>
            <a:off x="3925336" y="2735235"/>
            <a:ext cx="700796" cy="2313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L2  Platform</a:t>
            </a:r>
          </a:p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koperasi</a:t>
            </a:r>
          </a:p>
        </p:txBody>
      </p:sp>
      <p:sp>
        <p:nvSpPr>
          <p:cNvPr id="69" name="Box 68"/>
          <p:cNvSpPr/>
          <p:nvPr/>
        </p:nvSpPr>
        <p:spPr>
          <a:xfrm>
            <a:off x="4852958" y="2624044"/>
            <a:ext cx="2287517" cy="453725"/>
          </a:xfrm>
          <a:prstGeom prst="roundRect">
            <a:avLst>
              <a:gd name="adj" fmla="val 13704"/>
            </a:avLst>
          </a:prstGeom>
          <a:solidFill>
            <a:srgbClr val="FFF7D6"/>
          </a:solidFill>
          <a:ln w="12700">
            <a:solidFill>
              <a:srgbClr val="B4530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0" name="Text 69"/>
          <p:cNvSpPr txBox="1"/>
          <p:nvPr/>
        </p:nvSpPr>
        <p:spPr>
          <a:xfrm>
            <a:off x="5039002" y="2726091"/>
            <a:ext cx="1915430" cy="24963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Anggota &amp; RAT · akuntansi · simpan pinjam</a:t>
            </a:r>
          </a:p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SHU · aset · pengadaan</a:t>
            </a:r>
          </a:p>
        </p:txBody>
      </p:sp>
      <p:sp>
        <p:nvSpPr>
          <p:cNvPr id="71" name="Box 70"/>
          <p:cNvSpPr/>
          <p:nvPr/>
        </p:nvSpPr>
        <p:spPr>
          <a:xfrm>
            <a:off x="3741267" y="3123142"/>
            <a:ext cx="1068933" cy="378104"/>
          </a:xfrm>
          <a:prstGeom prst="roundRect">
            <a:avLst>
              <a:gd name="adj" fmla="val 1644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 71"/>
          <p:cNvSpPr txBox="1"/>
          <p:nvPr/>
        </p:nvSpPr>
        <p:spPr>
          <a:xfrm>
            <a:off x="3951488" y="3196522"/>
            <a:ext cx="648492" cy="2313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L3  Layanan</a:t>
            </a:r>
          </a:p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bersama</a:t>
            </a:r>
          </a:p>
        </p:txBody>
      </p:sp>
      <p:sp>
        <p:nvSpPr>
          <p:cNvPr id="73" name="Box 72"/>
          <p:cNvSpPr/>
          <p:nvPr/>
        </p:nvSpPr>
        <p:spPr>
          <a:xfrm>
            <a:off x="4852958" y="3123142"/>
            <a:ext cx="2287517" cy="378104"/>
          </a:xfrm>
          <a:prstGeom prst="roundRect">
            <a:avLst>
              <a:gd name="adj" fmla="val 1644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 73"/>
          <p:cNvSpPr txBox="1"/>
          <p:nvPr/>
        </p:nvSpPr>
        <p:spPr>
          <a:xfrm>
            <a:off x="4994068" y="3187378"/>
            <a:ext cx="2005297" cy="24963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Katalog · agregasi pengadaan · hub Torasera</a:t>
            </a:r>
          </a:p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armada · pasar offtake</a:t>
            </a:r>
          </a:p>
        </p:txBody>
      </p:sp>
      <p:sp>
        <p:nvSpPr>
          <p:cNvPr id="75" name="Box 74"/>
          <p:cNvSpPr/>
          <p:nvPr/>
        </p:nvSpPr>
        <p:spPr>
          <a:xfrm>
            <a:off x="3741267" y="3546619"/>
            <a:ext cx="1068933" cy="378104"/>
          </a:xfrm>
          <a:prstGeom prst="roundRect">
            <a:avLst>
              <a:gd name="adj" fmla="val 16444"/>
            </a:avLst>
          </a:prstGeom>
          <a:solidFill>
            <a:srgbClr val="005E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Text 75"/>
          <p:cNvSpPr txBox="1"/>
          <p:nvPr/>
        </p:nvSpPr>
        <p:spPr>
          <a:xfrm>
            <a:off x="3899184" y="3619999"/>
            <a:ext cx="753099" cy="2313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L4  Integrasi</a:t>
            </a:r>
          </a:p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&amp; kepatuhan</a:t>
            </a:r>
          </a:p>
        </p:txBody>
      </p:sp>
      <p:sp>
        <p:nvSpPr>
          <p:cNvPr id="77" name="Box 76"/>
          <p:cNvSpPr/>
          <p:nvPr/>
        </p:nvSpPr>
        <p:spPr>
          <a:xfrm>
            <a:off x="4852958" y="3546619"/>
            <a:ext cx="2287517" cy="378104"/>
          </a:xfrm>
          <a:prstGeom prst="roundRect">
            <a:avLst>
              <a:gd name="adj" fmla="val 1644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 77"/>
          <p:cNvSpPr txBox="1"/>
          <p:nvPr/>
        </p:nvSpPr>
        <p:spPr>
          <a:xfrm>
            <a:off x="5308604" y="3610855"/>
            <a:ext cx="1376226" cy="24963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NIK · hak subsidi · QRIS/bank</a:t>
            </a:r>
          </a:p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mitra BUMN · Simkopdes · desa</a:t>
            </a:r>
          </a:p>
        </p:txBody>
      </p:sp>
      <p:sp>
        <p:nvSpPr>
          <p:cNvPr id="79" name="Box 78"/>
          <p:cNvSpPr/>
          <p:nvPr/>
        </p:nvSpPr>
        <p:spPr>
          <a:xfrm>
            <a:off x="3741267" y="3970096"/>
            <a:ext cx="1068933" cy="378104"/>
          </a:xfrm>
          <a:prstGeom prst="roundRect">
            <a:avLst>
              <a:gd name="adj" fmla="val 16444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 79"/>
          <p:cNvSpPr txBox="1"/>
          <p:nvPr/>
        </p:nvSpPr>
        <p:spPr>
          <a:xfrm>
            <a:off x="3977640" y="4043476"/>
            <a:ext cx="596188" cy="2313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L5  Data &amp;</a:t>
            </a:r>
          </a:p>
          <a:p>
            <a:pPr algn="ctr">
              <a:lnSpc>
                <a:spcPct val="112700"/>
              </a:lnSpc>
            </a:pPr>
            <a:r>
              <a:rPr sz="660" b="1" i="0">
                <a:solidFill>
                  <a:srgbClr val="FFFFFF"/>
                </a:solidFill>
                <a:latin typeface="Arial"/>
              </a:rPr>
              <a:t>pengawasan</a:t>
            </a:r>
          </a:p>
        </p:txBody>
      </p:sp>
      <p:sp>
        <p:nvSpPr>
          <p:cNvPr id="81" name="Box 80"/>
          <p:cNvSpPr/>
          <p:nvPr/>
        </p:nvSpPr>
        <p:spPr>
          <a:xfrm>
            <a:off x="4852958" y="3970096"/>
            <a:ext cx="2287517" cy="378104"/>
          </a:xfrm>
          <a:prstGeom prst="roundRect">
            <a:avLst>
              <a:gd name="adj" fmla="val 1644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 81"/>
          <p:cNvSpPr txBox="1"/>
          <p:nvPr/>
        </p:nvSpPr>
        <p:spPr>
          <a:xfrm>
            <a:off x="5286137" y="4034332"/>
            <a:ext cx="1421160" cy="24963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Gudang data · peringatan dini</a:t>
            </a:r>
          </a:p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analitik audit · portal publik</a:t>
            </a:r>
          </a:p>
        </p:txBody>
      </p:sp>
      <p:sp>
        <p:nvSpPr>
          <p:cNvPr id="83" name="Text 82"/>
          <p:cNvSpPr txBox="1"/>
          <p:nvPr/>
        </p:nvSpPr>
        <p:spPr>
          <a:xfrm>
            <a:off x="3741267" y="4393609"/>
            <a:ext cx="3758184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20" b="1" i="0">
                <a:solidFill>
                  <a:srgbClr val="B45309"/>
                </a:solidFill>
                <a:latin typeface="Arial"/>
              </a:rPr>
              <a:t>Inti: L2 milik koperasi; L3 memberi skala tanpa mengambil alih kepemilikan.</a:t>
            </a:r>
          </a:p>
        </p:txBody>
      </p:sp>
      <p:sp>
        <p:nvSpPr>
          <p:cNvPr id="84" name="Box 83"/>
          <p:cNvSpPr/>
          <p:nvPr/>
        </p:nvSpPr>
        <p:spPr>
          <a:xfrm>
            <a:off x="3741267" y="4559939"/>
            <a:ext cx="3399208" cy="226862"/>
          </a:xfrm>
          <a:prstGeom prst="roundRect">
            <a:avLst>
              <a:gd name="adj" fmla="val 27408"/>
            </a:avLst>
          </a:prstGeom>
          <a:solidFill>
            <a:srgbClr val="FFFFFF"/>
          </a:solidFill>
          <a:ln w="1016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5" name="Text 84"/>
          <p:cNvSpPr txBox="1"/>
          <p:nvPr/>
        </p:nvSpPr>
        <p:spPr>
          <a:xfrm>
            <a:off x="3613370" y="4616677"/>
            <a:ext cx="3655003" cy="1133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20" b="0" i="0">
                <a:solidFill>
                  <a:srgbClr val="00338D"/>
                </a:solidFill>
                <a:latin typeface="Arial"/>
              </a:rPr>
              <a:t>Lintas lapisan: UU PDP · data milik koperasi · RBAC · jejak audit · offline-first</a:t>
            </a:r>
          </a:p>
        </p:txBody>
      </p:sp>
      <p:sp>
        <p:nvSpPr>
          <p:cNvPr id="86" name="Text 85"/>
          <p:cNvSpPr txBox="1"/>
          <p:nvPr/>
        </p:nvSpPr>
        <p:spPr>
          <a:xfrm>
            <a:off x="7375641" y="1518589"/>
            <a:ext cx="1816608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Delapan prinsip desain</a:t>
            </a:r>
          </a:p>
        </p:txBody>
      </p:sp>
      <p:sp>
        <p:nvSpPr>
          <p:cNvPr id="87" name="Box 86"/>
          <p:cNvSpPr/>
          <p:nvPr/>
        </p:nvSpPr>
        <p:spPr>
          <a:xfrm>
            <a:off x="7375641" y="1837587"/>
            <a:ext cx="1496507" cy="393228"/>
          </a:xfrm>
          <a:prstGeom prst="roundRect">
            <a:avLst>
              <a:gd name="adj" fmla="val 15812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Badge 87"/>
          <p:cNvSpPr/>
          <p:nvPr/>
        </p:nvSpPr>
        <p:spPr>
          <a:xfrm>
            <a:off x="7434433" y="1924551"/>
            <a:ext cx="309990" cy="219300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 88"/>
          <p:cNvSpPr txBox="1"/>
          <p:nvPr/>
        </p:nvSpPr>
        <p:spPr>
          <a:xfrm>
            <a:off x="7483906" y="1981166"/>
            <a:ext cx="211043" cy="106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80" b="1" i="0">
                <a:solidFill>
                  <a:srgbClr val="FFFFFF"/>
                </a:solidFill>
                <a:latin typeface="Arial"/>
              </a:rPr>
              <a:t>PD1</a:t>
            </a:r>
          </a:p>
        </p:txBody>
      </p:sp>
      <p:sp>
        <p:nvSpPr>
          <p:cNvPr id="90" name="Text 89"/>
          <p:cNvSpPr txBox="1"/>
          <p:nvPr/>
        </p:nvSpPr>
        <p:spPr>
          <a:xfrm>
            <a:off x="7792525" y="1922035"/>
            <a:ext cx="529620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Koperasi</a:t>
            </a:r>
          </a:p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berdaulat</a:t>
            </a:r>
          </a:p>
        </p:txBody>
      </p:sp>
      <p:sp>
        <p:nvSpPr>
          <p:cNvPr id="91" name="Box 90"/>
          <p:cNvSpPr/>
          <p:nvPr/>
        </p:nvSpPr>
        <p:spPr>
          <a:xfrm>
            <a:off x="8936284" y="1837587"/>
            <a:ext cx="1496507" cy="393228"/>
          </a:xfrm>
          <a:prstGeom prst="roundRect">
            <a:avLst>
              <a:gd name="adj" fmla="val 15812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Badge 91"/>
          <p:cNvSpPr/>
          <p:nvPr/>
        </p:nvSpPr>
        <p:spPr>
          <a:xfrm>
            <a:off x="8995076" y="1924551"/>
            <a:ext cx="309990" cy="219300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 92"/>
          <p:cNvSpPr txBox="1"/>
          <p:nvPr/>
        </p:nvSpPr>
        <p:spPr>
          <a:xfrm>
            <a:off x="9044549" y="1981166"/>
            <a:ext cx="211043" cy="106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80" b="1" i="0">
                <a:solidFill>
                  <a:srgbClr val="FFFFFF"/>
                </a:solidFill>
                <a:latin typeface="Arial"/>
              </a:rPr>
              <a:t>PD2</a:t>
            </a:r>
          </a:p>
        </p:txBody>
      </p:sp>
      <p:sp>
        <p:nvSpPr>
          <p:cNvPr id="94" name="Text 93"/>
          <p:cNvSpPr txBox="1"/>
          <p:nvPr/>
        </p:nvSpPr>
        <p:spPr>
          <a:xfrm>
            <a:off x="9353169" y="1922035"/>
            <a:ext cx="833932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Skala lewat</a:t>
            </a:r>
          </a:p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layanan bersama</a:t>
            </a:r>
          </a:p>
        </p:txBody>
      </p:sp>
      <p:sp>
        <p:nvSpPr>
          <p:cNvPr id="95" name="Box 94"/>
          <p:cNvSpPr/>
          <p:nvPr/>
        </p:nvSpPr>
        <p:spPr>
          <a:xfrm>
            <a:off x="7375641" y="2306436"/>
            <a:ext cx="1496507" cy="393228"/>
          </a:xfrm>
          <a:prstGeom prst="roundRect">
            <a:avLst>
              <a:gd name="adj" fmla="val 15812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Badge 95"/>
          <p:cNvSpPr/>
          <p:nvPr/>
        </p:nvSpPr>
        <p:spPr>
          <a:xfrm>
            <a:off x="7434433" y="2393400"/>
            <a:ext cx="309990" cy="219300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 96"/>
          <p:cNvSpPr txBox="1"/>
          <p:nvPr/>
        </p:nvSpPr>
        <p:spPr>
          <a:xfrm>
            <a:off x="7483906" y="2450015"/>
            <a:ext cx="211043" cy="106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80" b="1" i="0">
                <a:solidFill>
                  <a:srgbClr val="FFFFFF"/>
                </a:solidFill>
                <a:latin typeface="Arial"/>
              </a:rPr>
              <a:t>PD3</a:t>
            </a:r>
          </a:p>
        </p:txBody>
      </p:sp>
      <p:sp>
        <p:nvSpPr>
          <p:cNvPr id="98" name="Text 97"/>
          <p:cNvSpPr txBox="1"/>
          <p:nvPr/>
        </p:nvSpPr>
        <p:spPr>
          <a:xfrm>
            <a:off x="7792525" y="2390884"/>
            <a:ext cx="681776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Modular per</a:t>
            </a:r>
          </a:p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potensi desa</a:t>
            </a:r>
          </a:p>
        </p:txBody>
      </p:sp>
      <p:sp>
        <p:nvSpPr>
          <p:cNvPr id="99" name="Box 98"/>
          <p:cNvSpPr/>
          <p:nvPr/>
        </p:nvSpPr>
        <p:spPr>
          <a:xfrm>
            <a:off x="8936284" y="2306436"/>
            <a:ext cx="1496507" cy="393228"/>
          </a:xfrm>
          <a:prstGeom prst="roundRect">
            <a:avLst>
              <a:gd name="adj" fmla="val 15812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Badge 99"/>
          <p:cNvSpPr/>
          <p:nvPr/>
        </p:nvSpPr>
        <p:spPr>
          <a:xfrm>
            <a:off x="8995076" y="2393400"/>
            <a:ext cx="309990" cy="219300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 100"/>
          <p:cNvSpPr txBox="1"/>
          <p:nvPr/>
        </p:nvSpPr>
        <p:spPr>
          <a:xfrm>
            <a:off x="9044549" y="2450015"/>
            <a:ext cx="211043" cy="106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80" b="1" i="0">
                <a:solidFill>
                  <a:srgbClr val="FFFFFF"/>
                </a:solidFill>
                <a:latin typeface="Arial"/>
              </a:rPr>
              <a:t>PD4</a:t>
            </a:r>
          </a:p>
        </p:txBody>
      </p:sp>
      <p:sp>
        <p:nvSpPr>
          <p:cNvPr id="102" name="Text 101"/>
          <p:cNvSpPr txBox="1"/>
          <p:nvPr/>
        </p:nvSpPr>
        <p:spPr>
          <a:xfrm>
            <a:off x="9353169" y="2446967"/>
            <a:ext cx="478901" cy="11216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Dua arah</a:t>
            </a:r>
          </a:p>
        </p:txBody>
      </p:sp>
      <p:sp>
        <p:nvSpPr>
          <p:cNvPr id="103" name="Box 102"/>
          <p:cNvSpPr/>
          <p:nvPr/>
        </p:nvSpPr>
        <p:spPr>
          <a:xfrm>
            <a:off x="7375641" y="2775286"/>
            <a:ext cx="1496507" cy="393228"/>
          </a:xfrm>
          <a:prstGeom prst="roundRect">
            <a:avLst>
              <a:gd name="adj" fmla="val 15812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4" name="Badge 103"/>
          <p:cNvSpPr/>
          <p:nvPr/>
        </p:nvSpPr>
        <p:spPr>
          <a:xfrm>
            <a:off x="7434433" y="2862250"/>
            <a:ext cx="309990" cy="219300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 104"/>
          <p:cNvSpPr txBox="1"/>
          <p:nvPr/>
        </p:nvSpPr>
        <p:spPr>
          <a:xfrm>
            <a:off x="7483906" y="2918865"/>
            <a:ext cx="211043" cy="106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80" b="1" i="0">
                <a:solidFill>
                  <a:srgbClr val="FFFFFF"/>
                </a:solidFill>
                <a:latin typeface="Arial"/>
              </a:rPr>
              <a:t>PD5</a:t>
            </a:r>
          </a:p>
        </p:txBody>
      </p:sp>
      <p:sp>
        <p:nvSpPr>
          <p:cNvPr id="106" name="Text 105"/>
          <p:cNvSpPr txBox="1"/>
          <p:nvPr/>
        </p:nvSpPr>
        <p:spPr>
          <a:xfrm>
            <a:off x="7792525" y="2859734"/>
            <a:ext cx="732495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Subsidi tepat</a:t>
            </a:r>
          </a:p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&amp; tertelusur</a:t>
            </a:r>
          </a:p>
        </p:txBody>
      </p:sp>
      <p:sp>
        <p:nvSpPr>
          <p:cNvPr id="107" name="Box 106"/>
          <p:cNvSpPr/>
          <p:nvPr/>
        </p:nvSpPr>
        <p:spPr>
          <a:xfrm>
            <a:off x="8936284" y="2775286"/>
            <a:ext cx="1496507" cy="393228"/>
          </a:xfrm>
          <a:prstGeom prst="roundRect">
            <a:avLst>
              <a:gd name="adj" fmla="val 15812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8" name="Badge 107"/>
          <p:cNvSpPr/>
          <p:nvPr/>
        </p:nvSpPr>
        <p:spPr>
          <a:xfrm>
            <a:off x="8995076" y="2862250"/>
            <a:ext cx="309990" cy="219300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 108"/>
          <p:cNvSpPr txBox="1"/>
          <p:nvPr/>
        </p:nvSpPr>
        <p:spPr>
          <a:xfrm>
            <a:off x="9044549" y="2918865"/>
            <a:ext cx="211043" cy="106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80" b="1" i="0">
                <a:solidFill>
                  <a:srgbClr val="FFFFFF"/>
                </a:solidFill>
                <a:latin typeface="Arial"/>
              </a:rPr>
              <a:t>PD6</a:t>
            </a:r>
          </a:p>
        </p:txBody>
      </p:sp>
      <p:sp>
        <p:nvSpPr>
          <p:cNvPr id="110" name="Text 109"/>
          <p:cNvSpPr txBox="1"/>
          <p:nvPr/>
        </p:nvSpPr>
        <p:spPr>
          <a:xfrm>
            <a:off x="9353169" y="2859734"/>
            <a:ext cx="681776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Transparan</a:t>
            </a:r>
          </a:p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sejak desain</a:t>
            </a:r>
          </a:p>
        </p:txBody>
      </p:sp>
      <p:sp>
        <p:nvSpPr>
          <p:cNvPr id="111" name="Box 110"/>
          <p:cNvSpPr/>
          <p:nvPr/>
        </p:nvSpPr>
        <p:spPr>
          <a:xfrm>
            <a:off x="7375641" y="3244135"/>
            <a:ext cx="1496507" cy="393228"/>
          </a:xfrm>
          <a:prstGeom prst="roundRect">
            <a:avLst>
              <a:gd name="adj" fmla="val 15812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Badge 111"/>
          <p:cNvSpPr/>
          <p:nvPr/>
        </p:nvSpPr>
        <p:spPr>
          <a:xfrm>
            <a:off x="7434433" y="3331099"/>
            <a:ext cx="309990" cy="219300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 112"/>
          <p:cNvSpPr txBox="1"/>
          <p:nvPr/>
        </p:nvSpPr>
        <p:spPr>
          <a:xfrm>
            <a:off x="7483906" y="3387714"/>
            <a:ext cx="211043" cy="106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80" b="1" i="0">
                <a:solidFill>
                  <a:srgbClr val="FFFFFF"/>
                </a:solidFill>
                <a:latin typeface="Arial"/>
              </a:rPr>
              <a:t>PD7</a:t>
            </a:r>
          </a:p>
        </p:txBody>
      </p:sp>
      <p:sp>
        <p:nvSpPr>
          <p:cNvPr id="114" name="Text 113"/>
          <p:cNvSpPr txBox="1"/>
          <p:nvPr/>
        </p:nvSpPr>
        <p:spPr>
          <a:xfrm>
            <a:off x="7792525" y="3328583"/>
            <a:ext cx="732495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Terbuka &amp;</a:t>
            </a:r>
          </a:p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interoperabel</a:t>
            </a:r>
          </a:p>
        </p:txBody>
      </p:sp>
      <p:sp>
        <p:nvSpPr>
          <p:cNvPr id="115" name="Box 114"/>
          <p:cNvSpPr/>
          <p:nvPr/>
        </p:nvSpPr>
        <p:spPr>
          <a:xfrm>
            <a:off x="8936284" y="3244135"/>
            <a:ext cx="1496507" cy="393228"/>
          </a:xfrm>
          <a:prstGeom prst="roundRect">
            <a:avLst>
              <a:gd name="adj" fmla="val 15812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6" name="Badge 115"/>
          <p:cNvSpPr/>
          <p:nvPr/>
        </p:nvSpPr>
        <p:spPr>
          <a:xfrm>
            <a:off x="8995076" y="3331099"/>
            <a:ext cx="309990" cy="219300"/>
          </a:xfrm>
          <a:prstGeom prst="ellips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 116"/>
          <p:cNvSpPr txBox="1"/>
          <p:nvPr/>
        </p:nvSpPr>
        <p:spPr>
          <a:xfrm>
            <a:off x="9044549" y="3387714"/>
            <a:ext cx="211043" cy="10607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80" b="1" i="0">
                <a:solidFill>
                  <a:srgbClr val="FFFFFF"/>
                </a:solidFill>
                <a:latin typeface="Arial"/>
              </a:rPr>
              <a:t>PD8</a:t>
            </a:r>
          </a:p>
        </p:txBody>
      </p:sp>
      <p:sp>
        <p:nvSpPr>
          <p:cNvPr id="118" name="Text 117"/>
          <p:cNvSpPr txBox="1"/>
          <p:nvPr/>
        </p:nvSpPr>
        <p:spPr>
          <a:xfrm>
            <a:off x="9353169" y="3328583"/>
            <a:ext cx="732495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Tahan kondisi</a:t>
            </a:r>
          </a:p>
          <a:p>
            <a:pPr algn="l">
              <a:lnSpc>
                <a:spcPct val="112700"/>
              </a:lnSpc>
            </a:pPr>
            <a:r>
              <a:rPr sz="640" b="1" i="0">
                <a:solidFill>
                  <a:srgbClr val="00338D"/>
                </a:solidFill>
                <a:latin typeface="Arial"/>
              </a:rPr>
              <a:t>desa</a:t>
            </a:r>
          </a:p>
        </p:txBody>
      </p:sp>
      <p:sp>
        <p:nvSpPr>
          <p:cNvPr id="119" name="Box 118"/>
          <p:cNvSpPr/>
          <p:nvPr/>
        </p:nvSpPr>
        <p:spPr>
          <a:xfrm>
            <a:off x="7375641" y="4083527"/>
            <a:ext cx="3057150" cy="491535"/>
          </a:xfrm>
          <a:prstGeom prst="roundRect">
            <a:avLst>
              <a:gd name="adj" fmla="val 1264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0" name="Text 119"/>
          <p:cNvSpPr txBox="1"/>
          <p:nvPr/>
        </p:nvSpPr>
        <p:spPr>
          <a:xfrm>
            <a:off x="8114784" y="4161388"/>
            <a:ext cx="1578864" cy="13898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760" b="1" i="0">
                <a:solidFill>
                  <a:srgbClr val="FFFFFF"/>
                </a:solidFill>
                <a:latin typeface="Arial"/>
              </a:rPr>
              <a:t>Keputusan yang dimohonkan</a:t>
            </a:r>
          </a:p>
        </p:txBody>
      </p:sp>
      <p:sp>
        <p:nvSpPr>
          <p:cNvPr id="121" name="Text 120"/>
          <p:cNvSpPr txBox="1"/>
          <p:nvPr/>
        </p:nvSpPr>
        <p:spPr>
          <a:xfrm>
            <a:off x="7407298" y="4336816"/>
            <a:ext cx="2993837" cy="24963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9CC7EF"/>
                </a:solidFill>
                <a:latin typeface="Arial"/>
              </a:rPr>
              <a:t>Arsitektur rujukan · standar API terbuka · verifikasi subsidi NIK</a:t>
            </a:r>
          </a:p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9CC7EF"/>
                </a:solidFill>
                <a:latin typeface="Arial"/>
              </a:rPr>
              <a:t>protokol serah terima Agrinas · percontohan 3 kabupaten</a:t>
            </a:r>
          </a:p>
        </p:txBody>
      </p:sp>
      <p:sp>
        <p:nvSpPr>
          <p:cNvPr id="122" name="Text 121"/>
          <p:cNvSpPr txBox="1"/>
          <p:nvPr/>
        </p:nvSpPr>
        <p:spPr>
          <a:xfrm>
            <a:off x="235165" y="4845908"/>
            <a:ext cx="1737360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Rantai pasok dua arah</a:t>
            </a:r>
          </a:p>
        </p:txBody>
      </p:sp>
      <p:sp>
        <p:nvSpPr>
          <p:cNvPr id="123" name="Text 122"/>
          <p:cNvSpPr txBox="1"/>
          <p:nvPr/>
        </p:nvSpPr>
        <p:spPr>
          <a:xfrm>
            <a:off x="894763" y="5150312"/>
            <a:ext cx="1043147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720" b="1" i="0">
                <a:solidFill>
                  <a:srgbClr val="6B7280"/>
                </a:solidFill>
                <a:latin typeface="Arial"/>
              </a:rPr>
              <a:t>Pemasok &amp; pembeli</a:t>
            </a:r>
          </a:p>
        </p:txBody>
      </p:sp>
      <p:sp>
        <p:nvSpPr>
          <p:cNvPr id="124" name="Box 123"/>
          <p:cNvSpPr/>
          <p:nvPr/>
        </p:nvSpPr>
        <p:spPr>
          <a:xfrm>
            <a:off x="235165" y="5346396"/>
            <a:ext cx="2362343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5" name="Text 124"/>
          <p:cNvSpPr txBox="1"/>
          <p:nvPr/>
        </p:nvSpPr>
        <p:spPr>
          <a:xfrm>
            <a:off x="958161" y="5437141"/>
            <a:ext cx="916350" cy="1274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60" b="1" i="0">
                <a:solidFill>
                  <a:srgbClr val="00338D"/>
                </a:solidFill>
                <a:latin typeface="Arial"/>
              </a:rPr>
              <a:t>BUMN &amp; pemasok</a:t>
            </a:r>
          </a:p>
        </p:txBody>
      </p:sp>
      <p:sp>
        <p:nvSpPr>
          <p:cNvPr id="126" name="Text 125"/>
          <p:cNvSpPr txBox="1"/>
          <p:nvPr/>
        </p:nvSpPr>
        <p:spPr>
          <a:xfrm>
            <a:off x="672234" y="5645267"/>
            <a:ext cx="1488204" cy="23408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Bulog/ID Food · Pupuk Indonesia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Pertamina · Kimia Farma · FMCG</a:t>
            </a:r>
          </a:p>
        </p:txBody>
      </p:sp>
      <p:sp>
        <p:nvSpPr>
          <p:cNvPr id="127" name="Box 126"/>
          <p:cNvSpPr/>
          <p:nvPr/>
        </p:nvSpPr>
        <p:spPr>
          <a:xfrm>
            <a:off x="235165" y="6329467"/>
            <a:ext cx="2362343" cy="665463"/>
          </a:xfrm>
          <a:prstGeom prst="roundRect">
            <a:avLst>
              <a:gd name="adj" fmla="val 9343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8" name="Text 127"/>
          <p:cNvSpPr txBox="1"/>
          <p:nvPr/>
        </p:nvSpPr>
        <p:spPr>
          <a:xfrm>
            <a:off x="837704" y="6420212"/>
            <a:ext cx="1157264" cy="1274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60" b="1" i="0">
                <a:solidFill>
                  <a:srgbClr val="0F7B6C"/>
                </a:solidFill>
                <a:latin typeface="Arial"/>
              </a:rPr>
              <a:t>Pembeli hasil desa</a:t>
            </a:r>
          </a:p>
        </p:txBody>
      </p:sp>
      <p:sp>
        <p:nvSpPr>
          <p:cNvPr id="129" name="Text 128"/>
          <p:cNvSpPr txBox="1"/>
          <p:nvPr/>
        </p:nvSpPr>
        <p:spPr>
          <a:xfrm>
            <a:off x="854822" y="6628339"/>
            <a:ext cx="1123029" cy="23408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Bulog · SPPG · industri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ritel · ekspor</a:t>
            </a:r>
          </a:p>
        </p:txBody>
      </p:sp>
      <p:cxnSp>
        <p:nvCxnSpPr>
          <p:cNvPr id="130" name="Arrow 129"/>
          <p:cNvCxnSpPr/>
          <p:nvPr/>
        </p:nvCxnSpPr>
        <p:spPr>
          <a:xfrm>
            <a:off x="2618887" y="5679128"/>
            <a:ext cx="213787" cy="0"/>
          </a:xfrm>
          <a:prstGeom prst="line">
            <a:avLst/>
          </a:prstGeom>
          <a:ln w="20320">
            <a:solidFill>
              <a:srgbClr val="00338D"/>
            </a:solidFill>
            <a:tailEnd type="triangle" w="med" len="med"/>
          </a:ln>
        </p:spPr>
      </p:cxnSp>
      <p:cxnSp>
        <p:nvCxnSpPr>
          <p:cNvPr id="131" name="Arrow 130"/>
          <p:cNvCxnSpPr/>
          <p:nvPr/>
        </p:nvCxnSpPr>
        <p:spPr>
          <a:xfrm flipH="1">
            <a:off x="2618887" y="6662199"/>
            <a:ext cx="213787" cy="0"/>
          </a:xfrm>
          <a:prstGeom prst="line">
            <a:avLst/>
          </a:prstGeom>
          <a:ln w="20320">
            <a:solidFill>
              <a:srgbClr val="0F7B6C"/>
            </a:solidFill>
            <a:tailEnd type="triangle" w="med" len="med"/>
          </a:ln>
        </p:spPr>
      </p:cxnSp>
      <p:sp>
        <p:nvSpPr>
          <p:cNvPr id="132" name="Text 131"/>
          <p:cNvSpPr txBox="1"/>
          <p:nvPr/>
        </p:nvSpPr>
        <p:spPr>
          <a:xfrm>
            <a:off x="3313945" y="5150312"/>
            <a:ext cx="1442557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720" b="1" i="0">
                <a:solidFill>
                  <a:srgbClr val="6B7280"/>
                </a:solidFill>
                <a:latin typeface="Arial"/>
              </a:rPr>
              <a:t>Hub kabupaten (Torasera)</a:t>
            </a:r>
          </a:p>
        </p:txBody>
      </p:sp>
      <p:sp>
        <p:nvSpPr>
          <p:cNvPr id="133" name="Box 132"/>
          <p:cNvSpPr/>
          <p:nvPr/>
        </p:nvSpPr>
        <p:spPr>
          <a:xfrm>
            <a:off x="2854052" y="5346396"/>
            <a:ext cx="2362343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4" name="Text 133"/>
          <p:cNvSpPr txBox="1"/>
          <p:nvPr/>
        </p:nvSpPr>
        <p:spPr>
          <a:xfrm>
            <a:off x="3486706" y="5437141"/>
            <a:ext cx="1097036" cy="1274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60" b="1" i="0">
                <a:solidFill>
                  <a:srgbClr val="00338D"/>
                </a:solidFill>
                <a:latin typeface="Arial"/>
              </a:rPr>
              <a:t>Konsolidasi &amp; WMS</a:t>
            </a:r>
          </a:p>
        </p:txBody>
      </p:sp>
      <p:sp>
        <p:nvSpPr>
          <p:cNvPr id="135" name="Text 134"/>
          <p:cNvSpPr txBox="1"/>
          <p:nvPr/>
        </p:nvSpPr>
        <p:spPr>
          <a:xfrm>
            <a:off x="3382415" y="5645267"/>
            <a:ext cx="1305616" cy="23408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Gabung pesanan · cross-dock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rute klaster</a:t>
            </a:r>
          </a:p>
        </p:txBody>
      </p:sp>
      <p:sp>
        <p:nvSpPr>
          <p:cNvPr id="136" name="Box 135"/>
          <p:cNvSpPr/>
          <p:nvPr/>
        </p:nvSpPr>
        <p:spPr>
          <a:xfrm>
            <a:off x="2854052" y="6329467"/>
            <a:ext cx="2362343" cy="665463"/>
          </a:xfrm>
          <a:prstGeom prst="roundRect">
            <a:avLst>
              <a:gd name="adj" fmla="val 9343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7" name="Text 136"/>
          <p:cNvSpPr txBox="1"/>
          <p:nvPr/>
        </p:nvSpPr>
        <p:spPr>
          <a:xfrm>
            <a:off x="3546934" y="6420212"/>
            <a:ext cx="976579" cy="1274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60" b="1" i="0">
                <a:solidFill>
                  <a:srgbClr val="0F7B6C"/>
                </a:solidFill>
                <a:latin typeface="Arial"/>
              </a:rPr>
              <a:t>Agregasi &amp; mutu</a:t>
            </a:r>
          </a:p>
        </p:txBody>
      </p:sp>
      <p:sp>
        <p:nvSpPr>
          <p:cNvPr id="138" name="Text 137"/>
          <p:cNvSpPr txBox="1"/>
          <p:nvPr/>
        </p:nvSpPr>
        <p:spPr>
          <a:xfrm>
            <a:off x="3336769" y="6628339"/>
            <a:ext cx="1396910" cy="23408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Sortir · grading · cold chain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muatan balik truk</a:t>
            </a:r>
          </a:p>
        </p:txBody>
      </p:sp>
      <p:cxnSp>
        <p:nvCxnSpPr>
          <p:cNvPr id="139" name="Arrow 138"/>
          <p:cNvCxnSpPr/>
          <p:nvPr/>
        </p:nvCxnSpPr>
        <p:spPr>
          <a:xfrm>
            <a:off x="5237774" y="5679128"/>
            <a:ext cx="213787" cy="0"/>
          </a:xfrm>
          <a:prstGeom prst="line">
            <a:avLst/>
          </a:prstGeom>
          <a:ln w="20320">
            <a:solidFill>
              <a:srgbClr val="00338D"/>
            </a:solidFill>
            <a:tailEnd type="triangle" w="med" len="med"/>
          </a:ln>
        </p:spPr>
      </p:cxnSp>
      <p:cxnSp>
        <p:nvCxnSpPr>
          <p:cNvPr id="140" name="Arrow 139"/>
          <p:cNvCxnSpPr/>
          <p:nvPr/>
        </p:nvCxnSpPr>
        <p:spPr>
          <a:xfrm flipH="1">
            <a:off x="5237774" y="6662199"/>
            <a:ext cx="213787" cy="0"/>
          </a:xfrm>
          <a:prstGeom prst="line">
            <a:avLst/>
          </a:prstGeom>
          <a:ln w="20320">
            <a:solidFill>
              <a:srgbClr val="0F7B6C"/>
            </a:solidFill>
            <a:tailEnd type="triangle" w="med" len="med"/>
          </a:ln>
        </p:spPr>
      </p:cxnSp>
      <p:sp>
        <p:nvSpPr>
          <p:cNvPr id="141" name="Text 140"/>
          <p:cNvSpPr txBox="1"/>
          <p:nvPr/>
        </p:nvSpPr>
        <p:spPr>
          <a:xfrm>
            <a:off x="6474889" y="5150312"/>
            <a:ext cx="358444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720" b="1" i="0">
                <a:solidFill>
                  <a:srgbClr val="6B7280"/>
                </a:solidFill>
                <a:latin typeface="Arial"/>
              </a:rPr>
              <a:t>KDKMP</a:t>
            </a:r>
          </a:p>
        </p:txBody>
      </p:sp>
      <p:sp>
        <p:nvSpPr>
          <p:cNvPr id="142" name="Box 141"/>
          <p:cNvSpPr/>
          <p:nvPr/>
        </p:nvSpPr>
        <p:spPr>
          <a:xfrm>
            <a:off x="5472940" y="5346396"/>
            <a:ext cx="2362343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3" name="Text 142"/>
          <p:cNvSpPr txBox="1"/>
          <p:nvPr/>
        </p:nvSpPr>
        <p:spPr>
          <a:xfrm>
            <a:off x="6075479" y="5437141"/>
            <a:ext cx="1157264" cy="1274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60" b="1" i="0">
                <a:solidFill>
                  <a:srgbClr val="00338D"/>
                </a:solidFill>
                <a:latin typeface="Arial"/>
              </a:rPr>
              <a:t>Gerai &amp; unit usaha</a:t>
            </a:r>
          </a:p>
        </p:txBody>
      </p:sp>
      <p:sp>
        <p:nvSpPr>
          <p:cNvPr id="144" name="Text 143"/>
          <p:cNvSpPr txBox="1"/>
          <p:nvPr/>
        </p:nvSpPr>
        <p:spPr>
          <a:xfrm>
            <a:off x="6092596" y="5645267"/>
            <a:ext cx="1123029" cy="23408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Jual · salurkan subsidi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dengan verifikasi hak</a:t>
            </a:r>
          </a:p>
        </p:txBody>
      </p:sp>
      <p:sp>
        <p:nvSpPr>
          <p:cNvPr id="145" name="Box 144"/>
          <p:cNvSpPr/>
          <p:nvPr/>
        </p:nvSpPr>
        <p:spPr>
          <a:xfrm>
            <a:off x="5472940" y="6329467"/>
            <a:ext cx="2362343" cy="665463"/>
          </a:xfrm>
          <a:prstGeom prst="roundRect">
            <a:avLst>
              <a:gd name="adj" fmla="val 9343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6" name="Text 145"/>
          <p:cNvSpPr txBox="1"/>
          <p:nvPr/>
        </p:nvSpPr>
        <p:spPr>
          <a:xfrm>
            <a:off x="6256164" y="6420212"/>
            <a:ext cx="795893" cy="1274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60" b="1" i="0">
                <a:solidFill>
                  <a:srgbClr val="0F7B6C"/>
                </a:solidFill>
                <a:latin typeface="Arial"/>
              </a:rPr>
              <a:t>Unit offtake</a:t>
            </a:r>
          </a:p>
        </p:txBody>
      </p:sp>
      <p:sp>
        <p:nvSpPr>
          <p:cNvPr id="147" name="Text 146"/>
          <p:cNvSpPr txBox="1"/>
          <p:nvPr/>
        </p:nvSpPr>
        <p:spPr>
          <a:xfrm>
            <a:off x="6115420" y="6628339"/>
            <a:ext cx="1077382" cy="23408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Timbang · catat mutu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bayar produsen digital</a:t>
            </a:r>
          </a:p>
        </p:txBody>
      </p:sp>
      <p:cxnSp>
        <p:nvCxnSpPr>
          <p:cNvPr id="148" name="Arrow 147"/>
          <p:cNvCxnSpPr/>
          <p:nvPr/>
        </p:nvCxnSpPr>
        <p:spPr>
          <a:xfrm>
            <a:off x="7856661" y="5679128"/>
            <a:ext cx="213787" cy="0"/>
          </a:xfrm>
          <a:prstGeom prst="line">
            <a:avLst/>
          </a:prstGeom>
          <a:ln w="20320">
            <a:solidFill>
              <a:srgbClr val="00338D"/>
            </a:solidFill>
            <a:tailEnd type="triangle" w="med" len="med"/>
          </a:ln>
        </p:spPr>
      </p:cxnSp>
      <p:cxnSp>
        <p:nvCxnSpPr>
          <p:cNvPr id="149" name="Arrow 148"/>
          <p:cNvCxnSpPr/>
          <p:nvPr/>
        </p:nvCxnSpPr>
        <p:spPr>
          <a:xfrm flipH="1">
            <a:off x="7856661" y="6662199"/>
            <a:ext cx="213787" cy="0"/>
          </a:xfrm>
          <a:prstGeom prst="line">
            <a:avLst/>
          </a:prstGeom>
          <a:ln w="20320">
            <a:solidFill>
              <a:srgbClr val="0F7B6C"/>
            </a:solidFill>
            <a:tailEnd type="triangle" w="med" len="med"/>
          </a:ln>
        </p:spPr>
      </p:cxnSp>
      <p:sp>
        <p:nvSpPr>
          <p:cNvPr id="150" name="Text 149"/>
          <p:cNvSpPr txBox="1"/>
          <p:nvPr/>
        </p:nvSpPr>
        <p:spPr>
          <a:xfrm>
            <a:off x="9122305" y="5150312"/>
            <a:ext cx="301386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720" b="1" i="0">
                <a:solidFill>
                  <a:srgbClr val="6B7280"/>
                </a:solidFill>
                <a:latin typeface="Arial"/>
              </a:rPr>
              <a:t>Desa</a:t>
            </a:r>
          </a:p>
        </p:txBody>
      </p:sp>
      <p:sp>
        <p:nvSpPr>
          <p:cNvPr id="151" name="Box 150"/>
          <p:cNvSpPr/>
          <p:nvPr/>
        </p:nvSpPr>
        <p:spPr>
          <a:xfrm>
            <a:off x="8091827" y="5346396"/>
            <a:ext cx="2362343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2" name="Text 151"/>
          <p:cNvSpPr txBox="1"/>
          <p:nvPr/>
        </p:nvSpPr>
        <p:spPr>
          <a:xfrm>
            <a:off x="8573909" y="5437141"/>
            <a:ext cx="1398178" cy="1274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60" b="1" i="0">
                <a:solidFill>
                  <a:srgbClr val="00338D"/>
                </a:solidFill>
                <a:latin typeface="Arial"/>
              </a:rPr>
              <a:t>Anggota &amp; warung mitra</a:t>
            </a:r>
          </a:p>
        </p:txBody>
      </p:sp>
      <p:sp>
        <p:nvSpPr>
          <p:cNvPr id="153" name="Text 152"/>
          <p:cNvSpPr txBox="1"/>
          <p:nvPr/>
        </p:nvSpPr>
        <p:spPr>
          <a:xfrm>
            <a:off x="8643013" y="5645267"/>
            <a:ext cx="1259970" cy="23408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Harga wajar, stok terjamin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subsidi tepat sasaran</a:t>
            </a:r>
          </a:p>
        </p:txBody>
      </p:sp>
      <p:sp>
        <p:nvSpPr>
          <p:cNvPr id="154" name="Box 153"/>
          <p:cNvSpPr/>
          <p:nvPr/>
        </p:nvSpPr>
        <p:spPr>
          <a:xfrm>
            <a:off x="8091827" y="6329467"/>
            <a:ext cx="2362343" cy="665463"/>
          </a:xfrm>
          <a:prstGeom prst="roundRect">
            <a:avLst>
              <a:gd name="adj" fmla="val 9343"/>
            </a:avLst>
          </a:prstGeom>
          <a:solidFill>
            <a:srgbClr val="E6F4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5" name="Text 154"/>
          <p:cNvSpPr txBox="1"/>
          <p:nvPr/>
        </p:nvSpPr>
        <p:spPr>
          <a:xfrm>
            <a:off x="8814823" y="6420212"/>
            <a:ext cx="916350" cy="1274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60" b="1" i="0">
                <a:solidFill>
                  <a:srgbClr val="0F7B6C"/>
                </a:solidFill>
                <a:latin typeface="Arial"/>
              </a:rPr>
              <a:t>Produsen lokal</a:t>
            </a:r>
          </a:p>
        </p:txBody>
      </p:sp>
      <p:sp>
        <p:nvSpPr>
          <p:cNvPr id="156" name="Text 155"/>
          <p:cNvSpPr txBox="1"/>
          <p:nvPr/>
        </p:nvSpPr>
        <p:spPr>
          <a:xfrm>
            <a:off x="8620190" y="6628339"/>
            <a:ext cx="1305616" cy="23408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Petani · nelayan · peternak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UMKM · BUMDes</a:t>
            </a:r>
          </a:p>
        </p:txBody>
      </p:sp>
      <p:sp>
        <p:nvSpPr>
          <p:cNvPr id="157" name="Text 156"/>
          <p:cNvSpPr txBox="1"/>
          <p:nvPr/>
        </p:nvSpPr>
        <p:spPr>
          <a:xfrm>
            <a:off x="235165" y="6116549"/>
            <a:ext cx="1689811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80" b="1" i="0">
                <a:solidFill>
                  <a:srgbClr val="00338D"/>
                </a:solidFill>
                <a:latin typeface="Arial"/>
              </a:rPr>
              <a:t>Arus masuk: barang &amp; subsidi →</a:t>
            </a:r>
          </a:p>
        </p:txBody>
      </p:sp>
      <p:sp>
        <p:nvSpPr>
          <p:cNvPr id="158" name="Text 157"/>
          <p:cNvSpPr txBox="1"/>
          <p:nvPr/>
        </p:nvSpPr>
        <p:spPr>
          <a:xfrm>
            <a:off x="6501036" y="7084496"/>
            <a:ext cx="3953134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680" b="1" i="0">
                <a:solidFill>
                  <a:srgbClr val="0F7B6C"/>
                </a:solidFill>
                <a:latin typeface="Arial"/>
              </a:rPr>
              <a:t>← Arus keluar: produk lokal (kini sangat kecil; harus menjadi alur inti)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 1"/>
          <p:cNvSpPr/>
          <p:nvPr/>
        </p:nvSpPr>
        <p:spPr>
          <a:xfrm>
            <a:off x="0" y="0"/>
            <a:ext cx="10689336" cy="642777"/>
          </a:xfrm>
          <a:prstGeom prst="rect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235165" y="86538"/>
            <a:ext cx="8021726" cy="3108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Arsitektur teknis: Django + Next.js + LLM open-weight lokal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235165" y="433754"/>
            <a:ext cx="6663415" cy="16093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880" b="0" i="0">
                <a:solidFill>
                  <a:srgbClr val="9CC7EF"/>
                </a:solidFill>
                <a:latin typeface="Arial"/>
              </a:rPr>
              <a:t>Bagaimana enam lapisan diwujudkan sebagai perangkat lunak, dan di mana model AI lokal bekerja dengan aman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984778" y="233729"/>
            <a:ext cx="469392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1000" b="1" i="0">
                <a:solidFill>
                  <a:srgbClr val="9CC7EF"/>
                </a:solidFill>
                <a:latin typeface="Arial"/>
              </a:rPr>
              <a:t>2 / 3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8480968" y="448385"/>
            <a:ext cx="1973202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720" b="0" i="0">
                <a:solidFill>
                  <a:srgbClr val="9CC7EF"/>
                </a:solidFill>
                <a:latin typeface="Arial"/>
              </a:rPr>
              <a:t>Platform Federasi KDKMP · 12 Okt 2026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235165" y="7379171"/>
            <a:ext cx="8251070" cy="1152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30" b="0" i="0">
                <a:solidFill>
                  <a:srgbClr val="6B7280"/>
                </a:solidFill>
                <a:latin typeface="Arial"/>
              </a:rPr>
              <a:t>Draf untuk diskusi. Sumber: Arsitektur_Sistem_KDKMP_Berbasis_Riset_12102026 (Bab 1–15 dan PRD P1–P8). Angka program per Sep–Okt 2026 dari Simkopdes/ANTARA; rancangan bersifat usulan.</a:t>
            </a:r>
          </a:p>
        </p:txBody>
      </p:sp>
      <p:sp>
        <p:nvSpPr>
          <p:cNvPr id="8" name="Box 7"/>
          <p:cNvSpPr/>
          <p:nvPr/>
        </p:nvSpPr>
        <p:spPr>
          <a:xfrm>
            <a:off x="235165" y="794019"/>
            <a:ext cx="2511993" cy="302483"/>
          </a:xfrm>
          <a:prstGeom prst="roundRect">
            <a:avLst>
              <a:gd name="adj" fmla="val 20556"/>
            </a:avLst>
          </a:prstGeom>
          <a:solidFill>
            <a:srgbClr val="005E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 8"/>
          <p:cNvSpPr txBox="1"/>
          <p:nvPr/>
        </p:nvSpPr>
        <p:spPr>
          <a:xfrm>
            <a:off x="159674" y="866622"/>
            <a:ext cx="2662976" cy="1572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860" b="1" i="0">
                <a:solidFill>
                  <a:srgbClr val="FFFFFF"/>
                </a:solidFill>
                <a:latin typeface="Arial"/>
              </a:rPr>
              <a:t>Frontend · Next.js (React, TypeScript)</a:t>
            </a:r>
          </a:p>
        </p:txBody>
      </p:sp>
      <p:sp>
        <p:nvSpPr>
          <p:cNvPr id="10" name="Box 9"/>
          <p:cNvSpPr/>
          <p:nvPr/>
        </p:nvSpPr>
        <p:spPr>
          <a:xfrm>
            <a:off x="2907499" y="794019"/>
            <a:ext cx="3955054" cy="302483"/>
          </a:xfrm>
          <a:prstGeom prst="roundRect">
            <a:avLst>
              <a:gd name="adj" fmla="val 20556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 10"/>
          <p:cNvSpPr txBox="1"/>
          <p:nvPr/>
        </p:nvSpPr>
        <p:spPr>
          <a:xfrm>
            <a:off x="3996534" y="866622"/>
            <a:ext cx="1776984" cy="1572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860" b="1" i="0">
                <a:solidFill>
                  <a:srgbClr val="FFFFFF"/>
                </a:solidFill>
                <a:latin typeface="Arial"/>
              </a:rPr>
              <a:t>Backend · Django (Python)</a:t>
            </a:r>
          </a:p>
        </p:txBody>
      </p:sp>
      <p:sp>
        <p:nvSpPr>
          <p:cNvPr id="12" name="Box 11"/>
          <p:cNvSpPr/>
          <p:nvPr/>
        </p:nvSpPr>
        <p:spPr>
          <a:xfrm>
            <a:off x="7022893" y="794019"/>
            <a:ext cx="3431276" cy="302483"/>
          </a:xfrm>
          <a:prstGeom prst="roundRect">
            <a:avLst>
              <a:gd name="adj" fmla="val 20556"/>
            </a:avLst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 12"/>
          <p:cNvSpPr txBox="1"/>
          <p:nvPr/>
        </p:nvSpPr>
        <p:spPr>
          <a:xfrm>
            <a:off x="7747810" y="866622"/>
            <a:ext cx="1981443" cy="1572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860" b="1" i="0">
                <a:solidFill>
                  <a:srgbClr val="FFFFFF"/>
                </a:solidFill>
                <a:latin typeface="Arial"/>
              </a:rPr>
              <a:t>AI lokal · model open-weight</a:t>
            </a:r>
          </a:p>
        </p:txBody>
      </p:sp>
      <p:sp>
        <p:nvSpPr>
          <p:cNvPr id="14" name="Box 13"/>
          <p:cNvSpPr/>
          <p:nvPr/>
        </p:nvSpPr>
        <p:spPr>
          <a:xfrm>
            <a:off x="235165" y="1172123"/>
            <a:ext cx="2511993" cy="529346"/>
          </a:xfrm>
          <a:prstGeom prst="roundRect">
            <a:avLst>
              <a:gd name="adj" fmla="val 11746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 14"/>
          <p:cNvSpPr txBox="1"/>
          <p:nvPr/>
        </p:nvSpPr>
        <p:spPr>
          <a:xfrm>
            <a:off x="320680" y="1262868"/>
            <a:ext cx="976579" cy="1389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7600"/>
              </a:lnSpc>
            </a:pPr>
            <a:r>
              <a:rPr sz="760" b="1" i="0">
                <a:solidFill>
                  <a:srgbClr val="005EB8"/>
                </a:solidFill>
                <a:latin typeface="Arial"/>
              </a:rPr>
              <a:t>POS Gerai (PWA)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320680" y="1429234"/>
            <a:ext cx="1886187" cy="2456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Offline-first: service worker + IndexedDB</a:t>
            </a:r>
          </a:p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antrean sinkron, ID transaksi unik · L1</a:t>
            </a:r>
          </a:p>
        </p:txBody>
      </p:sp>
      <p:sp>
        <p:nvSpPr>
          <p:cNvPr id="17" name="Box 16"/>
          <p:cNvSpPr/>
          <p:nvPr/>
        </p:nvSpPr>
        <p:spPr>
          <a:xfrm>
            <a:off x="235165" y="1754404"/>
            <a:ext cx="2511993" cy="529346"/>
          </a:xfrm>
          <a:prstGeom prst="roundRect">
            <a:avLst>
              <a:gd name="adj" fmla="val 11746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 17"/>
          <p:cNvSpPr txBox="1"/>
          <p:nvPr/>
        </p:nvSpPr>
        <p:spPr>
          <a:xfrm>
            <a:off x="320680" y="1845149"/>
            <a:ext cx="1398178" cy="1389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7600"/>
              </a:lnSpc>
            </a:pPr>
            <a:r>
              <a:rPr sz="760" b="1" i="0">
                <a:solidFill>
                  <a:srgbClr val="005EB8"/>
                </a:solidFill>
                <a:latin typeface="Arial"/>
              </a:rPr>
              <a:t>Aplikasi Anggota (PWA)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320680" y="2011515"/>
            <a:ext cx="1709306" cy="2456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Kartu QR, simpanan, estimasi SHU, RAT</a:t>
            </a:r>
          </a:p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+ kanal SMS/USSD via gateway · L0</a:t>
            </a:r>
          </a:p>
        </p:txBody>
      </p:sp>
      <p:sp>
        <p:nvSpPr>
          <p:cNvPr id="20" name="Box 19"/>
          <p:cNvSpPr/>
          <p:nvPr/>
        </p:nvSpPr>
        <p:spPr>
          <a:xfrm>
            <a:off x="235165" y="2336685"/>
            <a:ext cx="2511993" cy="529346"/>
          </a:xfrm>
          <a:prstGeom prst="roundRect">
            <a:avLst>
              <a:gd name="adj" fmla="val 11746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 20"/>
          <p:cNvSpPr txBox="1"/>
          <p:nvPr/>
        </p:nvSpPr>
        <p:spPr>
          <a:xfrm>
            <a:off x="320680" y="2427430"/>
            <a:ext cx="976579" cy="1389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7600"/>
              </a:lnSpc>
            </a:pPr>
            <a:r>
              <a:rPr sz="760" b="1" i="0">
                <a:solidFill>
                  <a:srgbClr val="005EB8"/>
                </a:solidFill>
                <a:latin typeface="Arial"/>
              </a:rPr>
              <a:t>Portal Koperasi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320680" y="2593796"/>
            <a:ext cx="1665085" cy="2456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Manajer &amp; pengurus: stok, akuntansi,</a:t>
            </a:r>
          </a:p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pengadaan, aset, laporan · L2</a:t>
            </a:r>
          </a:p>
        </p:txBody>
      </p:sp>
      <p:sp>
        <p:nvSpPr>
          <p:cNvPr id="23" name="Box 22"/>
          <p:cNvSpPr/>
          <p:nvPr/>
        </p:nvSpPr>
        <p:spPr>
          <a:xfrm>
            <a:off x="235165" y="2918965"/>
            <a:ext cx="2511993" cy="529346"/>
          </a:xfrm>
          <a:prstGeom prst="roundRect">
            <a:avLst>
              <a:gd name="adj" fmla="val 11746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 23"/>
          <p:cNvSpPr txBox="1"/>
          <p:nvPr/>
        </p:nvSpPr>
        <p:spPr>
          <a:xfrm>
            <a:off x="320680" y="3009711"/>
            <a:ext cx="1337950" cy="1389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7600"/>
              </a:lnSpc>
            </a:pPr>
            <a:r>
              <a:rPr sz="760" b="1" i="0">
                <a:solidFill>
                  <a:srgbClr val="005EB8"/>
                </a:solidFill>
                <a:latin typeface="Arial"/>
              </a:rPr>
              <a:t>Konsol Operator &amp; Hub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320680" y="3176076"/>
            <a:ext cx="1797746" cy="2456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Agrinas multi-koperasi (mode operator),</a:t>
            </a:r>
          </a:p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WMS/TMS Torasera · L3</a:t>
            </a:r>
          </a:p>
        </p:txBody>
      </p:sp>
      <p:sp>
        <p:nvSpPr>
          <p:cNvPr id="26" name="Box 25"/>
          <p:cNvSpPr/>
          <p:nvPr/>
        </p:nvSpPr>
        <p:spPr>
          <a:xfrm>
            <a:off x="235165" y="3501246"/>
            <a:ext cx="2511993" cy="529346"/>
          </a:xfrm>
          <a:prstGeom prst="roundRect">
            <a:avLst>
              <a:gd name="adj" fmla="val 11746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 26"/>
          <p:cNvSpPr txBox="1"/>
          <p:nvPr/>
        </p:nvSpPr>
        <p:spPr>
          <a:xfrm>
            <a:off x="320680" y="3591991"/>
            <a:ext cx="1398178" cy="1389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7600"/>
              </a:lnSpc>
            </a:pPr>
            <a:r>
              <a:rPr sz="760" b="1" i="0">
                <a:solidFill>
                  <a:srgbClr val="005EB8"/>
                </a:solidFill>
                <a:latin typeface="Arial"/>
              </a:rPr>
              <a:t>Dasbor Pembina &amp; Audit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320680" y="3758357"/>
            <a:ext cx="1399763" cy="2456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Pemda, desa, Kemenkop, auditor</a:t>
            </a:r>
          </a:p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peringatan dini, anomali · L5</a:t>
            </a:r>
          </a:p>
        </p:txBody>
      </p:sp>
      <p:sp>
        <p:nvSpPr>
          <p:cNvPr id="29" name="Box 28"/>
          <p:cNvSpPr/>
          <p:nvPr/>
        </p:nvSpPr>
        <p:spPr>
          <a:xfrm>
            <a:off x="235165" y="4083527"/>
            <a:ext cx="2511993" cy="529346"/>
          </a:xfrm>
          <a:prstGeom prst="roundRect">
            <a:avLst>
              <a:gd name="adj" fmla="val 11746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 29"/>
          <p:cNvSpPr txBox="1"/>
          <p:nvPr/>
        </p:nvSpPr>
        <p:spPr>
          <a:xfrm>
            <a:off x="320680" y="4174272"/>
            <a:ext cx="1639092" cy="1389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7600"/>
              </a:lnSpc>
            </a:pPr>
            <a:r>
              <a:rPr sz="760" b="1" i="0">
                <a:solidFill>
                  <a:srgbClr val="005EB8"/>
                </a:solidFill>
                <a:latin typeface="Arial"/>
              </a:rPr>
              <a:t>Portal Publik &amp; Pengembang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320680" y="4340638"/>
            <a:ext cx="1488204" cy="2456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Kinerja per desa, pengaduan;</a:t>
            </a:r>
          </a:p>
          <a:p>
            <a:pPr algn="l">
              <a:lnSpc>
                <a:spcPct val="127400"/>
              </a:lnSpc>
            </a:pPr>
            <a:r>
              <a:rPr sz="620" b="0" i="0">
                <a:solidFill>
                  <a:srgbClr val="1F2937"/>
                </a:solidFill>
                <a:latin typeface="Arial"/>
              </a:rPr>
              <a:t>dokumentasi API, sandbox · L5/L4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587296" y="5020330"/>
            <a:ext cx="1807732" cy="39502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32300"/>
              </a:lnSpc>
            </a:pPr>
            <a:r>
              <a:rPr sz="640" b="0" i="0">
                <a:solidFill>
                  <a:srgbClr val="6B7280"/>
                </a:solidFill>
                <a:latin typeface="Arial"/>
              </a:rPr>
              <a:t>App Router · SSR untuk portal publik</a:t>
            </a:r>
          </a:p>
          <a:p>
            <a:pPr algn="ctr">
              <a:lnSpc>
                <a:spcPct val="132300"/>
              </a:lnSpc>
            </a:pPr>
            <a:r>
              <a:rPr sz="640" b="0" i="0">
                <a:solidFill>
                  <a:srgbClr val="6B7280"/>
                </a:solidFill>
                <a:latin typeface="Arial"/>
              </a:rPr>
              <a:t>UI kit bersama · i18n Bahasa Indonesia</a:t>
            </a:r>
          </a:p>
          <a:p>
            <a:pPr algn="ctr">
              <a:lnSpc>
                <a:spcPct val="132300"/>
              </a:lnSpc>
            </a:pPr>
            <a:r>
              <a:rPr sz="640" b="0" i="0">
                <a:solidFill>
                  <a:srgbClr val="6B7280"/>
                </a:solidFill>
                <a:latin typeface="Arial"/>
              </a:rPr>
              <a:t>autentikasi OIDC (token pendek)</a:t>
            </a:r>
          </a:p>
        </p:txBody>
      </p:sp>
      <p:sp>
        <p:nvSpPr>
          <p:cNvPr id="33" name="Box 32"/>
          <p:cNvSpPr/>
          <p:nvPr/>
        </p:nvSpPr>
        <p:spPr>
          <a:xfrm>
            <a:off x="2907499" y="1187247"/>
            <a:ext cx="3955054" cy="362980"/>
          </a:xfrm>
          <a:prstGeom prst="roundRect">
            <a:avLst>
              <a:gd name="adj" fmla="val 17130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 33"/>
          <p:cNvSpPr txBox="1"/>
          <p:nvPr/>
        </p:nvSpPr>
        <p:spPr>
          <a:xfrm>
            <a:off x="2906874" y="1304729"/>
            <a:ext cx="3956303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API gateway + Django REST Framework · OpenAPI · versi /v1 · rate limit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2907499" y="1596130"/>
            <a:ext cx="2412552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720" b="1" i="0">
                <a:solidFill>
                  <a:srgbClr val="00338D"/>
                </a:solidFill>
                <a:latin typeface="Arial"/>
              </a:rPr>
              <a:t>Django apps (modular monolith) ↔ epik PRD</a:t>
            </a:r>
          </a:p>
        </p:txBody>
      </p:sp>
      <p:sp>
        <p:nvSpPr>
          <p:cNvPr id="36" name="Box 35"/>
          <p:cNvSpPr/>
          <p:nvPr/>
        </p:nvSpPr>
        <p:spPr>
          <a:xfrm>
            <a:off x="2907499" y="1852711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Text 36"/>
          <p:cNvSpPr txBox="1"/>
          <p:nvPr/>
        </p:nvSpPr>
        <p:spPr>
          <a:xfrm>
            <a:off x="3149223" y="1912440"/>
            <a:ext cx="457214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tenants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3298460" y="2047396"/>
            <a:ext cx="1587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E1</a:t>
            </a:r>
          </a:p>
        </p:txBody>
      </p:sp>
      <p:sp>
        <p:nvSpPr>
          <p:cNvPr id="39" name="Box 38"/>
          <p:cNvSpPr/>
          <p:nvPr/>
        </p:nvSpPr>
        <p:spPr>
          <a:xfrm>
            <a:off x="3906952" y="1852711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Text 39"/>
          <p:cNvSpPr txBox="1"/>
          <p:nvPr/>
        </p:nvSpPr>
        <p:spPr>
          <a:xfrm>
            <a:off x="4148675" y="1912440"/>
            <a:ext cx="457214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members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4297913" y="2047396"/>
            <a:ext cx="1587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E2</a:t>
            </a:r>
          </a:p>
        </p:txBody>
      </p:sp>
      <p:sp>
        <p:nvSpPr>
          <p:cNvPr id="42" name="Box 41"/>
          <p:cNvSpPr/>
          <p:nvPr/>
        </p:nvSpPr>
        <p:spPr>
          <a:xfrm>
            <a:off x="4906405" y="1852711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Text 42"/>
          <p:cNvSpPr txBox="1"/>
          <p:nvPr/>
        </p:nvSpPr>
        <p:spPr>
          <a:xfrm>
            <a:off x="5257860" y="1912440"/>
            <a:ext cx="237750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pos</a:t>
            </a:r>
          </a:p>
        </p:txBody>
      </p:sp>
      <p:sp>
        <p:nvSpPr>
          <p:cNvPr id="44" name="Text 43"/>
          <p:cNvSpPr txBox="1"/>
          <p:nvPr/>
        </p:nvSpPr>
        <p:spPr>
          <a:xfrm>
            <a:off x="5297366" y="2047396"/>
            <a:ext cx="1587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E3</a:t>
            </a:r>
          </a:p>
        </p:txBody>
      </p:sp>
      <p:sp>
        <p:nvSpPr>
          <p:cNvPr id="45" name="Box 44"/>
          <p:cNvSpPr/>
          <p:nvPr/>
        </p:nvSpPr>
        <p:spPr>
          <a:xfrm>
            <a:off x="5905858" y="1852711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Text 45"/>
          <p:cNvSpPr txBox="1"/>
          <p:nvPr/>
        </p:nvSpPr>
        <p:spPr>
          <a:xfrm>
            <a:off x="6092715" y="1912440"/>
            <a:ext cx="566946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inventory</a:t>
            </a:r>
          </a:p>
        </p:txBody>
      </p:sp>
      <p:sp>
        <p:nvSpPr>
          <p:cNvPr id="47" name="Text 46"/>
          <p:cNvSpPr txBox="1"/>
          <p:nvPr/>
        </p:nvSpPr>
        <p:spPr>
          <a:xfrm>
            <a:off x="6296819" y="2047396"/>
            <a:ext cx="1587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E4</a:t>
            </a:r>
          </a:p>
        </p:txBody>
      </p:sp>
      <p:sp>
        <p:nvSpPr>
          <p:cNvPr id="48" name="Box 47"/>
          <p:cNvSpPr/>
          <p:nvPr/>
        </p:nvSpPr>
        <p:spPr>
          <a:xfrm>
            <a:off x="2907499" y="2245940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9" name="Text 48"/>
          <p:cNvSpPr txBox="1"/>
          <p:nvPr/>
        </p:nvSpPr>
        <p:spPr>
          <a:xfrm>
            <a:off x="3149223" y="2305668"/>
            <a:ext cx="457214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subsidy</a:t>
            </a:r>
          </a:p>
        </p:txBody>
      </p:sp>
      <p:sp>
        <p:nvSpPr>
          <p:cNvPr id="50" name="Text 49"/>
          <p:cNvSpPr txBox="1"/>
          <p:nvPr/>
        </p:nvSpPr>
        <p:spPr>
          <a:xfrm>
            <a:off x="3298460" y="2440625"/>
            <a:ext cx="1587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E5</a:t>
            </a:r>
          </a:p>
        </p:txBody>
      </p:sp>
      <p:sp>
        <p:nvSpPr>
          <p:cNvPr id="51" name="Box 50"/>
          <p:cNvSpPr/>
          <p:nvPr/>
        </p:nvSpPr>
        <p:spPr>
          <a:xfrm>
            <a:off x="3906952" y="2245940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Text 51"/>
          <p:cNvSpPr txBox="1"/>
          <p:nvPr/>
        </p:nvSpPr>
        <p:spPr>
          <a:xfrm>
            <a:off x="4148675" y="2305668"/>
            <a:ext cx="457214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offtake</a:t>
            </a:r>
          </a:p>
        </p:txBody>
      </p:sp>
      <p:sp>
        <p:nvSpPr>
          <p:cNvPr id="53" name="Text 52"/>
          <p:cNvSpPr txBox="1"/>
          <p:nvPr/>
        </p:nvSpPr>
        <p:spPr>
          <a:xfrm>
            <a:off x="4297913" y="2440625"/>
            <a:ext cx="1587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E6</a:t>
            </a:r>
          </a:p>
        </p:txBody>
      </p:sp>
      <p:sp>
        <p:nvSpPr>
          <p:cNvPr id="54" name="Box 53"/>
          <p:cNvSpPr/>
          <p:nvPr/>
        </p:nvSpPr>
        <p:spPr>
          <a:xfrm>
            <a:off x="4906405" y="2245940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5" name="Text 54"/>
          <p:cNvSpPr txBox="1"/>
          <p:nvPr/>
        </p:nvSpPr>
        <p:spPr>
          <a:xfrm>
            <a:off x="5175561" y="2305668"/>
            <a:ext cx="402348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ledger</a:t>
            </a:r>
          </a:p>
        </p:txBody>
      </p:sp>
      <p:sp>
        <p:nvSpPr>
          <p:cNvPr id="56" name="Text 55"/>
          <p:cNvSpPr txBox="1"/>
          <p:nvPr/>
        </p:nvSpPr>
        <p:spPr>
          <a:xfrm>
            <a:off x="5297366" y="2440625"/>
            <a:ext cx="1587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E7</a:t>
            </a:r>
          </a:p>
        </p:txBody>
      </p:sp>
      <p:sp>
        <p:nvSpPr>
          <p:cNvPr id="57" name="Box 56"/>
          <p:cNvSpPr/>
          <p:nvPr/>
        </p:nvSpPr>
        <p:spPr>
          <a:xfrm>
            <a:off x="5905858" y="2245940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8" name="Text 57"/>
          <p:cNvSpPr txBox="1"/>
          <p:nvPr/>
        </p:nvSpPr>
        <p:spPr>
          <a:xfrm>
            <a:off x="6147581" y="2305668"/>
            <a:ext cx="457214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savings</a:t>
            </a:r>
          </a:p>
        </p:txBody>
      </p:sp>
      <p:sp>
        <p:nvSpPr>
          <p:cNvPr id="59" name="Text 58"/>
          <p:cNvSpPr txBox="1"/>
          <p:nvPr/>
        </p:nvSpPr>
        <p:spPr>
          <a:xfrm>
            <a:off x="6296819" y="2440625"/>
            <a:ext cx="1587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E8</a:t>
            </a:r>
          </a:p>
        </p:txBody>
      </p:sp>
      <p:sp>
        <p:nvSpPr>
          <p:cNvPr id="60" name="Box 59"/>
          <p:cNvSpPr/>
          <p:nvPr/>
        </p:nvSpPr>
        <p:spPr>
          <a:xfrm>
            <a:off x="2907499" y="2639168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1" name="Text 60"/>
          <p:cNvSpPr txBox="1"/>
          <p:nvPr/>
        </p:nvSpPr>
        <p:spPr>
          <a:xfrm>
            <a:off x="3258955" y="2698897"/>
            <a:ext cx="237750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shu</a:t>
            </a:r>
          </a:p>
        </p:txBody>
      </p:sp>
      <p:sp>
        <p:nvSpPr>
          <p:cNvPr id="62" name="Text 61"/>
          <p:cNvSpPr txBox="1"/>
          <p:nvPr/>
        </p:nvSpPr>
        <p:spPr>
          <a:xfrm>
            <a:off x="3298460" y="2833853"/>
            <a:ext cx="158739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E9</a:t>
            </a:r>
          </a:p>
        </p:txBody>
      </p:sp>
      <p:sp>
        <p:nvSpPr>
          <p:cNvPr id="63" name="Box 62"/>
          <p:cNvSpPr/>
          <p:nvPr/>
        </p:nvSpPr>
        <p:spPr>
          <a:xfrm>
            <a:off x="3906952" y="2639168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4" name="Text 63"/>
          <p:cNvSpPr txBox="1"/>
          <p:nvPr/>
        </p:nvSpPr>
        <p:spPr>
          <a:xfrm>
            <a:off x="4176108" y="2698897"/>
            <a:ext cx="402348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assets</a:t>
            </a:r>
          </a:p>
        </p:txBody>
      </p:sp>
      <p:sp>
        <p:nvSpPr>
          <p:cNvPr id="65" name="Text 64"/>
          <p:cNvSpPr txBox="1"/>
          <p:nvPr/>
        </p:nvSpPr>
        <p:spPr>
          <a:xfrm>
            <a:off x="4276516" y="2833853"/>
            <a:ext cx="201533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E10</a:t>
            </a:r>
          </a:p>
        </p:txBody>
      </p:sp>
      <p:sp>
        <p:nvSpPr>
          <p:cNvPr id="66" name="Box 65"/>
          <p:cNvSpPr/>
          <p:nvPr/>
        </p:nvSpPr>
        <p:spPr>
          <a:xfrm>
            <a:off x="4906405" y="2639168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7" name="Text 66"/>
          <p:cNvSpPr txBox="1"/>
          <p:nvPr/>
        </p:nvSpPr>
        <p:spPr>
          <a:xfrm>
            <a:off x="5038396" y="2698897"/>
            <a:ext cx="676678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procurement</a:t>
            </a:r>
          </a:p>
        </p:txBody>
      </p:sp>
      <p:sp>
        <p:nvSpPr>
          <p:cNvPr id="68" name="Text 67"/>
          <p:cNvSpPr txBox="1"/>
          <p:nvPr/>
        </p:nvSpPr>
        <p:spPr>
          <a:xfrm>
            <a:off x="5275969" y="2833853"/>
            <a:ext cx="201533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E11</a:t>
            </a:r>
          </a:p>
        </p:txBody>
      </p:sp>
      <p:sp>
        <p:nvSpPr>
          <p:cNvPr id="69" name="Box 68"/>
          <p:cNvSpPr/>
          <p:nvPr/>
        </p:nvSpPr>
        <p:spPr>
          <a:xfrm>
            <a:off x="5905858" y="2639168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0" name="Text 69"/>
          <p:cNvSpPr txBox="1"/>
          <p:nvPr/>
        </p:nvSpPr>
        <p:spPr>
          <a:xfrm>
            <a:off x="6120148" y="2698897"/>
            <a:ext cx="512080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operator</a:t>
            </a:r>
          </a:p>
        </p:txBody>
      </p:sp>
      <p:sp>
        <p:nvSpPr>
          <p:cNvPr id="71" name="Text 70"/>
          <p:cNvSpPr txBox="1"/>
          <p:nvPr/>
        </p:nvSpPr>
        <p:spPr>
          <a:xfrm>
            <a:off x="6275422" y="2833853"/>
            <a:ext cx="201533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E12</a:t>
            </a:r>
          </a:p>
        </p:txBody>
      </p:sp>
      <p:sp>
        <p:nvSpPr>
          <p:cNvPr id="72" name="Box 71"/>
          <p:cNvSpPr/>
          <p:nvPr/>
        </p:nvSpPr>
        <p:spPr>
          <a:xfrm>
            <a:off x="2907499" y="3032397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3" name="Text 72"/>
          <p:cNvSpPr txBox="1"/>
          <p:nvPr/>
        </p:nvSpPr>
        <p:spPr>
          <a:xfrm>
            <a:off x="3258955" y="3092125"/>
            <a:ext cx="237750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hub</a:t>
            </a:r>
          </a:p>
        </p:txBody>
      </p:sp>
      <p:sp>
        <p:nvSpPr>
          <p:cNvPr id="74" name="Text 73"/>
          <p:cNvSpPr txBox="1"/>
          <p:nvPr/>
        </p:nvSpPr>
        <p:spPr>
          <a:xfrm>
            <a:off x="3277063" y="3227082"/>
            <a:ext cx="201533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E13</a:t>
            </a:r>
          </a:p>
        </p:txBody>
      </p:sp>
      <p:sp>
        <p:nvSpPr>
          <p:cNvPr id="75" name="Box 74"/>
          <p:cNvSpPr/>
          <p:nvPr/>
        </p:nvSpPr>
        <p:spPr>
          <a:xfrm>
            <a:off x="3906952" y="3032397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6" name="Text 75"/>
          <p:cNvSpPr txBox="1"/>
          <p:nvPr/>
        </p:nvSpPr>
        <p:spPr>
          <a:xfrm>
            <a:off x="4011510" y="3092125"/>
            <a:ext cx="731544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integrations</a:t>
            </a:r>
          </a:p>
        </p:txBody>
      </p:sp>
      <p:sp>
        <p:nvSpPr>
          <p:cNvPr id="77" name="Text 76"/>
          <p:cNvSpPr txBox="1"/>
          <p:nvPr/>
        </p:nvSpPr>
        <p:spPr>
          <a:xfrm>
            <a:off x="4276516" y="3227082"/>
            <a:ext cx="201533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E14</a:t>
            </a:r>
          </a:p>
        </p:txBody>
      </p:sp>
      <p:sp>
        <p:nvSpPr>
          <p:cNvPr id="78" name="Box 77"/>
          <p:cNvSpPr/>
          <p:nvPr/>
        </p:nvSpPr>
        <p:spPr>
          <a:xfrm>
            <a:off x="4906405" y="3032397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9" name="Text 78"/>
          <p:cNvSpPr txBox="1"/>
          <p:nvPr/>
        </p:nvSpPr>
        <p:spPr>
          <a:xfrm>
            <a:off x="5093262" y="3092125"/>
            <a:ext cx="566946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analytics</a:t>
            </a:r>
          </a:p>
        </p:txBody>
      </p:sp>
      <p:sp>
        <p:nvSpPr>
          <p:cNvPr id="80" name="Text 79"/>
          <p:cNvSpPr txBox="1"/>
          <p:nvPr/>
        </p:nvSpPr>
        <p:spPr>
          <a:xfrm>
            <a:off x="5275969" y="3227082"/>
            <a:ext cx="201533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E15</a:t>
            </a:r>
          </a:p>
        </p:txBody>
      </p:sp>
      <p:sp>
        <p:nvSpPr>
          <p:cNvPr id="81" name="Box 80"/>
          <p:cNvSpPr/>
          <p:nvPr/>
        </p:nvSpPr>
        <p:spPr>
          <a:xfrm>
            <a:off x="5905858" y="3032397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2" name="Text 81"/>
          <p:cNvSpPr txBox="1"/>
          <p:nvPr/>
        </p:nvSpPr>
        <p:spPr>
          <a:xfrm>
            <a:off x="5982983" y="3092125"/>
            <a:ext cx="786410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certification</a:t>
            </a:r>
          </a:p>
        </p:txBody>
      </p:sp>
      <p:sp>
        <p:nvSpPr>
          <p:cNvPr id="83" name="Text 82"/>
          <p:cNvSpPr txBox="1"/>
          <p:nvPr/>
        </p:nvSpPr>
        <p:spPr>
          <a:xfrm>
            <a:off x="6275422" y="3227082"/>
            <a:ext cx="201533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E16</a:t>
            </a:r>
          </a:p>
        </p:txBody>
      </p:sp>
      <p:sp>
        <p:nvSpPr>
          <p:cNvPr id="84" name="Box 83"/>
          <p:cNvSpPr/>
          <p:nvPr/>
        </p:nvSpPr>
        <p:spPr>
          <a:xfrm>
            <a:off x="2907499" y="3425625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5" name="Text 84"/>
          <p:cNvSpPr txBox="1"/>
          <p:nvPr/>
        </p:nvSpPr>
        <p:spPr>
          <a:xfrm>
            <a:off x="3231522" y="3485354"/>
            <a:ext cx="292616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sync</a:t>
            </a:r>
          </a:p>
        </p:txBody>
      </p:sp>
      <p:sp>
        <p:nvSpPr>
          <p:cNvPr id="86" name="Text 85"/>
          <p:cNvSpPr txBox="1"/>
          <p:nvPr/>
        </p:nvSpPr>
        <p:spPr>
          <a:xfrm>
            <a:off x="3063093" y="3620310"/>
            <a:ext cx="629472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E3-02 offline</a:t>
            </a:r>
          </a:p>
        </p:txBody>
      </p:sp>
      <p:sp>
        <p:nvSpPr>
          <p:cNvPr id="87" name="Box 86"/>
          <p:cNvSpPr/>
          <p:nvPr/>
        </p:nvSpPr>
        <p:spPr>
          <a:xfrm>
            <a:off x="3906952" y="3425625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8" name="Text 87"/>
          <p:cNvSpPr txBox="1"/>
          <p:nvPr/>
        </p:nvSpPr>
        <p:spPr>
          <a:xfrm>
            <a:off x="4203542" y="3485354"/>
            <a:ext cx="347482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audit</a:t>
            </a:r>
          </a:p>
        </p:txBody>
      </p:sp>
      <p:sp>
        <p:nvSpPr>
          <p:cNvPr id="89" name="Text 88"/>
          <p:cNvSpPr txBox="1"/>
          <p:nvPr/>
        </p:nvSpPr>
        <p:spPr>
          <a:xfrm>
            <a:off x="4212325" y="3620310"/>
            <a:ext cx="329915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NFR-09</a:t>
            </a:r>
          </a:p>
        </p:txBody>
      </p:sp>
      <p:sp>
        <p:nvSpPr>
          <p:cNvPr id="90" name="Box 89"/>
          <p:cNvSpPr/>
          <p:nvPr/>
        </p:nvSpPr>
        <p:spPr>
          <a:xfrm>
            <a:off x="4906405" y="3425625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EAF2FB"/>
          </a:solidFill>
          <a:ln w="635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1" name="Text 90"/>
          <p:cNvSpPr txBox="1"/>
          <p:nvPr/>
        </p:nvSpPr>
        <p:spPr>
          <a:xfrm>
            <a:off x="5175561" y="3485354"/>
            <a:ext cx="402348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00338D"/>
                </a:solidFill>
                <a:latin typeface="Courier New"/>
              </a:rPr>
              <a:t>notify</a:t>
            </a:r>
          </a:p>
        </p:txBody>
      </p:sp>
      <p:sp>
        <p:nvSpPr>
          <p:cNvPr id="92" name="Text 91"/>
          <p:cNvSpPr txBox="1"/>
          <p:nvPr/>
        </p:nvSpPr>
        <p:spPr>
          <a:xfrm>
            <a:off x="4997808" y="3620310"/>
            <a:ext cx="757854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SMS / WA / email</a:t>
            </a:r>
          </a:p>
        </p:txBody>
      </p:sp>
      <p:sp>
        <p:nvSpPr>
          <p:cNvPr id="93" name="Box 92"/>
          <p:cNvSpPr/>
          <p:nvPr/>
        </p:nvSpPr>
        <p:spPr>
          <a:xfrm>
            <a:off x="5905858" y="3425625"/>
            <a:ext cx="940661" cy="340293"/>
          </a:xfrm>
          <a:prstGeom prst="roundRect">
            <a:avLst>
              <a:gd name="adj" fmla="val 18272"/>
            </a:avLst>
          </a:prstGeom>
          <a:solidFill>
            <a:srgbClr val="FEF3C7"/>
          </a:solidFill>
          <a:ln w="6350">
            <a:solidFill>
              <a:srgbClr val="B4530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4" name="Text 93"/>
          <p:cNvSpPr txBox="1"/>
          <p:nvPr/>
        </p:nvSpPr>
        <p:spPr>
          <a:xfrm>
            <a:off x="6010416" y="3485354"/>
            <a:ext cx="731544" cy="1225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70" b="1" i="0">
                <a:solidFill>
                  <a:srgbClr val="B45309"/>
                </a:solidFill>
                <a:latin typeface="Courier New"/>
              </a:rPr>
              <a:t>ai_assistant</a:t>
            </a:r>
          </a:p>
        </p:txBody>
      </p:sp>
      <p:sp>
        <p:nvSpPr>
          <p:cNvPr id="95" name="Text 94"/>
          <p:cNvSpPr txBox="1"/>
          <p:nvPr/>
        </p:nvSpPr>
        <p:spPr>
          <a:xfrm>
            <a:off x="6168437" y="3620310"/>
            <a:ext cx="415503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6B7280"/>
                </a:solidFill>
                <a:latin typeface="Arial"/>
              </a:rPr>
              <a:t>AI lokal</a:t>
            </a:r>
          </a:p>
        </p:txBody>
      </p:sp>
      <p:sp>
        <p:nvSpPr>
          <p:cNvPr id="96" name="Box 95"/>
          <p:cNvSpPr/>
          <p:nvPr/>
        </p:nvSpPr>
        <p:spPr>
          <a:xfrm>
            <a:off x="2907499" y="3894475"/>
            <a:ext cx="940661" cy="642777"/>
          </a:xfrm>
          <a:prstGeom prst="roundRect">
            <a:avLst>
              <a:gd name="adj" fmla="val 967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7" name="Text 96"/>
          <p:cNvSpPr txBox="1"/>
          <p:nvPr/>
        </p:nvSpPr>
        <p:spPr>
          <a:xfrm>
            <a:off x="3063886" y="3985220"/>
            <a:ext cx="627888" cy="1173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00" b="1" i="0">
                <a:solidFill>
                  <a:srgbClr val="1F2937"/>
                </a:solidFill>
                <a:latin typeface="Arial"/>
              </a:rPr>
              <a:t>PostgreSQL</a:t>
            </a:r>
          </a:p>
        </p:txBody>
      </p:sp>
      <p:sp>
        <p:nvSpPr>
          <p:cNvPr id="98" name="Text 97"/>
          <p:cNvSpPr txBox="1"/>
          <p:nvPr/>
        </p:nvSpPr>
        <p:spPr>
          <a:xfrm>
            <a:off x="2878366" y="4191147"/>
            <a:ext cx="998927" cy="21579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tenant_id + Row-Level</a:t>
            </a:r>
          </a:p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Security; per-koperasi</a:t>
            </a:r>
          </a:p>
        </p:txBody>
      </p:sp>
      <p:sp>
        <p:nvSpPr>
          <p:cNvPr id="99" name="Box 98"/>
          <p:cNvSpPr/>
          <p:nvPr/>
        </p:nvSpPr>
        <p:spPr>
          <a:xfrm>
            <a:off x="3906952" y="3894475"/>
            <a:ext cx="940661" cy="642777"/>
          </a:xfrm>
          <a:prstGeom prst="roundRect">
            <a:avLst>
              <a:gd name="adj" fmla="val 967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Text 99"/>
          <p:cNvSpPr txBox="1"/>
          <p:nvPr/>
        </p:nvSpPr>
        <p:spPr>
          <a:xfrm>
            <a:off x="3952391" y="3985220"/>
            <a:ext cx="849782" cy="1173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00" b="1" i="0">
                <a:solidFill>
                  <a:srgbClr val="1F2937"/>
                </a:solidFill>
                <a:latin typeface="Arial"/>
              </a:rPr>
              <a:t>Celery + Redis</a:t>
            </a:r>
          </a:p>
        </p:txBody>
      </p:sp>
      <p:sp>
        <p:nvSpPr>
          <p:cNvPr id="101" name="Text 100"/>
          <p:cNvSpPr txBox="1"/>
          <p:nvPr/>
        </p:nvSpPr>
        <p:spPr>
          <a:xfrm>
            <a:off x="3877819" y="4191147"/>
            <a:ext cx="998927" cy="21579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sinkron, rekonsiliasi,</a:t>
            </a:r>
          </a:p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laporan, notifikasi</a:t>
            </a:r>
          </a:p>
        </p:txBody>
      </p:sp>
      <p:sp>
        <p:nvSpPr>
          <p:cNvPr id="102" name="Box 101"/>
          <p:cNvSpPr/>
          <p:nvPr/>
        </p:nvSpPr>
        <p:spPr>
          <a:xfrm>
            <a:off x="4906405" y="3894475"/>
            <a:ext cx="940661" cy="642777"/>
          </a:xfrm>
          <a:prstGeom prst="roundRect">
            <a:avLst>
              <a:gd name="adj" fmla="val 967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3" name="Text 102"/>
          <p:cNvSpPr txBox="1"/>
          <p:nvPr/>
        </p:nvSpPr>
        <p:spPr>
          <a:xfrm>
            <a:off x="4951844" y="3985220"/>
            <a:ext cx="849782" cy="1173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00" b="1" i="0">
                <a:solidFill>
                  <a:srgbClr val="1F2937"/>
                </a:solidFill>
                <a:latin typeface="Arial"/>
              </a:rPr>
              <a:t>Object storage</a:t>
            </a:r>
          </a:p>
        </p:txBody>
      </p:sp>
      <p:sp>
        <p:nvSpPr>
          <p:cNvPr id="104" name="Text 103"/>
          <p:cNvSpPr txBox="1"/>
          <p:nvPr/>
        </p:nvSpPr>
        <p:spPr>
          <a:xfrm>
            <a:off x="4961433" y="4191147"/>
            <a:ext cx="830604" cy="21579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MinIO/S3: dokumen,</a:t>
            </a:r>
          </a:p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foto, bukti terima</a:t>
            </a:r>
          </a:p>
        </p:txBody>
      </p:sp>
      <p:sp>
        <p:nvSpPr>
          <p:cNvPr id="105" name="Box 104"/>
          <p:cNvSpPr/>
          <p:nvPr/>
        </p:nvSpPr>
        <p:spPr>
          <a:xfrm>
            <a:off x="5905858" y="3894475"/>
            <a:ext cx="940661" cy="642777"/>
          </a:xfrm>
          <a:prstGeom prst="roundRect">
            <a:avLst>
              <a:gd name="adj" fmla="val 9673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6" name="Text 105"/>
          <p:cNvSpPr txBox="1"/>
          <p:nvPr/>
        </p:nvSpPr>
        <p:spPr>
          <a:xfrm>
            <a:off x="6034508" y="3985220"/>
            <a:ext cx="683361" cy="1173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00" b="1" i="0">
                <a:solidFill>
                  <a:srgbClr val="1F2937"/>
                </a:solidFill>
                <a:latin typeface="Arial"/>
              </a:rPr>
              <a:t>Gudang data</a:t>
            </a:r>
          </a:p>
        </p:txBody>
      </p:sp>
      <p:sp>
        <p:nvSpPr>
          <p:cNvPr id="107" name="Text 106"/>
          <p:cNvSpPr txBox="1"/>
          <p:nvPr/>
        </p:nvSpPr>
        <p:spPr>
          <a:xfrm>
            <a:off x="5960886" y="4191147"/>
            <a:ext cx="830604" cy="21579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replika baca + dbt</a:t>
            </a:r>
          </a:p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1F2937"/>
                </a:solidFill>
                <a:latin typeface="Arial"/>
              </a:rPr>
              <a:t>→ dasbor L5</a:t>
            </a:r>
          </a:p>
        </p:txBody>
      </p:sp>
      <p:sp>
        <p:nvSpPr>
          <p:cNvPr id="108" name="Text 107"/>
          <p:cNvSpPr txBox="1"/>
          <p:nvPr/>
        </p:nvSpPr>
        <p:spPr>
          <a:xfrm>
            <a:off x="2618174" y="4639985"/>
            <a:ext cx="4533704" cy="10789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90" b="0" i="0">
                <a:solidFill>
                  <a:srgbClr val="00338D"/>
                </a:solidFill>
                <a:latin typeface="Arial"/>
              </a:rPr>
              <a:t>Konektor L4 sebagai adapter: Simkopdes · Dukcapil · QRIS/bank (SNAP) · Pupuk Indonesia · Pertamina · Bulog</a:t>
            </a:r>
          </a:p>
        </p:txBody>
      </p:sp>
      <p:sp>
        <p:nvSpPr>
          <p:cNvPr id="109" name="Box 108"/>
          <p:cNvSpPr/>
          <p:nvPr/>
        </p:nvSpPr>
        <p:spPr>
          <a:xfrm>
            <a:off x="2907499" y="4839736"/>
            <a:ext cx="3955054" cy="415914"/>
          </a:xfrm>
          <a:prstGeom prst="roundRect">
            <a:avLst>
              <a:gd name="adj" fmla="val 14949"/>
            </a:avLst>
          </a:prstGeom>
          <a:solidFill>
            <a:srgbClr val="FFFFFF"/>
          </a:solidFill>
          <a:ln w="1016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0" name="Text 109"/>
          <p:cNvSpPr txBox="1"/>
          <p:nvPr/>
        </p:nvSpPr>
        <p:spPr>
          <a:xfrm>
            <a:off x="3185906" y="4919097"/>
            <a:ext cx="3398239" cy="24963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00338D"/>
                </a:solidFill>
                <a:latin typeface="Arial"/>
              </a:rPr>
              <a:t>Keamanan: OIDC/2FA · RBAC per peran &amp; per tenant · audit log append-only</a:t>
            </a:r>
          </a:p>
          <a:p>
            <a:pPr algn="ctr">
              <a:lnSpc>
                <a:spcPct val="127400"/>
              </a:lnSpc>
            </a:pPr>
            <a:r>
              <a:rPr sz="630" b="0" i="0">
                <a:solidFill>
                  <a:srgbClr val="00338D"/>
                </a:solidFill>
                <a:latin typeface="Arial"/>
              </a:rPr>
              <a:t>enkripsi kolom NIK · data di Indonesia (pusat data nasional / cloud lokal)</a:t>
            </a:r>
          </a:p>
        </p:txBody>
      </p:sp>
      <p:cxnSp>
        <p:nvCxnSpPr>
          <p:cNvPr id="111" name="Arrow 110"/>
          <p:cNvCxnSpPr/>
          <p:nvPr/>
        </p:nvCxnSpPr>
        <p:spPr>
          <a:xfrm flipV="1">
            <a:off x="2757848" y="1368737"/>
            <a:ext cx="128272" cy="68059"/>
          </a:xfrm>
          <a:prstGeom prst="line">
            <a:avLst/>
          </a:prstGeom>
          <a:ln w="10160">
            <a:solidFill>
              <a:srgbClr val="005EB8"/>
            </a:solidFill>
            <a:tailEnd type="triangle" w="med" len="med"/>
          </a:ln>
        </p:spPr>
      </p:cxnSp>
      <p:cxnSp>
        <p:nvCxnSpPr>
          <p:cNvPr id="112" name="Arrow 111"/>
          <p:cNvCxnSpPr/>
          <p:nvPr/>
        </p:nvCxnSpPr>
        <p:spPr>
          <a:xfrm>
            <a:off x="2757848" y="2019077"/>
            <a:ext cx="128272" cy="0"/>
          </a:xfrm>
          <a:prstGeom prst="line">
            <a:avLst/>
          </a:prstGeom>
          <a:ln w="10160">
            <a:solidFill>
              <a:srgbClr val="005EB8"/>
            </a:solidFill>
            <a:tailEnd type="triangle" w="med" len="med"/>
          </a:ln>
        </p:spPr>
      </p:cxnSp>
      <p:cxnSp>
        <p:nvCxnSpPr>
          <p:cNvPr id="113" name="Arrow 112"/>
          <p:cNvCxnSpPr/>
          <p:nvPr/>
        </p:nvCxnSpPr>
        <p:spPr>
          <a:xfrm>
            <a:off x="2757848" y="2601358"/>
            <a:ext cx="128272" cy="0"/>
          </a:xfrm>
          <a:prstGeom prst="line">
            <a:avLst/>
          </a:prstGeom>
          <a:ln w="10160">
            <a:solidFill>
              <a:srgbClr val="005EB8"/>
            </a:solidFill>
            <a:tailEnd type="triangle" w="med" len="med"/>
          </a:ln>
        </p:spPr>
      </p:cxnSp>
      <p:cxnSp>
        <p:nvCxnSpPr>
          <p:cNvPr id="114" name="Arrow 113"/>
          <p:cNvCxnSpPr/>
          <p:nvPr/>
        </p:nvCxnSpPr>
        <p:spPr>
          <a:xfrm>
            <a:off x="2757848" y="3183639"/>
            <a:ext cx="128272" cy="0"/>
          </a:xfrm>
          <a:prstGeom prst="line">
            <a:avLst/>
          </a:prstGeom>
          <a:ln w="10160">
            <a:solidFill>
              <a:srgbClr val="005EB8"/>
            </a:solidFill>
            <a:tailEnd type="triangle" w="med" len="med"/>
          </a:ln>
        </p:spPr>
      </p:cxnSp>
      <p:cxnSp>
        <p:nvCxnSpPr>
          <p:cNvPr id="115" name="Arrow 114"/>
          <p:cNvCxnSpPr/>
          <p:nvPr/>
        </p:nvCxnSpPr>
        <p:spPr>
          <a:xfrm>
            <a:off x="2757848" y="3765919"/>
            <a:ext cx="128272" cy="0"/>
          </a:xfrm>
          <a:prstGeom prst="line">
            <a:avLst/>
          </a:prstGeom>
          <a:ln w="10160">
            <a:solidFill>
              <a:srgbClr val="005EB8"/>
            </a:solidFill>
            <a:tailEnd type="triangle" w="med" len="med"/>
          </a:ln>
        </p:spPr>
      </p:cxnSp>
      <p:cxnSp>
        <p:nvCxnSpPr>
          <p:cNvPr id="116" name="Arrow 115"/>
          <p:cNvCxnSpPr/>
          <p:nvPr/>
        </p:nvCxnSpPr>
        <p:spPr>
          <a:xfrm>
            <a:off x="2757848" y="4348200"/>
            <a:ext cx="128272" cy="0"/>
          </a:xfrm>
          <a:prstGeom prst="line">
            <a:avLst/>
          </a:prstGeom>
          <a:ln w="10160">
            <a:solidFill>
              <a:srgbClr val="005EB8"/>
            </a:solidFill>
            <a:tailEnd type="triangle" w="med" len="med"/>
          </a:ln>
        </p:spPr>
      </p:cxnSp>
      <p:sp>
        <p:nvSpPr>
          <p:cNvPr id="117" name="Box 116"/>
          <p:cNvSpPr/>
          <p:nvPr/>
        </p:nvSpPr>
        <p:spPr>
          <a:xfrm>
            <a:off x="7022893" y="1172123"/>
            <a:ext cx="3431276" cy="831829"/>
          </a:xfrm>
          <a:prstGeom prst="roundRect">
            <a:avLst>
              <a:gd name="adj" fmla="val 7474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8" name="Text 117"/>
          <p:cNvSpPr txBox="1"/>
          <p:nvPr/>
        </p:nvSpPr>
        <p:spPr>
          <a:xfrm>
            <a:off x="8004573" y="1262868"/>
            <a:ext cx="1467916" cy="1341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800" b="1" i="0">
                <a:solidFill>
                  <a:srgbClr val="B45309"/>
                </a:solidFill>
                <a:latin typeface="Arial"/>
              </a:rPr>
              <a:t>Server inferensi lokal</a:t>
            </a:r>
          </a:p>
        </p:txBody>
      </p:sp>
      <p:sp>
        <p:nvSpPr>
          <p:cNvPr id="119" name="Text 118"/>
          <p:cNvSpPr txBox="1"/>
          <p:nvPr/>
        </p:nvSpPr>
        <p:spPr>
          <a:xfrm>
            <a:off x="7423844" y="1495656"/>
            <a:ext cx="2629375" cy="35112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Ollama atau llama.cpp (CPU/GPU) · vLLM bila GPU tersedia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API kompatibel OpenAI, hanya jaringan internal</a:t>
            </a:r>
          </a:p>
          <a:p>
            <a:pPr algn="ctr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Django app ai_assistant memanggil lewat antrean Celery</a:t>
            </a:r>
          </a:p>
        </p:txBody>
      </p:sp>
      <p:sp>
        <p:nvSpPr>
          <p:cNvPr id="120" name="Box 119"/>
          <p:cNvSpPr/>
          <p:nvPr/>
        </p:nvSpPr>
        <p:spPr>
          <a:xfrm>
            <a:off x="7022893" y="2079574"/>
            <a:ext cx="3431276" cy="945261"/>
          </a:xfrm>
          <a:prstGeom prst="roundRect">
            <a:avLst>
              <a:gd name="adj" fmla="val 6577"/>
            </a:avLst>
          </a:prstGeom>
          <a:solidFill>
            <a:srgbClr val="FFFFFF"/>
          </a:solidFill>
          <a:ln w="10160">
            <a:solidFill>
              <a:srgbClr val="B4530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1" name="Text 120"/>
          <p:cNvSpPr txBox="1"/>
          <p:nvPr/>
        </p:nvSpPr>
        <p:spPr>
          <a:xfrm>
            <a:off x="7939590" y="2170319"/>
            <a:ext cx="1597883" cy="1240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40" b="1" i="0">
                <a:solidFill>
                  <a:srgbClr val="B45309"/>
                </a:solidFill>
                <a:latin typeface="Arial"/>
              </a:rPr>
              <a:t>Model open-weight (contoh)</a:t>
            </a:r>
          </a:p>
        </p:txBody>
      </p:sp>
      <p:sp>
        <p:nvSpPr>
          <p:cNvPr id="122" name="Text 121"/>
          <p:cNvSpPr txBox="1"/>
          <p:nvPr/>
        </p:nvSpPr>
        <p:spPr>
          <a:xfrm>
            <a:off x="7196680" y="2404958"/>
            <a:ext cx="3083704" cy="46085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dipilih lewat uji kinerja Bahasa Indonesia</a:t>
            </a:r>
          </a:p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Llama 3.1 8B Instruct · Qwen2.5 7B Instruct · Gemma 2 9B</a:t>
            </a:r>
          </a:p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model berbahasa Indonesia/Asia Tenggara (mis. SEA-LION, Sahabat-AI)</a:t>
            </a:r>
          </a:p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kuantisasi 4–8 bit · embedding multibahasa untuk RAG</a:t>
            </a:r>
          </a:p>
        </p:txBody>
      </p:sp>
      <p:sp>
        <p:nvSpPr>
          <p:cNvPr id="123" name="Box 122"/>
          <p:cNvSpPr/>
          <p:nvPr/>
        </p:nvSpPr>
        <p:spPr>
          <a:xfrm>
            <a:off x="7022893" y="3100456"/>
            <a:ext cx="1656847" cy="869640"/>
          </a:xfrm>
          <a:prstGeom prst="roundRect">
            <a:avLst>
              <a:gd name="adj" fmla="val 7149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4" name="Text 123"/>
          <p:cNvSpPr txBox="1"/>
          <p:nvPr/>
        </p:nvSpPr>
        <p:spPr>
          <a:xfrm>
            <a:off x="7415331" y="3191201"/>
            <a:ext cx="871971" cy="120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20" b="1" i="0">
                <a:solidFill>
                  <a:srgbClr val="00338D"/>
                </a:solidFill>
                <a:latin typeface="Arial"/>
              </a:rPr>
              <a:t>Komputer lokal</a:t>
            </a:r>
          </a:p>
        </p:txBody>
      </p:sp>
      <p:sp>
        <p:nvSpPr>
          <p:cNvPr id="125" name="Text 124"/>
          <p:cNvSpPr txBox="1"/>
          <p:nvPr/>
        </p:nvSpPr>
        <p:spPr>
          <a:xfrm>
            <a:off x="7450992" y="3289275"/>
            <a:ext cx="800648" cy="6583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Minimum (CPU):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8 inti, RAM 32 GB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model 3–8B 4-bit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/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Disarankan: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GPU 16–24 GB VRAM</a:t>
            </a:r>
          </a:p>
        </p:txBody>
      </p:sp>
      <p:sp>
        <p:nvSpPr>
          <p:cNvPr id="126" name="Box 125"/>
          <p:cNvSpPr/>
          <p:nvPr/>
        </p:nvSpPr>
        <p:spPr>
          <a:xfrm>
            <a:off x="8797323" y="3100456"/>
            <a:ext cx="1656847" cy="869640"/>
          </a:xfrm>
          <a:prstGeom prst="roundRect">
            <a:avLst>
              <a:gd name="adj" fmla="val 7149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Text 126"/>
          <p:cNvSpPr txBox="1"/>
          <p:nvPr/>
        </p:nvSpPr>
        <p:spPr>
          <a:xfrm>
            <a:off x="9132702" y="3191201"/>
            <a:ext cx="986088" cy="120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20" b="1" i="0">
                <a:solidFill>
                  <a:srgbClr val="00338D"/>
                </a:solidFill>
                <a:latin typeface="Arial"/>
              </a:rPr>
              <a:t>Data tetap lokal</a:t>
            </a:r>
          </a:p>
        </p:txBody>
      </p:sp>
      <p:sp>
        <p:nvSpPr>
          <p:cNvPr id="128" name="Text 127"/>
          <p:cNvSpPr txBox="1"/>
          <p:nvPr/>
        </p:nvSpPr>
        <p:spPr>
          <a:xfrm>
            <a:off x="9118437" y="3344139"/>
            <a:ext cx="1014618" cy="54864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Tidak ada data anggota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ke API LLM publik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NIK dimasking sebelum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prompt · log prompt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teraudit (UU PDP)</a:t>
            </a:r>
          </a:p>
        </p:txBody>
      </p:sp>
      <p:sp>
        <p:nvSpPr>
          <p:cNvPr id="129" name="Text 128"/>
          <p:cNvSpPr txBox="1"/>
          <p:nvPr/>
        </p:nvSpPr>
        <p:spPr>
          <a:xfrm>
            <a:off x="7022893" y="4026981"/>
            <a:ext cx="1087526" cy="14630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800" b="1" i="0">
                <a:solidFill>
                  <a:srgbClr val="B45309"/>
                </a:solidFill>
                <a:latin typeface="Arial"/>
              </a:rPr>
              <a:t>Kasus penggunaan</a:t>
            </a:r>
          </a:p>
        </p:txBody>
      </p:sp>
      <p:sp>
        <p:nvSpPr>
          <p:cNvPr id="130" name="Text 129"/>
          <p:cNvSpPr txBox="1"/>
          <p:nvPr/>
        </p:nvSpPr>
        <p:spPr>
          <a:xfrm>
            <a:off x="7087029" y="4289678"/>
            <a:ext cx="2629375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▸  Asisten SOP &amp; aturan subsidi (RAG atas dokumen resmi)</a:t>
            </a:r>
          </a:p>
        </p:txBody>
      </p:sp>
      <p:sp>
        <p:nvSpPr>
          <p:cNvPr id="131" name="Text 130"/>
          <p:cNvSpPr txBox="1"/>
          <p:nvPr/>
        </p:nvSpPr>
        <p:spPr>
          <a:xfrm>
            <a:off x="7087029" y="4471169"/>
            <a:ext cx="2172907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▸  Draf ringkasan laporan bulanan &amp; materi RAT</a:t>
            </a:r>
          </a:p>
        </p:txBody>
      </p:sp>
      <p:sp>
        <p:nvSpPr>
          <p:cNvPr id="132" name="Text 131"/>
          <p:cNvSpPr txBox="1"/>
          <p:nvPr/>
        </p:nvSpPr>
        <p:spPr>
          <a:xfrm>
            <a:off x="7087029" y="4652659"/>
            <a:ext cx="2355494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▸  Penjelasan faktor skor peringatan dini (E15-02)</a:t>
            </a:r>
          </a:p>
        </p:txBody>
      </p:sp>
      <p:sp>
        <p:nvSpPr>
          <p:cNvPr id="133" name="Text 132"/>
          <p:cNvSpPr txBox="1"/>
          <p:nvPr/>
        </p:nvSpPr>
        <p:spPr>
          <a:xfrm>
            <a:off x="7087029" y="4834149"/>
            <a:ext cx="2446788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▸  Klasifikasi &amp; ringkasan pengaduan publik (E15-04)</a:t>
            </a:r>
          </a:p>
        </p:txBody>
      </p:sp>
      <p:sp>
        <p:nvSpPr>
          <p:cNvPr id="134" name="Text 133"/>
          <p:cNvSpPr txBox="1"/>
          <p:nvPr/>
        </p:nvSpPr>
        <p:spPr>
          <a:xfrm>
            <a:off x="7087029" y="5015639"/>
            <a:ext cx="2811962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40" b="0" i="0">
                <a:solidFill>
                  <a:srgbClr val="1F2937"/>
                </a:solidFill>
                <a:latin typeface="Arial"/>
              </a:rPr>
              <a:t>▸  Ekstraksi surat jalan / faktur ke draf penerimaan (E4-03)</a:t>
            </a:r>
          </a:p>
        </p:txBody>
      </p:sp>
      <p:sp>
        <p:nvSpPr>
          <p:cNvPr id="135" name="Box 134"/>
          <p:cNvSpPr/>
          <p:nvPr/>
        </p:nvSpPr>
        <p:spPr>
          <a:xfrm>
            <a:off x="7022893" y="5263213"/>
            <a:ext cx="3431276" cy="393228"/>
          </a:xfrm>
          <a:prstGeom prst="roundRect">
            <a:avLst>
              <a:gd name="adj" fmla="val 15812"/>
            </a:avLst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6" name="Text 135"/>
          <p:cNvSpPr txBox="1"/>
          <p:nvPr/>
        </p:nvSpPr>
        <p:spPr>
          <a:xfrm>
            <a:off x="7104316" y="5333030"/>
            <a:ext cx="3268431" cy="25359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74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Batas: AI hanya memberi saran &amp; draf. Tidak memutus kredit,</a:t>
            </a:r>
          </a:p>
          <a:p>
            <a:pPr algn="ctr">
              <a:lnSpc>
                <a:spcPct val="1274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harga, subsidi, atau SHU; manusia menyetujui (non-sasaran PRD).</a:t>
            </a:r>
          </a:p>
        </p:txBody>
      </p:sp>
      <p:sp>
        <p:nvSpPr>
          <p:cNvPr id="137" name="Text 136"/>
          <p:cNvSpPr txBox="1"/>
          <p:nvPr/>
        </p:nvSpPr>
        <p:spPr>
          <a:xfrm>
            <a:off x="235165" y="5753359"/>
            <a:ext cx="3718560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Alur sinkron POS offline-first (E3-02, NFR-04)</a:t>
            </a:r>
          </a:p>
        </p:txBody>
      </p:sp>
      <p:sp>
        <p:nvSpPr>
          <p:cNvPr id="138" name="Box 137"/>
          <p:cNvSpPr/>
          <p:nvPr/>
        </p:nvSpPr>
        <p:spPr>
          <a:xfrm>
            <a:off x="235165" y="6200912"/>
            <a:ext cx="1582021" cy="831829"/>
          </a:xfrm>
          <a:prstGeom prst="roundRect">
            <a:avLst>
              <a:gd name="adj" fmla="val 747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9" name="Text 138"/>
          <p:cNvSpPr txBox="1"/>
          <p:nvPr/>
        </p:nvSpPr>
        <p:spPr>
          <a:xfrm>
            <a:off x="520452" y="6291657"/>
            <a:ext cx="1011448" cy="1240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40" b="1" i="0">
                <a:solidFill>
                  <a:srgbClr val="00338D"/>
                </a:solidFill>
                <a:latin typeface="Arial"/>
              </a:rPr>
              <a:t>Transaksi di PWA</a:t>
            </a:r>
          </a:p>
        </p:txBody>
      </p:sp>
      <p:sp>
        <p:nvSpPr>
          <p:cNvPr id="140" name="Text 139"/>
          <p:cNvSpPr txBox="1"/>
          <p:nvPr/>
        </p:nvSpPr>
        <p:spPr>
          <a:xfrm>
            <a:off x="517797" y="6584795"/>
            <a:ext cx="1016757" cy="2304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disimpan di IndexedDB</a:t>
            </a:r>
          </a:p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dengan UUID global</a:t>
            </a:r>
          </a:p>
        </p:txBody>
      </p:sp>
      <p:cxnSp>
        <p:nvCxnSpPr>
          <p:cNvPr id="141" name="Arrow 140"/>
          <p:cNvCxnSpPr/>
          <p:nvPr/>
        </p:nvCxnSpPr>
        <p:spPr>
          <a:xfrm>
            <a:off x="1827876" y="6616827"/>
            <a:ext cx="117583" cy="0"/>
          </a:xfrm>
          <a:prstGeom prst="line">
            <a:avLst/>
          </a:prstGeom>
          <a:ln w="16510">
            <a:solidFill>
              <a:srgbClr val="00338D"/>
            </a:solidFill>
            <a:tailEnd type="triangle" w="med" len="med"/>
          </a:ln>
        </p:spPr>
      </p:cxnSp>
      <p:sp>
        <p:nvSpPr>
          <p:cNvPr id="142" name="Box 141"/>
          <p:cNvSpPr/>
          <p:nvPr/>
        </p:nvSpPr>
        <p:spPr>
          <a:xfrm>
            <a:off x="1962562" y="6200912"/>
            <a:ext cx="1582021" cy="831829"/>
          </a:xfrm>
          <a:prstGeom prst="roundRect">
            <a:avLst>
              <a:gd name="adj" fmla="val 747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3" name="Text 142"/>
          <p:cNvSpPr txBox="1"/>
          <p:nvPr/>
        </p:nvSpPr>
        <p:spPr>
          <a:xfrm>
            <a:off x="2306492" y="6291657"/>
            <a:ext cx="894161" cy="1240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40" b="1" i="0">
                <a:solidFill>
                  <a:srgbClr val="00338D"/>
                </a:solidFill>
                <a:latin typeface="Arial"/>
              </a:rPr>
              <a:t>Antrean keluar</a:t>
            </a:r>
          </a:p>
        </p:txBody>
      </p:sp>
      <p:sp>
        <p:nvSpPr>
          <p:cNvPr id="144" name="Text 143"/>
          <p:cNvSpPr txBox="1"/>
          <p:nvPr/>
        </p:nvSpPr>
        <p:spPr>
          <a:xfrm>
            <a:off x="2222727" y="6584795"/>
            <a:ext cx="1061691" cy="2304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service worker</a:t>
            </a:r>
          </a:p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mencoba ulang otomatis</a:t>
            </a:r>
          </a:p>
        </p:txBody>
      </p:sp>
      <p:cxnSp>
        <p:nvCxnSpPr>
          <p:cNvPr id="145" name="Arrow 144"/>
          <p:cNvCxnSpPr/>
          <p:nvPr/>
        </p:nvCxnSpPr>
        <p:spPr>
          <a:xfrm>
            <a:off x="3555273" y="6616827"/>
            <a:ext cx="117582" cy="0"/>
          </a:xfrm>
          <a:prstGeom prst="line">
            <a:avLst/>
          </a:prstGeom>
          <a:ln w="16510">
            <a:solidFill>
              <a:srgbClr val="00338D"/>
            </a:solidFill>
            <a:tailEnd type="triangle" w="med" len="med"/>
          </a:ln>
        </p:spPr>
      </p:cxnSp>
      <p:sp>
        <p:nvSpPr>
          <p:cNvPr id="146" name="Box 145"/>
          <p:cNvSpPr/>
          <p:nvPr/>
        </p:nvSpPr>
        <p:spPr>
          <a:xfrm>
            <a:off x="3689958" y="6200912"/>
            <a:ext cx="1582021" cy="831829"/>
          </a:xfrm>
          <a:prstGeom prst="roundRect">
            <a:avLst>
              <a:gd name="adj" fmla="val 7474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7" name="Text 146"/>
          <p:cNvSpPr txBox="1"/>
          <p:nvPr/>
        </p:nvSpPr>
        <p:spPr>
          <a:xfrm>
            <a:off x="4063210" y="6291657"/>
            <a:ext cx="835517" cy="1240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40" b="1" i="0">
                <a:solidFill>
                  <a:srgbClr val="00338D"/>
                </a:solidFill>
                <a:latin typeface="Arial"/>
              </a:rPr>
              <a:t>POST /v1/sync</a:t>
            </a:r>
          </a:p>
        </p:txBody>
      </p:sp>
      <p:sp>
        <p:nvSpPr>
          <p:cNvPr id="148" name="Text 147"/>
          <p:cNvSpPr txBox="1"/>
          <p:nvPr/>
        </p:nvSpPr>
        <p:spPr>
          <a:xfrm>
            <a:off x="3972590" y="6584795"/>
            <a:ext cx="1016757" cy="2304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idempoten: UUID ganda</a:t>
            </a:r>
          </a:p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ditolak tanpa error</a:t>
            </a:r>
          </a:p>
        </p:txBody>
      </p:sp>
      <p:cxnSp>
        <p:nvCxnSpPr>
          <p:cNvPr id="149" name="Arrow 148"/>
          <p:cNvCxnSpPr/>
          <p:nvPr/>
        </p:nvCxnSpPr>
        <p:spPr>
          <a:xfrm>
            <a:off x="5282669" y="6616827"/>
            <a:ext cx="117583" cy="0"/>
          </a:xfrm>
          <a:prstGeom prst="line">
            <a:avLst/>
          </a:prstGeom>
          <a:ln w="16510">
            <a:solidFill>
              <a:srgbClr val="00338D"/>
            </a:solidFill>
            <a:tailEnd type="triangle" w="med" len="med"/>
          </a:ln>
        </p:spPr>
      </p:cxnSp>
      <p:sp>
        <p:nvSpPr>
          <p:cNvPr id="150" name="Box 149"/>
          <p:cNvSpPr/>
          <p:nvPr/>
        </p:nvSpPr>
        <p:spPr>
          <a:xfrm>
            <a:off x="5417355" y="6200912"/>
            <a:ext cx="1582021" cy="831829"/>
          </a:xfrm>
          <a:prstGeom prst="roundRect">
            <a:avLst>
              <a:gd name="adj" fmla="val 7474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Text 150"/>
          <p:cNvSpPr txBox="1"/>
          <p:nvPr/>
        </p:nvSpPr>
        <p:spPr>
          <a:xfrm>
            <a:off x="5614676" y="6291657"/>
            <a:ext cx="1187378" cy="1240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40" b="1" i="0">
                <a:solidFill>
                  <a:srgbClr val="00338D"/>
                </a:solidFill>
                <a:latin typeface="Arial"/>
              </a:rPr>
              <a:t>Django + PostgreSQL</a:t>
            </a:r>
          </a:p>
        </p:txBody>
      </p:sp>
      <p:sp>
        <p:nvSpPr>
          <p:cNvPr id="152" name="Text 151"/>
          <p:cNvSpPr txBox="1"/>
          <p:nvPr/>
        </p:nvSpPr>
        <p:spPr>
          <a:xfrm>
            <a:off x="5632586" y="6584795"/>
            <a:ext cx="1151558" cy="2304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jurnal per unit usaha,</a:t>
            </a:r>
          </a:p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stok, jasa usaha anggota</a:t>
            </a:r>
          </a:p>
        </p:txBody>
      </p:sp>
      <p:cxnSp>
        <p:nvCxnSpPr>
          <p:cNvPr id="153" name="Arrow 152"/>
          <p:cNvCxnSpPr/>
          <p:nvPr/>
        </p:nvCxnSpPr>
        <p:spPr>
          <a:xfrm>
            <a:off x="7010066" y="6616827"/>
            <a:ext cx="117583" cy="0"/>
          </a:xfrm>
          <a:prstGeom prst="line">
            <a:avLst/>
          </a:prstGeom>
          <a:ln w="16510">
            <a:solidFill>
              <a:srgbClr val="00338D"/>
            </a:solidFill>
            <a:tailEnd type="triangle" w="med" len="med"/>
          </a:ln>
        </p:spPr>
      </p:cxnSp>
      <p:sp>
        <p:nvSpPr>
          <p:cNvPr id="154" name="Box 153"/>
          <p:cNvSpPr/>
          <p:nvPr/>
        </p:nvSpPr>
        <p:spPr>
          <a:xfrm>
            <a:off x="7144752" y="6200912"/>
            <a:ext cx="1582021" cy="831829"/>
          </a:xfrm>
          <a:prstGeom prst="roundRect">
            <a:avLst>
              <a:gd name="adj" fmla="val 7474"/>
            </a:avLst>
          </a:prstGeom>
          <a:solidFill>
            <a:srgbClr val="F3F4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5" name="Text 154"/>
          <p:cNvSpPr txBox="1"/>
          <p:nvPr/>
        </p:nvSpPr>
        <p:spPr>
          <a:xfrm>
            <a:off x="7723256" y="6291657"/>
            <a:ext cx="425013" cy="1240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40" b="1" i="0">
                <a:solidFill>
                  <a:srgbClr val="00338D"/>
                </a:solidFill>
                <a:latin typeface="Arial"/>
              </a:rPr>
              <a:t>Celery</a:t>
            </a:r>
          </a:p>
        </p:txBody>
      </p:sp>
      <p:sp>
        <p:nvSpPr>
          <p:cNvPr id="156" name="Text 155"/>
          <p:cNvSpPr txBox="1"/>
          <p:nvPr/>
        </p:nvSpPr>
        <p:spPr>
          <a:xfrm>
            <a:off x="7427384" y="6584795"/>
            <a:ext cx="1016757" cy="2304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rekonsiliasi subsidi,</a:t>
            </a:r>
          </a:p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laporan Simkopdes</a:t>
            </a:r>
          </a:p>
        </p:txBody>
      </p:sp>
      <p:cxnSp>
        <p:nvCxnSpPr>
          <p:cNvPr id="157" name="Arrow 156"/>
          <p:cNvCxnSpPr/>
          <p:nvPr/>
        </p:nvCxnSpPr>
        <p:spPr>
          <a:xfrm>
            <a:off x="8737463" y="6616827"/>
            <a:ext cx="117582" cy="0"/>
          </a:xfrm>
          <a:prstGeom prst="line">
            <a:avLst/>
          </a:prstGeom>
          <a:ln w="16510">
            <a:solidFill>
              <a:srgbClr val="00338D"/>
            </a:solidFill>
            <a:tailEnd type="triangle" w="med" len="med"/>
          </a:ln>
        </p:spPr>
      </p:cxnSp>
      <p:sp>
        <p:nvSpPr>
          <p:cNvPr id="158" name="Box 157"/>
          <p:cNvSpPr/>
          <p:nvPr/>
        </p:nvSpPr>
        <p:spPr>
          <a:xfrm>
            <a:off x="8872148" y="6200912"/>
            <a:ext cx="1582021" cy="831829"/>
          </a:xfrm>
          <a:prstGeom prst="roundRect">
            <a:avLst>
              <a:gd name="adj" fmla="val 7474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9" name="Text 158"/>
          <p:cNvSpPr txBox="1"/>
          <p:nvPr/>
        </p:nvSpPr>
        <p:spPr>
          <a:xfrm>
            <a:off x="9304044" y="6291657"/>
            <a:ext cx="718230" cy="1240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800"/>
              </a:lnSpc>
            </a:pPr>
            <a:r>
              <a:rPr sz="740" b="1" i="0">
                <a:solidFill>
                  <a:srgbClr val="00338D"/>
                </a:solidFill>
                <a:latin typeface="Arial"/>
              </a:rPr>
              <a:t>Paket balik</a:t>
            </a:r>
          </a:p>
        </p:txBody>
      </p:sp>
      <p:sp>
        <p:nvSpPr>
          <p:cNvPr id="160" name="Text 159"/>
          <p:cNvSpPr txBox="1"/>
          <p:nvPr/>
        </p:nvSpPr>
        <p:spPr>
          <a:xfrm>
            <a:off x="9109847" y="6584795"/>
            <a:ext cx="1106625" cy="2304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harga, katalog, alokasi</a:t>
            </a:r>
          </a:p>
          <a:p>
            <a:pPr algn="ctr">
              <a:lnSpc>
                <a:spcPct val="117600"/>
              </a:lnSpc>
            </a:pPr>
            <a:r>
              <a:rPr sz="630" b="0" i="0">
                <a:solidFill>
                  <a:srgbClr val="1F2937"/>
                </a:solidFill>
                <a:latin typeface="Arial"/>
              </a:rPr>
              <a:t>subsidi terbaru ke 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 1"/>
          <p:cNvSpPr/>
          <p:nvPr/>
        </p:nvSpPr>
        <p:spPr>
          <a:xfrm>
            <a:off x="0" y="0"/>
            <a:ext cx="10689336" cy="642777"/>
          </a:xfrm>
          <a:prstGeom prst="rect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235165" y="86538"/>
            <a:ext cx="3037027" cy="3108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PRD dalam satu halaman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235165" y="433754"/>
            <a:ext cx="4466661" cy="16093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880" b="0" i="0">
                <a:solidFill>
                  <a:srgbClr val="9CC7EF"/>
                </a:solidFill>
                <a:latin typeface="Arial"/>
              </a:rPr>
              <a:t>Visi, sasaran terukur, pengguna, rilis, 16 epik, dan syarat penerimaan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9984778" y="233729"/>
            <a:ext cx="469392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1000" b="1" i="0">
                <a:solidFill>
                  <a:srgbClr val="9CC7EF"/>
                </a:solidFill>
                <a:latin typeface="Arial"/>
              </a:rPr>
              <a:t>3 / 3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8480968" y="448385"/>
            <a:ext cx="1973202" cy="1316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r">
              <a:lnSpc>
                <a:spcPct val="117600"/>
              </a:lnSpc>
            </a:pPr>
            <a:r>
              <a:rPr sz="720" b="0" i="0">
                <a:solidFill>
                  <a:srgbClr val="9CC7EF"/>
                </a:solidFill>
                <a:latin typeface="Arial"/>
              </a:rPr>
              <a:t>Platform Federasi KDKMP · 12 Okt 2026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235165" y="7379171"/>
            <a:ext cx="8251070" cy="1152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30" b="0" i="0">
                <a:solidFill>
                  <a:srgbClr val="6B7280"/>
                </a:solidFill>
                <a:latin typeface="Arial"/>
              </a:rPr>
              <a:t>Draf untuk diskusi. Sumber: Arsitektur_Sistem_KDKMP_Berbasis_Riset_12102026 (Bab 1–15 dan PRD P1–P8). Angka program per Sep–Okt 2026 dari Simkopdes/ANTARA; rancangan bersifat usulan.</a:t>
            </a:r>
          </a:p>
        </p:txBody>
      </p:sp>
      <p:sp>
        <p:nvSpPr>
          <p:cNvPr id="8" name="Box 7"/>
          <p:cNvSpPr/>
          <p:nvPr/>
        </p:nvSpPr>
        <p:spPr>
          <a:xfrm>
            <a:off x="235165" y="756208"/>
            <a:ext cx="10219005" cy="529346"/>
          </a:xfrm>
          <a:prstGeom prst="roundRect">
            <a:avLst>
              <a:gd name="adj" fmla="val 11746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 8"/>
          <p:cNvSpPr txBox="1"/>
          <p:nvPr/>
        </p:nvSpPr>
        <p:spPr>
          <a:xfrm>
            <a:off x="1637800" y="843793"/>
            <a:ext cx="7413735" cy="35417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37200"/>
              </a:lnSpc>
            </a:pPr>
            <a:r>
              <a:rPr sz="830" b="0" i="0">
                <a:solidFill>
                  <a:srgbClr val="FFFFFF"/>
                </a:solidFill>
                <a:latin typeface="Arial"/>
              </a:rPr>
              <a:t>Visi: setiap KDKMP menjalankan seluruh usahanya, melayani anggota, dan mempertanggungjawabkan setiap rupiah dan setiap</a:t>
            </a:r>
          </a:p>
          <a:p>
            <a:pPr algn="ctr">
              <a:lnSpc>
                <a:spcPct val="137200"/>
              </a:lnSpc>
            </a:pPr>
            <a:r>
              <a:rPr sz="830" b="0" i="0">
                <a:solidFill>
                  <a:srgbClr val="FFFFFF"/>
                </a:solidFill>
                <a:latin typeface="Arial"/>
              </a:rPr>
              <a:t>unit barang bersubsidi dari satu aplikasi sederhana yang tetap berfungsi tanpa internet, dengan data milik koperasi sendiri.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235165" y="1405158"/>
            <a:ext cx="2529840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Sasaran (percontohan, bulan 12)</a:t>
            </a:r>
          </a:p>
        </p:txBody>
      </p:sp>
      <p:sp>
        <p:nvSpPr>
          <p:cNvPr id="11" name="Box 10"/>
          <p:cNvSpPr/>
          <p:nvPr/>
        </p:nvSpPr>
        <p:spPr>
          <a:xfrm>
            <a:off x="235165" y="1686345"/>
            <a:ext cx="780321" cy="846953"/>
          </a:xfrm>
          <a:prstGeom prst="roundRect">
            <a:avLst>
              <a:gd name="adj" fmla="val 796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 11"/>
          <p:cNvSpPr txBox="1"/>
          <p:nvPr/>
        </p:nvSpPr>
        <p:spPr>
          <a:xfrm>
            <a:off x="538031" y="1774201"/>
            <a:ext cx="174589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6B7280"/>
                </a:solidFill>
                <a:latin typeface="Arial"/>
              </a:rPr>
              <a:t>G1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370818" y="1948741"/>
            <a:ext cx="509016" cy="20116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100" b="1" i="0">
                <a:solidFill>
                  <a:srgbClr val="00338D"/>
                </a:solidFill>
                <a:latin typeface="Arial"/>
              </a:rPr>
              <a:t>≥ 90%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209310" y="2241834"/>
            <a:ext cx="832030" cy="2048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gerai mencatat</a:t>
            </a:r>
          </a:p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transaksi tiap hari</a:t>
            </a:r>
          </a:p>
        </p:txBody>
      </p:sp>
      <p:sp>
        <p:nvSpPr>
          <p:cNvPr id="15" name="Box 14"/>
          <p:cNvSpPr/>
          <p:nvPr/>
        </p:nvSpPr>
        <p:spPr>
          <a:xfrm>
            <a:off x="1074278" y="1686345"/>
            <a:ext cx="780321" cy="846953"/>
          </a:xfrm>
          <a:prstGeom prst="roundRect">
            <a:avLst>
              <a:gd name="adj" fmla="val 796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 15"/>
          <p:cNvSpPr txBox="1"/>
          <p:nvPr/>
        </p:nvSpPr>
        <p:spPr>
          <a:xfrm>
            <a:off x="1377144" y="1774201"/>
            <a:ext cx="174589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6B7280"/>
                </a:solidFill>
                <a:latin typeface="Arial"/>
              </a:rPr>
              <a:t>G2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1209931" y="1948741"/>
            <a:ext cx="509016" cy="20116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100" b="1" i="0">
                <a:solidFill>
                  <a:srgbClr val="00338D"/>
                </a:solidFill>
                <a:latin typeface="Arial"/>
              </a:rPr>
              <a:t>≥ 99%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1088364" y="2241834"/>
            <a:ext cx="752148" cy="2048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transaksi subsidi</a:t>
            </a:r>
          </a:p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terverifikasi NIK</a:t>
            </a:r>
          </a:p>
        </p:txBody>
      </p:sp>
      <p:sp>
        <p:nvSpPr>
          <p:cNvPr id="19" name="Box 18"/>
          <p:cNvSpPr/>
          <p:nvPr/>
        </p:nvSpPr>
        <p:spPr>
          <a:xfrm>
            <a:off x="1913391" y="1686345"/>
            <a:ext cx="780321" cy="846953"/>
          </a:xfrm>
          <a:prstGeom prst="roundRect">
            <a:avLst>
              <a:gd name="adj" fmla="val 796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 19"/>
          <p:cNvSpPr txBox="1"/>
          <p:nvPr/>
        </p:nvSpPr>
        <p:spPr>
          <a:xfrm>
            <a:off x="2216257" y="1774201"/>
            <a:ext cx="174589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6B7280"/>
                </a:solidFill>
                <a:latin typeface="Arial"/>
              </a:rPr>
              <a:t>G3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1946021" y="1967029"/>
            <a:ext cx="715060" cy="16459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900" b="1" i="0">
                <a:solidFill>
                  <a:srgbClr val="00338D"/>
                </a:solidFill>
                <a:latin typeface="Arial"/>
              </a:rPr>
              <a:t>≤ 10 hari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1907506" y="2241834"/>
            <a:ext cx="792089" cy="2048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tutup buku bulanan</a:t>
            </a:r>
          </a:p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tanpa selisih</a:t>
            </a:r>
          </a:p>
        </p:txBody>
      </p:sp>
      <p:sp>
        <p:nvSpPr>
          <p:cNvPr id="23" name="Box 22"/>
          <p:cNvSpPr/>
          <p:nvPr/>
        </p:nvSpPr>
        <p:spPr>
          <a:xfrm>
            <a:off x="2752504" y="1686345"/>
            <a:ext cx="780321" cy="846953"/>
          </a:xfrm>
          <a:prstGeom prst="roundRect">
            <a:avLst>
              <a:gd name="adj" fmla="val 796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 23"/>
          <p:cNvSpPr txBox="1"/>
          <p:nvPr/>
        </p:nvSpPr>
        <p:spPr>
          <a:xfrm>
            <a:off x="3055370" y="1774201"/>
            <a:ext cx="174589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6B7280"/>
                </a:solidFill>
                <a:latin typeface="Arial"/>
              </a:rPr>
              <a:t>G4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2785134" y="1967029"/>
            <a:ext cx="715060" cy="16459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900" b="1" i="0">
                <a:solidFill>
                  <a:srgbClr val="00338D"/>
                </a:solidFill>
                <a:latin typeface="Arial"/>
              </a:rPr>
              <a:t>↑ tiap tw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2706678" y="2241834"/>
            <a:ext cx="871971" cy="2048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porsi pembelian dari</a:t>
            </a:r>
          </a:p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produsen desa</a:t>
            </a:r>
          </a:p>
        </p:txBody>
      </p:sp>
      <p:sp>
        <p:nvSpPr>
          <p:cNvPr id="27" name="Box 26"/>
          <p:cNvSpPr/>
          <p:nvPr/>
        </p:nvSpPr>
        <p:spPr>
          <a:xfrm>
            <a:off x="3591616" y="1686345"/>
            <a:ext cx="780321" cy="846953"/>
          </a:xfrm>
          <a:prstGeom prst="roundRect">
            <a:avLst>
              <a:gd name="adj" fmla="val 796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 27"/>
          <p:cNvSpPr txBox="1"/>
          <p:nvPr/>
        </p:nvSpPr>
        <p:spPr>
          <a:xfrm>
            <a:off x="3894482" y="1774201"/>
            <a:ext cx="174589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6B7280"/>
                </a:solidFill>
                <a:latin typeface="Arial"/>
              </a:rPr>
              <a:t>G5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3770856" y="1948741"/>
            <a:ext cx="421843" cy="20116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100" b="1" i="0">
                <a:solidFill>
                  <a:srgbClr val="00338D"/>
                </a:solidFill>
                <a:latin typeface="Arial"/>
              </a:rPr>
              <a:t>100%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3565762" y="2241834"/>
            <a:ext cx="832030" cy="2048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koperasi punya skor</a:t>
            </a:r>
          </a:p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peringatan dini</a:t>
            </a:r>
          </a:p>
        </p:txBody>
      </p:sp>
      <p:sp>
        <p:nvSpPr>
          <p:cNvPr id="31" name="Box 30"/>
          <p:cNvSpPr/>
          <p:nvPr/>
        </p:nvSpPr>
        <p:spPr>
          <a:xfrm>
            <a:off x="4430729" y="1686345"/>
            <a:ext cx="780321" cy="846953"/>
          </a:xfrm>
          <a:prstGeom prst="roundRect">
            <a:avLst>
              <a:gd name="adj" fmla="val 7968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 31"/>
          <p:cNvSpPr txBox="1"/>
          <p:nvPr/>
        </p:nvSpPr>
        <p:spPr>
          <a:xfrm>
            <a:off x="4733595" y="1774201"/>
            <a:ext cx="174589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40" b="1" i="0">
                <a:solidFill>
                  <a:srgbClr val="6B7280"/>
                </a:solidFill>
                <a:latin typeface="Arial"/>
              </a:rPr>
              <a:t>G6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4566382" y="1948741"/>
            <a:ext cx="509016" cy="20116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100" b="1" i="0">
                <a:solidFill>
                  <a:srgbClr val="00338D"/>
                </a:solidFill>
                <a:latin typeface="Arial"/>
              </a:rPr>
              <a:t>≥ 90%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4544668" y="2241834"/>
            <a:ext cx="552443" cy="20482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RAT tercatat</a:t>
            </a:r>
          </a:p>
          <a:p>
            <a:pPr algn="ctr">
              <a:lnSpc>
                <a:spcPct val="117600"/>
              </a:lnSpc>
            </a:pPr>
            <a:r>
              <a:rPr sz="560" b="0" i="0">
                <a:solidFill>
                  <a:srgbClr val="1F2937"/>
                </a:solidFill>
                <a:latin typeface="Arial"/>
              </a:rPr>
              <a:t>di sistem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5344668" y="1405158"/>
            <a:ext cx="2212848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Pengguna utama (11 persona)</a:t>
            </a:r>
          </a:p>
        </p:txBody>
      </p:sp>
      <p:sp>
        <p:nvSpPr>
          <p:cNvPr id="36" name="Box 35"/>
          <p:cNvSpPr/>
          <p:nvPr/>
        </p:nvSpPr>
        <p:spPr>
          <a:xfrm>
            <a:off x="5344668" y="1678783"/>
            <a:ext cx="810251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Text 36"/>
          <p:cNvSpPr txBox="1"/>
          <p:nvPr/>
        </p:nvSpPr>
        <p:spPr>
          <a:xfrm>
            <a:off x="5425547" y="1724302"/>
            <a:ext cx="648492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Kasir gerai</a:t>
            </a:r>
          </a:p>
        </p:txBody>
      </p:sp>
      <p:sp>
        <p:nvSpPr>
          <p:cNvPr id="38" name="Box 37"/>
          <p:cNvSpPr/>
          <p:nvPr/>
        </p:nvSpPr>
        <p:spPr>
          <a:xfrm>
            <a:off x="6219055" y="1678783"/>
            <a:ext cx="1120242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9" name="Text 38"/>
          <p:cNvSpPr txBox="1"/>
          <p:nvPr/>
        </p:nvSpPr>
        <p:spPr>
          <a:xfrm>
            <a:off x="6324171" y="1724302"/>
            <a:ext cx="910010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Manajer koperasi</a:t>
            </a:r>
          </a:p>
        </p:txBody>
      </p:sp>
      <p:sp>
        <p:nvSpPr>
          <p:cNvPr id="40" name="Box 39"/>
          <p:cNvSpPr/>
          <p:nvPr/>
        </p:nvSpPr>
        <p:spPr>
          <a:xfrm>
            <a:off x="7403434" y="1678783"/>
            <a:ext cx="1306236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Text 40"/>
          <p:cNvSpPr txBox="1"/>
          <p:nvPr/>
        </p:nvSpPr>
        <p:spPr>
          <a:xfrm>
            <a:off x="7523091" y="1724302"/>
            <a:ext cx="1066921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Pengurus &amp; pengawas</a:t>
            </a:r>
          </a:p>
        </p:txBody>
      </p:sp>
      <p:sp>
        <p:nvSpPr>
          <p:cNvPr id="42" name="Box 41"/>
          <p:cNvSpPr/>
          <p:nvPr/>
        </p:nvSpPr>
        <p:spPr>
          <a:xfrm>
            <a:off x="8773806" y="1678783"/>
            <a:ext cx="562259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Text 42"/>
          <p:cNvSpPr txBox="1"/>
          <p:nvPr/>
        </p:nvSpPr>
        <p:spPr>
          <a:xfrm>
            <a:off x="8835297" y="1724302"/>
            <a:ext cx="439277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Anggota</a:t>
            </a:r>
          </a:p>
        </p:txBody>
      </p:sp>
      <p:sp>
        <p:nvSpPr>
          <p:cNvPr id="44" name="Box 43"/>
          <p:cNvSpPr/>
          <p:nvPr/>
        </p:nvSpPr>
        <p:spPr>
          <a:xfrm>
            <a:off x="5344668" y="1951018"/>
            <a:ext cx="1120242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5" name="Text 44"/>
          <p:cNvSpPr txBox="1"/>
          <p:nvPr/>
        </p:nvSpPr>
        <p:spPr>
          <a:xfrm>
            <a:off x="5449783" y="1996537"/>
            <a:ext cx="910010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Produsen anggota</a:t>
            </a:r>
          </a:p>
        </p:txBody>
      </p:sp>
      <p:sp>
        <p:nvSpPr>
          <p:cNvPr id="46" name="Box 45"/>
          <p:cNvSpPr/>
          <p:nvPr/>
        </p:nvSpPr>
        <p:spPr>
          <a:xfrm>
            <a:off x="6529046" y="1951018"/>
            <a:ext cx="1430233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7" name="Text 46"/>
          <p:cNvSpPr txBox="1"/>
          <p:nvPr/>
        </p:nvSpPr>
        <p:spPr>
          <a:xfrm>
            <a:off x="6658398" y="1996537"/>
            <a:ext cx="1171529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Petani penerima pupuk</a:t>
            </a:r>
          </a:p>
        </p:txBody>
      </p:sp>
      <p:sp>
        <p:nvSpPr>
          <p:cNvPr id="48" name="Box 47"/>
          <p:cNvSpPr/>
          <p:nvPr/>
        </p:nvSpPr>
        <p:spPr>
          <a:xfrm>
            <a:off x="8023415" y="1951018"/>
            <a:ext cx="1120242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9" name="Text 48"/>
          <p:cNvSpPr txBox="1"/>
          <p:nvPr/>
        </p:nvSpPr>
        <p:spPr>
          <a:xfrm>
            <a:off x="8128531" y="1996537"/>
            <a:ext cx="910010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Operator Agrinas</a:t>
            </a:r>
          </a:p>
        </p:txBody>
      </p:sp>
      <p:sp>
        <p:nvSpPr>
          <p:cNvPr id="50" name="Box 49"/>
          <p:cNvSpPr/>
          <p:nvPr/>
        </p:nvSpPr>
        <p:spPr>
          <a:xfrm>
            <a:off x="5344668" y="2223253"/>
            <a:ext cx="1368235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Text 50"/>
          <p:cNvSpPr txBox="1"/>
          <p:nvPr/>
        </p:nvSpPr>
        <p:spPr>
          <a:xfrm>
            <a:off x="5469172" y="2268772"/>
            <a:ext cx="1119225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Petugas hub Torasera</a:t>
            </a:r>
          </a:p>
        </p:txBody>
      </p:sp>
      <p:sp>
        <p:nvSpPr>
          <p:cNvPr id="52" name="Box 51"/>
          <p:cNvSpPr/>
          <p:nvPr/>
        </p:nvSpPr>
        <p:spPr>
          <a:xfrm>
            <a:off x="6777039" y="2223253"/>
            <a:ext cx="1802222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3" name="Text 52"/>
          <p:cNvSpPr txBox="1"/>
          <p:nvPr/>
        </p:nvSpPr>
        <p:spPr>
          <a:xfrm>
            <a:off x="6935474" y="2268772"/>
            <a:ext cx="1485351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Pembina Pemda/desa/Kemenkop</a:t>
            </a:r>
          </a:p>
        </p:txBody>
      </p:sp>
      <p:sp>
        <p:nvSpPr>
          <p:cNvPr id="54" name="Box 53"/>
          <p:cNvSpPr/>
          <p:nvPr/>
        </p:nvSpPr>
        <p:spPr>
          <a:xfrm>
            <a:off x="8643397" y="2223253"/>
            <a:ext cx="562259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5" name="Text 54"/>
          <p:cNvSpPr txBox="1"/>
          <p:nvPr/>
        </p:nvSpPr>
        <p:spPr>
          <a:xfrm>
            <a:off x="8704887" y="2268772"/>
            <a:ext cx="439277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Auditor</a:t>
            </a:r>
          </a:p>
        </p:txBody>
      </p:sp>
      <p:sp>
        <p:nvSpPr>
          <p:cNvPr id="56" name="Box 55"/>
          <p:cNvSpPr/>
          <p:nvPr/>
        </p:nvSpPr>
        <p:spPr>
          <a:xfrm>
            <a:off x="9269792" y="2223253"/>
            <a:ext cx="1058244" cy="211738"/>
          </a:xfrm>
          <a:prstGeom prst="roundRect">
            <a:avLst>
              <a:gd name="adj" fmla="val 44049"/>
            </a:avLst>
          </a:prstGeom>
          <a:solidFill>
            <a:srgbClr val="FFFFFF"/>
          </a:solidFill>
          <a:ln w="1016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7" name="Text 56"/>
          <p:cNvSpPr txBox="1"/>
          <p:nvPr/>
        </p:nvSpPr>
        <p:spPr>
          <a:xfrm>
            <a:off x="9370060" y="2268772"/>
            <a:ext cx="857707" cy="1207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60" b="1" i="0">
                <a:solidFill>
                  <a:srgbClr val="005EB8"/>
                </a:solidFill>
                <a:latin typeface="Arial"/>
              </a:rPr>
              <a:t>Vendor aplikasi</a:t>
            </a:r>
          </a:p>
        </p:txBody>
      </p:sp>
      <p:sp>
        <p:nvSpPr>
          <p:cNvPr id="58" name="Text 57"/>
          <p:cNvSpPr txBox="1"/>
          <p:nvPr/>
        </p:nvSpPr>
        <p:spPr>
          <a:xfrm>
            <a:off x="235165" y="2728523"/>
            <a:ext cx="1420368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Rilis dan 16 epik</a:t>
            </a:r>
          </a:p>
        </p:txBody>
      </p:sp>
      <p:sp>
        <p:nvSpPr>
          <p:cNvPr id="59" name="Box 58"/>
          <p:cNvSpPr/>
          <p:nvPr/>
        </p:nvSpPr>
        <p:spPr>
          <a:xfrm>
            <a:off x="235165" y="3009711"/>
            <a:ext cx="1195532" cy="302483"/>
          </a:xfrm>
          <a:prstGeom prst="homePlate">
            <a:avLst/>
          </a:prstGeom>
          <a:solidFill>
            <a:srgbClr val="6B728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 59"/>
          <p:cNvSpPr txBox="1"/>
          <p:nvPr/>
        </p:nvSpPr>
        <p:spPr>
          <a:xfrm>
            <a:off x="479462" y="3048786"/>
            <a:ext cx="580339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R0 Fondasi</a:t>
            </a:r>
          </a:p>
          <a:p>
            <a:pPr algn="ctr">
              <a:lnSpc>
                <a:spcPct val="1127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bulan 0–3</a:t>
            </a:r>
          </a:p>
        </p:txBody>
      </p:sp>
      <p:sp>
        <p:nvSpPr>
          <p:cNvPr id="61" name="Box 60"/>
          <p:cNvSpPr/>
          <p:nvPr/>
        </p:nvSpPr>
        <p:spPr>
          <a:xfrm>
            <a:off x="1517885" y="3009711"/>
            <a:ext cx="1195532" cy="302483"/>
          </a:xfrm>
          <a:prstGeom prst="homePlate">
            <a:avLst/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 61"/>
          <p:cNvSpPr txBox="1"/>
          <p:nvPr/>
        </p:nvSpPr>
        <p:spPr>
          <a:xfrm>
            <a:off x="1660745" y="3048786"/>
            <a:ext cx="783214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R1 Percontohan</a:t>
            </a:r>
          </a:p>
          <a:p>
            <a:pPr algn="ctr">
              <a:lnSpc>
                <a:spcPct val="1127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bulan 3–9</a:t>
            </a:r>
          </a:p>
        </p:txBody>
      </p:sp>
      <p:sp>
        <p:nvSpPr>
          <p:cNvPr id="63" name="Box 62"/>
          <p:cNvSpPr/>
          <p:nvPr/>
        </p:nvSpPr>
        <p:spPr>
          <a:xfrm>
            <a:off x="2800606" y="3009711"/>
            <a:ext cx="1195532" cy="302483"/>
          </a:xfrm>
          <a:prstGeom prst="homePlate">
            <a:avLst/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Text 63"/>
          <p:cNvSpPr txBox="1"/>
          <p:nvPr/>
        </p:nvSpPr>
        <p:spPr>
          <a:xfrm>
            <a:off x="2918106" y="3048786"/>
            <a:ext cx="833932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R2 Ekonomi desa</a:t>
            </a:r>
          </a:p>
          <a:p>
            <a:pPr algn="ctr">
              <a:lnSpc>
                <a:spcPct val="1127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bulan 9–15</a:t>
            </a:r>
          </a:p>
        </p:txBody>
      </p:sp>
      <p:sp>
        <p:nvSpPr>
          <p:cNvPr id="65" name="Box 64"/>
          <p:cNvSpPr/>
          <p:nvPr/>
        </p:nvSpPr>
        <p:spPr>
          <a:xfrm>
            <a:off x="4083326" y="3009711"/>
            <a:ext cx="1195532" cy="302483"/>
          </a:xfrm>
          <a:prstGeom prst="homePlate">
            <a:avLst/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 65"/>
          <p:cNvSpPr txBox="1"/>
          <p:nvPr/>
        </p:nvSpPr>
        <p:spPr>
          <a:xfrm>
            <a:off x="4276904" y="3048786"/>
            <a:ext cx="681776" cy="2243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27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R3 Perluasan</a:t>
            </a:r>
          </a:p>
          <a:p>
            <a:pPr algn="ctr">
              <a:lnSpc>
                <a:spcPct val="112700"/>
              </a:lnSpc>
            </a:pPr>
            <a:r>
              <a:rPr sz="640" b="1" i="0">
                <a:solidFill>
                  <a:srgbClr val="FFFFFF"/>
                </a:solidFill>
                <a:latin typeface="Arial"/>
              </a:rPr>
              <a:t>bulan 15–30</a:t>
            </a:r>
          </a:p>
        </p:txBody>
      </p:sp>
      <p:sp>
        <p:nvSpPr>
          <p:cNvPr id="67" name="Text 66"/>
          <p:cNvSpPr txBox="1"/>
          <p:nvPr/>
        </p:nvSpPr>
        <p:spPr>
          <a:xfrm>
            <a:off x="235165" y="3371264"/>
            <a:ext cx="4431712" cy="1152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30" b="0" i="0">
                <a:solidFill>
                  <a:srgbClr val="6B7280"/>
                </a:solidFill>
                <a:latin typeface="Arial"/>
              </a:rPr>
              <a:t>R0: standar data &amp; API, model tenant, identitas &amp; peran, kerangka mode operator, sandbox konektor</a:t>
            </a:r>
          </a:p>
        </p:txBody>
      </p:sp>
      <p:sp>
        <p:nvSpPr>
          <p:cNvPr id="68" name="Box 67"/>
          <p:cNvSpPr/>
          <p:nvPr/>
        </p:nvSpPr>
        <p:spPr>
          <a:xfrm>
            <a:off x="235165" y="3539057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9" name="Box 68"/>
          <p:cNvSpPr/>
          <p:nvPr/>
        </p:nvSpPr>
        <p:spPr>
          <a:xfrm>
            <a:off x="235165" y="3539057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 69"/>
          <p:cNvSpPr txBox="1"/>
          <p:nvPr/>
        </p:nvSpPr>
        <p:spPr>
          <a:xfrm>
            <a:off x="305040" y="3681054"/>
            <a:ext cx="180929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E1</a:t>
            </a:r>
          </a:p>
        </p:txBody>
      </p:sp>
      <p:sp>
        <p:nvSpPr>
          <p:cNvPr id="71" name="Text 70"/>
          <p:cNvSpPr txBox="1"/>
          <p:nvPr/>
        </p:nvSpPr>
        <p:spPr>
          <a:xfrm>
            <a:off x="598602" y="3586362"/>
            <a:ext cx="515355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Tenant &amp;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orientasi</a:t>
            </a:r>
          </a:p>
        </p:txBody>
      </p:sp>
      <p:sp>
        <p:nvSpPr>
          <p:cNvPr id="72" name="Text 71"/>
          <p:cNvSpPr txBox="1"/>
          <p:nvPr/>
        </p:nvSpPr>
        <p:spPr>
          <a:xfrm>
            <a:off x="598602" y="3827230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rilis R1</a:t>
            </a:r>
          </a:p>
        </p:txBody>
      </p:sp>
      <p:sp>
        <p:nvSpPr>
          <p:cNvPr id="73" name="Box 72"/>
          <p:cNvSpPr/>
          <p:nvPr/>
        </p:nvSpPr>
        <p:spPr>
          <a:xfrm>
            <a:off x="1517885" y="3539057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4" name="Box 73"/>
          <p:cNvSpPr/>
          <p:nvPr/>
        </p:nvSpPr>
        <p:spPr>
          <a:xfrm>
            <a:off x="1517885" y="3539057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 74"/>
          <p:cNvSpPr txBox="1"/>
          <p:nvPr/>
        </p:nvSpPr>
        <p:spPr>
          <a:xfrm>
            <a:off x="1587761" y="3681054"/>
            <a:ext cx="180929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E2</a:t>
            </a:r>
          </a:p>
        </p:txBody>
      </p:sp>
      <p:sp>
        <p:nvSpPr>
          <p:cNvPr id="76" name="Text 75"/>
          <p:cNvSpPr txBox="1"/>
          <p:nvPr/>
        </p:nvSpPr>
        <p:spPr>
          <a:xfrm>
            <a:off x="1881323" y="3586362"/>
            <a:ext cx="613623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Anggota &amp;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RAT digital</a:t>
            </a:r>
          </a:p>
        </p:txBody>
      </p:sp>
      <p:sp>
        <p:nvSpPr>
          <p:cNvPr id="77" name="Text 76"/>
          <p:cNvSpPr txBox="1"/>
          <p:nvPr/>
        </p:nvSpPr>
        <p:spPr>
          <a:xfrm>
            <a:off x="1881323" y="3827230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rilis R1</a:t>
            </a:r>
          </a:p>
        </p:txBody>
      </p:sp>
      <p:sp>
        <p:nvSpPr>
          <p:cNvPr id="78" name="Box 77"/>
          <p:cNvSpPr/>
          <p:nvPr/>
        </p:nvSpPr>
        <p:spPr>
          <a:xfrm>
            <a:off x="2800606" y="3539057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9" name="Box 78"/>
          <p:cNvSpPr/>
          <p:nvPr/>
        </p:nvSpPr>
        <p:spPr>
          <a:xfrm>
            <a:off x="2800606" y="3539057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 79"/>
          <p:cNvSpPr txBox="1"/>
          <p:nvPr/>
        </p:nvSpPr>
        <p:spPr>
          <a:xfrm>
            <a:off x="2870481" y="3681054"/>
            <a:ext cx="180929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E3</a:t>
            </a:r>
          </a:p>
        </p:txBody>
      </p:sp>
      <p:sp>
        <p:nvSpPr>
          <p:cNvPr id="81" name="Text 80"/>
          <p:cNvSpPr txBox="1"/>
          <p:nvPr/>
        </p:nvSpPr>
        <p:spPr>
          <a:xfrm>
            <a:off x="3164043" y="3586362"/>
            <a:ext cx="761024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POS multi-unit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offline</a:t>
            </a:r>
          </a:p>
        </p:txBody>
      </p:sp>
      <p:sp>
        <p:nvSpPr>
          <p:cNvPr id="82" name="Text 81"/>
          <p:cNvSpPr txBox="1"/>
          <p:nvPr/>
        </p:nvSpPr>
        <p:spPr>
          <a:xfrm>
            <a:off x="3164043" y="3827230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rilis R1</a:t>
            </a:r>
          </a:p>
        </p:txBody>
      </p:sp>
      <p:sp>
        <p:nvSpPr>
          <p:cNvPr id="83" name="Box 82"/>
          <p:cNvSpPr/>
          <p:nvPr/>
        </p:nvSpPr>
        <p:spPr>
          <a:xfrm>
            <a:off x="4083326" y="3539057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4" name="Box 83"/>
          <p:cNvSpPr/>
          <p:nvPr/>
        </p:nvSpPr>
        <p:spPr>
          <a:xfrm>
            <a:off x="4083326" y="3539057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Text 84"/>
          <p:cNvSpPr txBox="1"/>
          <p:nvPr/>
        </p:nvSpPr>
        <p:spPr>
          <a:xfrm>
            <a:off x="4153201" y="3681054"/>
            <a:ext cx="180929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E4</a:t>
            </a:r>
          </a:p>
        </p:txBody>
      </p:sp>
      <p:sp>
        <p:nvSpPr>
          <p:cNvPr id="86" name="Text 85"/>
          <p:cNvSpPr txBox="1"/>
          <p:nvPr/>
        </p:nvSpPr>
        <p:spPr>
          <a:xfrm>
            <a:off x="4446763" y="3586362"/>
            <a:ext cx="564489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Persediaan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&amp; pesanan</a:t>
            </a:r>
          </a:p>
        </p:txBody>
      </p:sp>
      <p:sp>
        <p:nvSpPr>
          <p:cNvPr id="87" name="Text 86"/>
          <p:cNvSpPr txBox="1"/>
          <p:nvPr/>
        </p:nvSpPr>
        <p:spPr>
          <a:xfrm>
            <a:off x="4446763" y="3827230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rilis R1</a:t>
            </a:r>
          </a:p>
        </p:txBody>
      </p:sp>
      <p:sp>
        <p:nvSpPr>
          <p:cNvPr id="88" name="Box 87"/>
          <p:cNvSpPr/>
          <p:nvPr/>
        </p:nvSpPr>
        <p:spPr>
          <a:xfrm>
            <a:off x="235165" y="4007906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9" name="Box 88"/>
          <p:cNvSpPr/>
          <p:nvPr/>
        </p:nvSpPr>
        <p:spPr>
          <a:xfrm>
            <a:off x="235165" y="4007906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0" name="Text 89"/>
          <p:cNvSpPr txBox="1"/>
          <p:nvPr/>
        </p:nvSpPr>
        <p:spPr>
          <a:xfrm>
            <a:off x="305040" y="4149903"/>
            <a:ext cx="180929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E5</a:t>
            </a:r>
          </a:p>
        </p:txBody>
      </p:sp>
      <p:sp>
        <p:nvSpPr>
          <p:cNvPr id="91" name="Text 90"/>
          <p:cNvSpPr txBox="1"/>
          <p:nvPr/>
        </p:nvSpPr>
        <p:spPr>
          <a:xfrm>
            <a:off x="598602" y="4055211"/>
            <a:ext cx="564489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Penyaluran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subsidi</a:t>
            </a:r>
          </a:p>
        </p:txBody>
      </p:sp>
      <p:sp>
        <p:nvSpPr>
          <p:cNvPr id="92" name="Text 91"/>
          <p:cNvSpPr txBox="1"/>
          <p:nvPr/>
        </p:nvSpPr>
        <p:spPr>
          <a:xfrm>
            <a:off x="598602" y="4296079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rilis R1</a:t>
            </a:r>
          </a:p>
        </p:txBody>
      </p:sp>
      <p:sp>
        <p:nvSpPr>
          <p:cNvPr id="93" name="Box 92"/>
          <p:cNvSpPr/>
          <p:nvPr/>
        </p:nvSpPr>
        <p:spPr>
          <a:xfrm>
            <a:off x="1517885" y="4007906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F7B6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4" name="Box 93"/>
          <p:cNvSpPr/>
          <p:nvPr/>
        </p:nvSpPr>
        <p:spPr>
          <a:xfrm>
            <a:off x="1517885" y="4007906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Text 94"/>
          <p:cNvSpPr txBox="1"/>
          <p:nvPr/>
        </p:nvSpPr>
        <p:spPr>
          <a:xfrm>
            <a:off x="1587761" y="4149903"/>
            <a:ext cx="180929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E6</a:t>
            </a:r>
          </a:p>
        </p:txBody>
      </p:sp>
      <p:sp>
        <p:nvSpPr>
          <p:cNvPr id="96" name="Text 95"/>
          <p:cNvSpPr txBox="1"/>
          <p:nvPr/>
        </p:nvSpPr>
        <p:spPr>
          <a:xfrm>
            <a:off x="1881323" y="4055211"/>
            <a:ext cx="564489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Offtake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hasil desa</a:t>
            </a:r>
          </a:p>
        </p:txBody>
      </p:sp>
      <p:sp>
        <p:nvSpPr>
          <p:cNvPr id="97" name="Text 96"/>
          <p:cNvSpPr txBox="1"/>
          <p:nvPr/>
        </p:nvSpPr>
        <p:spPr>
          <a:xfrm>
            <a:off x="1881323" y="4296079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F7B6C"/>
                </a:solidFill>
                <a:latin typeface="Arial"/>
              </a:rPr>
              <a:t>rilis R2</a:t>
            </a:r>
          </a:p>
        </p:txBody>
      </p:sp>
      <p:sp>
        <p:nvSpPr>
          <p:cNvPr id="98" name="Box 97"/>
          <p:cNvSpPr/>
          <p:nvPr/>
        </p:nvSpPr>
        <p:spPr>
          <a:xfrm>
            <a:off x="2800606" y="4007906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9" name="Box 98"/>
          <p:cNvSpPr/>
          <p:nvPr/>
        </p:nvSpPr>
        <p:spPr>
          <a:xfrm>
            <a:off x="2800606" y="4007906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Text 99"/>
          <p:cNvSpPr txBox="1"/>
          <p:nvPr/>
        </p:nvSpPr>
        <p:spPr>
          <a:xfrm>
            <a:off x="2870481" y="4149903"/>
            <a:ext cx="180929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E7</a:t>
            </a:r>
          </a:p>
        </p:txBody>
      </p:sp>
      <p:sp>
        <p:nvSpPr>
          <p:cNvPr id="101" name="Text 100"/>
          <p:cNvSpPr txBox="1"/>
          <p:nvPr/>
        </p:nvSpPr>
        <p:spPr>
          <a:xfrm>
            <a:off x="3164043" y="4055211"/>
            <a:ext cx="515355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Akuntansi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koperasi</a:t>
            </a:r>
          </a:p>
        </p:txBody>
      </p:sp>
      <p:sp>
        <p:nvSpPr>
          <p:cNvPr id="102" name="Text 101"/>
          <p:cNvSpPr txBox="1"/>
          <p:nvPr/>
        </p:nvSpPr>
        <p:spPr>
          <a:xfrm>
            <a:off x="3164043" y="4296079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rilis R1</a:t>
            </a:r>
          </a:p>
        </p:txBody>
      </p:sp>
      <p:sp>
        <p:nvSpPr>
          <p:cNvPr id="103" name="Box 102"/>
          <p:cNvSpPr/>
          <p:nvPr/>
        </p:nvSpPr>
        <p:spPr>
          <a:xfrm>
            <a:off x="4083326" y="4007906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F7B6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4" name="Box 103"/>
          <p:cNvSpPr/>
          <p:nvPr/>
        </p:nvSpPr>
        <p:spPr>
          <a:xfrm>
            <a:off x="4083326" y="4007906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5" name="Text 104"/>
          <p:cNvSpPr txBox="1"/>
          <p:nvPr/>
        </p:nvSpPr>
        <p:spPr>
          <a:xfrm>
            <a:off x="4153201" y="4149903"/>
            <a:ext cx="180929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E8</a:t>
            </a:r>
          </a:p>
        </p:txBody>
      </p:sp>
      <p:sp>
        <p:nvSpPr>
          <p:cNvPr id="106" name="Text 105"/>
          <p:cNvSpPr txBox="1"/>
          <p:nvPr/>
        </p:nvSpPr>
        <p:spPr>
          <a:xfrm>
            <a:off x="4446763" y="4055211"/>
            <a:ext cx="367954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Simpan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pinjam</a:t>
            </a:r>
          </a:p>
        </p:txBody>
      </p:sp>
      <p:sp>
        <p:nvSpPr>
          <p:cNvPr id="107" name="Text 106"/>
          <p:cNvSpPr txBox="1"/>
          <p:nvPr/>
        </p:nvSpPr>
        <p:spPr>
          <a:xfrm>
            <a:off x="4446763" y="4296079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F7B6C"/>
                </a:solidFill>
                <a:latin typeface="Arial"/>
              </a:rPr>
              <a:t>rilis R2</a:t>
            </a:r>
          </a:p>
        </p:txBody>
      </p:sp>
      <p:sp>
        <p:nvSpPr>
          <p:cNvPr id="108" name="Box 107"/>
          <p:cNvSpPr/>
          <p:nvPr/>
        </p:nvSpPr>
        <p:spPr>
          <a:xfrm>
            <a:off x="235165" y="4476756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F7B6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9" name="Box 108"/>
          <p:cNvSpPr/>
          <p:nvPr/>
        </p:nvSpPr>
        <p:spPr>
          <a:xfrm>
            <a:off x="235165" y="4476756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0" name="Text 109"/>
          <p:cNvSpPr txBox="1"/>
          <p:nvPr/>
        </p:nvSpPr>
        <p:spPr>
          <a:xfrm>
            <a:off x="305040" y="4618753"/>
            <a:ext cx="180929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E9</a:t>
            </a:r>
          </a:p>
        </p:txBody>
      </p:sp>
      <p:sp>
        <p:nvSpPr>
          <p:cNvPr id="111" name="Text 110"/>
          <p:cNvSpPr txBox="1"/>
          <p:nvPr/>
        </p:nvSpPr>
        <p:spPr>
          <a:xfrm>
            <a:off x="598602" y="4576029"/>
            <a:ext cx="515355" cy="10393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Mesin SHU</a:t>
            </a:r>
          </a:p>
        </p:txBody>
      </p:sp>
      <p:sp>
        <p:nvSpPr>
          <p:cNvPr id="112" name="Text 111"/>
          <p:cNvSpPr txBox="1"/>
          <p:nvPr/>
        </p:nvSpPr>
        <p:spPr>
          <a:xfrm>
            <a:off x="598602" y="4764929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F7B6C"/>
                </a:solidFill>
                <a:latin typeface="Arial"/>
              </a:rPr>
              <a:t>rilis R2</a:t>
            </a:r>
          </a:p>
        </p:txBody>
      </p:sp>
      <p:sp>
        <p:nvSpPr>
          <p:cNvPr id="113" name="Box 112"/>
          <p:cNvSpPr/>
          <p:nvPr/>
        </p:nvSpPr>
        <p:spPr>
          <a:xfrm>
            <a:off x="1517885" y="4476756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4" name="Box 113"/>
          <p:cNvSpPr/>
          <p:nvPr/>
        </p:nvSpPr>
        <p:spPr>
          <a:xfrm>
            <a:off x="1517885" y="4476756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5" name="Text 114"/>
          <p:cNvSpPr txBox="1"/>
          <p:nvPr/>
        </p:nvSpPr>
        <p:spPr>
          <a:xfrm>
            <a:off x="1560816" y="4618753"/>
            <a:ext cx="234817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E10</a:t>
            </a:r>
          </a:p>
        </p:txBody>
      </p:sp>
      <p:sp>
        <p:nvSpPr>
          <p:cNvPr id="116" name="Text 115"/>
          <p:cNvSpPr txBox="1"/>
          <p:nvPr/>
        </p:nvSpPr>
        <p:spPr>
          <a:xfrm>
            <a:off x="1881323" y="4524061"/>
            <a:ext cx="515355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Aset &amp;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kewajiban</a:t>
            </a:r>
          </a:p>
        </p:txBody>
      </p:sp>
      <p:sp>
        <p:nvSpPr>
          <p:cNvPr id="117" name="Text 116"/>
          <p:cNvSpPr txBox="1"/>
          <p:nvPr/>
        </p:nvSpPr>
        <p:spPr>
          <a:xfrm>
            <a:off x="1881323" y="4764929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rilis R1</a:t>
            </a:r>
          </a:p>
        </p:txBody>
      </p:sp>
      <p:sp>
        <p:nvSpPr>
          <p:cNvPr id="118" name="Box 117"/>
          <p:cNvSpPr/>
          <p:nvPr/>
        </p:nvSpPr>
        <p:spPr>
          <a:xfrm>
            <a:off x="2800606" y="4476756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F7B6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9" name="Box 118"/>
          <p:cNvSpPr/>
          <p:nvPr/>
        </p:nvSpPr>
        <p:spPr>
          <a:xfrm>
            <a:off x="2800606" y="4476756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0" name="Text 119"/>
          <p:cNvSpPr txBox="1"/>
          <p:nvPr/>
        </p:nvSpPr>
        <p:spPr>
          <a:xfrm>
            <a:off x="2843537" y="4618753"/>
            <a:ext cx="234817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E11</a:t>
            </a:r>
          </a:p>
        </p:txBody>
      </p:sp>
      <p:sp>
        <p:nvSpPr>
          <p:cNvPr id="121" name="Text 120"/>
          <p:cNvSpPr txBox="1"/>
          <p:nvPr/>
        </p:nvSpPr>
        <p:spPr>
          <a:xfrm>
            <a:off x="3164043" y="4524061"/>
            <a:ext cx="564489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Pengadaan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transparan</a:t>
            </a:r>
          </a:p>
        </p:txBody>
      </p:sp>
      <p:sp>
        <p:nvSpPr>
          <p:cNvPr id="122" name="Text 121"/>
          <p:cNvSpPr txBox="1"/>
          <p:nvPr/>
        </p:nvSpPr>
        <p:spPr>
          <a:xfrm>
            <a:off x="3164043" y="4764929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F7B6C"/>
                </a:solidFill>
                <a:latin typeface="Arial"/>
              </a:rPr>
              <a:t>rilis R2</a:t>
            </a:r>
          </a:p>
        </p:txBody>
      </p:sp>
      <p:sp>
        <p:nvSpPr>
          <p:cNvPr id="123" name="Box 122"/>
          <p:cNvSpPr/>
          <p:nvPr/>
        </p:nvSpPr>
        <p:spPr>
          <a:xfrm>
            <a:off x="4083326" y="4476756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4" name="Box 123"/>
          <p:cNvSpPr/>
          <p:nvPr/>
        </p:nvSpPr>
        <p:spPr>
          <a:xfrm>
            <a:off x="4083326" y="4476756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5" name="Text 124"/>
          <p:cNvSpPr txBox="1"/>
          <p:nvPr/>
        </p:nvSpPr>
        <p:spPr>
          <a:xfrm>
            <a:off x="4126257" y="4618753"/>
            <a:ext cx="234817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E12</a:t>
            </a:r>
          </a:p>
        </p:txBody>
      </p:sp>
      <p:sp>
        <p:nvSpPr>
          <p:cNvPr id="126" name="Text 125"/>
          <p:cNvSpPr txBox="1"/>
          <p:nvPr/>
        </p:nvSpPr>
        <p:spPr>
          <a:xfrm>
            <a:off x="4446763" y="4524061"/>
            <a:ext cx="466222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Mode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operator</a:t>
            </a:r>
          </a:p>
        </p:txBody>
      </p:sp>
      <p:sp>
        <p:nvSpPr>
          <p:cNvPr id="127" name="Text 126"/>
          <p:cNvSpPr txBox="1"/>
          <p:nvPr/>
        </p:nvSpPr>
        <p:spPr>
          <a:xfrm>
            <a:off x="4446763" y="4764929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rilis R1</a:t>
            </a:r>
          </a:p>
        </p:txBody>
      </p:sp>
      <p:sp>
        <p:nvSpPr>
          <p:cNvPr id="128" name="Box 127"/>
          <p:cNvSpPr/>
          <p:nvPr/>
        </p:nvSpPr>
        <p:spPr>
          <a:xfrm>
            <a:off x="235165" y="4945605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F7B6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9" name="Box 128"/>
          <p:cNvSpPr/>
          <p:nvPr/>
        </p:nvSpPr>
        <p:spPr>
          <a:xfrm>
            <a:off x="235165" y="4945605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F7B6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0" name="Text 129"/>
          <p:cNvSpPr txBox="1"/>
          <p:nvPr/>
        </p:nvSpPr>
        <p:spPr>
          <a:xfrm>
            <a:off x="278096" y="5087602"/>
            <a:ext cx="234817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E13</a:t>
            </a:r>
          </a:p>
        </p:txBody>
      </p:sp>
      <p:sp>
        <p:nvSpPr>
          <p:cNvPr id="131" name="Text 130"/>
          <p:cNvSpPr txBox="1"/>
          <p:nvPr/>
        </p:nvSpPr>
        <p:spPr>
          <a:xfrm>
            <a:off x="598602" y="5044878"/>
            <a:ext cx="613623" cy="10393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Layanan hub</a:t>
            </a:r>
          </a:p>
        </p:txBody>
      </p:sp>
      <p:sp>
        <p:nvSpPr>
          <p:cNvPr id="132" name="Text 131"/>
          <p:cNvSpPr txBox="1"/>
          <p:nvPr/>
        </p:nvSpPr>
        <p:spPr>
          <a:xfrm>
            <a:off x="598602" y="5233778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F7B6C"/>
                </a:solidFill>
                <a:latin typeface="Arial"/>
              </a:rPr>
              <a:t>rilis R2</a:t>
            </a:r>
          </a:p>
        </p:txBody>
      </p:sp>
      <p:sp>
        <p:nvSpPr>
          <p:cNvPr id="133" name="Box 132"/>
          <p:cNvSpPr/>
          <p:nvPr/>
        </p:nvSpPr>
        <p:spPr>
          <a:xfrm>
            <a:off x="1517885" y="4945605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338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4" name="Box 133"/>
          <p:cNvSpPr/>
          <p:nvPr/>
        </p:nvSpPr>
        <p:spPr>
          <a:xfrm>
            <a:off x="1517885" y="4945605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5" name="Text 134"/>
          <p:cNvSpPr txBox="1"/>
          <p:nvPr/>
        </p:nvSpPr>
        <p:spPr>
          <a:xfrm>
            <a:off x="1560816" y="5087602"/>
            <a:ext cx="234817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E14</a:t>
            </a:r>
          </a:p>
        </p:txBody>
      </p:sp>
      <p:sp>
        <p:nvSpPr>
          <p:cNvPr id="136" name="Text 135"/>
          <p:cNvSpPr txBox="1"/>
          <p:nvPr/>
        </p:nvSpPr>
        <p:spPr>
          <a:xfrm>
            <a:off x="1881323" y="5044878"/>
            <a:ext cx="515355" cy="10393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Integrasi</a:t>
            </a:r>
          </a:p>
        </p:txBody>
      </p:sp>
      <p:sp>
        <p:nvSpPr>
          <p:cNvPr id="137" name="Text 136"/>
          <p:cNvSpPr txBox="1"/>
          <p:nvPr/>
        </p:nvSpPr>
        <p:spPr>
          <a:xfrm>
            <a:off x="1881323" y="5233778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338D"/>
                </a:solidFill>
                <a:latin typeface="Arial"/>
              </a:rPr>
              <a:t>rilis R1</a:t>
            </a:r>
          </a:p>
        </p:txBody>
      </p:sp>
      <p:sp>
        <p:nvSpPr>
          <p:cNvPr id="138" name="Box 137"/>
          <p:cNvSpPr/>
          <p:nvPr/>
        </p:nvSpPr>
        <p:spPr>
          <a:xfrm>
            <a:off x="2800606" y="4945605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005EB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9" name="Box 138"/>
          <p:cNvSpPr/>
          <p:nvPr/>
        </p:nvSpPr>
        <p:spPr>
          <a:xfrm>
            <a:off x="2800606" y="4945605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005E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0" name="Text 139"/>
          <p:cNvSpPr txBox="1"/>
          <p:nvPr/>
        </p:nvSpPr>
        <p:spPr>
          <a:xfrm>
            <a:off x="2843537" y="5087602"/>
            <a:ext cx="234817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E15</a:t>
            </a:r>
          </a:p>
        </p:txBody>
      </p:sp>
      <p:sp>
        <p:nvSpPr>
          <p:cNvPr id="141" name="Text 140"/>
          <p:cNvSpPr txBox="1"/>
          <p:nvPr/>
        </p:nvSpPr>
        <p:spPr>
          <a:xfrm>
            <a:off x="3164043" y="4992910"/>
            <a:ext cx="810158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Dasbor &amp;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peringatan dini</a:t>
            </a:r>
          </a:p>
        </p:txBody>
      </p:sp>
      <p:sp>
        <p:nvSpPr>
          <p:cNvPr id="142" name="Text 141"/>
          <p:cNvSpPr txBox="1"/>
          <p:nvPr/>
        </p:nvSpPr>
        <p:spPr>
          <a:xfrm>
            <a:off x="3164043" y="5233778"/>
            <a:ext cx="520348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005EB8"/>
                </a:solidFill>
                <a:latin typeface="Arial"/>
              </a:rPr>
              <a:t>rilis R1–R2</a:t>
            </a:r>
          </a:p>
        </p:txBody>
      </p:sp>
      <p:sp>
        <p:nvSpPr>
          <p:cNvPr id="143" name="Box 142"/>
          <p:cNvSpPr/>
          <p:nvPr/>
        </p:nvSpPr>
        <p:spPr>
          <a:xfrm>
            <a:off x="4083326" y="4945605"/>
            <a:ext cx="1229273" cy="408352"/>
          </a:xfrm>
          <a:prstGeom prst="roundRect">
            <a:avLst>
              <a:gd name="adj" fmla="val 15226"/>
            </a:avLst>
          </a:prstGeom>
          <a:solidFill>
            <a:srgbClr val="FFFFFF"/>
          </a:solidFill>
          <a:ln w="13970">
            <a:solidFill>
              <a:srgbClr val="B4530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4" name="Box 143"/>
          <p:cNvSpPr/>
          <p:nvPr/>
        </p:nvSpPr>
        <p:spPr>
          <a:xfrm>
            <a:off x="4083326" y="4945605"/>
            <a:ext cx="320680" cy="408352"/>
          </a:xfrm>
          <a:prstGeom prst="roundRect">
            <a:avLst>
              <a:gd name="adj" fmla="val 19389"/>
            </a:avLst>
          </a:prstGeom>
          <a:solidFill>
            <a:srgbClr val="B4530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5" name="Text 144"/>
          <p:cNvSpPr txBox="1"/>
          <p:nvPr/>
        </p:nvSpPr>
        <p:spPr>
          <a:xfrm>
            <a:off x="4126257" y="5087602"/>
            <a:ext cx="234817" cy="12435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80" b="1" i="0">
                <a:solidFill>
                  <a:srgbClr val="FFFFFF"/>
                </a:solidFill>
                <a:latin typeface="Arial"/>
              </a:rPr>
              <a:t>E16</a:t>
            </a:r>
          </a:p>
        </p:txBody>
      </p:sp>
      <p:sp>
        <p:nvSpPr>
          <p:cNvPr id="146" name="Text 145"/>
          <p:cNvSpPr txBox="1"/>
          <p:nvPr/>
        </p:nvSpPr>
        <p:spPr>
          <a:xfrm>
            <a:off x="4446763" y="4992910"/>
            <a:ext cx="613623" cy="20787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Sertifikasi</a:t>
            </a:r>
          </a:p>
          <a:p>
            <a:pPr algn="l">
              <a:lnSpc>
                <a:spcPct val="107800"/>
              </a:lnSpc>
            </a:pPr>
            <a:r>
              <a:rPr sz="620" b="1" i="0">
                <a:solidFill>
                  <a:srgbClr val="1F2937"/>
                </a:solidFill>
                <a:latin typeface="Arial"/>
              </a:rPr>
              <a:t>vendor</a:t>
            </a:r>
          </a:p>
        </p:txBody>
      </p:sp>
      <p:sp>
        <p:nvSpPr>
          <p:cNvPr id="147" name="Text 146"/>
          <p:cNvSpPr txBox="1"/>
          <p:nvPr/>
        </p:nvSpPr>
        <p:spPr>
          <a:xfrm>
            <a:off x="4446763" y="5233778"/>
            <a:ext cx="398385" cy="10424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570" b="0" i="0">
                <a:solidFill>
                  <a:srgbClr val="B45309"/>
                </a:solidFill>
                <a:latin typeface="Arial"/>
              </a:rPr>
              <a:t>rilis R3</a:t>
            </a:r>
          </a:p>
        </p:txBody>
      </p:sp>
      <p:sp>
        <p:nvSpPr>
          <p:cNvPr id="148" name="Text 147"/>
          <p:cNvSpPr txBox="1"/>
          <p:nvPr/>
        </p:nvSpPr>
        <p:spPr>
          <a:xfrm>
            <a:off x="235165" y="5464500"/>
            <a:ext cx="5139952" cy="11704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17600"/>
              </a:lnSpc>
            </a:pPr>
            <a:r>
              <a:rPr sz="640" b="0" i="0">
                <a:solidFill>
                  <a:srgbClr val="6B7280"/>
                </a:solidFill>
                <a:latin typeface="Arial"/>
              </a:rPr>
              <a:t>± 60 kebutuhan fungsional, masing-masing dengan ID, prioritas MoSCoW, dan kriteria penerimaan yang dapat diuji.</a:t>
            </a:r>
          </a:p>
        </p:txBody>
      </p:sp>
      <p:sp>
        <p:nvSpPr>
          <p:cNvPr id="149" name="Text 148"/>
          <p:cNvSpPr txBox="1"/>
          <p:nvPr/>
        </p:nvSpPr>
        <p:spPr>
          <a:xfrm>
            <a:off x="5344668" y="2728523"/>
            <a:ext cx="2450592" cy="182879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Kebutuhan non-fungsional kunci</a:t>
            </a:r>
          </a:p>
        </p:txBody>
      </p:sp>
      <p:sp>
        <p:nvSpPr>
          <p:cNvPr id="150" name="Box 149"/>
          <p:cNvSpPr/>
          <p:nvPr/>
        </p:nvSpPr>
        <p:spPr>
          <a:xfrm>
            <a:off x="5344668" y="3077769"/>
            <a:ext cx="1218584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Text 150"/>
          <p:cNvSpPr txBox="1"/>
          <p:nvPr/>
        </p:nvSpPr>
        <p:spPr>
          <a:xfrm>
            <a:off x="5719264" y="3190506"/>
            <a:ext cx="469392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99,5%</a:t>
            </a:r>
          </a:p>
        </p:txBody>
      </p:sp>
      <p:sp>
        <p:nvSpPr>
          <p:cNvPr id="152" name="Text 151"/>
          <p:cNvSpPr txBox="1"/>
          <p:nvPr/>
        </p:nvSpPr>
        <p:spPr>
          <a:xfrm>
            <a:off x="5510841" y="3444453"/>
            <a:ext cx="886236" cy="21945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ketersediaan cloud;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POS tetap jalan</a:t>
            </a:r>
          </a:p>
        </p:txBody>
      </p:sp>
      <p:sp>
        <p:nvSpPr>
          <p:cNvPr id="153" name="Box 152"/>
          <p:cNvSpPr/>
          <p:nvPr/>
        </p:nvSpPr>
        <p:spPr>
          <a:xfrm>
            <a:off x="6627388" y="3077769"/>
            <a:ext cx="1218584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" name="Text 153"/>
          <p:cNvSpPr txBox="1"/>
          <p:nvPr/>
        </p:nvSpPr>
        <p:spPr>
          <a:xfrm>
            <a:off x="6962360" y="3190506"/>
            <a:ext cx="548640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7 hari</a:t>
            </a:r>
          </a:p>
        </p:txBody>
      </p:sp>
      <p:sp>
        <p:nvSpPr>
          <p:cNvPr id="155" name="Text 154"/>
          <p:cNvSpPr txBox="1"/>
          <p:nvPr/>
        </p:nvSpPr>
        <p:spPr>
          <a:xfrm>
            <a:off x="6921943" y="3444453"/>
            <a:ext cx="629472" cy="21945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operasi tanpa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internet</a:t>
            </a:r>
          </a:p>
        </p:txBody>
      </p:sp>
      <p:sp>
        <p:nvSpPr>
          <p:cNvPr id="156" name="Box 155"/>
          <p:cNvSpPr/>
          <p:nvPr/>
        </p:nvSpPr>
        <p:spPr>
          <a:xfrm>
            <a:off x="7910108" y="3077769"/>
            <a:ext cx="1218584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7" name="Text 156"/>
          <p:cNvSpPr txBox="1"/>
          <p:nvPr/>
        </p:nvSpPr>
        <p:spPr>
          <a:xfrm>
            <a:off x="8205456" y="3190506"/>
            <a:ext cx="627888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≤ 1 dtk</a:t>
            </a:r>
          </a:p>
        </p:txBody>
      </p:sp>
      <p:sp>
        <p:nvSpPr>
          <p:cNvPr id="158" name="Text 157"/>
          <p:cNvSpPr txBox="1"/>
          <p:nvPr/>
        </p:nvSpPr>
        <p:spPr>
          <a:xfrm>
            <a:off x="8247458" y="3499317"/>
            <a:ext cx="543885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respons POS</a:t>
            </a:r>
          </a:p>
        </p:txBody>
      </p:sp>
      <p:sp>
        <p:nvSpPr>
          <p:cNvPr id="159" name="Box 158"/>
          <p:cNvSpPr/>
          <p:nvPr/>
        </p:nvSpPr>
        <p:spPr>
          <a:xfrm>
            <a:off x="9192828" y="3077769"/>
            <a:ext cx="1218584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0" name="Text 159"/>
          <p:cNvSpPr txBox="1"/>
          <p:nvPr/>
        </p:nvSpPr>
        <p:spPr>
          <a:xfrm>
            <a:off x="9527801" y="3190506"/>
            <a:ext cx="548640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100 rb</a:t>
            </a:r>
          </a:p>
        </p:txBody>
      </p:sp>
      <p:sp>
        <p:nvSpPr>
          <p:cNvPr id="161" name="Text 160"/>
          <p:cNvSpPr txBox="1"/>
          <p:nvPr/>
        </p:nvSpPr>
        <p:spPr>
          <a:xfrm>
            <a:off x="9465987" y="3444453"/>
            <a:ext cx="672266" cy="21945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tenant · 5 jt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transaksi/hari</a:t>
            </a:r>
          </a:p>
        </p:txBody>
      </p:sp>
      <p:sp>
        <p:nvSpPr>
          <p:cNvPr id="162" name="Box 161"/>
          <p:cNvSpPr/>
          <p:nvPr/>
        </p:nvSpPr>
        <p:spPr>
          <a:xfrm>
            <a:off x="5344668" y="3833978"/>
            <a:ext cx="1218584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3" name="Text 162"/>
          <p:cNvSpPr txBox="1"/>
          <p:nvPr/>
        </p:nvSpPr>
        <p:spPr>
          <a:xfrm>
            <a:off x="5584542" y="3961345"/>
            <a:ext cx="738835" cy="15361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840" b="1" i="0">
                <a:solidFill>
                  <a:srgbClr val="00338D"/>
                </a:solidFill>
                <a:latin typeface="Arial"/>
              </a:rPr>
              <a:t>RPO 15 mnt</a:t>
            </a:r>
          </a:p>
        </p:txBody>
      </p:sp>
      <p:sp>
        <p:nvSpPr>
          <p:cNvPr id="164" name="Text 163"/>
          <p:cNvSpPr txBox="1"/>
          <p:nvPr/>
        </p:nvSpPr>
        <p:spPr>
          <a:xfrm>
            <a:off x="5724811" y="4255526"/>
            <a:ext cx="458297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RTO 4 jam</a:t>
            </a:r>
          </a:p>
        </p:txBody>
      </p:sp>
      <p:sp>
        <p:nvSpPr>
          <p:cNvPr id="165" name="Box 164"/>
          <p:cNvSpPr/>
          <p:nvPr/>
        </p:nvSpPr>
        <p:spPr>
          <a:xfrm>
            <a:off x="6627388" y="3833978"/>
            <a:ext cx="1218584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6" name="Text 165"/>
          <p:cNvSpPr txBox="1"/>
          <p:nvPr/>
        </p:nvSpPr>
        <p:spPr>
          <a:xfrm>
            <a:off x="6962360" y="3946714"/>
            <a:ext cx="548640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10 thn</a:t>
            </a:r>
          </a:p>
        </p:txBody>
      </p:sp>
      <p:sp>
        <p:nvSpPr>
          <p:cNvPr id="167" name="Text 166"/>
          <p:cNvSpPr txBox="1"/>
          <p:nvPr/>
        </p:nvSpPr>
        <p:spPr>
          <a:xfrm>
            <a:off x="6921943" y="4200662"/>
            <a:ext cx="629472" cy="21945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retensi jejak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audit</a:t>
            </a:r>
          </a:p>
        </p:txBody>
      </p:sp>
      <p:sp>
        <p:nvSpPr>
          <p:cNvPr id="168" name="Box 167"/>
          <p:cNvSpPr/>
          <p:nvPr/>
        </p:nvSpPr>
        <p:spPr>
          <a:xfrm>
            <a:off x="7910108" y="3833978"/>
            <a:ext cx="1218584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9" name="Text 168"/>
          <p:cNvSpPr txBox="1"/>
          <p:nvPr/>
        </p:nvSpPr>
        <p:spPr>
          <a:xfrm>
            <a:off x="8324328" y="3946714"/>
            <a:ext cx="390144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100%</a:t>
            </a:r>
          </a:p>
        </p:txBody>
      </p:sp>
      <p:sp>
        <p:nvSpPr>
          <p:cNvPr id="170" name="Text 169"/>
          <p:cNvSpPr txBox="1"/>
          <p:nvPr/>
        </p:nvSpPr>
        <p:spPr>
          <a:xfrm>
            <a:off x="8119076" y="4255526"/>
            <a:ext cx="800648" cy="10972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data di Indonesia</a:t>
            </a:r>
          </a:p>
        </p:txBody>
      </p:sp>
      <p:sp>
        <p:nvSpPr>
          <p:cNvPr id="171" name="Box 170"/>
          <p:cNvSpPr/>
          <p:nvPr/>
        </p:nvSpPr>
        <p:spPr>
          <a:xfrm>
            <a:off x="9192828" y="3833978"/>
            <a:ext cx="1218584" cy="665463"/>
          </a:xfrm>
          <a:prstGeom prst="roundRect">
            <a:avLst>
              <a:gd name="adj" fmla="val 9343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2" name="Text 171"/>
          <p:cNvSpPr txBox="1"/>
          <p:nvPr/>
        </p:nvSpPr>
        <p:spPr>
          <a:xfrm>
            <a:off x="9488177" y="3946714"/>
            <a:ext cx="627888" cy="18287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1000" b="1" i="0">
                <a:solidFill>
                  <a:srgbClr val="00338D"/>
                </a:solidFill>
                <a:latin typeface="Arial"/>
              </a:rPr>
              <a:t>≤ 2 jam</a:t>
            </a:r>
          </a:p>
        </p:txBody>
      </p:sp>
      <p:sp>
        <p:nvSpPr>
          <p:cNvPr id="173" name="Text 172"/>
          <p:cNvSpPr txBox="1"/>
          <p:nvPr/>
        </p:nvSpPr>
        <p:spPr>
          <a:xfrm>
            <a:off x="9423193" y="4200662"/>
            <a:ext cx="757854" cy="21945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pelatihan kasir;</a:t>
            </a:r>
          </a:p>
          <a:p>
            <a:pPr algn="ctr">
              <a:lnSpc>
                <a:spcPct val="117600"/>
              </a:lnSpc>
            </a:pPr>
            <a:r>
              <a:rPr sz="600" b="0" i="0">
                <a:solidFill>
                  <a:srgbClr val="1F2937"/>
                </a:solidFill>
                <a:latin typeface="Arial"/>
              </a:rPr>
              <a:t>SUS ≥ 70</a:t>
            </a:r>
          </a:p>
        </p:txBody>
      </p:sp>
      <p:sp>
        <p:nvSpPr>
          <p:cNvPr id="174" name="Box 173"/>
          <p:cNvSpPr/>
          <p:nvPr/>
        </p:nvSpPr>
        <p:spPr>
          <a:xfrm>
            <a:off x="5344668" y="4711180"/>
            <a:ext cx="5066745" cy="718398"/>
          </a:xfrm>
          <a:prstGeom prst="roundRect">
            <a:avLst>
              <a:gd name="adj" fmla="val 8655"/>
            </a:avLst>
          </a:prstGeom>
          <a:solidFill>
            <a:srgbClr val="00338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" name="Text 174"/>
          <p:cNvSpPr txBox="1"/>
          <p:nvPr/>
        </p:nvSpPr>
        <p:spPr>
          <a:xfrm>
            <a:off x="6914263" y="4763429"/>
            <a:ext cx="1927555" cy="14264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17600"/>
              </a:lnSpc>
            </a:pPr>
            <a:r>
              <a:rPr sz="780" b="1" i="0">
                <a:solidFill>
                  <a:srgbClr val="FFFFFF"/>
                </a:solidFill>
                <a:latin typeface="Arial"/>
              </a:rPr>
              <a:t>Tumpukan teknologi (halaman 2)</a:t>
            </a:r>
          </a:p>
        </p:txBody>
      </p:sp>
      <p:sp>
        <p:nvSpPr>
          <p:cNvPr id="176" name="Text 175"/>
          <p:cNvSpPr txBox="1"/>
          <p:nvPr/>
        </p:nvSpPr>
        <p:spPr>
          <a:xfrm>
            <a:off x="5490651" y="5043479"/>
            <a:ext cx="4774777" cy="2731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37200"/>
              </a:lnSpc>
            </a:pPr>
            <a:r>
              <a:rPr sz="640" b="0" i="0">
                <a:solidFill>
                  <a:srgbClr val="9CC7EF"/>
                </a:solidFill>
                <a:latin typeface="Arial"/>
              </a:rPr>
              <a:t>Next.js PWA (POS offline, anggota, portal, dasbor)  ·  Django + DRF (16 app = 16 epik)</a:t>
            </a:r>
          </a:p>
          <a:p>
            <a:pPr algn="ctr">
              <a:lnSpc>
                <a:spcPct val="137200"/>
              </a:lnSpc>
            </a:pPr>
            <a:r>
              <a:rPr sz="640" b="0" i="0">
                <a:solidFill>
                  <a:srgbClr val="9CC7EF"/>
                </a:solidFill>
                <a:latin typeface="Arial"/>
              </a:rPr>
              <a:t>PostgreSQL RLS per tenant  ·  Celery/Redis  ·  LLM open-weight lokal (Ollama/llama.cpp) sebagai asisten</a:t>
            </a:r>
          </a:p>
        </p:txBody>
      </p:sp>
      <p:sp>
        <p:nvSpPr>
          <p:cNvPr id="177" name="Box 176"/>
          <p:cNvSpPr/>
          <p:nvPr/>
        </p:nvSpPr>
        <p:spPr>
          <a:xfrm>
            <a:off x="235165" y="5747186"/>
            <a:ext cx="4970541" cy="1285554"/>
          </a:xfrm>
          <a:prstGeom prst="roundRect">
            <a:avLst>
              <a:gd name="adj" fmla="val 4836"/>
            </a:avLst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8" name="Text 177"/>
          <p:cNvSpPr txBox="1"/>
          <p:nvPr/>
        </p:nvSpPr>
        <p:spPr>
          <a:xfrm>
            <a:off x="320680" y="5837931"/>
            <a:ext cx="1471086" cy="15361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7600"/>
              </a:lnSpc>
            </a:pPr>
            <a:r>
              <a:rPr sz="840" b="1" i="0">
                <a:solidFill>
                  <a:srgbClr val="00338D"/>
                </a:solidFill>
                <a:latin typeface="Arial"/>
              </a:rPr>
              <a:t>Gerbang penerimaan R1</a:t>
            </a:r>
          </a:p>
        </p:txBody>
      </p:sp>
      <p:sp>
        <p:nvSpPr>
          <p:cNvPr id="179" name="Text 178"/>
          <p:cNvSpPr txBox="1"/>
          <p:nvPr/>
        </p:nvSpPr>
        <p:spPr>
          <a:xfrm>
            <a:off x="320680" y="6004297"/>
            <a:ext cx="3873252" cy="71323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✓  Semua kebutuhan "M" R1 lulus UAT di ≥ 10 koperasi percontohan</a:t>
            </a:r>
          </a:p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✓  1.000 siklus putus-sambung tanpa transaksi hilang/ganda</a:t>
            </a:r>
          </a:p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✓  Uji keamanan independen: 0 temuan kritis/tinggi terbuka; DPIA disetujui</a:t>
            </a:r>
          </a:p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✓  Rekonsiliasi subsidi 30 hari berturut-turut tanpa selisih material</a:t>
            </a:r>
          </a:p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✓  Pelatihan &amp; helpdesk siap; tiket kritis ditanggapi ≤ 4 jam</a:t>
            </a:r>
          </a:p>
        </p:txBody>
      </p:sp>
      <p:sp>
        <p:nvSpPr>
          <p:cNvPr id="180" name="Box 179"/>
          <p:cNvSpPr/>
          <p:nvPr/>
        </p:nvSpPr>
        <p:spPr>
          <a:xfrm>
            <a:off x="5344668" y="5747186"/>
            <a:ext cx="5066745" cy="1285554"/>
          </a:xfrm>
          <a:prstGeom prst="roundRect">
            <a:avLst>
              <a:gd name="adj" fmla="val 4836"/>
            </a:avLst>
          </a:prstGeom>
          <a:solidFill>
            <a:srgbClr val="FEF3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1" name="Text 180"/>
          <p:cNvSpPr txBox="1"/>
          <p:nvPr/>
        </p:nvSpPr>
        <p:spPr>
          <a:xfrm>
            <a:off x="5430182" y="5837931"/>
            <a:ext cx="2136769" cy="15361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7600"/>
              </a:lnSpc>
            </a:pPr>
            <a:r>
              <a:rPr sz="840" b="1" i="0">
                <a:solidFill>
                  <a:srgbClr val="B45309"/>
                </a:solidFill>
                <a:latin typeface="Arial"/>
              </a:rPr>
              <a:t>Pertanyaan terbuka &amp; dependensi</a:t>
            </a:r>
          </a:p>
        </p:txBody>
      </p:sp>
      <p:sp>
        <p:nvSpPr>
          <p:cNvPr id="182" name="Text 181"/>
          <p:cNvSpPr txBox="1"/>
          <p:nvPr/>
        </p:nvSpPr>
        <p:spPr>
          <a:xfrm>
            <a:off x="5430182" y="6004297"/>
            <a:ext cx="3565135" cy="71323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?  Pemilik produk setelah masa transisi Agrinas</a:t>
            </a:r>
          </a:p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?  Status kepegawaian manajer → dampak hak akses</a:t>
            </a:r>
          </a:p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?  Skema resmi verifikasi LPG 3 kg &amp; pupuk via koperasi</a:t>
            </a:r>
          </a:p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•  Teks resmi Perpres 82/2026 &amp; aturan turunan</a:t>
            </a:r>
          </a:p>
          <a:p>
            <a:pPr algn="l">
              <a:lnSpc>
                <a:spcPct val="127400"/>
              </a:lnSpc>
            </a:pPr>
            <a:r>
              <a:rPr sz="720" b="0" i="0">
                <a:solidFill>
                  <a:srgbClr val="1F2937"/>
                </a:solidFill>
                <a:latin typeface="Arial"/>
              </a:rPr>
              <a:t>•  API hak subsidi mitra · akses NIK Dukcapil · peta jalan Simkopdes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Infografis Arsitektur dan PRD KDKMP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