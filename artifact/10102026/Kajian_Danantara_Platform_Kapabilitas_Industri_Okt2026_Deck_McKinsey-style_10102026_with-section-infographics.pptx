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spPr>
            <a:solidFill>
              <a:srgbClr val="8FA8F5"/>
            </a:solidFill>
          </c:spPr>
          <c:dPt>
            <c:idx val="0"/>
            <c:spPr>
              <a:solidFill>
                <a:srgbClr val="2251FF"/>
              </a:solidFill>
            </c:spPr>
          </c:dPt>
          <c:dPt>
            <c:idx val="1"/>
            <c:spPr>
              <a:solidFill>
                <a:srgbClr val="2251FF"/>
              </a:solidFill>
            </c:spPr>
          </c:dPt>
          <c:dPt>
            <c:idx val="2"/>
            <c:spPr>
              <a:solidFill>
                <a:srgbClr val="2251FF"/>
              </a:solidFill>
            </c:spPr>
          </c:dPt>
          <c:dPt>
            <c:idx val="3"/>
            <c:spPr>
              <a:solidFill>
                <a:srgbClr val="051C5C"/>
              </a:solidFill>
            </c:spPr>
          </c:dPt>
          <c:cat>
            <c:strRef>
              <c:f>Sheet1!$A$2:$A$5</c:f>
              <c:strCache>
                <c:ptCount val="4"/>
                <c:pt idx="0">
                  <c:v>Alokasi strategis
Danantara</c:v>
                </c:pt>
                <c:pt idx="1">
                  <c:v>NRF Tahap 1</c:v>
                </c:pt>
                <c:pt idx="2">
                  <c:v>Surat tagihan
proyek</c:v>
                </c:pt>
                <c:pt idx="3">
                  <c:v>Sisa: utang proyek,
ko-investor, APBN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578</c:v>
                </c:pt>
                <c:pt idx="1">
                  <c:v>118</c:v>
                </c:pt>
                <c:pt idx="2">
                  <c:v>24</c:v>
                </c:pt>
                <c:pt idx="3">
                  <c:v>1371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spPr>
            <a:solidFill>
              <a:srgbClr val="8FA8F5"/>
            </a:solidFill>
          </c:spPr>
          <c:dPt>
            <c:idx val="0"/>
            <c:spPr>
              <a:solidFill>
                <a:srgbClr val="8FA8F5"/>
              </a:solidFill>
            </c:spPr>
          </c:dPt>
          <c:dPt>
            <c:idx val="1"/>
            <c:spPr>
              <a:solidFill>
                <a:srgbClr val="2251FF"/>
              </a:solidFill>
            </c:spPr>
          </c:dPt>
          <c:dPt>
            <c:idx val="2"/>
            <c:spPr>
              <a:solidFill>
                <a:srgbClr val="2251FF"/>
              </a:solidFill>
            </c:spPr>
          </c:dPt>
          <c:dPt>
            <c:idx val="3"/>
            <c:spPr>
              <a:solidFill>
                <a:srgbClr val="051C5C"/>
              </a:solidFill>
            </c:spPr>
          </c:dPt>
          <c:cat>
            <c:strRef>
              <c:f>Sheet1!$A$2:$A$5</c:f>
              <c:strCache>
                <c:ptCount val="4"/>
                <c:pt idx="0">
                  <c:v>Dasar
(5,1%)</c:v>
                </c:pt>
                <c:pt idx="1">
                  <c:v>SDA saja</c:v>
                </c:pt>
                <c:pt idx="2">
                  <c:v>SDA + efisiensi
(dapat dicapai)</c:v>
                </c:pt>
                <c:pt idx="3">
                  <c:v>Target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5.1</c:v>
                </c:pt>
                <c:pt idx="1">
                  <c:v>6.25</c:v>
                </c:pt>
                <c:pt idx="2">
                  <c:v>6.78</c:v>
                </c:pt>
                <c:pt idx="3">
                  <c:v>8.0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spPr>
            <a:solidFill>
              <a:srgbClr val="8FA8F5"/>
            </a:solidFill>
          </c:spPr>
          <c:dPt>
            <c:idx val="0"/>
            <c:spPr>
              <a:solidFill>
                <a:srgbClr val="2251FF"/>
              </a:solidFill>
            </c:spPr>
          </c:dPt>
          <c:dPt>
            <c:idx val="1"/>
            <c:spPr>
              <a:solidFill>
                <a:srgbClr val="051C5C"/>
              </a:solidFill>
            </c:spPr>
          </c:dPt>
          <c:cat>
            <c:strRef>
              <c:f>Sheet1!$A$2:$A$3</c:f>
              <c:strCache>
                <c:ptCount val="2"/>
                <c:pt idx="0">
                  <c:v>Bernama
(Rp604,97 T)</c:v>
                </c:pt>
                <c:pt idx="1">
                  <c:v>Tanpa identitas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8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spPr>
            <a:solidFill>
              <a:srgbClr val="8FA8F5"/>
            </a:solidFill>
          </c:spPr>
          <c:dPt>
            <c:idx val="0"/>
            <c:spPr>
              <a:solidFill>
                <a:srgbClr val="2251FF"/>
              </a:solidFill>
            </c:spPr>
          </c:dPt>
          <c:dPt>
            <c:idx val="1"/>
            <c:spPr>
              <a:solidFill>
                <a:srgbClr val="2251FF"/>
              </a:solidFill>
            </c:spPr>
          </c:dPt>
          <c:dPt>
            <c:idx val="2"/>
            <c:spPr>
              <a:solidFill>
                <a:srgbClr val="2251FF"/>
              </a:solidFill>
            </c:spPr>
          </c:dPt>
          <c:cat>
            <c:strRef>
              <c:f>Sheet1!$A$2:$A$4</c:f>
              <c:strCache>
                <c:ptCount val="3"/>
                <c:pt idx="0">
                  <c:v>10% dialihkan</c:v>
                </c:pt>
                <c:pt idx="1">
                  <c:v>20% dialihkan</c:v>
                </c:pt>
                <c:pt idx="2">
                  <c:v>30% dialihkan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</c:v>
                </c:pt>
                <c:pt idx="1">
                  <c:v>45</c:v>
                </c:pt>
                <c:pt idx="2">
                  <c:v>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spPr>
            <a:solidFill>
              <a:srgbClr val="8FA8F5"/>
            </a:solidFill>
          </c:spPr>
          <c:dPt>
            <c:idx val="0"/>
            <c:spPr>
              <a:solidFill>
                <a:srgbClr val="2251FF"/>
              </a:solidFill>
            </c:spPr>
          </c:dPt>
          <c:dPt>
            <c:idx val="1"/>
            <c:spPr>
              <a:solidFill>
                <a:srgbClr val="2251FF"/>
              </a:solidFill>
            </c:spPr>
          </c:dPt>
          <c:dPt>
            <c:idx val="2"/>
            <c:spPr>
              <a:solidFill>
                <a:srgbClr val="2251FF"/>
              </a:solidFill>
            </c:spPr>
          </c:dPt>
          <c:dPt>
            <c:idx val="3"/>
            <c:spPr>
              <a:solidFill>
                <a:srgbClr val="2251FF"/>
              </a:solidFill>
            </c:spPr>
          </c:dPt>
          <c:cat>
            <c:strRef>
              <c:f>Sheet1!$A$2:$A$5</c:f>
              <c:strCache>
                <c:ptCount val="4"/>
                <c:pt idx="0">
                  <c:v>Mineral &amp;
material</c:v>
                </c:pt>
                <c:pt idx="1">
                  <c:v>Energi &amp; infra
industri</c:v>
                </c:pt>
                <c:pt idx="2">
                  <c:v>Pertahanan
&amp; maritim</c:v>
                </c:pt>
                <c:pt idx="3">
                  <c:v>Manufaktur
lainnya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283.85</c:v>
                </c:pt>
                <c:pt idx="1">
                  <c:v>1274.57</c:v>
                </c:pt>
                <c:pt idx="2">
                  <c:v>81.1</c:v>
                </c:pt>
                <c:pt idx="3">
                  <c:v>451.94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5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5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spPr>
            <a:solidFill>
              <a:srgbClr val="8FA8F5"/>
            </a:solidFill>
          </c:spPr>
          <c:dPt>
            <c:idx val="0"/>
            <c:spPr>
              <a:solidFill>
                <a:srgbClr val="051C5C"/>
              </a:solidFill>
            </c:spPr>
          </c:dPt>
          <c:dPt>
            <c:idx val="1"/>
            <c:spPr>
              <a:solidFill>
                <a:srgbClr val="2251FF"/>
              </a:solidFill>
            </c:spPr>
          </c:dPt>
          <c:dPt>
            <c:idx val="2"/>
            <c:spPr>
              <a:solidFill>
                <a:srgbClr val="8FA8F5"/>
              </a:solidFill>
            </c:spPr>
          </c:dPt>
          <c:cat>
            <c:strRef>
              <c:f>Sheet1!$A$2:$A$4</c:f>
              <c:strCache>
                <c:ptCount val="3"/>
                <c:pt idx="0">
                  <c:v>2004–14</c:v>
                </c:pt>
                <c:pt idx="1">
                  <c:v>2015–24</c:v>
                </c:pt>
                <c:pt idx="2">
                  <c:v>2026 (proy.)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19.3</c:v>
                </c:pt>
                <c:pt idx="1">
                  <c:v>7.7</c:v>
                </c:pt>
                <c:pt idx="2">
                  <c:v>10.68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4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spPr>
            <a:solidFill>
              <a:srgbClr val="8FA8F5"/>
            </a:solidFill>
          </c:spPr>
          <c:dPt>
            <c:idx val="0"/>
            <c:spPr>
              <a:solidFill>
                <a:srgbClr val="2251FF"/>
              </a:solidFill>
            </c:spPr>
          </c:dPt>
          <c:dPt>
            <c:idx val="1"/>
            <c:spPr>
              <a:solidFill>
                <a:srgbClr val="2251FF"/>
              </a:solidFill>
            </c:spPr>
          </c:dPt>
          <c:dPt>
            <c:idx val="2"/>
            <c:spPr>
              <a:solidFill>
                <a:srgbClr val="2251FF"/>
              </a:solidFill>
            </c:spPr>
          </c:dPt>
          <c:dPt>
            <c:idx val="3"/>
            <c:spPr>
              <a:solidFill>
                <a:srgbClr val="2251FF"/>
              </a:solidFill>
            </c:spPr>
          </c:dPt>
          <c:cat>
            <c:strRef>
              <c:f>Sheet1!$A$2:$A$5</c:f>
              <c:strCache>
                <c:ptCount val="4"/>
                <c:pt idx="0">
                  <c:v>WIKA</c:v>
                </c:pt>
                <c:pt idx="1">
                  <c:v>PP</c:v>
                </c:pt>
                <c:pt idx="2">
                  <c:v>Adhi Karya</c:v>
                </c:pt>
                <c:pt idx="3">
                  <c:v>Waskita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10.14</c:v>
                </c:pt>
                <c:pt idx="1">
                  <c:v>8.0</c:v>
                </c:pt>
                <c:pt idx="2">
                  <c:v>5.4</c:v>
                </c:pt>
                <c:pt idx="3">
                  <c:v>4.48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spPr>
            <a:solidFill>
              <a:srgbClr val="8FA8F5"/>
            </a:solidFill>
          </c:spPr>
          <c:dPt>
            <c:idx val="0"/>
            <c:spPr>
              <a:solidFill>
                <a:srgbClr val="051C5C"/>
              </a:solidFill>
            </c:spPr>
          </c:dPt>
          <c:dPt>
            <c:idx val="1"/>
            <c:spPr>
              <a:solidFill>
                <a:srgbClr val="2251FF"/>
              </a:solidFill>
            </c:spPr>
          </c:dPt>
          <c:cat>
            <c:strRef>
              <c:f>Sheet1!$A$2:$A$3</c:f>
              <c:strCache>
                <c:ptCount val="2"/>
                <c:pt idx="0">
                  <c:v>Sebelum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110.95</c:v>
                </c:pt>
                <c:pt idx="1">
                  <c:v>61.38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spPr>
            <a:solidFill>
              <a:srgbClr val="8FA8F5"/>
            </a:solidFill>
          </c:spPr>
          <c:dPt>
            <c:idx val="0"/>
            <c:spPr>
              <a:solidFill>
                <a:srgbClr val="2251FF"/>
              </a:solidFill>
            </c:spPr>
          </c:dPt>
          <c:dPt>
            <c:idx val="1"/>
            <c:spPr>
              <a:solidFill>
                <a:srgbClr val="2251FF"/>
              </a:solidFill>
            </c:spPr>
          </c:dPt>
          <c:dPt>
            <c:idx val="2"/>
            <c:spPr>
              <a:solidFill>
                <a:srgbClr val="2251FF"/>
              </a:solidFill>
            </c:spPr>
          </c:dPt>
          <c:cat>
            <c:strRef>
              <c:f>Sheet1!$A$2:$A$4</c:f>
              <c:strCache>
                <c:ptCount val="3"/>
                <c:pt idx="0">
                  <c:v>Fase 1
1 BUMN</c:v>
                </c:pt>
                <c:pt idx="1">
                  <c:v>Fase 2
2–3 BUMN</c:v>
                </c:pt>
                <c:pt idx="2">
                  <c:v>Fase 3
semua Karya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8</c:v>
                </c:pt>
                <c:pt idx="2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spPr>
            <a:solidFill>
              <a:srgbClr val="8FA8F5"/>
            </a:solidFill>
          </c:spPr>
          <c:dPt>
            <c:idx val="0"/>
            <c:spPr>
              <a:solidFill>
                <a:srgbClr val="2251FF"/>
              </a:solidFill>
            </c:spPr>
          </c:dPt>
          <c:dPt>
            <c:idx val="1"/>
            <c:spPr>
              <a:solidFill>
                <a:srgbClr val="2251FF"/>
              </a:solidFill>
            </c:spPr>
          </c:dPt>
          <c:dPt>
            <c:idx val="2"/>
            <c:spPr>
              <a:solidFill>
                <a:srgbClr val="2251FF"/>
              </a:solidFill>
            </c:spPr>
          </c:dPt>
          <c:cat>
            <c:strRef>
              <c:f>Sheet1!$A$2:$A$4</c:f>
              <c:strCache>
                <c:ptCount val="3"/>
                <c:pt idx="0">
                  <c:v>Investasi
I01–I12</c:v>
                </c:pt>
                <c:pt idx="1">
                  <c:v>Operasi BUMN
O01–O15</c:v>
                </c:pt>
                <c:pt idx="2">
                  <c:v>Pembangunan
D01–D12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35</c:v>
                </c:pt>
                <c:pt idx="2">
                  <c:v>25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5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5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0" y="0"/>
            <a:ext cx="109728" cy="68580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338328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KAJIAN KOMITE PENGARAH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338328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Draf untuk diskusi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Rahasia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694944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251FF"/>
                </a:solidFill>
                <a:latin typeface="Arial"/>
              </a:rPr>
              <a:t>DANANTARA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83080"/>
            <a:ext cx="6949440" cy="20116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3400" b="1" i="0">
                <a:solidFill>
                  <a:srgbClr val="051C5C"/>
                </a:solidFill>
                <a:latin typeface="Arial"/>
              </a:rPr>
              <a:t>Dari pengonsolidasi aset menjadi platform kapabilitas industri nasional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00600" y="3931920"/>
            <a:ext cx="6903720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754880" y="4069080"/>
            <a:ext cx="6949440" cy="10058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000000"/>
                </a:solidFill>
                <a:latin typeface="Arial"/>
              </a:rPr>
              <a:t>Tinjauan kinerja, kerangka kapabilitas industri DOCK-UP, pembiayaan melalui Natural Resource Fund dan tokenisasi proyek berdaulat, reformasi BUMN Karya, dan AI multi-agen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5394960"/>
            <a:ext cx="694944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51C5C"/>
                </a:solidFill>
                <a:latin typeface="Arial"/>
              </a:rPr>
              <a:t>Oktober 2026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00000"/>
                </a:solidFill>
                <a:latin typeface="Arial"/>
              </a:rPr>
              <a:t>Disusun oleh anggota Komite Pengarah Danantara untuk organ tata kelola dan manajemen Danantara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6400800"/>
            <a:ext cx="694944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Ringkasan dalam bentuk dek dari kajian lengkap; bukan keputusan atau posisi Danantara maupun Pemerintah.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1 DARI 3 · DIAGNOSIS (BAB 2–5)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Danantara sudah membuktikan akses pasar, tetapi belum hasil; harapan menuntut modal diubah menjadi kapabilitas yang terukur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merangkum seluruh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89888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389888"/>
            <a:ext cx="2258568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Pendekatan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1810512"/>
            <a:ext cx="2697480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1" name="Oval 10"/>
          <p:cNvSpPr/>
          <p:nvPr/>
        </p:nvSpPr>
        <p:spPr>
          <a:xfrm>
            <a:off x="3316528" y="1389888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6528" y="1389888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5440" y="1389888"/>
            <a:ext cx="2258568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Kondisi saat ini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16528" y="1810512"/>
            <a:ext cx="2697480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6175857" y="1389888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5857" y="1389888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4769" y="1389888"/>
            <a:ext cx="2258568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Evaluasi kinerja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75857" y="1810512"/>
            <a:ext cx="2697480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9035186" y="1389888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5186" y="1389888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4098" y="1389888"/>
            <a:ext cx="2258568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Harapan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35186" y="1810512"/>
            <a:ext cx="2697480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3" name="Rectangle 22"/>
          <p:cNvSpPr/>
          <p:nvPr/>
        </p:nvSpPr>
        <p:spPr>
          <a:xfrm>
            <a:off x="457200" y="1920240"/>
            <a:ext cx="1298448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92024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1956816"/>
            <a:ext cx="1115568" cy="37719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2251FF"/>
                </a:solidFill>
                <a:latin typeface="Arial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2320036"/>
            <a:ext cx="1115568" cy="45059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pertanyaan kerangka acuan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56232" y="1920240"/>
            <a:ext cx="1298448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56232" y="192024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93392" y="1956816"/>
            <a:ext cx="1115568" cy="29146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D1–D13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93392" y="2237486"/>
            <a:ext cx="1115568" cy="53314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13 dokumen sumber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926080"/>
            <a:ext cx="269748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Lima kelas bukti pada setiap angka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246120"/>
            <a:ext cx="457200" cy="365760"/>
          </a:xfrm>
          <a:prstGeom prst="rect">
            <a:avLst/>
          </a:prstGeom>
          <a:solidFill>
            <a:srgbClr val="051C5C"/>
          </a:solidFill>
          <a:ln w="9525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246120"/>
            <a:ext cx="45720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3246120"/>
            <a:ext cx="21671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Teraudit / dijamin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703320"/>
            <a:ext cx="457200" cy="365760"/>
          </a:xfrm>
          <a:prstGeom prst="rect">
            <a:avLst/>
          </a:prstGeom>
          <a:solidFill>
            <a:srgbClr val="2251FF"/>
          </a:solidFill>
          <a:ln w="9525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703320"/>
            <a:ext cx="45720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" y="3703320"/>
            <a:ext cx="21671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Resmi dilaporkan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160520"/>
            <a:ext cx="457200" cy="365760"/>
          </a:xfrm>
          <a:prstGeom prst="rect">
            <a:avLst/>
          </a:prstGeom>
          <a:solidFill>
            <a:srgbClr val="8FA8F5"/>
          </a:solidFill>
          <a:ln w="9525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160520"/>
            <a:ext cx="45720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" y="4160520"/>
            <a:ext cx="21671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Pengumuman, proyeksi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617720"/>
            <a:ext cx="457200" cy="365760"/>
          </a:xfrm>
          <a:prstGeom prst="rect">
            <a:avLst/>
          </a:prstGeom>
          <a:solidFill>
            <a:srgbClr val="E6ECFD"/>
          </a:solidFill>
          <a:ln w="9525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617720"/>
            <a:ext cx="45720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" y="4617720"/>
            <a:ext cx="21671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Ilustrasi / asumsi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074920"/>
            <a:ext cx="457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074920"/>
            <a:ext cx="45720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NR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" y="5074920"/>
            <a:ext cx="21671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Tidak dapat dinilai ≠ nol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16528" y="1920240"/>
            <a:ext cx="2697480" cy="4572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16528" y="1920240"/>
            <a:ext cx="2697480" cy="4572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BPI · Badan Pelaksana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665268" y="2377440"/>
            <a:ext cx="0" cy="16459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3746296" y="2542032"/>
            <a:ext cx="1837944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3741724" y="2542032"/>
            <a:ext cx="0" cy="109728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52" name="Rectangle 51"/>
          <p:cNvSpPr/>
          <p:nvPr/>
        </p:nvSpPr>
        <p:spPr>
          <a:xfrm>
            <a:off x="3316528" y="2651760"/>
            <a:ext cx="850392" cy="4572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16528" y="2651760"/>
            <a:ext cx="850392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DAM · COO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665268" y="2542032"/>
            <a:ext cx="0" cy="109728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55" name="Rectangle 54"/>
          <p:cNvSpPr/>
          <p:nvPr/>
        </p:nvSpPr>
        <p:spPr>
          <a:xfrm>
            <a:off x="4240072" y="2651760"/>
            <a:ext cx="850392" cy="4572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40072" y="2651760"/>
            <a:ext cx="850392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DIM · CIO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588812" y="2542032"/>
            <a:ext cx="0" cy="109728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58" name="Rectangle 57"/>
          <p:cNvSpPr/>
          <p:nvPr/>
        </p:nvSpPr>
        <p:spPr>
          <a:xfrm>
            <a:off x="5163616" y="2651760"/>
            <a:ext cx="850392" cy="4572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63616" y="2651760"/>
            <a:ext cx="850392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DDMF · CTO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16528" y="3291840"/>
            <a:ext cx="2697480" cy="7772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316528" y="3291840"/>
            <a:ext cx="64008" cy="7772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53688" y="3328416"/>
            <a:ext cx="2514600" cy="29146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US$1,5 M · 5,65%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53688" y="3609086"/>
            <a:ext cx="2514600" cy="44170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surat utang DIM, Jun 2026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316528" y="4160520"/>
            <a:ext cx="2697480" cy="7772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316528" y="4160520"/>
            <a:ext cx="64008" cy="7772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53688" y="4197096"/>
            <a:ext cx="2514600" cy="32575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900" b="1" i="0">
                <a:solidFill>
                  <a:srgbClr val="2251FF"/>
                </a:solidFill>
                <a:latin typeface="Arial"/>
              </a:rPr>
              <a:t>≈ 3,07×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53688" y="4510786"/>
            <a:ext cx="2514600" cy="40868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kelebihan permintaan surat utang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316528" y="5029200"/>
            <a:ext cx="2697480" cy="6858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316528" y="5029200"/>
            <a:ext cx="64008" cy="685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53688" y="5065776"/>
            <a:ext cx="2514600" cy="25717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251FF"/>
                </a:solidFill>
                <a:latin typeface="Arial"/>
              </a:rPr>
              <a:t>US$14 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53688" y="5313426"/>
            <a:ext cx="2514600" cy="38328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rencana 2026: 50% pasar publik · 50% proyek riil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90841" y="1920240"/>
            <a:ext cx="484632" cy="27432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Terbukti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02321" y="1920240"/>
            <a:ext cx="484632" cy="27432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Sebagian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13801" y="1920240"/>
            <a:ext cx="484632" cy="27432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Belum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25281" y="1920240"/>
            <a:ext cx="484632" cy="27432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NR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75857" y="2240280"/>
            <a:ext cx="1051560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Investasi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245705" y="2258568"/>
            <a:ext cx="374904" cy="34747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657185" y="22585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068665" y="22585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480145" y="2258568"/>
            <a:ext cx="374904" cy="34747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75857" y="2697480"/>
            <a:ext cx="1051560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Operasi BUMN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45705" y="27157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57185" y="2715768"/>
            <a:ext cx="374904" cy="34747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068665" y="27157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480145" y="27157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75857" y="3154680"/>
            <a:ext cx="1051560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Industrialisasi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245705" y="31729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57185" y="31729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68665" y="3172968"/>
            <a:ext cx="374904" cy="34747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480145" y="31729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75857" y="3611880"/>
            <a:ext cx="1051560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Tata kelola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245705" y="36301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657185" y="3630168"/>
            <a:ext cx="374904" cy="34747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68665" y="36301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80145" y="3630168"/>
            <a:ext cx="374904" cy="34747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75857" y="4114800"/>
            <a:ext cx="2697480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Akses terbukti; imbal hasil NR · kontribusi BUMN belum terverifikasi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75857" y="4572000"/>
            <a:ext cx="2697480" cy="237744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Register 40 proyek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75857" y="4846320"/>
            <a:ext cx="1213866" cy="4572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75857" y="4846320"/>
            <a:ext cx="1213866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18 bernama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89723" y="4846320"/>
            <a:ext cx="1483614" cy="4572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389723" y="4846320"/>
            <a:ext cx="1483614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22 tanpa identitas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75857" y="5349240"/>
            <a:ext cx="269748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Rp604,97 T = 28,9% dari Rp2.091 T · skor 0/100 = penalti data</a:t>
            </a:r>
          </a:p>
        </p:txBody>
      </p:sp>
      <p:sp>
        <p:nvSpPr>
          <p:cNvPr id="103" name="Oval 102"/>
          <p:cNvSpPr/>
          <p:nvPr/>
        </p:nvSpPr>
        <p:spPr>
          <a:xfrm>
            <a:off x="9035186" y="1920240"/>
            <a:ext cx="841248" cy="8412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035186" y="1920240"/>
            <a:ext cx="841248" cy="8412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Kapabilitas</a:t>
            </a:r>
          </a:p>
        </p:txBody>
      </p:sp>
      <p:sp>
        <p:nvSpPr>
          <p:cNvPr id="105" name="Oval 104"/>
          <p:cNvSpPr/>
          <p:nvPr/>
        </p:nvSpPr>
        <p:spPr>
          <a:xfrm>
            <a:off x="9949586" y="1920240"/>
            <a:ext cx="841248" cy="841248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949586" y="1920240"/>
            <a:ext cx="841248" cy="8412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Ekonomi</a:t>
            </a:r>
          </a:p>
        </p:txBody>
      </p:sp>
      <p:sp>
        <p:nvSpPr>
          <p:cNvPr id="107" name="Oval 106"/>
          <p:cNvSpPr/>
          <p:nvPr/>
        </p:nvSpPr>
        <p:spPr>
          <a:xfrm>
            <a:off x="10863986" y="1920240"/>
            <a:ext cx="841248" cy="841248"/>
          </a:xfrm>
          <a:prstGeom prst="ellipse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863986" y="1920240"/>
            <a:ext cx="841248" cy="8412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rial"/>
              </a:rPr>
              <a:t>Sosial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035186" y="2926080"/>
            <a:ext cx="1298448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035186" y="292608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172346" y="2962656"/>
            <a:ext cx="1115568" cy="24003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251FF"/>
                </a:solidFill>
                <a:latin typeface="Arial"/>
              </a:rPr>
              <a:t>Rp23–68 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72346" y="3193796"/>
            <a:ext cx="1115568" cy="58267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nilai tambah dari lokalisasi 10–30%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434218" y="2926080"/>
            <a:ext cx="1298448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434218" y="292608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571378" y="2962656"/>
            <a:ext cx="1115568" cy="32575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900" b="1" i="0">
                <a:solidFill>
                  <a:srgbClr val="2251FF"/>
                </a:solidFill>
                <a:latin typeface="Arial"/>
              </a:rPr>
              <a:t>+1,5%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571378" y="3276346"/>
            <a:ext cx="1115568" cy="50012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level PDB puncak 2030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035186" y="3886200"/>
            <a:ext cx="1298448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035186" y="388620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172346" y="3922776"/>
            <a:ext cx="1115568" cy="25717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251FF"/>
                </a:solidFill>
                <a:latin typeface="Arial"/>
              </a:rPr>
              <a:t>11,4 juta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72346" y="4170425"/>
            <a:ext cx="1115568" cy="56616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tahun-kerja didukung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434218" y="3886200"/>
            <a:ext cx="1298448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434218" y="388620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571378" y="3922776"/>
            <a:ext cx="1115568" cy="32575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900" b="1" i="0">
                <a:solidFill>
                  <a:srgbClr val="2251FF"/>
                </a:solidFill>
                <a:latin typeface="Arial"/>
              </a:rPr>
              <a:t>≠ 8%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571378" y="4236466"/>
            <a:ext cx="1115568" cy="50012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dari SDA saja: 6,2–6,8%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035186" y="4846320"/>
            <a:ext cx="2697480" cy="8686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Lima portofolio, ukuran berbeda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Pelestarian kekayaan · Infrastruktur · Platform industri · Inovasi · Pemasok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57200" y="5833872"/>
            <a:ext cx="11274552" cy="457200"/>
          </a:xfrm>
          <a:prstGeom prst="rect">
            <a:avLst/>
          </a:prstGeom>
          <a:solidFill>
            <a:srgbClr val="051C5C"/>
          </a:solidFill>
        </p:spPr>
        <p:txBody>
          <a:bodyPr wrap="square" lIns="164592" rIns="164592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Kesimpulan: </a:t>
            </a:r>
            <a:r>
              <a:rPr sz="1150" b="0" i="0">
                <a:solidFill>
                  <a:srgbClr val="FFFFFF"/>
                </a:solidFill>
                <a:latin typeface="Arial"/>
              </a:rPr>
              <a:t>akses pasar terbukti; imbal hasil, nilai BUMN, dan dampak industri belum dapat dinilai.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2 DARI 3 · MEKANISME DAN PEMBIAYAAN (BAB 6–10)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Permintaan jangkar diubah menjadi pemasok terkualifikasi lewat DOCK-UP, dibiayai dua kanal yang hanya menutup 6,8% portofolio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merangkum seluruh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89888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389888"/>
            <a:ext cx="2258568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DOCK-UP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1810512"/>
            <a:ext cx="2697480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1" name="Oval 10"/>
          <p:cNvSpPr/>
          <p:nvPr/>
        </p:nvSpPr>
        <p:spPr>
          <a:xfrm>
            <a:off x="3316528" y="1389888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6528" y="1389888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5440" y="1389888"/>
            <a:ext cx="2258568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Proyek jangkar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16528" y="1810512"/>
            <a:ext cx="2697480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6175857" y="1389888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5857" y="1389888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4769" y="1389888"/>
            <a:ext cx="2258568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Natural Resource Fund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75857" y="1810512"/>
            <a:ext cx="2697480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9035186" y="1389888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5186" y="1389888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4098" y="1389888"/>
            <a:ext cx="2258568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Tokenisasi proyek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35186" y="1810512"/>
            <a:ext cx="2697480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3" name="Rectangle 22"/>
          <p:cNvSpPr/>
          <p:nvPr/>
        </p:nvSpPr>
        <p:spPr>
          <a:xfrm>
            <a:off x="457200" y="1920240"/>
            <a:ext cx="603504" cy="4572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1920240"/>
            <a:ext cx="603504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33856" y="1920240"/>
            <a:ext cx="603504" cy="4572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3856" y="1920240"/>
            <a:ext cx="603504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10512" y="1920240"/>
            <a:ext cx="603504" cy="4572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10512" y="1920240"/>
            <a:ext cx="603504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7168" y="1920240"/>
            <a:ext cx="603504" cy="4572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87168" y="1920240"/>
            <a:ext cx="603504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395728"/>
            <a:ext cx="269748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Develop · Off-taker · Certification · Upgrading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611880"/>
            <a:ext cx="493776" cy="27432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3904487"/>
            <a:ext cx="54864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Masuk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" y="3383280"/>
            <a:ext cx="493776" cy="5029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" y="3904487"/>
            <a:ext cx="54864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G1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54480" y="3154680"/>
            <a:ext cx="493776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27048" y="3904487"/>
            <a:ext cx="54864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G2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03120" y="2926080"/>
            <a:ext cx="493776" cy="9601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75688" y="3904487"/>
            <a:ext cx="54864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G3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51760" y="2697480"/>
            <a:ext cx="493776" cy="11887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24328" y="3904487"/>
            <a:ext cx="54864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G4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206240"/>
            <a:ext cx="2697480" cy="5486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TRL/MRL: volume pesanan dilepas hanya pada kesiapan terverifikasi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6528" y="1920240"/>
            <a:ext cx="9601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Mineral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6648" y="1956816"/>
            <a:ext cx="274965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9046" y="1920240"/>
            <a:ext cx="54864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rial"/>
              </a:rPr>
              <a:t>284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6528" y="2340864"/>
            <a:ext cx="9601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Energi/infra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6648" y="2377440"/>
            <a:ext cx="1234440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38520" y="2340864"/>
            <a:ext cx="54864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rial"/>
              </a:rPr>
              <a:t>1.275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16528" y="2761488"/>
            <a:ext cx="9601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Pertahanan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76648" y="2798064"/>
            <a:ext cx="78423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2504" y="2761488"/>
            <a:ext cx="54864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rial"/>
              </a:rPr>
              <a:t>81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6528" y="3182112"/>
            <a:ext cx="9601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Lainnya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76648" y="3218688"/>
            <a:ext cx="437621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41701" y="3182112"/>
            <a:ext cx="54864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rial"/>
              </a:rPr>
              <a:t>452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6528" y="3639312"/>
            <a:ext cx="2697480" cy="237744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051C5C"/>
                </a:solidFill>
                <a:latin typeface="Arial"/>
              </a:rPr>
              <a:t>Rp T, belum direkonsiliasi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453688" y="4224528"/>
            <a:ext cx="2423160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57" name="Oval 56"/>
          <p:cNvSpPr/>
          <p:nvPr/>
        </p:nvSpPr>
        <p:spPr>
          <a:xfrm>
            <a:off x="3380536" y="4151376"/>
            <a:ext cx="146304" cy="14630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70808" y="4334256"/>
            <a:ext cx="36576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51C5C"/>
                </a:solidFill>
                <a:latin typeface="Arial"/>
              </a:rPr>
              <a:t>P0</a:t>
            </a:r>
          </a:p>
        </p:txBody>
      </p:sp>
      <p:sp>
        <p:nvSpPr>
          <p:cNvPr id="59" name="Oval 58"/>
          <p:cNvSpPr/>
          <p:nvPr/>
        </p:nvSpPr>
        <p:spPr>
          <a:xfrm>
            <a:off x="3784396" y="4151376"/>
            <a:ext cx="146304" cy="14630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74668" y="4334256"/>
            <a:ext cx="36576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51C5C"/>
                </a:solidFill>
                <a:latin typeface="Arial"/>
              </a:rPr>
              <a:t>P1</a:t>
            </a:r>
          </a:p>
        </p:txBody>
      </p:sp>
      <p:sp>
        <p:nvSpPr>
          <p:cNvPr id="61" name="Oval 60"/>
          <p:cNvSpPr/>
          <p:nvPr/>
        </p:nvSpPr>
        <p:spPr>
          <a:xfrm>
            <a:off x="4188256" y="4151376"/>
            <a:ext cx="146304" cy="14630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078528" y="4334256"/>
            <a:ext cx="36576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51C5C"/>
                </a:solidFill>
                <a:latin typeface="Arial"/>
              </a:rPr>
              <a:t>P2</a:t>
            </a:r>
          </a:p>
        </p:txBody>
      </p:sp>
      <p:sp>
        <p:nvSpPr>
          <p:cNvPr id="63" name="Oval 62"/>
          <p:cNvSpPr/>
          <p:nvPr/>
        </p:nvSpPr>
        <p:spPr>
          <a:xfrm>
            <a:off x="4592116" y="4151376"/>
            <a:ext cx="146304" cy="14630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82388" y="4334256"/>
            <a:ext cx="36576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51C5C"/>
                </a:solidFill>
                <a:latin typeface="Arial"/>
              </a:rPr>
              <a:t>P3</a:t>
            </a:r>
          </a:p>
        </p:txBody>
      </p:sp>
      <p:sp>
        <p:nvSpPr>
          <p:cNvPr id="65" name="Oval 64"/>
          <p:cNvSpPr/>
          <p:nvPr/>
        </p:nvSpPr>
        <p:spPr>
          <a:xfrm>
            <a:off x="4995976" y="4151376"/>
            <a:ext cx="146304" cy="14630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86248" y="4334256"/>
            <a:ext cx="36576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51C5C"/>
                </a:solidFill>
                <a:latin typeface="Arial"/>
              </a:rPr>
              <a:t>P4</a:t>
            </a:r>
          </a:p>
        </p:txBody>
      </p:sp>
      <p:sp>
        <p:nvSpPr>
          <p:cNvPr id="67" name="Oval 66"/>
          <p:cNvSpPr/>
          <p:nvPr/>
        </p:nvSpPr>
        <p:spPr>
          <a:xfrm>
            <a:off x="5399836" y="4151376"/>
            <a:ext cx="146304" cy="14630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290108" y="4334256"/>
            <a:ext cx="36576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51C5C"/>
                </a:solidFill>
                <a:latin typeface="Arial"/>
              </a:rPr>
              <a:t>P5</a:t>
            </a:r>
          </a:p>
        </p:txBody>
      </p:sp>
      <p:sp>
        <p:nvSpPr>
          <p:cNvPr id="69" name="Oval 68"/>
          <p:cNvSpPr/>
          <p:nvPr/>
        </p:nvSpPr>
        <p:spPr>
          <a:xfrm>
            <a:off x="5803696" y="4151376"/>
            <a:ext cx="146304" cy="14630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93968" y="4334256"/>
            <a:ext cx="36576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51C5C"/>
                </a:solidFill>
                <a:latin typeface="Arial"/>
              </a:rPr>
              <a:t>P6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16528" y="3886200"/>
            <a:ext cx="2697480" cy="237744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2251FF"/>
                </a:solidFill>
                <a:latin typeface="Arial"/>
              </a:rPr>
              <a:t>Gerbang proyek mengunci gerbang pemasok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8737" y="2057400"/>
            <a:ext cx="822960" cy="11887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730337" y="3187598"/>
            <a:ext cx="822960" cy="58521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58737" y="2057400"/>
            <a:ext cx="822960" cy="11887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US$80 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93177" y="2788920"/>
            <a:ext cx="109728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US$3,9 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75857" y="3264408"/>
            <a:ext cx="118872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Nilai in-situ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47457" y="3264408"/>
            <a:ext cx="1280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Dapat diterbitkan (4,9%)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75857" y="3794760"/>
            <a:ext cx="2697480" cy="82296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175857" y="3794760"/>
            <a:ext cx="64008" cy="82296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13017" y="3831336"/>
            <a:ext cx="2514600" cy="29146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19,3% → 7,7%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13017" y="4112006"/>
            <a:ext cx="2514600" cy="48742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porsi SDA dalam penerimaan negara; 8 isu hukum, valuasi, fiskal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126626" y="2479040"/>
            <a:ext cx="502920" cy="812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26626" y="2250440"/>
            <a:ext cx="50292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26626" y="3310128"/>
            <a:ext cx="50292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T1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766706" y="2377440"/>
            <a:ext cx="502920" cy="9144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766706" y="2148840"/>
            <a:ext cx="50292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45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766706" y="3310128"/>
            <a:ext cx="50292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T2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406786" y="2479040"/>
            <a:ext cx="502920" cy="812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406786" y="2250440"/>
            <a:ext cx="50292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406786" y="3310128"/>
            <a:ext cx="50292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T3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1046866" y="2783840"/>
            <a:ext cx="502920" cy="5080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046866" y="2555240"/>
            <a:ext cx="50292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046866" y="3310128"/>
            <a:ext cx="502920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T4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035186" y="1901952"/>
            <a:ext cx="269748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Tranche tonggak PAL-SUB-1, US$ juta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035186" y="3657600"/>
            <a:ext cx="2697480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035186" y="365760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172346" y="3694176"/>
            <a:ext cx="2514600" cy="29146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US$150 juta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72346" y="3974846"/>
            <a:ext cx="2514600" cy="53314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700 bps · 720 hari · escrow · pencairan 2-dari-2; instrumen = utang, enam prasyarat</a:t>
            </a:r>
          </a:p>
        </p:txBody>
      </p:sp>
      <p:sp>
        <p:nvSpPr>
          <p:cNvPr id="99" name="Oval 98"/>
          <p:cNvSpPr/>
          <p:nvPr/>
        </p:nvSpPr>
        <p:spPr>
          <a:xfrm>
            <a:off x="457200" y="4754880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57200" y="4754880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6112" y="4754880"/>
            <a:ext cx="10835640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Arsitektur pembiayaan: sumber dana ilustratif untuk portofolio Rp2.091 T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457200" y="5175504"/>
            <a:ext cx="11274552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03" name="Rectangle 102"/>
          <p:cNvSpPr/>
          <p:nvPr/>
        </p:nvSpPr>
        <p:spPr>
          <a:xfrm>
            <a:off x="457200" y="5303520"/>
            <a:ext cx="3116542" cy="4572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57200" y="5303520"/>
            <a:ext cx="3116542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Alokasi Danantara 27,6%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573742" y="5303520"/>
            <a:ext cx="636249" cy="4572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573742" y="5303520"/>
            <a:ext cx="636249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NRF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209992" y="5303520"/>
            <a:ext cx="129406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339398" y="5303520"/>
            <a:ext cx="7392353" cy="45720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339398" y="5303520"/>
            <a:ext cx="7392353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Sisa 65,6%: utang proyek, ko-investor, APBN, neraca BUMN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573742" y="5779008"/>
            <a:ext cx="411480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NRF 5,6% + surat tagihan 1,1% = dua kanal baru 6,8%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6053328"/>
            <a:ext cx="11274552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Pembiayaan mengikuti gerbang · portofolio Alpha/Impact tanpa subsidi silang · SPV ring-fenced · 11 uji stres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3 DARI 3 · PELAKSANAAN (BAB 11–17 DAN LAMPIRAN)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Pelaksanaan bertumpu pada kontraktor yang disiplin, AI, unit tata kelola, tiga scorecard, pengendalian risiko, dan peta jalan bersyarat bukti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merangkum seluruh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71600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371600"/>
            <a:ext cx="3197352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BUMN Karya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1792224"/>
            <a:ext cx="363626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1" name="Oval 10"/>
          <p:cNvSpPr/>
          <p:nvPr/>
        </p:nvSpPr>
        <p:spPr>
          <a:xfrm>
            <a:off x="4276344" y="1371600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6344" y="1371600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5256" y="1371600"/>
            <a:ext cx="3197352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AI multi-agen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76344" y="1792224"/>
            <a:ext cx="3636263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8095488" y="1371600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5488" y="1371600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4400" y="1371600"/>
            <a:ext cx="3197352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Tata kelola dan unit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95488" y="1792224"/>
            <a:ext cx="363626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457200" y="3383280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383280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383280"/>
            <a:ext cx="3197352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Pengukuran: tiga scorecard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" y="3803904"/>
            <a:ext cx="363626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4276344" y="3383280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6344" y="3383280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5256" y="3383280"/>
            <a:ext cx="3197352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Risiko: 24 risiko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276344" y="3803904"/>
            <a:ext cx="3636263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8095488" y="3383280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5488" y="3383280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400" y="3383280"/>
            <a:ext cx="3197352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Pemangku kepentingan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95488" y="3803904"/>
            <a:ext cx="363626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1" name="Rectangle 30"/>
          <p:cNvSpPr/>
          <p:nvPr/>
        </p:nvSpPr>
        <p:spPr>
          <a:xfrm>
            <a:off x="548640" y="2084832"/>
            <a:ext cx="384048" cy="65836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1883664"/>
            <a:ext cx="475488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00000"/>
                </a:solidFill>
                <a:latin typeface="Arial"/>
              </a:rPr>
              <a:t>10,14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761488"/>
            <a:ext cx="50292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WIKA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" y="2223777"/>
            <a:ext cx="384048" cy="51942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2022609"/>
            <a:ext cx="475488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2761488"/>
            <a:ext cx="50292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PP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63040" y="2392589"/>
            <a:ext cx="384048" cy="35061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17320" y="2191421"/>
            <a:ext cx="475488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00000"/>
                </a:solidFill>
                <a:latin typeface="Arial"/>
              </a:rPr>
              <a:t>5,4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2761488"/>
            <a:ext cx="50292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Adhi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20240" y="2452323"/>
            <a:ext cx="384048" cy="290876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74519" y="2251155"/>
            <a:ext cx="475488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000000"/>
                </a:solidFill>
                <a:latin typeface="Arial"/>
              </a:rPr>
              <a:t>4,48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2761488"/>
            <a:ext cx="50292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Waskita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68880" y="1874519"/>
            <a:ext cx="1624583" cy="73152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468880" y="1874519"/>
            <a:ext cx="64008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06040" y="1911095"/>
            <a:ext cx="1441703" cy="25717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251FF"/>
                </a:solidFill>
                <a:latin typeface="Arial"/>
              </a:rPr>
              <a:t>≈ Rp28 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06040" y="2158746"/>
            <a:ext cx="1441703" cy="42900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rugi 2025 (est.)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8880" y="2651760"/>
            <a:ext cx="1624583" cy="56692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468880" y="2651760"/>
            <a:ext cx="64008" cy="56692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06040" y="2688336"/>
            <a:ext cx="1441703" cy="22288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251FF"/>
                </a:solidFill>
                <a:latin typeface="Arial"/>
              </a:rPr>
              <a:t>−45%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06040" y="2902966"/>
            <a:ext cx="1441703" cy="297434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anggaran infra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76344" y="1874519"/>
            <a:ext cx="2286000" cy="30175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76344" y="1874519"/>
            <a:ext cx="228600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Portfolio Control Tower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76344" y="2212848"/>
            <a:ext cx="2286000" cy="30175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76344" y="2212848"/>
            <a:ext cx="228600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Orchestrator + agen korporat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76344" y="2551176"/>
            <a:ext cx="2286000" cy="301752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76344" y="2551176"/>
            <a:ext cx="228600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Project Control Tower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76344" y="2889503"/>
            <a:ext cx="2286000" cy="301752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76344" y="2889503"/>
            <a:ext cx="228600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Platform data + master data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53784" y="1874519"/>
            <a:ext cx="1258823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653784" y="1874519"/>
            <a:ext cx="64008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90944" y="1911095"/>
            <a:ext cx="1075943" cy="24003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251FF"/>
                </a:solidFill>
                <a:latin typeface="Arial"/>
              </a:rPr>
              <a:t>6 agen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90944" y="2142236"/>
            <a:ext cx="1075943" cy="35407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prioritas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53784" y="2560320"/>
            <a:ext cx="1258823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653784" y="2560320"/>
            <a:ext cx="64008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90944" y="2596896"/>
            <a:ext cx="1075943" cy="24003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251FF"/>
                </a:solidFill>
                <a:latin typeface="Arial"/>
              </a:rPr>
              <a:t>3 bulan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90944" y="2828036"/>
            <a:ext cx="1075943" cy="35407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MVP, baca-saja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76344" y="3200400"/>
            <a:ext cx="3636264" cy="1828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0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8095488" y="1874519"/>
            <a:ext cx="3636264" cy="32918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95488" y="1874519"/>
            <a:ext cx="3636264" cy="32918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Kepala Industri Strategis (NITO)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95488" y="2286000"/>
            <a:ext cx="1163320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95488" y="2286000"/>
            <a:ext cx="11633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MD Portofolio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331960" y="2286000"/>
            <a:ext cx="1163320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31960" y="2286000"/>
            <a:ext cx="11633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MD Industri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568432" y="2286000"/>
            <a:ext cx="1163320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568432" y="2286000"/>
            <a:ext cx="11633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MD Rekayasa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95488" y="2697480"/>
            <a:ext cx="3636264" cy="310896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95488" y="2697480"/>
            <a:ext cx="3636264" cy="31089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4 pimpinan klaster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95488" y="3044952"/>
            <a:ext cx="3636264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Opsi B didahulukan · formal ditinjau bulan 12+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3886200"/>
            <a:ext cx="1454505" cy="4572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3886200"/>
            <a:ext cx="1454505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Investasi 40%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11705" y="3886200"/>
            <a:ext cx="1272692" cy="4572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911705" y="3886200"/>
            <a:ext cx="1272692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BUMN 35%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184398" y="3886200"/>
            <a:ext cx="909065" cy="45720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184398" y="3886200"/>
            <a:ext cx="909065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rial"/>
              </a:rPr>
              <a:t>Bangun 25%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4389120"/>
            <a:ext cx="3636264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7200" y="4389120"/>
            <a:ext cx="3636264" cy="29260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rial"/>
              </a:rPr>
              <a:t>Gerbang tata kelola: lulus/gagal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754880"/>
            <a:ext cx="624840" cy="32918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7200" y="4754880"/>
            <a:ext cx="624840" cy="32918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Dihimpun</a:t>
            </a:r>
          </a:p>
        </p:txBody>
      </p:sp>
      <p:sp>
        <p:nvSpPr>
          <p:cNvPr id="89" name="Right Arrow 88"/>
          <p:cNvSpPr/>
          <p:nvPr/>
        </p:nvSpPr>
        <p:spPr>
          <a:xfrm>
            <a:off x="1118616" y="4846320"/>
            <a:ext cx="54864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210056" y="4754880"/>
            <a:ext cx="624840" cy="329184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210056" y="4754880"/>
            <a:ext cx="624840" cy="32918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Komit</a:t>
            </a:r>
          </a:p>
        </p:txBody>
      </p:sp>
      <p:sp>
        <p:nvSpPr>
          <p:cNvPr id="92" name="Right Arrow 91"/>
          <p:cNvSpPr/>
          <p:nvPr/>
        </p:nvSpPr>
        <p:spPr>
          <a:xfrm>
            <a:off x="1871472" y="4846320"/>
            <a:ext cx="54864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962911" y="4754880"/>
            <a:ext cx="624840" cy="32918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962911" y="4754880"/>
            <a:ext cx="624840" cy="32918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Cair</a:t>
            </a:r>
          </a:p>
        </p:txBody>
      </p:sp>
      <p:sp>
        <p:nvSpPr>
          <p:cNvPr id="95" name="Right Arrow 94"/>
          <p:cNvSpPr/>
          <p:nvPr/>
        </p:nvSpPr>
        <p:spPr>
          <a:xfrm>
            <a:off x="2624328" y="4846320"/>
            <a:ext cx="54864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715768" y="4754880"/>
            <a:ext cx="624840" cy="329184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15768" y="4754880"/>
            <a:ext cx="624840" cy="32918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Bangun</a:t>
            </a:r>
          </a:p>
        </p:txBody>
      </p:sp>
      <p:sp>
        <p:nvSpPr>
          <p:cNvPr id="98" name="Right Arrow 97"/>
          <p:cNvSpPr/>
          <p:nvPr/>
        </p:nvSpPr>
        <p:spPr>
          <a:xfrm>
            <a:off x="3377184" y="4846320"/>
            <a:ext cx="54864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468624" y="4754880"/>
            <a:ext cx="624840" cy="32918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468624" y="4754880"/>
            <a:ext cx="624840" cy="329184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Operasi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779264" y="3886200"/>
            <a:ext cx="832103" cy="356616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647944" y="3886200"/>
            <a:ext cx="832103" cy="356616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647944" y="3886200"/>
            <a:ext cx="832103" cy="35661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516624" y="3886200"/>
            <a:ext cx="832103" cy="356616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516624" y="3886200"/>
            <a:ext cx="832103" cy="35661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779264" y="4279392"/>
            <a:ext cx="832103" cy="356616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647944" y="4279392"/>
            <a:ext cx="832103" cy="356616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647944" y="4279392"/>
            <a:ext cx="832103" cy="35661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516624" y="4279392"/>
            <a:ext cx="832103" cy="356616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516624" y="4279392"/>
            <a:ext cx="832103" cy="35661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779264" y="4672584"/>
            <a:ext cx="832103" cy="356616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647944" y="4672584"/>
            <a:ext cx="832103" cy="356616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516624" y="4672584"/>
            <a:ext cx="832103" cy="356616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516624" y="4672584"/>
            <a:ext cx="832103" cy="35661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276344" y="3886200"/>
            <a:ext cx="502920" cy="39319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Tinggi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276344" y="4279392"/>
            <a:ext cx="502920" cy="39319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Sedang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276344" y="4672584"/>
            <a:ext cx="502920" cy="39319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750" b="1" i="0">
                <a:solidFill>
                  <a:srgbClr val="051C5C"/>
                </a:solidFill>
                <a:latin typeface="Arial"/>
              </a:rPr>
              <a:t>Rendah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779264" y="5074920"/>
            <a:ext cx="2651760" cy="18288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l">
              <a:spcAft>
                <a:spcPts val="300"/>
              </a:spcAft>
            </a:pPr>
            <a:r>
              <a:rPr sz="700" b="0" i="0">
                <a:solidFill>
                  <a:srgbClr val="051C5C"/>
                </a:solidFill>
                <a:latin typeface="Arial"/>
              </a:rPr>
              <a:t>Dampak: rendah · sedang · tinggi (baris = kemungkinan)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8095488" y="3886200"/>
            <a:ext cx="1181608" cy="228600"/>
          </a:xfrm>
          <a:prstGeom prst="round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095488" y="3886200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Pemerintah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9322816" y="3886200"/>
            <a:ext cx="1181608" cy="228600"/>
          </a:xfrm>
          <a:prstGeom prst="round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322816" y="3886200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Kemenkeu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0550144" y="3886200"/>
            <a:ext cx="1181608" cy="228600"/>
          </a:xfrm>
          <a:prstGeom prst="round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550144" y="3886200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Dewan Pengawas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8095488" y="4142232"/>
            <a:ext cx="1181608" cy="228600"/>
          </a:xfrm>
          <a:prstGeom prst="round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095488" y="4142232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Kepala BP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9322816" y="4142232"/>
            <a:ext cx="1181608" cy="228600"/>
          </a:xfrm>
          <a:prstGeom prst="round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322816" y="4142232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DAM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0550144" y="4142232"/>
            <a:ext cx="1181608" cy="228600"/>
          </a:xfrm>
          <a:prstGeom prst="round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550144" y="4142232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DIM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8095488" y="4398264"/>
            <a:ext cx="1181608" cy="228600"/>
          </a:xfrm>
          <a:prstGeom prst="round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095488" y="4398264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DDMF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9322816" y="4398264"/>
            <a:ext cx="1181608" cy="228600"/>
          </a:xfrm>
          <a:prstGeom prst="round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322816" y="4398264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Kemhan/KKIP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0550144" y="4398264"/>
            <a:ext cx="1181608" cy="228600"/>
          </a:xfrm>
          <a:prstGeom prst="round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550144" y="4398264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OJK/BI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8095488" y="4654296"/>
            <a:ext cx="1181608" cy="228600"/>
          </a:xfrm>
          <a:prstGeom prst="round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095488" y="4654296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PT PAL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9322816" y="4654296"/>
            <a:ext cx="1181608" cy="228600"/>
          </a:xfrm>
          <a:prstGeom prst="round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322816" y="4654296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BUMN Karya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0550144" y="4654296"/>
            <a:ext cx="1181608" cy="228600"/>
          </a:xfrm>
          <a:prstGeom prst="round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0550144" y="4654296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Bank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8095488" y="4910328"/>
            <a:ext cx="1181608" cy="228600"/>
          </a:xfrm>
          <a:prstGeom prst="round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095488" y="4910328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UKM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9322816" y="4910328"/>
            <a:ext cx="1181608" cy="228600"/>
          </a:xfrm>
          <a:prstGeom prst="round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322816" y="4910328"/>
            <a:ext cx="1181608" cy="22860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BKI/BRIN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095488" y="5166360"/>
            <a:ext cx="3636264" cy="1828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0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148" name="Oval 147"/>
          <p:cNvSpPr/>
          <p:nvPr/>
        </p:nvSpPr>
        <p:spPr>
          <a:xfrm>
            <a:off x="457200" y="5212080"/>
            <a:ext cx="384048" cy="384048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57200" y="5212080"/>
            <a:ext cx="384048" cy="384048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96112" y="5212080"/>
            <a:ext cx="10835640" cy="38404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51C5C"/>
                </a:solidFill>
                <a:latin typeface="Arial"/>
              </a:rPr>
              <a:t>Peta jalan: delapan alur kerja, empat fase, titik keputusan bersyarat bukti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457200" y="5632704"/>
            <a:ext cx="11274552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52" name="Pentagon 151"/>
          <p:cNvSpPr/>
          <p:nvPr/>
        </p:nvSpPr>
        <p:spPr>
          <a:xfrm>
            <a:off x="457200" y="5715000"/>
            <a:ext cx="2921508" cy="347472"/>
          </a:xfrm>
          <a:prstGeom prst="homePlat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 wrap="square" lIns="73152" rIns="137160" tIns="18288" bIns="18288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0–90 hari · tata kelola, register, MVP</a:t>
            </a:r>
          </a:p>
        </p:txBody>
      </p:sp>
      <p:sp>
        <p:nvSpPr>
          <p:cNvPr id="153" name="Chevron 152"/>
          <p:cNvSpPr/>
          <p:nvPr/>
        </p:nvSpPr>
        <p:spPr>
          <a:xfrm>
            <a:off x="3287268" y="5715000"/>
            <a:ext cx="2921508" cy="347472"/>
          </a:xfrm>
          <a:prstGeom prst="chevron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 wrap="square" lIns="201168" rIns="137160" tIns="18288" bIns="18288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4–12 bulan · uji coba DOCK-UP, Fase 1</a:t>
            </a:r>
          </a:p>
        </p:txBody>
      </p:sp>
      <p:sp>
        <p:nvSpPr>
          <p:cNvPr id="154" name="Chevron 153"/>
          <p:cNvSpPr/>
          <p:nvPr/>
        </p:nvSpPr>
        <p:spPr>
          <a:xfrm>
            <a:off x="6117336" y="5715000"/>
            <a:ext cx="2921508" cy="347472"/>
          </a:xfrm>
          <a:prstGeom prst="chevron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 wrap="square" lIns="201168" rIns="137160" tIns="18288" bIns="18288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12–24 bulan · skala, scorecard penuh</a:t>
            </a:r>
          </a:p>
        </p:txBody>
      </p:sp>
      <p:sp>
        <p:nvSpPr>
          <p:cNvPr id="155" name="Chevron 154"/>
          <p:cNvSpPr/>
          <p:nvPr/>
        </p:nvSpPr>
        <p:spPr>
          <a:xfrm>
            <a:off x="8947404" y="5715000"/>
            <a:ext cx="2784348" cy="347472"/>
          </a:xfrm>
          <a:prstGeom prst="chevron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 wrap="square" lIns="201168" rIns="137160" tIns="18288" bIns="18288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&gt; 24 bulan · model standar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57200" y="608076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Keputusan: Hari 0 · 45 · 60 · 90 · Bulan 6 · 12 · 24   |   Lampiran A–E: 39 metrik · 31 ketidaksesuaian · perhitungan · glosarium · referensi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RINGKASAN EKSEKUTIF · 1 DARI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Danantara punya mandat dan modal, tetapi belum punya mekanisme yang mengubah modal menjadi kapabilitas industri; kajian ini mengusulkannya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 diperkaya 8 Okt 2026), Bab 1. Angka kelas C/D adalah pengumuman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611880" cy="274320"/>
          </a:xfrm>
          <a:prstGeom prst="rect">
            <a:avLst/>
          </a:prstGeom>
          <a:solidFill>
            <a:srgbClr val="2251FF"/>
          </a:solidFill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  Apa yang kami temukan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8536" y="1417320"/>
            <a:ext cx="3611880" cy="274320"/>
          </a:xfrm>
          <a:prstGeom prst="rect">
            <a:avLst/>
          </a:prstGeom>
          <a:solidFill>
            <a:srgbClr val="2251FF"/>
          </a:solidFill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  Apa yang kami rekomendasikan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9872" y="1417320"/>
            <a:ext cx="3611880" cy="274320"/>
          </a:xfrm>
          <a:prstGeom prst="rect">
            <a:avLst/>
          </a:prstGeom>
          <a:solidFill>
            <a:srgbClr val="2251FF"/>
          </a:solidFill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  Apa yang diminta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55648"/>
            <a:ext cx="3611880" cy="3657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500"/>
              </a:spcAft>
              <a:buClr>
                <a:srgbClr val="2251FF"/>
              </a:buClr>
              <a:buChar char="•"/>
            </a:pPr>
            <a:r>
              <a:rPr sz="1150" b="1" i="0">
                <a:solidFill>
                  <a:srgbClr val="000000"/>
                </a:solidFill>
                <a:latin typeface="Arial"/>
              </a:rPr>
              <a:t>Akses pasar terbukti, hasil belum terukur. </a:t>
            </a:r>
            <a:r>
              <a:rPr sz="1150" b="0" i="0">
                <a:solidFill>
                  <a:srgbClr val="000000"/>
                </a:solidFill>
                <a:latin typeface="Arial"/>
              </a:rPr>
              <a:t>Surat utang DIM US$1,5 miliar, imbal hasil 5,65%, kelebihan permintaan ~3,07×; imbal hasil portofolio berstatus NR.</a:t>
            </a:r>
          </a:p>
          <a:p>
            <a:pPr algn="l" marL="146304" indent="-146304">
              <a:spcAft>
                <a:spcPts val="500"/>
              </a:spcAft>
              <a:buClr>
                <a:srgbClr val="2251FF"/>
              </a:buClr>
              <a:buChar char="•"/>
            </a:pPr>
            <a:r>
              <a:rPr sz="1150" b="1" i="0">
                <a:solidFill>
                  <a:srgbClr val="000000"/>
                </a:solidFill>
                <a:latin typeface="Arial"/>
              </a:rPr>
              <a:t>Pelaksanaan berat di konsolidasi aset </a:t>
            </a:r>
            <a:r>
              <a:rPr sz="1150" b="0" i="0">
                <a:solidFill>
                  <a:srgbClr val="000000"/>
                </a:solidFill>
                <a:latin typeface="Arial"/>
              </a:rPr>
              <a:t>dan investasi keuangan; manufaktur maju, pemasok, dan kepemilikan teknologi masih celah besar.</a:t>
            </a:r>
          </a:p>
          <a:p>
            <a:pPr algn="l" marL="146304" indent="-146304">
              <a:spcAft>
                <a:spcPts val="500"/>
              </a:spcAft>
              <a:buClr>
                <a:srgbClr val="2251FF"/>
              </a:buClr>
              <a:buChar char="•"/>
            </a:pPr>
            <a:r>
              <a:rPr sz="1150" b="1" i="0">
                <a:solidFill>
                  <a:srgbClr val="000000"/>
                </a:solidFill>
                <a:latin typeface="Arial"/>
              </a:rPr>
              <a:t>Register 40 proyek belum bisa jadi dasar keputusan: </a:t>
            </a:r>
            <a:r>
              <a:rPr sz="1150" b="0" i="0">
                <a:solidFill>
                  <a:srgbClr val="000000"/>
                </a:solidFill>
                <a:latin typeface="Arial"/>
              </a:rPr>
              <a:t>hanya 18 slot bernama (Rp604,97 T, 28,9%); skor tiga pilar 0/100 karena data.</a:t>
            </a:r>
          </a:p>
          <a:p>
            <a:pPr algn="l" marL="146304" indent="-146304">
              <a:spcAft>
                <a:spcPts val="500"/>
              </a:spcAft>
              <a:buClr>
                <a:srgbClr val="2251FF"/>
              </a:buClr>
              <a:buChar char="•"/>
            </a:pPr>
            <a:r>
              <a:rPr sz="1150" b="1" i="0">
                <a:solidFill>
                  <a:srgbClr val="000000"/>
                </a:solidFill>
                <a:latin typeface="Arial"/>
              </a:rPr>
              <a:t>Permintaan ada di undang-undang, pemasok belum siap: </a:t>
            </a:r>
            <a:r>
              <a:rPr sz="1150" b="0" i="0">
                <a:solidFill>
                  <a:srgbClr val="000000"/>
                </a:solidFill>
                <a:latin typeface="Arial"/>
              </a:rPr>
              <a:t>UU 16/2012 mewajibkan kandungan lokal/ofset hingga 85%; banyak UKM di TRL 6–8 / MRL 3–5.</a:t>
            </a:r>
          </a:p>
          <a:p>
            <a:pPr algn="l" marL="146304" indent="-146304">
              <a:spcAft>
                <a:spcPts val="500"/>
              </a:spcAft>
              <a:buClr>
                <a:srgbClr val="2251FF"/>
              </a:buClr>
              <a:buChar char="•"/>
            </a:pPr>
            <a:r>
              <a:rPr sz="1150" b="1" i="0">
                <a:solidFill>
                  <a:srgbClr val="000000"/>
                </a:solidFill>
                <a:latin typeface="Arial"/>
              </a:rPr>
              <a:t>BUMN Karya tertekan: </a:t>
            </a:r>
            <a:r>
              <a:rPr sz="1150" b="0" i="0">
                <a:solidFill>
                  <a:srgbClr val="000000"/>
                </a:solidFill>
                <a:latin typeface="Arial"/>
              </a:rPr>
              <a:t>estimasi rugi 2025 ≈ Rp28 T; anggaran infrastruktur turun ≈ 45%.</a:t>
            </a:r>
          </a:p>
          <a:p>
            <a:pPr algn="l" marL="146304" indent="-146304">
              <a:spcAft>
                <a:spcPts val="500"/>
              </a:spcAft>
              <a:buClr>
                <a:srgbClr val="2251FF"/>
              </a:buClr>
              <a:buChar char="•"/>
            </a:pPr>
            <a:r>
              <a:rPr sz="1150" b="1" i="0">
                <a:solidFill>
                  <a:srgbClr val="000000"/>
                </a:solidFill>
                <a:latin typeface="Arial"/>
              </a:rPr>
              <a:t>Risiko baru: </a:t>
            </a:r>
            <a:r>
              <a:rPr sz="1150" b="0" i="0">
                <a:solidFill>
                  <a:srgbClr val="000000"/>
                </a:solidFill>
                <a:latin typeface="Arial"/>
              </a:rPr>
              <a:t>pembiayaan NRF berisiko inflasi; proyek greenfield berisiko menyeret tiga bank BUMN (Rp5.226 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8536" y="1755648"/>
            <a:ext cx="3611880" cy="3657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500"/>
              </a:spcAft>
              <a:buClr>
                <a:srgbClr val="2251FF"/>
              </a:buClr>
              <a:buChar char="▪"/>
            </a:pPr>
            <a:r>
              <a:rPr sz="1150" b="1" i="0">
                <a:solidFill>
                  <a:srgbClr val="000000"/>
                </a:solidFill>
                <a:latin typeface="Arial"/>
              </a:rPr>
              <a:t>Reposisi </a:t>
            </a:r>
            <a:r>
              <a:rPr sz="1150" b="0" i="0">
                <a:solidFill>
                  <a:srgbClr val="000000"/>
                </a:solidFill>
                <a:latin typeface="Arial"/>
              </a:rPr>
              <a:t>menjadi Platform Kapabilitas Industri Nasional: modal → permintaan → pemasok → kapabilitas.</a:t>
            </a:r>
          </a:p>
          <a:p>
            <a:pPr algn="l" marL="146304" indent="-146304">
              <a:spcAft>
                <a:spcPts val="500"/>
              </a:spcAft>
              <a:buClr>
                <a:srgbClr val="2251FF"/>
              </a:buClr>
              <a:buChar char="▪"/>
            </a:pPr>
            <a:r>
              <a:rPr sz="1150" b="1" i="0">
                <a:solidFill>
                  <a:srgbClr val="000000"/>
                </a:solidFill>
                <a:latin typeface="Arial"/>
              </a:rPr>
              <a:t>Bangun </a:t>
            </a:r>
            <a:r>
              <a:rPr sz="1150" b="0" i="0">
                <a:solidFill>
                  <a:srgbClr val="000000"/>
                </a:solidFill>
                <a:latin typeface="Arial"/>
              </a:rPr>
              <a:t>DOCK-UP sebagai satu skema untuk semua proyek jangkar; gerbang G1–G4 berbasis TRL/MRL.</a:t>
            </a:r>
          </a:p>
          <a:p>
            <a:pPr algn="l" marL="146304" indent="-146304">
              <a:spcAft>
                <a:spcPts val="500"/>
              </a:spcAft>
              <a:buClr>
                <a:srgbClr val="2251FF"/>
              </a:buClr>
              <a:buChar char="▪"/>
            </a:pPr>
            <a:r>
              <a:rPr sz="1150" b="1" i="0">
                <a:solidFill>
                  <a:srgbClr val="000000"/>
                </a:solidFill>
                <a:latin typeface="Arial"/>
              </a:rPr>
              <a:t>Biayai </a:t>
            </a:r>
            <a:r>
              <a:rPr sz="1150" b="0" i="0">
                <a:solidFill>
                  <a:srgbClr val="000000"/>
                </a:solidFill>
                <a:latin typeface="Arial"/>
              </a:rPr>
              <a:t>lewat dua kanal: NRF (tingkat dana) dan tokenisasi proyek berdaulat (tingkat proyek); keduanya liabilitas, hanya menutup 6,8% dari Rp2.091 T.</a:t>
            </a:r>
          </a:p>
          <a:p>
            <a:pPr algn="l" marL="146304" indent="-146304">
              <a:spcAft>
                <a:spcPts val="500"/>
              </a:spcAft>
              <a:buClr>
                <a:srgbClr val="2251FF"/>
              </a:buClr>
              <a:buChar char="▪"/>
            </a:pPr>
            <a:r>
              <a:rPr sz="1150" b="1" i="0">
                <a:solidFill>
                  <a:srgbClr val="000000"/>
                </a:solidFill>
                <a:latin typeface="Arial"/>
              </a:rPr>
              <a:t>Reformasi </a:t>
            </a:r>
            <a:r>
              <a:rPr sz="1150" b="0" i="0">
                <a:solidFill>
                  <a:srgbClr val="000000"/>
                </a:solidFill>
                <a:latin typeface="Arial"/>
              </a:rPr>
              <a:t>BUMN Karya menjadi kontraktor yang disiplin; pisahkan aset warisan.</a:t>
            </a:r>
          </a:p>
          <a:p>
            <a:pPr algn="l" marL="146304" indent="-146304">
              <a:spcAft>
                <a:spcPts val="500"/>
              </a:spcAft>
              <a:buClr>
                <a:srgbClr val="2251FF"/>
              </a:buClr>
              <a:buChar char="▪"/>
            </a:pPr>
            <a:r>
              <a:rPr sz="1150" b="1" i="0">
                <a:solidFill>
                  <a:srgbClr val="000000"/>
                </a:solidFill>
                <a:latin typeface="Arial"/>
              </a:rPr>
              <a:t>Digitalisasi </a:t>
            </a:r>
            <a:r>
              <a:rPr sz="1150" b="0" i="0">
                <a:solidFill>
                  <a:srgbClr val="000000"/>
                </a:solidFill>
                <a:latin typeface="Arial"/>
              </a:rPr>
              <a:t>dengan AI multi-agen: MVP 3 bulan, 6 agen, manusia tetap memutuskan.</a:t>
            </a:r>
          </a:p>
          <a:p>
            <a:pPr algn="l" marL="146304" indent="-146304">
              <a:spcAft>
                <a:spcPts val="500"/>
              </a:spcAft>
              <a:buClr>
                <a:srgbClr val="2251FF"/>
              </a:buClr>
              <a:buChar char="▪"/>
            </a:pPr>
            <a:r>
              <a:rPr sz="1150" b="1" i="0">
                <a:solidFill>
                  <a:srgbClr val="000000"/>
                </a:solidFill>
                <a:latin typeface="Arial"/>
              </a:rPr>
              <a:t>Tata kelola: </a:t>
            </a:r>
            <a:r>
              <a:rPr sz="1150" b="0" i="0">
                <a:solidFill>
                  <a:srgbClr val="000000"/>
                </a:solidFill>
                <a:latin typeface="Arial"/>
              </a:rPr>
              <a:t>unit Industri Strategis (NITO), tiga scorecard 40/35/25, pantau inflasi NRF.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9872" y="1783080"/>
            <a:ext cx="105156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Hari ke-0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432" y="1783080"/>
            <a:ext cx="256032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Setujui model platform dan unit (piagam terbatas)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2" y="2386584"/>
            <a:ext cx="105156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Hari ke-30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1432" y="2386584"/>
            <a:ext cx="256032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Mulai diagnostik BUMN Karya, MVP AI, dan Pemantau Inflasi NRF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2990088"/>
            <a:ext cx="105156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Hari ke-45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1432" y="2990088"/>
            <a:ext cx="256032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Sahkan register 40 proyek sebagai penyebut tunggal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2" y="3593592"/>
            <a:ext cx="105156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Hari ke-60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3593592"/>
            <a:ext cx="256032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Tetapkan gerbang G1–G4 dan desain uji coba DOCK-UP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2" y="4197096"/>
            <a:ext cx="105156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Hari ke-90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4197096"/>
            <a:ext cx="256032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Tetapkan tiga scorecard; usulan NRF ke Pemerintah; konfirmasi desain unit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2" y="4800600"/>
            <a:ext cx="105156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Sesudah 6 prasyarat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4800600"/>
            <a:ext cx="256032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Uji coba PALCapital US$150 juta; paling cepat Triwulan I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532120"/>
            <a:ext cx="11274552" cy="713232"/>
          </a:xfrm>
          <a:prstGeom prst="rect">
            <a:avLst/>
          </a:prstGeom>
          <a:solidFill>
            <a:srgbClr val="051C5C"/>
          </a:solidFill>
        </p:spPr>
        <p:txBody>
          <a:bodyPr wrap="square" lIns="182880" rIns="182880" tIns="27432" bIns="27432" anchor="ctr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Biaya jika tidak bertindak: </a:t>
            </a:r>
            <a:r>
              <a:rPr sz="1200" b="0" i="0">
                <a:solidFill>
                  <a:srgbClr val="FFFFFF"/>
                </a:solidFill>
                <a:latin typeface="Arial"/>
              </a:rPr>
              <a:t>modal strategis sebagian besar dipakai membeli peralatan dan teknologi impor, mandat industri tetap menjadi pengumuman, dan kinerja tetap tidak dapat diukur.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RINGKASAN EKSEKUTIF · 2 DARI 3 · INFOGRAFIK ANGKA KUNCI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Skala yang dipertaruhkan besar, tetapi dua kanal pembiayaan baru hanya menutup 6,8% portofolio dan 8% pertumbuhan tidak tercapai dari sumber daya alam saja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 diperkaya 8 Okt 2026). Portofolio: kelas C, belum direkonsiliasi. Dampak makro dan sumber dana: kelas D (model/ilustrasi), bruto.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679192" cy="107899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64008" cy="107899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53896"/>
            <a:ext cx="2496312" cy="4114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2251FF"/>
                </a:solidFill>
                <a:latin typeface="Arial"/>
              </a:rPr>
              <a:t>Rp2.091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50136"/>
            <a:ext cx="2496312" cy="627887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nilai dinyatakan portofolio 40 proyek (rincian Rp2.073 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9272" y="1417320"/>
            <a:ext cx="2679192" cy="107899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9272" y="1417320"/>
            <a:ext cx="64008" cy="107899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453896"/>
            <a:ext cx="2496312" cy="4114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2251FF"/>
                </a:solidFill>
                <a:latin typeface="Arial"/>
              </a:rPr>
              <a:t>18 /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1850136"/>
            <a:ext cx="2496312" cy="627887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slot bernama: Rp604,97 T = 28,9% dari headline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417320"/>
            <a:ext cx="2679192" cy="107899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417320"/>
            <a:ext cx="64008" cy="107899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1453896"/>
            <a:ext cx="2496312" cy="4114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2251FF"/>
                </a:solidFill>
                <a:latin typeface="Arial"/>
              </a:rPr>
              <a:t>≈ Rp28 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1850136"/>
            <a:ext cx="2496312" cy="627887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estimasi rugi 2025 empat BUMN Karya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43416" y="1417320"/>
            <a:ext cx="2679192" cy="107899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43416" y="1417320"/>
            <a:ext cx="64008" cy="107899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0576" y="1453896"/>
            <a:ext cx="2496312" cy="4114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2251FF"/>
                </a:solidFill>
                <a:latin typeface="Arial"/>
              </a:rPr>
              <a:t>7,7%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1850136"/>
            <a:ext cx="2496312" cy="627887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porsi SDA dalam penerimaan negara 2015–24 (19,3% pada 2004–14)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633472"/>
            <a:ext cx="2679192" cy="107899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633472"/>
            <a:ext cx="64008" cy="107899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670048"/>
            <a:ext cx="2496312" cy="4114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2251FF"/>
                </a:solidFill>
                <a:latin typeface="Arial"/>
              </a:rPr>
              <a:t>+1,5%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066288"/>
            <a:ext cx="2496312" cy="627887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puncak level PDB 2030; +0,74% permanen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19272" y="2633472"/>
            <a:ext cx="2679192" cy="107899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19272" y="2633472"/>
            <a:ext cx="64008" cy="107899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56432" y="2670048"/>
            <a:ext cx="2496312" cy="4114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2251FF"/>
                </a:solidFill>
                <a:latin typeface="Arial"/>
              </a:rPr>
              <a:t>11,4 juta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6432" y="3066288"/>
            <a:ext cx="2496312" cy="627887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tahun-kerja didukung; ≈ 976 ribu pekerjaan tetap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81344" y="2633472"/>
            <a:ext cx="2679192" cy="107899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81344" y="2633472"/>
            <a:ext cx="64008" cy="107899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18504" y="2670048"/>
            <a:ext cx="2496312" cy="4114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2251FF"/>
                </a:solidFill>
                <a:latin typeface="Arial"/>
              </a:rPr>
              <a:t>US$39 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18504" y="3066288"/>
            <a:ext cx="2496312" cy="627887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impor terkandung belanja modal 2027–32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43416" y="2633472"/>
            <a:ext cx="2679192" cy="107899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43416" y="2633472"/>
            <a:ext cx="64008" cy="107899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0576" y="2670048"/>
            <a:ext cx="2496312" cy="4114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2251FF"/>
                </a:solidFill>
                <a:latin typeface="Arial"/>
              </a:rPr>
              <a:t>US$150 juta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0576" y="3066288"/>
            <a:ext cx="2496312" cy="627887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uji coba PALCapital, empat tahap tonggak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840480"/>
            <a:ext cx="54864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Sumber dana ilustratif lima tahun, Rp triliun (total portofolio Rp2.091 T)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93776" y="4105656"/>
            <a:ext cx="54498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365760" y="4160520"/>
          <a:ext cx="566928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1737360" y="4206240"/>
            <a:ext cx="265176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NRF + surat tagihan = Rp142 T (6,8%)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Sisa Rp1.371 T (65,6%) harus dimobilisasi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3840480"/>
            <a:ext cx="542239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Pertumbuhan PDB riil 2029, % (model D11)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345936" y="4105656"/>
            <a:ext cx="538581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6217920" y="4160520"/>
          <a:ext cx="5577840" cy="2194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RINGKASAN EKSEKUTIF · 3 DARI 3 · INFOGRAFIK MODEL DAN JALUR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Satu logika menyatukan rekomendasi: modal menjadi kapabilitas lewat tahap terverifikasi, dengan disiplin utang dan pengukuran tiga scorecard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 diperkaya 8 Okt 2026), Bab 5, 6, 10, 14, 16. Jadwal dihitung dari Hari ke-0 (persetujuan prinsip) dan merupakan usulan.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Logika perubahan: setiap tahap diverifikasi sebelum tahap berikutnya didanai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Pentagon 8"/>
          <p:cNvSpPr/>
          <p:nvPr/>
        </p:nvSpPr>
        <p:spPr>
          <a:xfrm>
            <a:off x="457200" y="1755648"/>
            <a:ext cx="2355494" cy="640080"/>
          </a:xfrm>
          <a:prstGeom prst="homePlat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 wrap="square" lIns="73152" rIns="137160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Modal</a:t>
            </a:r>
          </a:p>
        </p:txBody>
      </p:sp>
      <p:sp>
        <p:nvSpPr>
          <p:cNvPr id="10" name="Chevron 9"/>
          <p:cNvSpPr/>
          <p:nvPr/>
        </p:nvSpPr>
        <p:spPr>
          <a:xfrm>
            <a:off x="2721254" y="1755648"/>
            <a:ext cx="2355494" cy="640080"/>
          </a:xfrm>
          <a:prstGeom prst="chevron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 wrap="square" lIns="201168" rIns="137160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Permintaan jangkar</a:t>
            </a:r>
          </a:p>
        </p:txBody>
      </p:sp>
      <p:sp>
        <p:nvSpPr>
          <p:cNvPr id="11" name="Chevron 10"/>
          <p:cNvSpPr/>
          <p:nvPr/>
        </p:nvSpPr>
        <p:spPr>
          <a:xfrm>
            <a:off x="4985308" y="1755648"/>
            <a:ext cx="2355494" cy="640080"/>
          </a:xfrm>
          <a:prstGeom prst="chevron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 wrap="square" lIns="201168" rIns="137160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Pesanan bergerbang</a:t>
            </a:r>
          </a:p>
        </p:txBody>
      </p:sp>
      <p:sp>
        <p:nvSpPr>
          <p:cNvPr id="12" name="Chevron 11"/>
          <p:cNvSpPr/>
          <p:nvPr/>
        </p:nvSpPr>
        <p:spPr>
          <a:xfrm>
            <a:off x="7249363" y="1755648"/>
            <a:ext cx="2355494" cy="640080"/>
          </a:xfrm>
          <a:prstGeom prst="chevron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 wrap="square" lIns="201168" rIns="137160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Peningkatan DOCK-UP</a:t>
            </a:r>
          </a:p>
        </p:txBody>
      </p:sp>
      <p:sp>
        <p:nvSpPr>
          <p:cNvPr id="13" name="Chevron 12"/>
          <p:cNvSpPr/>
          <p:nvPr/>
        </p:nvSpPr>
        <p:spPr>
          <a:xfrm>
            <a:off x="9513417" y="1755648"/>
            <a:ext cx="2218334" cy="640080"/>
          </a:xfrm>
          <a:prstGeom prst="chevron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 wrap="square" lIns="201168" rIns="137160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Kapabilitas industri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32304"/>
            <a:ext cx="2163470" cy="5486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Ekuitas Danantara, NRF, surat proyek tokenisasi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2110" y="2432304"/>
            <a:ext cx="2163470" cy="5486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Proyek strategis: mineral, infrastruktur, maritim, pertahanan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7020" y="2432304"/>
            <a:ext cx="2163470" cy="5486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Kontrak payung dilepas pada gerbang G1–G4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1931" y="2432304"/>
            <a:ext cx="2163470" cy="5486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UKM naik dari build-to-print ke design-and-build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6841" y="2432304"/>
            <a:ext cx="2163470" cy="5486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Pemasok terkualifikasi, nilai tambah dalam negeri, teknologi dikuasai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08960"/>
            <a:ext cx="54864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Pembiayaan: dua kanal, satu disiplin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3776" y="3374136"/>
            <a:ext cx="54498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457200" y="3493008"/>
            <a:ext cx="2651760" cy="105156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520440"/>
            <a:ext cx="256032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NRF · tingkat dana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794760"/>
            <a:ext cx="256032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Ekuitas sabar, modal rugi pertama, stabilisasi. Hanya cadangan terbukti + terkira.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3493008"/>
            <a:ext cx="2651760" cy="105156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39" y="3520440"/>
            <a:ext cx="256032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Tokenisasi · tingkat proyek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39" y="3794760"/>
            <a:ext cx="256032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Modal kerja per tonggak, dibayar langsung ke pemasok. Uji coba PALCapital.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90288"/>
            <a:ext cx="5440680" cy="438912"/>
          </a:xfrm>
          <a:prstGeom prst="rect">
            <a:avLst/>
          </a:prstGeom>
          <a:solidFill>
            <a:srgbClr val="051C5C"/>
          </a:solidFill>
        </p:spPr>
        <p:txBody>
          <a:bodyPr wrap="square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Aturan bersama: </a:t>
            </a:r>
            <a:r>
              <a:rPr sz="950" b="0" i="0">
                <a:solidFill>
                  <a:srgbClr val="FFFFFF"/>
                </a:solidFill>
                <a:latin typeface="Arial"/>
              </a:rPr>
              <a:t>instrumen beragun arus kas negara = liabilitas; diungkap dan diuji stres. Proyek Impact dalam SPV ring-fenced.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108960"/>
            <a:ext cx="542239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Pengukuran: tiga scorecard + gerbang tata kelola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345936" y="3374136"/>
            <a:ext cx="538581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0" name="Rectangle 29"/>
          <p:cNvSpPr/>
          <p:nvPr/>
        </p:nvSpPr>
        <p:spPr>
          <a:xfrm>
            <a:off x="6309360" y="3520440"/>
            <a:ext cx="2168956" cy="5029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520440"/>
            <a:ext cx="2168956" cy="5029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Investasi 40%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78316" y="3520440"/>
            <a:ext cx="1897837" cy="5029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78316" y="3520440"/>
            <a:ext cx="1897837" cy="5029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Operasi BUMN 35%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76154" y="3520440"/>
            <a:ext cx="1355598" cy="50292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76154" y="3520440"/>
            <a:ext cx="1355598" cy="5029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Pembangunan 25%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069080"/>
            <a:ext cx="5422392" cy="9601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Gerbang tata kelola: lulus/gagal, bukan poin bonus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Metrik tidak tersedia = NR, bukan nol; cakupan ≥ 80%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Lima tahap modal dilaporkan terpisah: dihimpun → dikomitmenkan → dicairkan → terbangun → beroperasi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07492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Jalur keputusan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93776" y="534009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cxnSp>
        <p:nvCxnSpPr>
          <p:cNvPr id="39" name="Connector 38"/>
          <p:cNvCxnSpPr/>
          <p:nvPr/>
        </p:nvCxnSpPr>
        <p:spPr>
          <a:xfrm>
            <a:off x="1097280" y="5669280"/>
            <a:ext cx="9966960" cy="0"/>
          </a:xfrm>
          <a:prstGeom prst="line">
            <a:avLst/>
          </a:prstGeom>
          <a:ln w="25400">
            <a:solidFill>
              <a:srgbClr val="000000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1014983" y="5586984"/>
            <a:ext cx="164592" cy="164592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5349240"/>
            <a:ext cx="1554480" cy="228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Hari 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5788152"/>
            <a:ext cx="1554480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Setujui model</a:t>
            </a:r>
          </a:p>
        </p:txBody>
      </p:sp>
      <p:sp>
        <p:nvSpPr>
          <p:cNvPr id="43" name="Oval 42"/>
          <p:cNvSpPr/>
          <p:nvPr/>
        </p:nvSpPr>
        <p:spPr>
          <a:xfrm>
            <a:off x="2676144" y="5586984"/>
            <a:ext cx="164592" cy="164592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81199" y="5349240"/>
            <a:ext cx="1554480" cy="228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Hari 45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81199" y="5788152"/>
            <a:ext cx="1554480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Register disahkan</a:t>
            </a:r>
          </a:p>
        </p:txBody>
      </p:sp>
      <p:sp>
        <p:nvSpPr>
          <p:cNvPr id="46" name="Oval 45"/>
          <p:cNvSpPr/>
          <p:nvPr/>
        </p:nvSpPr>
        <p:spPr>
          <a:xfrm>
            <a:off x="4337304" y="5586984"/>
            <a:ext cx="164592" cy="164592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42359" y="5349240"/>
            <a:ext cx="1554480" cy="228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Hari 60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42359" y="5788152"/>
            <a:ext cx="1554480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Gerbang G1–G4</a:t>
            </a:r>
          </a:p>
        </p:txBody>
      </p:sp>
      <p:sp>
        <p:nvSpPr>
          <p:cNvPr id="49" name="Oval 48"/>
          <p:cNvSpPr/>
          <p:nvPr/>
        </p:nvSpPr>
        <p:spPr>
          <a:xfrm>
            <a:off x="5998464" y="5586984"/>
            <a:ext cx="164592" cy="164592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0" y="5349240"/>
            <a:ext cx="1554480" cy="228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Hari 90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5788152"/>
            <a:ext cx="1554480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Scorecard, desain unit</a:t>
            </a:r>
          </a:p>
        </p:txBody>
      </p:sp>
      <p:sp>
        <p:nvSpPr>
          <p:cNvPr id="52" name="Oval 51"/>
          <p:cNvSpPr/>
          <p:nvPr/>
        </p:nvSpPr>
        <p:spPr>
          <a:xfrm>
            <a:off x="7659624" y="5586984"/>
            <a:ext cx="164592" cy="164592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64680" y="5349240"/>
            <a:ext cx="1554480" cy="228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Bulan 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64680" y="5788152"/>
            <a:ext cx="1554480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Uji coba DOCK-UP</a:t>
            </a:r>
          </a:p>
        </p:txBody>
      </p:sp>
      <p:sp>
        <p:nvSpPr>
          <p:cNvPr id="55" name="Oval 54"/>
          <p:cNvSpPr/>
          <p:nvPr/>
        </p:nvSpPr>
        <p:spPr>
          <a:xfrm>
            <a:off x="9320784" y="5586984"/>
            <a:ext cx="164592" cy="164592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25840" y="5349240"/>
            <a:ext cx="1554480" cy="228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Bulan 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25840" y="5788152"/>
            <a:ext cx="1554480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Scorecard cakupan ≥ 80%</a:t>
            </a:r>
          </a:p>
        </p:txBody>
      </p:sp>
      <p:sp>
        <p:nvSpPr>
          <p:cNvPr id="58" name="Oval 57"/>
          <p:cNvSpPr/>
          <p:nvPr/>
        </p:nvSpPr>
        <p:spPr>
          <a:xfrm>
            <a:off x="10981944" y="5586984"/>
            <a:ext cx="164592" cy="164592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87000" y="5349240"/>
            <a:ext cx="1554480" cy="228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Bulan 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87000" y="5788152"/>
            <a:ext cx="1554480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Laporan portofolio tahunan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02 · PENDAHULUAN, RUANG LINGKUP, DAN PENDEKATAN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Kajian bersifat konsultatif: menjawab enam pertanyaan dengan disiplin bukti lima kelas, dan tidak menyelesaikan pertentangan sumber dengan asumsi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2. D1–D13 adalah dokumen sumber; Lampiran B memuat setiap ketidaksesuaian.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76072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Enam pertanyaan dari kerangka acuan dan tempat jawabannya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572414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19072"/>
          <a:ext cx="5760717" cy="3657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5759"/>
                <a:gridCol w="4023359"/>
                <a:gridCol w="137159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Pertanyaan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Bab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Bagaimana kondisi dan kinerja Danantara saat ini?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3–4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Apa yang diharapkan bagi industri, ekonomi, masyarakat, dan bagaimana mengukurnya?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5, 14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Bagaimana DOCK-UP meningkatkan industri nasional melalui proyek jangkar?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6–7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Bagaimana proyek didanai lewat NRF dan tokenisasi proyek berdaulat?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8–10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Bagaimana kondisi BUMN Karya dan peran AI multi-agen?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11–12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Apa dampak pipeline dan NRF terhadap PDB, pekerjaan, impor, inflasi, dan pemantauannya?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5.7, 8.9–8.10, 10.7, 14.7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Organisasi, tata kelola, risiko, dan peta jalan apa yang diperlukan?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13, 15–17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92240" y="1371600"/>
            <a:ext cx="52395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Lima kelas bukti pada setiap angka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28816" y="1636776"/>
            <a:ext cx="520293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92240" y="1719072"/>
          <a:ext cx="5239510" cy="23042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43448"/>
                <a:gridCol w="2389952"/>
                <a:gridCol w="220611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Kelas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Makna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Penggunaan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Teraudit / dijamin independen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Keyakinan tertinggi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Observasi resmi dilaporkan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Dengan batas penjaminan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Pengumuman, proyeksi, estimasi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Niat, bukan hasil terealisasi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Ilustrasi atau asumsi analis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Hanya desain dan sensitivitas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NR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Tidak dapat dinilai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Berbeda dari nol atau gagal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92240" y="4206240"/>
            <a:ext cx="52395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Keterbatasan utama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28816" y="4471416"/>
            <a:ext cx="520293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492240" y="4526280"/>
            <a:ext cx="5239512" cy="17373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50" b="0" i="0">
                <a:solidFill>
                  <a:srgbClr val="000000"/>
                </a:solidFill>
                <a:latin typeface="Arial"/>
              </a:rPr>
              <a:t>Bukan audit, valuasi, opini hukum, atau pemeringkatan; rekomendasi baru berlaku melalui keputusan organ berwenang</a:t>
            </a:r>
          </a:p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50" b="0" i="0">
                <a:solidFill>
                  <a:srgbClr val="000000"/>
                </a:solidFill>
                <a:latin typeface="Arial"/>
              </a:rPr>
              <a:t>Bukti publik per awal Oktober 2026; register 40 proyek bukan daftar PSN yang ditetapkan hukum</a:t>
            </a:r>
          </a:p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50" b="0" i="0">
                <a:solidFill>
                  <a:srgbClr val="000000"/>
                </a:solidFill>
                <a:latin typeface="Arial"/>
              </a:rPr>
              <a:t>D7–D13 internal/terbatas; angka PDB, pekerjaan, dan impor adalah kelas D, bukan proyeksi Danantara</a:t>
            </a:r>
          </a:p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50" b="0" i="0">
                <a:solidFill>
                  <a:srgbClr val="000000"/>
                </a:solidFill>
                <a:latin typeface="Arial"/>
              </a:rPr>
              <a:t>Ambang, bobot, dan jadwal adalah usulan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77840"/>
            <a:ext cx="5760720" cy="640080"/>
          </a:xfrm>
          <a:prstGeom prst="rect">
            <a:avLst/>
          </a:prstGeom>
          <a:solidFill>
            <a:srgbClr val="051C5C"/>
          </a:solidFill>
        </p:spPr>
        <p:txBody>
          <a:bodyPr wrap="square" lIns="109728" rIns="109728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Tujuan: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pandangan independen tentang kondisi Danantara dan cara memenuhi harapan meningkatkan kapabilitas industri serta kontribusi terukur.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02 · PENDAHULUAN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Enam pertanyaan dijawab dengan lima kelas bukti dan tiga batas yang tegas: bukan audit, bukan valuasi, bukan opini hukum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4864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Enam pertanyaan dan tempat jawabannya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54498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Oval 8"/>
          <p:cNvSpPr/>
          <p:nvPr/>
        </p:nvSpPr>
        <p:spPr>
          <a:xfrm>
            <a:off x="457200" y="1874519"/>
            <a:ext cx="685800" cy="68580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685800" cy="6858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856231"/>
            <a:ext cx="192024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Kondisi dan kinerja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Bab 3–4</a:t>
            </a:r>
          </a:p>
        </p:txBody>
      </p:sp>
      <p:sp>
        <p:nvSpPr>
          <p:cNvPr id="12" name="Oval 11"/>
          <p:cNvSpPr/>
          <p:nvPr/>
        </p:nvSpPr>
        <p:spPr>
          <a:xfrm>
            <a:off x="3291840" y="1874519"/>
            <a:ext cx="685800" cy="68580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874519"/>
            <a:ext cx="685800" cy="6858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1856231"/>
            <a:ext cx="192024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Harapan dan ukurannya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Bab 5, 14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971800"/>
            <a:ext cx="685800" cy="68580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71800"/>
            <a:ext cx="685800" cy="6858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953512"/>
            <a:ext cx="192024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DOCK-UP dan proyek jangkar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Bab 6–7</a:t>
            </a:r>
          </a:p>
        </p:txBody>
      </p:sp>
      <p:sp>
        <p:nvSpPr>
          <p:cNvPr id="18" name="Oval 17"/>
          <p:cNvSpPr/>
          <p:nvPr/>
        </p:nvSpPr>
        <p:spPr>
          <a:xfrm>
            <a:off x="3291840" y="2971800"/>
            <a:ext cx="685800" cy="68580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2971800"/>
            <a:ext cx="685800" cy="6858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2953512"/>
            <a:ext cx="192024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Pembiayaan NRF dan tokenisasi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Bab 8–10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4069079"/>
            <a:ext cx="685800" cy="68580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69079"/>
            <a:ext cx="685800" cy="6858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050791"/>
            <a:ext cx="192024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BUMN Karya dan AI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Bab 11–12</a:t>
            </a:r>
          </a:p>
        </p:txBody>
      </p:sp>
      <p:sp>
        <p:nvSpPr>
          <p:cNvPr id="24" name="Oval 23"/>
          <p:cNvSpPr/>
          <p:nvPr/>
        </p:nvSpPr>
        <p:spPr>
          <a:xfrm>
            <a:off x="3291840" y="4069079"/>
            <a:ext cx="685800" cy="68580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4069079"/>
            <a:ext cx="685800" cy="6858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4050791"/>
            <a:ext cx="192024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Dampak makro dan inflasi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Bab 5.7, 8.9, 14.7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1371600"/>
            <a:ext cx="542239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Tangga bukti: makin ke bawah makin tidak boleh dibaca sebagai hasil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345936" y="1636776"/>
            <a:ext cx="538581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9" name="Rectangle 28"/>
          <p:cNvSpPr/>
          <p:nvPr/>
        </p:nvSpPr>
        <p:spPr>
          <a:xfrm>
            <a:off x="6309360" y="1783080"/>
            <a:ext cx="4572000" cy="530352"/>
          </a:xfrm>
          <a:prstGeom prst="rect">
            <a:avLst/>
          </a:prstGeom>
          <a:solidFill>
            <a:srgbClr val="051C5C"/>
          </a:solidFill>
          <a:ln w="9525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1783080"/>
            <a:ext cx="4526280" cy="530352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A  </a:t>
            </a:r>
            <a:r>
              <a:rPr sz="1000" b="0" i="0">
                <a:solidFill>
                  <a:srgbClr val="FFFFFF"/>
                </a:solidFill>
                <a:latin typeface="Arial"/>
              </a:rPr>
              <a:t>Teraudit / dijamin independen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404872"/>
            <a:ext cx="3840480" cy="530352"/>
          </a:xfrm>
          <a:prstGeom prst="rect">
            <a:avLst/>
          </a:prstGeom>
          <a:solidFill>
            <a:srgbClr val="2251FF"/>
          </a:solidFill>
          <a:ln w="9525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2404872"/>
            <a:ext cx="3794760" cy="530352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B  </a:t>
            </a:r>
            <a:r>
              <a:rPr sz="1000" b="0" i="0">
                <a:solidFill>
                  <a:srgbClr val="FFFFFF"/>
                </a:solidFill>
                <a:latin typeface="Arial"/>
              </a:rPr>
              <a:t>Observasi resmi dilaporkan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026664"/>
            <a:ext cx="3108960" cy="530352"/>
          </a:xfrm>
          <a:prstGeom prst="rect">
            <a:avLst/>
          </a:prstGeom>
          <a:solidFill>
            <a:srgbClr val="8FA8F5"/>
          </a:solidFill>
          <a:ln w="9525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3026664"/>
            <a:ext cx="3063240" cy="530352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C  </a:t>
            </a:r>
            <a:r>
              <a:rPr sz="1000" b="0" i="0">
                <a:solidFill>
                  <a:srgbClr val="000000"/>
                </a:solidFill>
                <a:latin typeface="Arial"/>
              </a:rPr>
              <a:t>Pengumuman, proyeksi, estimasi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648456"/>
            <a:ext cx="2377440" cy="530352"/>
          </a:xfrm>
          <a:prstGeom prst="rect">
            <a:avLst/>
          </a:prstGeom>
          <a:solidFill>
            <a:srgbClr val="E6ECFD"/>
          </a:solidFill>
          <a:ln w="9525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648456"/>
            <a:ext cx="2331720" cy="530352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D  </a:t>
            </a:r>
            <a:r>
              <a:rPr sz="1000" b="0" i="0">
                <a:solidFill>
                  <a:srgbClr val="000000"/>
                </a:solidFill>
                <a:latin typeface="Arial"/>
              </a:rPr>
              <a:t>Ilustrasi atau asumsi analis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270248"/>
            <a:ext cx="16459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4270248"/>
            <a:ext cx="1600200" cy="530352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NR  </a:t>
            </a:r>
            <a:r>
              <a:rPr sz="1000" b="0" i="0">
                <a:solidFill>
                  <a:srgbClr val="000000"/>
                </a:solidFill>
                <a:latin typeface="Arial"/>
              </a:rPr>
              <a:t>Tidak dapat dinilai ≠ nol ≠ gagal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84632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Tiga batas kajian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93776" y="511149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41" name="Rectangle 40"/>
          <p:cNvSpPr/>
          <p:nvPr/>
        </p:nvSpPr>
        <p:spPr>
          <a:xfrm>
            <a:off x="457200" y="5257800"/>
            <a:ext cx="3657600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257800"/>
            <a:ext cx="365760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✕  Bukan audit atau asurans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79392" y="5257800"/>
            <a:ext cx="3657600" cy="64008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79392" y="5257800"/>
            <a:ext cx="365760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✕  Bukan valuasi atau opini hukum/pajak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01583" y="5257800"/>
            <a:ext cx="3657600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01583" y="5257800"/>
            <a:ext cx="365760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✕  Bukan keputusan Danantara atau Pemerintah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03 · DANANTARA SAAT INI: MANDAT, STRUKTUR, DAN KEGIATAN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Kegiatan yang terlihat hingga kini menunjukkan akses pasar dan aktivasi proyek, tetapi belum seri imbal hasil maupun hasil industri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3 (D1, D2, D9). Pengumuman bukan hasil; peer hanya pembanding praktik pelaporan, bukan target imbal hasil.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749039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Struktur: BPI dan tiga lini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371246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457200" y="1737360"/>
            <a:ext cx="3749039" cy="84124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773936"/>
            <a:ext cx="361188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BPI (Badan Pelaksana)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048255"/>
            <a:ext cx="3611880" cy="5029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Strategi, portofolio, risiko, keuangan, teknologi; Kepala memutuskan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3749039" cy="8412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688336"/>
            <a:ext cx="361188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DAM · dipimpin COO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962656"/>
            <a:ext cx="3611880" cy="5029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Kepemilikan dan transformasi BUMN operasional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3749039" cy="8412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602736"/>
            <a:ext cx="361188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DIM · dipimpin CIO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877056"/>
            <a:ext cx="3611880" cy="5029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Investasi komersial, alokasi modal; surat utang US$1,5 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80560"/>
            <a:ext cx="3749039" cy="8412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4517136"/>
            <a:ext cx="361188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DDMF · dipimpin 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791456"/>
            <a:ext cx="3611880" cy="5029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Penyiapan, penstrukturan, dan pelaksanaan proyek pembangunan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440680"/>
            <a:ext cx="3749039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Dasar hukum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3776" y="5705856"/>
            <a:ext cx="371246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457200" y="5715000"/>
            <a:ext cx="3749039" cy="5943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UU 1/2025, UU 16/2025; PP 10/2025 jo. PP 19/2026; Pasal 14: portofolio risiko di Badan Pelaksana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1371600"/>
            <a:ext cx="41148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Yang ditunjukkan bukti publik, 2026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17136" y="1636776"/>
            <a:ext cx="40782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480560" y="1719072"/>
          <a:ext cx="4114799" cy="358444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0713"/>
                <a:gridCol w="551468"/>
                <a:gridCol w="1272618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Bukti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Kelas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Yang ditunjukkan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Surat utang DIM US$1,5 M (Jun): 5,65%, ~3,07× pesanan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Akses pasar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Pemesanan US$200 juta CA–EDC (25% dari US$800 juta)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Komitmen bersyarat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PSEL Bogor Raya 1: Rp2,8 T, 1.500 ton/hari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Tonggak konstruksi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Enam peletakan batu pertama hilirisasi, ≤ US$7 M diumumkan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Aktivasi program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Delapan penetapan bersyarat PSEL Batch II (Jul)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Pipeline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Halaman laporan situs resmi: "Coming Soon"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Belum ada seri imbal hasil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480560" y="5440680"/>
            <a:ext cx="4114800" cy="82296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5458968"/>
            <a:ext cx="4023360" cy="78638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Membaca pengumuman dengan benar: </a:t>
            </a:r>
            <a:r>
              <a:rPr sz="950" b="0" i="0">
                <a:solidFill>
                  <a:srgbClr val="FFFFFF"/>
                </a:solidFill>
                <a:latin typeface="Arial"/>
              </a:rPr>
              <a:t>PPA bukan financial close; peletakan batu pertama bukan kemajuan; pengalihan aset bukan kenaikan nilai.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1371600"/>
            <a:ext cx="286207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Rencana 2026 dan konteks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906255" y="1636776"/>
            <a:ext cx="282549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1" name="Rectangle 30"/>
          <p:cNvSpPr/>
          <p:nvPr/>
        </p:nvSpPr>
        <p:spPr>
          <a:xfrm>
            <a:off x="8869680" y="1737360"/>
            <a:ext cx="2862072" cy="9144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69680" y="1737360"/>
            <a:ext cx="64008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6840" y="1773936"/>
            <a:ext cx="2679191" cy="37719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2251FF"/>
                </a:solidFill>
                <a:latin typeface="Arial"/>
              </a:rPr>
              <a:t>US$14 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2137156"/>
            <a:ext cx="2679191" cy="49631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investasi 2026: ±50% pasar publik, 50% proyek riil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2743200"/>
            <a:ext cx="2862072" cy="9144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69680" y="2743200"/>
            <a:ext cx="64008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40" y="2779776"/>
            <a:ext cx="2679191" cy="37719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2251FF"/>
                </a:solidFill>
                <a:latin typeface="Arial"/>
              </a:rPr>
              <a:t>US$600 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3142996"/>
            <a:ext cx="2679191" cy="49631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AUM awal (D9, kelas C); target ≈ US$982 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69680" y="3749039"/>
            <a:ext cx="2862072" cy="9144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69680" y="3749039"/>
            <a:ext cx="64008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06840" y="3785615"/>
            <a:ext cx="2679191" cy="37719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2251FF"/>
                </a:solidFill>
                <a:latin typeface="Arial"/>
              </a:rPr>
              <a:t>Rp5.226 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4148835"/>
            <a:ext cx="2679191" cy="49631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aset tiga bank BUMN: &gt;55% AUM awal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754880"/>
            <a:ext cx="286207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Praktik pelaporan peer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906255" y="5020056"/>
            <a:ext cx="282549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8869680" y="5047488"/>
            <a:ext cx="2862072" cy="12344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Temasek: TSR 5/10/20 th = 4,6% / 7,1% / 6,8% (SGD)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Khazanah: 5,2% (TB2025); 7 th 6,1%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1" i="0">
                <a:solidFill>
                  <a:srgbClr val="000000"/>
                </a:solidFill>
                <a:latin typeface="Arial"/>
              </a:rPr>
              <a:t>Danantara: belum ada seri imbal hasil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03 · DANANTARA SAAT INI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Sepanjang 2026 yang terlihat adalah rangkaian tonggak pembiayaan dan aktivasi; seri imbal hasil seperti yang dipublikasikan peer belum 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Linimasa tonggak publik, Des 2025 – Okt 2026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914400" y="2880360"/>
            <a:ext cx="10149840" cy="0"/>
          </a:xfrm>
          <a:prstGeom prst="line">
            <a:avLst/>
          </a:prstGeom>
          <a:ln w="31750">
            <a:solidFill>
              <a:srgbClr val="000000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822960" y="2788920"/>
            <a:ext cx="182880" cy="18288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783080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Des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057400"/>
            <a:ext cx="128016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RKAP 2026 dipublikasikan</a:t>
            </a:r>
          </a:p>
        </p:txBody>
      </p:sp>
      <p:sp>
        <p:nvSpPr>
          <p:cNvPr id="13" name="Oval 12"/>
          <p:cNvSpPr/>
          <p:nvPr/>
        </p:nvSpPr>
        <p:spPr>
          <a:xfrm>
            <a:off x="2091690" y="2788920"/>
            <a:ext cx="182880" cy="18288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43050" y="3017520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6 Feb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3050" y="3291840"/>
            <a:ext cx="128016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6 peletakan batu pertama hilirisasi (≤ US$7 M)</a:t>
            </a:r>
          </a:p>
        </p:txBody>
      </p:sp>
      <p:sp>
        <p:nvSpPr>
          <p:cNvPr id="16" name="Oval 15"/>
          <p:cNvSpPr/>
          <p:nvPr/>
        </p:nvSpPr>
        <p:spPr>
          <a:xfrm>
            <a:off x="3360420" y="2788920"/>
            <a:ext cx="182880" cy="18288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11780" y="1783080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1780" y="2057400"/>
            <a:ext cx="128016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CA–EDC US$200 juta; kajian tata kelola</a:t>
            </a:r>
          </a:p>
        </p:txBody>
      </p:sp>
      <p:sp>
        <p:nvSpPr>
          <p:cNvPr id="19" name="Oval 18"/>
          <p:cNvSpPr/>
          <p:nvPr/>
        </p:nvSpPr>
        <p:spPr>
          <a:xfrm>
            <a:off x="4629150" y="2788920"/>
            <a:ext cx="182880" cy="18288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80509" y="3017520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12 Mei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80509" y="3291840"/>
            <a:ext cx="128016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Pernyataan konsolidasi dan audit</a:t>
            </a:r>
          </a:p>
        </p:txBody>
      </p:sp>
      <p:sp>
        <p:nvSpPr>
          <p:cNvPr id="22" name="Oval 21"/>
          <p:cNvSpPr/>
          <p:nvPr/>
        </p:nvSpPr>
        <p:spPr>
          <a:xfrm>
            <a:off x="5897880" y="2788920"/>
            <a:ext cx="182880" cy="18288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1783080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12 Jun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057400"/>
            <a:ext cx="128016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Surat utang DIM US$1,5 M</a:t>
            </a:r>
          </a:p>
        </p:txBody>
      </p:sp>
      <p:sp>
        <p:nvSpPr>
          <p:cNvPr id="25" name="Oval 24"/>
          <p:cNvSpPr/>
          <p:nvPr/>
        </p:nvSpPr>
        <p:spPr>
          <a:xfrm>
            <a:off x="7166610" y="2788920"/>
            <a:ext cx="182880" cy="18288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17970" y="3017520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2 Jul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7970" y="3291840"/>
            <a:ext cx="128016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Laporan TB2025 BUMN selesai</a:t>
            </a:r>
          </a:p>
        </p:txBody>
      </p:sp>
      <p:sp>
        <p:nvSpPr>
          <p:cNvPr id="28" name="Oval 27"/>
          <p:cNvSpPr/>
          <p:nvPr/>
        </p:nvSpPr>
        <p:spPr>
          <a:xfrm>
            <a:off x="8435340" y="2788920"/>
            <a:ext cx="182880" cy="18288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86700" y="1783080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21 Jul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6700" y="2057400"/>
            <a:ext cx="128016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8 penetapan bersyarat WtE Batch II</a:t>
            </a:r>
          </a:p>
        </p:txBody>
      </p:sp>
      <p:sp>
        <p:nvSpPr>
          <p:cNvPr id="31" name="Oval 30"/>
          <p:cNvSpPr/>
          <p:nvPr/>
        </p:nvSpPr>
        <p:spPr>
          <a:xfrm>
            <a:off x="9704070" y="2788920"/>
            <a:ext cx="182880" cy="18288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55430" y="3017520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17 Sep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55430" y="3291840"/>
            <a:ext cx="128016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PSEL Bogor Raya 1 dimulai</a:t>
            </a:r>
          </a:p>
        </p:txBody>
      </p:sp>
      <p:sp>
        <p:nvSpPr>
          <p:cNvPr id="34" name="Oval 33"/>
          <p:cNvSpPr/>
          <p:nvPr/>
        </p:nvSpPr>
        <p:spPr>
          <a:xfrm>
            <a:off x="10972800" y="2788920"/>
            <a:ext cx="182880" cy="18288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24160" y="1783080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Okt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2057400"/>
            <a:ext cx="1280160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Laporan situs: "Coming Soon"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160520"/>
            <a:ext cx="54864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Praktik pelaporan peer: imbal hasil, %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93776" y="4425696"/>
            <a:ext cx="54498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457200" y="4526280"/>
            <a:ext cx="146304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Temasek 5 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20240" y="4572000"/>
            <a:ext cx="1880436" cy="219456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37252" y="4526280"/>
            <a:ext cx="91440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4,6%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873752"/>
            <a:ext cx="146304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Temasek 10 th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20240" y="4919472"/>
            <a:ext cx="2902413" cy="219456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59229" y="4873752"/>
            <a:ext cx="91440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7,1%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221224"/>
            <a:ext cx="146304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Temasek 20 th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20240" y="5266944"/>
            <a:ext cx="2779776" cy="219456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36592" y="5221224"/>
            <a:ext cx="91440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6,8%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568696"/>
            <a:ext cx="146304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Khazanah TB2025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20240" y="5614416"/>
            <a:ext cx="2125711" cy="219456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82527" y="5568696"/>
            <a:ext cx="91440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5,2%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943600"/>
            <a:ext cx="5486400" cy="36576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94360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Danantara: belum ada seri imbal hasil yang dipublikasikan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4160520"/>
            <a:ext cx="542239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Angka surat utang DIM, Juni 2026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345936" y="4425696"/>
            <a:ext cx="538581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55" name="Rectangle 54"/>
          <p:cNvSpPr/>
          <p:nvPr/>
        </p:nvSpPr>
        <p:spPr>
          <a:xfrm>
            <a:off x="6309360" y="4526280"/>
            <a:ext cx="1737360" cy="12344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09360" y="4526280"/>
            <a:ext cx="64008" cy="12344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4562856"/>
            <a:ext cx="1554480" cy="37719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2251FF"/>
                </a:solidFill>
                <a:latin typeface="Arial"/>
              </a:rPr>
              <a:t>5,65%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46520" y="4926076"/>
            <a:ext cx="1554480" cy="81635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imbal hasil tertimbang (5,35% / 5,95%)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83879" y="4526280"/>
            <a:ext cx="1737360" cy="12344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83879" y="4526280"/>
            <a:ext cx="64008" cy="12344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21040" y="4562856"/>
            <a:ext cx="1554480" cy="37719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2251FF"/>
                </a:solidFill>
                <a:latin typeface="Arial"/>
              </a:rPr>
              <a:t>33 bps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4926076"/>
            <a:ext cx="1554480" cy="81635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rata-rata spread (32 / 34)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058400" y="4526280"/>
            <a:ext cx="1673352" cy="12344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058400" y="4526280"/>
            <a:ext cx="64008" cy="12344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95560" y="4562856"/>
            <a:ext cx="1490472" cy="37719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2251FF"/>
                </a:solidFill>
                <a:latin typeface="Arial"/>
              </a:rPr>
              <a:t>3,07×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95560" y="4926076"/>
            <a:ext cx="1490472" cy="81635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pesanan US$4,6 M vs US$1,5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04 · EVALUASI KINERJA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Akses pembiayaan terbukti, tetapi imbal hasil, nilai tambah BUMN, dan dampak industri belum dapat dinilai; register 40 proyek adalah celah terpenting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4 (D1, D2, D7, D8, D13). Peringkat adalah penilaian kualitatif atas bukti publik.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68580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Penilaian menyeluruh menurut empat aliran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68214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19072"/>
          <a:ext cx="6858000" cy="28346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88720"/>
                <a:gridCol w="2194560"/>
                <a:gridCol w="34747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Aliran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Peringkat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Yang dapat menaikkan peringkat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Investasi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Akses terbukti; imbal hasil NR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Jembatan aset bersih teraudit; seri imbal hasil per kelompok modal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Operasi BUMN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Beragam; kontribusi belum terverifikasi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Laba ekonomi inkremental terhadap jalur tanpa intervensi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Industrialisasi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Belum terbukti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Kapasitas beroperasi, nilai tambah dalam negeri terverifikasi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Tata kelola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Fondasi ada; efektivitas belum terverifikasi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Hak keputusan terdokumentasi, lini risiko independen, register benturan kepentingan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663440"/>
            <a:ext cx="68580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Empat uji pembangunan industri yang sesungguhnya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776" y="4928616"/>
            <a:ext cx="68214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2" name="Rectangle 11"/>
          <p:cNvSpPr/>
          <p:nvPr/>
        </p:nvSpPr>
        <p:spPr>
          <a:xfrm>
            <a:off x="457200" y="5029200"/>
            <a:ext cx="1664208" cy="10058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5056632"/>
            <a:ext cx="160020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Uji 1 · Adisionalitas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5394960"/>
            <a:ext cx="160020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tanpa Danantara?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5029200"/>
            <a:ext cx="1664208" cy="10058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31136" y="5056632"/>
            <a:ext cx="160020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Uji 2 · Daya saing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31136" y="5394960"/>
            <a:ext cx="160020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biaya, mutu, keandalan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5029200"/>
            <a:ext cx="1664208" cy="10058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8496" y="5056632"/>
            <a:ext cx="160020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Uji 3 · Kapabilitas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5394960"/>
            <a:ext cx="160020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operasikan, sempurnakan, replikasi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79" y="5029200"/>
            <a:ext cx="1664208" cy="10058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05855" y="5056632"/>
            <a:ext cx="160020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Uji 4 · Distribusi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05855" y="5394960"/>
            <a:ext cx="1600200" cy="6400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kerja dan pemasok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1371600"/>
            <a:ext cx="414223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Register 40 proyek: slot bernama vs tanpa identitas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626096" y="1636776"/>
            <a:ext cx="410565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7498079" y="1691640"/>
          <a:ext cx="420624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589520" y="3520440"/>
            <a:ext cx="4142232" cy="6858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Skor tiga pilar 0/100 = penalti data, bukan bukti proyek gagal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Dua total berbeda Rp18,93 T (Rp2.091,46 T vs Rp2.072,53 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343400"/>
            <a:ext cx="414223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Empat akar masalah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626096" y="4608576"/>
            <a:ext cx="410565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7589520" y="4645152"/>
            <a:ext cx="4142232" cy="16459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1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Modal tanpa mekanisme konversi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2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Proyek padat impor, alih teknologi minim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3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BUMN bekerja dalam silo; tanpa register terintegrasi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4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Kesenjangan pemasok dalam negeri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04 · EVALUASI KINERJA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Hasil BUMN beragam, sektor industri baru terlayani di hilir, dan setiap kelompok modal harus diukur dengan penggaris berbeda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657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Perubahan laba BUMN sebanding (kelas B)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36210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457200" y="1783080"/>
            <a:ext cx="1143000" cy="6858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1143000" cy="6858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▼ 5,26%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783080"/>
            <a:ext cx="2423160" cy="6858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BRI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Rp60,31 → 57,13 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1143000" cy="685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1143000" cy="6858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▲ 0,93%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560320"/>
            <a:ext cx="2423160" cy="6858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Mandiri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Rp55,78 → 56,30 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1143000" cy="6858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37560"/>
            <a:ext cx="1143000" cy="6858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▼ 9,5%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337560"/>
            <a:ext cx="2423160" cy="6858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Telkom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laba dilaporkan; normalisasi Rp22,7 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1143000" cy="685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1143000" cy="6858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▲ 16,05%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114800"/>
            <a:ext cx="2423160" cy="6858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PLN (pendapatan)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Rp281,9 → 327,2 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1371600"/>
            <a:ext cx="3657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Sembilan sektor: seberapa terlayani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425696" y="1636776"/>
            <a:ext cx="36210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4389120" y="1783080"/>
            <a:ext cx="201168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Imbal hasil keuangan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1819656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49440" y="1819656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52360" y="1819656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2130552"/>
            <a:ext cx="201168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Optimalisasi BUMN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2167128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49440" y="2167128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52360" y="2167128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2478024"/>
            <a:ext cx="201168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Hilirisasi industri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2514600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49440" y="2514600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52360" y="2514600"/>
            <a:ext cx="457200" cy="23774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2825496"/>
            <a:ext cx="201168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Transisi energi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2862072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49440" y="2862072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52360" y="2862072"/>
            <a:ext cx="457200" cy="23774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0" y="3172968"/>
            <a:ext cx="201168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Industri digital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46520" y="3209544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49440" y="3209544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52360" y="3209544"/>
            <a:ext cx="457200" cy="23774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0" y="3520439"/>
            <a:ext cx="201168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Ketahanan pangan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3557015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49440" y="3557015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452360" y="3557015"/>
            <a:ext cx="457200" cy="23774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0" y="3867912"/>
            <a:ext cx="201168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Manufaktur maju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46520" y="3904488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49440" y="3904488"/>
            <a:ext cx="457200" cy="23774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452360" y="3904488"/>
            <a:ext cx="457200" cy="23774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0" y="4215384"/>
            <a:ext cx="201168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Pengembangan pemasok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46520" y="4251960"/>
            <a:ext cx="457200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49440" y="4251960"/>
            <a:ext cx="457200" cy="23774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452360" y="4251960"/>
            <a:ext cx="457200" cy="23774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0" y="4562856"/>
            <a:ext cx="2011680" cy="310896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Kepemilikan teknologi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46520" y="4599432"/>
            <a:ext cx="457200" cy="23774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949440" y="4599432"/>
            <a:ext cx="457200" cy="23774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452360" y="4599432"/>
            <a:ext cx="457200" cy="23774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9120" y="4919472"/>
            <a:ext cx="3566160" cy="20116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051C5C"/>
                </a:solidFill>
                <a:latin typeface="Arial"/>
              </a:rPr>
              <a:t>bar penuh = aktif/matang · kosong = kesenjangan besar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1371600"/>
            <a:ext cx="34107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Empat kelompok modal, empat ukuran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357615" y="1636776"/>
            <a:ext cx="3374137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62" name="Rectangle 61"/>
          <p:cNvSpPr/>
          <p:nvPr/>
        </p:nvSpPr>
        <p:spPr>
          <a:xfrm>
            <a:off x="8321040" y="1783080"/>
            <a:ext cx="109728" cy="7132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430768" y="1783080"/>
            <a:ext cx="3300984" cy="71323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30768" y="1783080"/>
            <a:ext cx="3300984" cy="71323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03920" y="1783080"/>
            <a:ext cx="3200400" cy="713232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51C5C"/>
                </a:solidFill>
                <a:latin typeface="Arial"/>
              </a:rPr>
              <a:t>BUMN warisan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ROIC, laba ekonomi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21040" y="2587752"/>
            <a:ext cx="109728" cy="7132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30768" y="2587752"/>
            <a:ext cx="3300984" cy="71323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30768" y="2587752"/>
            <a:ext cx="3300984" cy="71323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03920" y="2587752"/>
            <a:ext cx="3200400" cy="713232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51C5C"/>
                </a:solidFill>
                <a:latin typeface="Arial"/>
              </a:rPr>
              <a:t>Investasi likuid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Imbal hasil tertimbang waktu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21040" y="3392424"/>
            <a:ext cx="109728" cy="7132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430768" y="3392424"/>
            <a:ext cx="3300984" cy="71323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30768" y="3392424"/>
            <a:ext cx="3300984" cy="71323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03920" y="3392424"/>
            <a:ext cx="3200400" cy="713232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51C5C"/>
                </a:solidFill>
                <a:latin typeface="Arial"/>
              </a:rPr>
              <a:t>Privat/strategis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IRR neto, DPI/TVPI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321040" y="4197096"/>
            <a:ext cx="109728" cy="7132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430768" y="4197096"/>
            <a:ext cx="3300984" cy="71323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30768" y="4197096"/>
            <a:ext cx="3300984" cy="71323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03920" y="4197096"/>
            <a:ext cx="3200400" cy="713232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51C5C"/>
                </a:solidFill>
                <a:latin typeface="Arial"/>
              </a:rPr>
              <a:t>Untuk pembangunan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ENPV, EIRR, hasil tambahan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5120640"/>
            <a:ext cx="758952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Empat uji pembangunan industri yang sesungguhnya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493776" y="5385816"/>
            <a:ext cx="755294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80" name="Rectangle 79"/>
          <p:cNvSpPr/>
          <p:nvPr/>
        </p:nvSpPr>
        <p:spPr>
          <a:xfrm>
            <a:off x="457200" y="5486400"/>
            <a:ext cx="1828800" cy="7772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" y="5486400"/>
            <a:ext cx="1828800" cy="7772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Uji 1</a:t>
            </a:r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Adisionalitas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tanpa Danantara?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377440" y="5486400"/>
            <a:ext cx="1828800" cy="7772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377440" y="5486400"/>
            <a:ext cx="1828800" cy="7772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Uji 2</a:t>
            </a:r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Daya saing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tanpa proteksi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97680" y="5486400"/>
            <a:ext cx="1828800" cy="7772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297680" y="5486400"/>
            <a:ext cx="1828800" cy="7772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Uji 3</a:t>
            </a:r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Kapabilitas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tim lokal menguasai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217920" y="5486400"/>
            <a:ext cx="1828800" cy="7772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217920" y="5486400"/>
            <a:ext cx="1828800" cy="7772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Uji 4</a:t>
            </a:r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Distribusi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kerja dan pemasok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21040" y="5120640"/>
            <a:ext cx="3410712" cy="11430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21040" y="5120640"/>
            <a:ext cx="64008" cy="11430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458200" y="5157216"/>
            <a:ext cx="3227832" cy="3429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2251FF"/>
                </a:solidFill>
                <a:latin typeface="Arial"/>
              </a:rPr>
              <a:t>5,11%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58200" y="5487416"/>
            <a:ext cx="3227832" cy="75793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PDB 2025 (5,03% pada 2024): tidak dapat diatribusikan ke Danantara tanpa kontrafaktual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05 · APA YANG DIHARAPKAN DARI DANANTARA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Harapan harus menjadi hasil tambahan terukur: lokalisasi 10–30% impor setara Rp23–68 T nilai tambah; target 8% tidak tercapai dari SDA saja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5 (D3, D11–D13). Seluruh angka kelas D (model), bruto sebelum efek pengalihan.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657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Tiga harapan, lima portofolio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36210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57200" y="1691640"/>
            <a:ext cx="3657600" cy="20116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50" b="1" i="0">
                <a:solidFill>
                  <a:srgbClr val="000000"/>
                </a:solidFill>
                <a:latin typeface="Arial"/>
              </a:rPr>
              <a:t>Kapabilitas industri: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desain, buat, sertifikasi, pelihara, sempurnakan</a:t>
            </a:r>
          </a:p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50" b="1" i="0">
                <a:solidFill>
                  <a:srgbClr val="000000"/>
                </a:solidFill>
                <a:latin typeface="Arial"/>
              </a:rPr>
              <a:t>Indikator ekonomi: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nilai tambah riil, devisa neto, modal swasta</a:t>
            </a:r>
          </a:p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50" b="1" i="0">
                <a:solidFill>
                  <a:srgbClr val="000000"/>
                </a:solidFill>
                <a:latin typeface="Arial"/>
              </a:rPr>
              <a:t>Dampak sosial: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kerja berkualitas, UKM, layanan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926080"/>
          <a:ext cx="3657600" cy="18105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54480"/>
                <a:gridCol w="2103120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Portofolio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Ukuran utama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Pelestarian kekayaan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Imbal hasil neto vs tolok ukur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Infrastruktur strategis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NPV finansial dan ENPV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Platform industri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Lokalisasi via DOCK-UP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Inovasi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Tonggak teknologi berbasis gerbang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Pengembangan pemasok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Pemasok lolos G1–G4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892040"/>
            <a:ext cx="3657600" cy="13258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Prinsip desain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Permintaan sebelum subsidi · kesiapan sebelum volume · satu register · pembiayaan mengikuti gerbang · substansi di atas label · proteksi sementara · ukur yang tambahan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371600"/>
            <a:ext cx="3657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Tambahan nilai tambah dalam negeri, Rp 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25696" y="1636776"/>
            <a:ext cx="36210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297680" y="1691640"/>
          <a:ext cx="384048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389120" y="4114800"/>
            <a:ext cx="3657600" cy="10972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Pembelian dalam negeri: Rp56 / 113 / 169 T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Penghematan devisa: US$2,4 / 4,8 / 7,2 M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Tahun-kerja: ≈ 90 / 181 / 271 ribu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5257800"/>
            <a:ext cx="3657600" cy="9601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Asumsi: barang 45% capex; impor 60%; nilai tambah 40% per rupiah; Rp16.500/US$. Akumulasi selama pembangunan, bukan per tahun.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371600"/>
            <a:ext cx="34107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Dampak makro pipeline Rp2.091 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357615" y="1636776"/>
            <a:ext cx="3374137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8321040" y="1737360"/>
            <a:ext cx="1645920" cy="9144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1737360"/>
            <a:ext cx="64008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1773936"/>
            <a:ext cx="1463040" cy="3429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2251FF"/>
                </a:solidFill>
                <a:latin typeface="Arial"/>
              </a:rPr>
              <a:t>+1,5%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104136"/>
            <a:ext cx="1463040" cy="52933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level PDB puncak 2030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85832" y="1737360"/>
            <a:ext cx="1645920" cy="9144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85832" y="1737360"/>
            <a:ext cx="64008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22992" y="1773936"/>
            <a:ext cx="1463040" cy="3429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2251FF"/>
                </a:solidFill>
                <a:latin typeface="Arial"/>
              </a:rPr>
              <a:t>+0,74%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2104136"/>
            <a:ext cx="1463040" cy="52933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PDB permanen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2743200"/>
            <a:ext cx="1645920" cy="9144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2743200"/>
            <a:ext cx="64008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2779776"/>
            <a:ext cx="1463040" cy="3429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2251FF"/>
                </a:solidFill>
                <a:latin typeface="Arial"/>
              </a:rPr>
              <a:t>11,4 juta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109976"/>
            <a:ext cx="1463040" cy="52933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tahun-kerja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85832" y="2743200"/>
            <a:ext cx="1645920" cy="9144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85832" y="2743200"/>
            <a:ext cx="64008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22992" y="2779776"/>
            <a:ext cx="1463040" cy="3429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2251FF"/>
                </a:solidFill>
                <a:latin typeface="Arial"/>
              </a:rPr>
              <a:t>≈ 976 rb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22992" y="3109976"/>
            <a:ext cx="1463040" cy="52933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pekerjaan tetap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8321040" y="3840480"/>
          <a:ext cx="3410710" cy="1371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15600"/>
                <a:gridCol w="897555"/>
                <a:gridCol w="897555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Klaster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Puncak PDB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Impor US$ M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Sumber daya alam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0,44%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16,4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Infrastruktur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1,07%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12,5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Pertahanan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0,10%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Lainnya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0,07%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8321040" y="5303520"/>
            <a:ext cx="3410712" cy="9144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Implikasi: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8% bergantung pada reformasi di luar kendali Danantara; yang dikendalikan: ICOR proyek, biaya per kapasitas, kandungan domestik. Jalur D11: investasi ≈ 33,5% PDB, ICOR ≈ 4,2.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05 · APA YANG DIHARAPKAN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Infrastruktur menyumbang porsi terbesar dampak PDB (≈ 69%) dan pekerjaan (≈ 61%), tetapi 8% pertumbuhan menuntut efisiensi investasi di luar kendali Danantara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657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Puncak dampak level PDB per klaster, 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36210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640080" y="3102864"/>
            <a:ext cx="640080" cy="737616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83408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0,44%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867912"/>
            <a:ext cx="859536" cy="3657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SDA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8760" y="2046732"/>
            <a:ext cx="640080" cy="1793748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19" y="1827276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1,07%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1" y="3867912"/>
            <a:ext cx="859536" cy="3657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Infra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39" y="3672840"/>
            <a:ext cx="640080" cy="16764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5999" y="3453383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0,1%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7711" y="3867912"/>
            <a:ext cx="859536" cy="3657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Pertahanan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3723132"/>
            <a:ext cx="640080" cy="117348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79" y="3503676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0,07%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6391" y="3867912"/>
            <a:ext cx="859536" cy="3657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Lainnya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1371600"/>
            <a:ext cx="3657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Tahun-kerja didukung, juta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425696" y="1636776"/>
            <a:ext cx="36210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3" name="Rectangle 22"/>
          <p:cNvSpPr/>
          <p:nvPr/>
        </p:nvSpPr>
        <p:spPr>
          <a:xfrm>
            <a:off x="4572000" y="2975457"/>
            <a:ext cx="640080" cy="86502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2756001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3,01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3867912"/>
            <a:ext cx="859536" cy="3657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SDA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40680" y="1834547"/>
            <a:ext cx="640080" cy="2005932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1615091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6,98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0952" y="3867912"/>
            <a:ext cx="859536" cy="3657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Infra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604826"/>
            <a:ext cx="640080" cy="235653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385370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0,82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2" y="3867912"/>
            <a:ext cx="859536" cy="3657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Pertahanan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78040" y="3668050"/>
            <a:ext cx="640080" cy="172429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86600" y="3448594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0,6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68312" y="3867912"/>
            <a:ext cx="859536" cy="3657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Lainnya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1371600"/>
            <a:ext cx="34107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Investasi untuk tumbuh 8%, % PDB, per ICOR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357615" y="1636776"/>
            <a:ext cx="3374137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8321040" y="1783080"/>
            <a:ext cx="82296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ICOR 3,9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1828800"/>
            <a:ext cx="1386523" cy="210311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67099" y="1783080"/>
            <a:ext cx="73152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31,2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2121408"/>
            <a:ext cx="82296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ICOR 4,2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2167127"/>
            <a:ext cx="1493178" cy="210311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73754" y="2121408"/>
            <a:ext cx="73152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33,6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2459736"/>
            <a:ext cx="82296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ICOR 4,5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2505456"/>
            <a:ext cx="1599834" cy="210311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80410" y="2459736"/>
            <a:ext cx="73152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36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2798063"/>
            <a:ext cx="82296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ICOR 5,0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0" y="2843783"/>
            <a:ext cx="1777593" cy="210311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58169" y="2798063"/>
            <a:ext cx="73152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3136391"/>
            <a:ext cx="82296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ICOR 5,6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0" y="3182111"/>
            <a:ext cx="1990904" cy="210311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171480" y="3136391"/>
            <a:ext cx="73152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44,8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3474720"/>
            <a:ext cx="82296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ICOR 6,0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3520439"/>
            <a:ext cx="2133112" cy="210311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313688" y="3474720"/>
            <a:ext cx="731520" cy="30175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48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452628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Tiga skenario 8% pada 2029: investasi (% PDB) dan ICOR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93776" y="479145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57" name="Rectangle 56"/>
          <p:cNvSpPr/>
          <p:nvPr/>
        </p:nvSpPr>
        <p:spPr>
          <a:xfrm>
            <a:off x="457200" y="4892040"/>
            <a:ext cx="3657600" cy="13716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4892040"/>
            <a:ext cx="3657600" cy="6400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4983480"/>
            <a:ext cx="347472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51C5C"/>
                </a:solidFill>
                <a:latin typeface="Arial"/>
              </a:rPr>
              <a:t>S1 Efisiensi lebih dulu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285232"/>
            <a:ext cx="1737360" cy="5486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2251FF"/>
                </a:solidFill>
                <a:latin typeface="Arial"/>
              </a:rPr>
              <a:t>31,5%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86000" y="5349240"/>
            <a:ext cx="1737360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ICOR 3,95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investasi/PDB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5897880"/>
            <a:ext cx="3474720" cy="320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Risiko: politik reformasi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79392" y="4892040"/>
            <a:ext cx="3657600" cy="13716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79392" y="4892040"/>
            <a:ext cx="3657600" cy="6400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70831" y="4983480"/>
            <a:ext cx="347472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51C5C"/>
                </a:solidFill>
                <a:latin typeface="Arial"/>
              </a:rPr>
              <a:t>S2 Dorongan besar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70831" y="5285232"/>
            <a:ext cx="1737360" cy="5486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2251FF"/>
                </a:solidFill>
                <a:latin typeface="Arial"/>
              </a:rPr>
              <a:t>38,5%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08192" y="5349240"/>
            <a:ext cx="1737360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ICOR 4,8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investasi/PDB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70831" y="5897880"/>
            <a:ext cx="3474720" cy="320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Risiko: neraca pembayaran (CA −3,8%)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01583" y="4892040"/>
            <a:ext cx="3657600" cy="13716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101583" y="4892040"/>
            <a:ext cx="3657600" cy="6400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193023" y="4983480"/>
            <a:ext cx="347472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51C5C"/>
                </a:solidFill>
                <a:latin typeface="Arial"/>
              </a:rPr>
              <a:t>S3 Lompatan industri/ekspor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93023" y="5285232"/>
            <a:ext cx="1737360" cy="5486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2251FF"/>
                </a:solidFill>
                <a:latin typeface="Arial"/>
              </a:rPr>
              <a:t>34,5%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30384" y="5349240"/>
            <a:ext cx="1737360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ICOR 4,3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investasi/PDB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93023" y="5897880"/>
            <a:ext cx="3474720" cy="320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Risiko: pasar global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89120" y="4069080"/>
            <a:ext cx="365760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Jalur D11: investasi ≈ 33,5% PDB, ICOR ≈ 4,2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06 · DOCK-UP: MEMBANGUN KAPABILITAS INDUSTRI NASIONAL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DOCK-UP mengubah permintaan wajib menjadi pemasok terkualifikasi: volume dilepas hanya pada kesiapan terverifikasi lewat gerbang berbasis TRL dan MRL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6 (D4, D3). Kasus UKM adalah ilustrasi D4, bukan perusahaan nyata; target keluar adalah usulan.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828800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53896"/>
            <a:ext cx="1645920" cy="30861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2251FF"/>
                </a:solidFill>
                <a:latin typeface="Arial"/>
              </a:rPr>
              <a:t>85% / 35%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51076"/>
            <a:ext cx="1645920" cy="51663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minimum ofset / kandungan lokal (UU 16/2012)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1417320"/>
            <a:ext cx="1828800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0" y="141732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453896"/>
            <a:ext cx="1645920" cy="30861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2251FF"/>
                </a:solidFill>
                <a:latin typeface="Arial"/>
              </a:rPr>
              <a:t>64,2 juta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751076"/>
            <a:ext cx="1645920" cy="51663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UMKM: ~62% PDB, ~97% kerja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1828800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41732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453896"/>
            <a:ext cx="1645920" cy="2057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251FF"/>
                </a:solidFill>
                <a:latin typeface="Arial"/>
              </a:rPr>
              <a:t>TRL 6–8 / MRL 3–5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652016"/>
            <a:ext cx="1645920" cy="61569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profil banyak UKM: kaya prototipe, lemah produksi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468880"/>
            <a:ext cx="566928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Empat elemen DOCK-UP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3776" y="2734056"/>
            <a:ext cx="563270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457200" y="2816352"/>
            <a:ext cx="640080" cy="56692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816352"/>
            <a:ext cx="640080" cy="56692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2816352"/>
            <a:ext cx="5029200" cy="56692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2834640"/>
            <a:ext cx="4937760" cy="5486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Develop: </a:t>
            </a:r>
            <a:r>
              <a:rPr sz="1000" b="0" i="0">
                <a:solidFill>
                  <a:srgbClr val="000000"/>
                </a:solidFill>
                <a:latin typeface="Arial"/>
              </a:rPr>
              <a:t>Baseline TRL/MRL; pendampingan pada MRL terlemah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56432"/>
            <a:ext cx="640080" cy="56692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456432"/>
            <a:ext cx="640080" cy="56692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3456432"/>
            <a:ext cx="5029200" cy="56692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0432" y="3474720"/>
            <a:ext cx="4937760" cy="5486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Off-taker: </a:t>
            </a:r>
            <a:r>
              <a:rPr sz="1000" b="0" i="0">
                <a:solidFill>
                  <a:srgbClr val="000000"/>
                </a:solidFill>
                <a:latin typeface="Arial"/>
              </a:rPr>
              <a:t>Kontrak payung 3–5 tahun; volume dilepas bertahap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096512"/>
            <a:ext cx="640080" cy="56692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096512"/>
            <a:ext cx="640080" cy="56692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4096512"/>
            <a:ext cx="5029200" cy="56692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0432" y="4114800"/>
            <a:ext cx="4937760" cy="5486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Certification: </a:t>
            </a:r>
            <a:r>
              <a:rPr sz="1000" b="0" i="0">
                <a:solidFill>
                  <a:srgbClr val="000000"/>
                </a:solidFill>
                <a:latin typeface="Arial"/>
              </a:rPr>
              <a:t>C1 ISO 9001 · C2 klas/ISO 3834 · C3 mutu pertahanan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736592"/>
            <a:ext cx="640080" cy="56692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736592"/>
            <a:ext cx="640080" cy="56692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UP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4736592"/>
            <a:ext cx="5029200" cy="56692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70432" y="4754880"/>
            <a:ext cx="4937760" cy="5486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Upgrading: </a:t>
            </a:r>
            <a:r>
              <a:rPr sz="1000" b="0" i="0">
                <a:solidFill>
                  <a:srgbClr val="000000"/>
                </a:solidFill>
                <a:latin typeface="Arial"/>
              </a:rPr>
              <a:t>Build-to-print → build-to-spec → design-and-build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440680"/>
            <a:ext cx="5669280" cy="804672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458968"/>
            <a:ext cx="5577840" cy="76809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Aturan pokok: </a:t>
            </a:r>
            <a:r>
              <a:rPr sz="1000" b="0" i="0">
                <a:solidFill>
                  <a:srgbClr val="FFFFFF"/>
                </a:solidFill>
                <a:latin typeface="Arial"/>
              </a:rPr>
              <a:t>kesiapan, bukan janji, yang membuka langkah berikutnya. Asesor independen memverifikasi; integrator tidak memesan melebihi kemampuan terbukti.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1371600"/>
            <a:ext cx="53309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Gerbang terpadu: satu sinyal untuk UKM, pembeli, dan bank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37376" y="1636776"/>
            <a:ext cx="52943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6400800" y="1719072"/>
          <a:ext cx="5330950" cy="235915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22840"/>
                <a:gridCol w="1355326"/>
                <a:gridCol w="1716747"/>
                <a:gridCol w="1536037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Gerbang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Kesiapan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Yang dibuka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Dukungan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Masuk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Baseline TRL/MRL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Rencana pengembangan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Insinyur pendamping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G1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MRL 6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Tahap 1: pesanan percontohan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Hibah pendamping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G2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MRL 7 + C1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Tahap 2: laju rendah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Pembiayaan rantai pasok, KUR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G3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MRL 8 + C2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Tahap 3: serial dan suku cadang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Kredit investasi, first-loss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G4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Produk sendiri TRL 7+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Design-and-build, ekspor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Venture korporasi, LPEI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6400800" y="4206240"/>
            <a:ext cx="53309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Uji coba: 1 integrator, 20–30 UKM, 3–5 kelompok komponen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437376" y="4471416"/>
            <a:ext cx="52943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6400800" y="4553712"/>
          <a:ext cx="5330949" cy="9326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475084"/>
                <a:gridCol w="951955"/>
                <a:gridCol w="951955"/>
                <a:gridCol w="951955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Target keluar (usulan)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Bln 12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Bln 18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Bln 24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UKM pada G1 atau lebih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≥ 60%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≥ 75%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≥ 80%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UKM pada G2 atau lebih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≥ 25%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≥ 40%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6400800" y="5577840"/>
            <a:ext cx="5330952" cy="6858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Kurva belajar 85%: paritas biaya impor sekitar 4,2× volume awal (ilustrasi kelas D)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Dua jalur: MRL untuk build-to-print, TRL untuk pemilik produk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06 · DOCK-UP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UKM naik tangga TRL/MRL lewat dua jalur, dan kurva belajar 85% membuat harga lokal mencapai paritas impor pada sekitar 4× volume awal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84048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Empat profil pemasok (TRL × MRL)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380390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457200" y="1783080"/>
            <a:ext cx="1874519" cy="128016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1874519" cy="12801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Kaya prototipe, lemah produksi</a:t>
            </a:r>
          </a:p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TRL 6–8 · MRL 3–5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1783080"/>
            <a:ext cx="1874519" cy="128016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1783080"/>
            <a:ext cx="1874519" cy="12801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Pemasok terkualifikasi</a:t>
            </a:r>
          </a:p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TRL 8–9 · MRL 8–10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1874519" cy="128016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1874519" cy="12801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Penjelajah</a:t>
            </a:r>
          </a:p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TRL 1–4 · MRL 1–3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3108960"/>
            <a:ext cx="1874519" cy="128016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3108960"/>
            <a:ext cx="1874519" cy="12801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Siap produksi, teknologi dangkal</a:t>
            </a:r>
          </a:p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TRL 4–5 · MRL 6–8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34840"/>
            <a:ext cx="384048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↑ kesiapan manufaktur (MRL)    → kesiapan teknologi (TRL)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371600"/>
            <a:ext cx="71597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Dua jalur melalui gerbang (ilustrasi D4)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08576" y="1636776"/>
            <a:ext cx="71231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4572000" y="1783080"/>
            <a:ext cx="7159752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Jalur MRL · katup dan bantalan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2148840"/>
            <a:ext cx="1618488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148840"/>
            <a:ext cx="1618488" cy="7315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Baseline MRL kapal 4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227064" y="2441448"/>
            <a:ext cx="15544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19088" y="2148840"/>
            <a:ext cx="1618488" cy="7315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148840"/>
            <a:ext cx="1618488" cy="7315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Bln 7 · G1 · pesanan 20 katup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074151" y="2441448"/>
            <a:ext cx="15544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66175" y="2148840"/>
            <a:ext cx="1618488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5" y="2148840"/>
            <a:ext cx="1618488" cy="7315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Bln 8–14 · G2 · satu set kapal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921239" y="2441448"/>
            <a:ext cx="15544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13264" y="2148840"/>
            <a:ext cx="1618488" cy="7315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13264" y="2148840"/>
            <a:ext cx="1618488" cy="7315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Bln 15–24 · G3 · satu kelas fregat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154680"/>
            <a:ext cx="7159752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Jalur TRL · sensor inframerah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3520440"/>
            <a:ext cx="1618488" cy="7315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3520440"/>
            <a:ext cx="1618488" cy="7315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Pijakan sipil TRL 8–9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6227064" y="3813048"/>
            <a:ext cx="15544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19088" y="3520440"/>
            <a:ext cx="1618488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3520440"/>
            <a:ext cx="1618488" cy="7315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TRL 5 → 7 uji kejut/getaran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074151" y="3813048"/>
            <a:ext cx="15544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66175" y="3520440"/>
            <a:ext cx="1618488" cy="7315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66175" y="3520440"/>
            <a:ext cx="1618488" cy="7315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G4 · uji laut di kapal perang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9921239" y="3813048"/>
            <a:ext cx="15544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113264" y="3520440"/>
            <a:ext cx="1618488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13264" y="3520440"/>
            <a:ext cx="1618488" cy="7315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Subpemasok rudal pencari panas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846320"/>
            <a:ext cx="5943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Biaya unit relatif, kurva belajar 85%; garis = paritas impor (≈ 4,2×)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93776" y="5111496"/>
            <a:ext cx="59070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46" name="Rectangle 45"/>
          <p:cNvSpPr/>
          <p:nvPr/>
        </p:nvSpPr>
        <p:spPr>
          <a:xfrm>
            <a:off x="731520" y="5349240"/>
            <a:ext cx="640080" cy="64008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129783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" y="6016752"/>
            <a:ext cx="859536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1×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0" y="5445252"/>
            <a:ext cx="640080" cy="54406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37360" y="5225796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85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19072" y="6016752"/>
            <a:ext cx="859536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2×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26080" y="5528462"/>
            <a:ext cx="640080" cy="460857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34640" y="5309006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72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16352" y="6016752"/>
            <a:ext cx="859536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4×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23359" y="5598871"/>
            <a:ext cx="640080" cy="390448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0" y="5379415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61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1" y="6016752"/>
            <a:ext cx="859536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8×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5656478"/>
            <a:ext cx="640080" cy="332841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0" y="5437022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52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10912" y="6016752"/>
            <a:ext cx="859536" cy="2286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16×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48640" y="5532302"/>
            <a:ext cx="5760720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62" name="Rectangle 61"/>
          <p:cNvSpPr/>
          <p:nvPr/>
        </p:nvSpPr>
        <p:spPr>
          <a:xfrm>
            <a:off x="6675120" y="5029200"/>
            <a:ext cx="1645920" cy="118872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675120" y="5029200"/>
            <a:ext cx="64008" cy="11887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12280" y="5065776"/>
            <a:ext cx="1463040" cy="24003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251FF"/>
                </a:solidFill>
                <a:latin typeface="Arial"/>
              </a:rPr>
              <a:t>85% / 35%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12280" y="5296916"/>
            <a:ext cx="1463040" cy="90271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ofset / kandungan lokal minimum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12480" y="5029200"/>
            <a:ext cx="1645920" cy="118872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0" y="5029200"/>
            <a:ext cx="64008" cy="11887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49640" y="5065776"/>
            <a:ext cx="1463040" cy="24003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251FF"/>
                </a:solidFill>
                <a:latin typeface="Arial"/>
              </a:rPr>
              <a:t>20–30 UKM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49640" y="5296916"/>
            <a:ext cx="1463040" cy="90271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uji coba, 1 integrator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149840" y="5029200"/>
            <a:ext cx="1645920" cy="118872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149840" y="5029200"/>
            <a:ext cx="64008" cy="11887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287000" y="5065776"/>
            <a:ext cx="1463040" cy="24003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251FF"/>
                </a:solidFill>
                <a:latin typeface="Arial"/>
              </a:rPr>
              <a:t>≥ 80% pada G1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87000" y="5296916"/>
            <a:ext cx="1463040" cy="90271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target bulan ke-24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07 · PROYEK JANGKAR SEBAGAI MESIN PERMINTAAN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Proyek jangkar menyalurkan permintaan ke pemasok lokal lewat dua sistem gerbang yang saling mengunci: gerbang proyek (P0–P6) dan gerbang pemasok (G1–G4)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7 (D2, D3, D8). Nilai klaster dari tabel ringkasan belum direkonsiliasi; mitra global adalah shortlist analis, bukan penunjukan.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20624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Empat klaster awal, nilai tabel ringkasan (Rp T)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416966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4389120" cy="2240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069080"/>
            <a:ext cx="420624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Contoh terintegrasi: proyek jangkar maritim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776" y="4334256"/>
            <a:ext cx="416966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457200" y="4389120"/>
            <a:ext cx="4206240" cy="18288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Backlog PT PAL: 2 kapal selam Scorpène (US$2,16 M), 2 fregat Merah Putih (US$1,2 M), LPD, kapal rumah sakit</a:t>
            </a:r>
          </a:p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Paket DOCK-UP: katup, bantalan, perpipaan, kabel, sensor, MRO</a:t>
            </a:r>
          </a:p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Tokenisasi membiayai modal kerja dan membayar pemasok terkualifikasi langsung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371600"/>
            <a:ext cx="679399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Gerbang proyek mengunci gerbang pemasok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74336" y="1636776"/>
            <a:ext cx="675741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937760" y="1719072"/>
          <a:ext cx="6793991" cy="270662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77160"/>
                <a:gridCol w="2754321"/>
                <a:gridCol w="2662510"/>
              </a:tblGrid>
              <a:tr h="33832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Gerbang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Bukti untuk melanjutkan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Persyaratan lokalisasi (usulan)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P0 Mandat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Identitas, sponsor, lingkup, biaya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Tandai proyek jangkar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P1 Opsi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Kajian finansial dan dampak nasional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Daftar panjang paket lokal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P2 Kesiapan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Kajian teknis, offtake, risiko, sumber modal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Rencana lokalisasi + baseline TRL/MRL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P3 Modal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Rekomendasi komite, persetujuan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Kontrak payung dan ofset dalam kontrak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P4 Close/konstruksi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Pendanaan mengikat, jadwal baseline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Tahap pesanan dilepas per gerbang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P5 Operasi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Uji kinerja, penerimaan aset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Kinerja pemasok, suku cadang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P6 Evaluasi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Biaya final, manfaat aktual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Nilai tambah dan kapabilitas terverifikasi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937760" y="4526280"/>
            <a:ext cx="679399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D8: 18 slot bernama menjadi daftar kerja; gerbang industri M0–M9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74336" y="4791456"/>
            <a:ext cx="675741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4937760" y="4892040"/>
            <a:ext cx="1197864" cy="4572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4892040"/>
            <a:ext cx="1197864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M0–M1 Konsep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72200" y="5047488"/>
            <a:ext cx="128016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36792" y="4892040"/>
            <a:ext cx="1197864" cy="4572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4892040"/>
            <a:ext cx="1197864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M2–M3 FEL, FEED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571231" y="5047488"/>
            <a:ext cx="128016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35824" y="4892040"/>
            <a:ext cx="1197864" cy="4572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35824" y="4892040"/>
            <a:ext cx="1197864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M4 FID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970264" y="5047488"/>
            <a:ext cx="128016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34856" y="4892040"/>
            <a:ext cx="1197864" cy="4572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4856" y="4892040"/>
            <a:ext cx="1197864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M5–M7 EPC, commissioning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0369296" y="5047488"/>
            <a:ext cx="128016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533888" y="4892040"/>
            <a:ext cx="1197864" cy="4572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33888" y="4892040"/>
            <a:ext cx="1197864" cy="4572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M8–M9 Ramp-up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5440680"/>
            <a:ext cx="6793992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Mitra potensial per slot (mis. Sibelco, Lynas, Masdar, Veolia, Naval Group, Thales) memerlukan konfirmasi; risiko per slot terpetakan di register D8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Paket dengan pekerjaan terbesar tidak selalu bernilai terbesar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07 · PROYEK JANGKAR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Gerbang proyek P0–P6 dan gerbang industri M0–M9 saling dipetakan, sehingga paket lokal dilepas hanya pada tahap kesiapan yang sama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Sepuluh gerbang industri M0–M9 dipetakan ke tujuh gerbang proyek P0–P6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475488" y="1783080"/>
            <a:ext cx="1090879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783080"/>
            <a:ext cx="1090879" cy="9144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M0</a:t>
            </a:r>
          </a:p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Mandat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4351" y="2715768"/>
            <a:ext cx="73152" cy="2011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1127455" cy="320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P0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2943" y="1783080"/>
            <a:ext cx="1090879" cy="9144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2943" y="1783080"/>
            <a:ext cx="1090879" cy="9144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M1</a:t>
            </a:r>
          </a:p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FEL 1 konsep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11806" y="2715768"/>
            <a:ext cx="73152" cy="2011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84655" y="2926080"/>
            <a:ext cx="1127455" cy="320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P1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30398" y="1783080"/>
            <a:ext cx="1090879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30398" y="1783080"/>
            <a:ext cx="1090879" cy="9144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M2</a:t>
            </a:r>
          </a:p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FEL 2 pra-kelayakan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39262" y="2715768"/>
            <a:ext cx="73152" cy="2011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12110" y="2926080"/>
            <a:ext cx="1127455" cy="320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P2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57853" y="1783080"/>
            <a:ext cx="1090879" cy="9144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57853" y="1783080"/>
            <a:ext cx="1090879" cy="9144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M3</a:t>
            </a:r>
          </a:p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FEL 3 FEED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6717" y="2715768"/>
            <a:ext cx="73152" cy="2011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39565" y="2926080"/>
            <a:ext cx="1127455" cy="320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P2–P3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5308" y="1783080"/>
            <a:ext cx="1090879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5308" y="1783080"/>
            <a:ext cx="1090879" cy="9144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M4</a:t>
            </a:r>
          </a:p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FID, financial close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94172" y="2715768"/>
            <a:ext cx="73152" cy="2011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67020" y="2926080"/>
            <a:ext cx="1127455" cy="320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P3–P4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12764" y="1783080"/>
            <a:ext cx="1090879" cy="9144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2764" y="1783080"/>
            <a:ext cx="1090879" cy="9144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M5</a:t>
            </a:r>
          </a:p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EPC, industrialisasi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21627" y="2715768"/>
            <a:ext cx="73152" cy="2011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4476" y="2926080"/>
            <a:ext cx="1127455" cy="320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P4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40219" y="1783080"/>
            <a:ext cx="1090879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40219" y="1783080"/>
            <a:ext cx="1090879" cy="9144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M6</a:t>
            </a:r>
          </a:p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Penyelesaian mekanis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49082" y="2715768"/>
            <a:ext cx="73152" cy="2011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1931" y="2926080"/>
            <a:ext cx="1127455" cy="320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P4–P5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7674" y="1783080"/>
            <a:ext cx="1090879" cy="9144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7674" y="1783080"/>
            <a:ext cx="1090879" cy="9144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M7</a:t>
            </a:r>
          </a:p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Commissioning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76538" y="2715768"/>
            <a:ext cx="73152" cy="2011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49386" y="2926080"/>
            <a:ext cx="1127455" cy="320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P5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95129" y="1783080"/>
            <a:ext cx="1090879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95129" y="1783080"/>
            <a:ext cx="1090879" cy="9144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M8</a:t>
            </a:r>
          </a:p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Rilis komersial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03993" y="2715768"/>
            <a:ext cx="73152" cy="2011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76841" y="2926080"/>
            <a:ext cx="1127455" cy="320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P5–P6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22584" y="1783080"/>
            <a:ext cx="1090879" cy="9144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622584" y="1783080"/>
            <a:ext cx="1090879" cy="9144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M9</a:t>
            </a:r>
          </a:p>
          <a:p>
            <a:pPr algn="ctr"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Ramp-up manfaat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131448" y="2715768"/>
            <a:ext cx="73152" cy="2011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04296" y="2926080"/>
            <a:ext cx="1127455" cy="320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P6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429000"/>
            <a:ext cx="54864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Enam proyek jangkar dan permintaan yang diciptakan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93776" y="3694176"/>
            <a:ext cx="54498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51" name="Rectangle 50"/>
          <p:cNvSpPr/>
          <p:nvPr/>
        </p:nvSpPr>
        <p:spPr>
          <a:xfrm>
            <a:off x="457200" y="3794760"/>
            <a:ext cx="2697480" cy="73152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" y="3794760"/>
            <a:ext cx="64008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3794760"/>
            <a:ext cx="2514600" cy="7315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51C5C"/>
                </a:solidFill>
                <a:latin typeface="Arial"/>
              </a:rPr>
              <a:t>Giant Sea Wall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beton, baja, pompa, pintu air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46120" y="3794760"/>
            <a:ext cx="2697480" cy="73152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46120" y="3794760"/>
            <a:ext cx="64008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83279" y="3794760"/>
            <a:ext cx="2514600" cy="7315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51C5C"/>
                </a:solidFill>
                <a:latin typeface="Arial"/>
              </a:rPr>
              <a:t>3 Juta Rumah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komponen modular, HVAC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4617720"/>
            <a:ext cx="2697480" cy="73152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4617720"/>
            <a:ext cx="64008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360" y="4617720"/>
            <a:ext cx="2514600" cy="7315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51C5C"/>
                </a:solidFill>
                <a:latin typeface="Arial"/>
              </a:rPr>
              <a:t>Maritim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kapal, propulsi, MRO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46120" y="4617720"/>
            <a:ext cx="2697480" cy="73152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246120" y="4617720"/>
            <a:ext cx="64008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83279" y="4617720"/>
            <a:ext cx="2514600" cy="7315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51C5C"/>
                </a:solidFill>
                <a:latin typeface="Arial"/>
              </a:rPr>
              <a:t>Pertahanan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sensor, radar, mesin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5440680"/>
            <a:ext cx="2697480" cy="73152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7200" y="5440680"/>
            <a:ext cx="64008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" y="5440680"/>
            <a:ext cx="2514600" cy="7315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51C5C"/>
                </a:solidFill>
                <a:latin typeface="Arial"/>
              </a:rPr>
              <a:t>Hilirisasi mineral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suku cadang, refraktori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46120" y="5440680"/>
            <a:ext cx="2697480" cy="73152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246120" y="5440680"/>
            <a:ext cx="64008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83279" y="5440680"/>
            <a:ext cx="2514600" cy="7315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51C5C"/>
                </a:solidFill>
                <a:latin typeface="Arial"/>
              </a:rPr>
              <a:t>Lainnya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kimia, WtE, digital, pangan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9360" y="3429000"/>
            <a:ext cx="542239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Backlog maritim PT PAL (US$ miliar)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345936" y="3694176"/>
            <a:ext cx="538581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71" name="TextBox 70"/>
          <p:cNvSpPr txBox="1"/>
          <p:nvPr/>
        </p:nvSpPr>
        <p:spPr>
          <a:xfrm>
            <a:off x="6309360" y="3794760"/>
            <a:ext cx="1828800" cy="42062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2 kapal selam Scorpène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38160" y="3840480"/>
            <a:ext cx="2822752" cy="329184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997488" y="3794760"/>
            <a:ext cx="822960" cy="42062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2,16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09360" y="4251960"/>
            <a:ext cx="1828800" cy="42062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2 fregat Merah Putih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38160" y="4297680"/>
            <a:ext cx="1568195" cy="32918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742932" y="4251960"/>
            <a:ext cx="822960" cy="42062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1,2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09360" y="4892040"/>
            <a:ext cx="1218438" cy="5029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09360" y="4892040"/>
            <a:ext cx="1218438" cy="5029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Permintaan Kemhan</a:t>
            </a:r>
          </a:p>
        </p:txBody>
      </p:sp>
      <p:sp>
        <p:nvSpPr>
          <p:cNvPr id="79" name="Right Arrow 78"/>
          <p:cNvSpPr/>
          <p:nvPr/>
        </p:nvSpPr>
        <p:spPr>
          <a:xfrm>
            <a:off x="7564373" y="5070348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710678" y="4892040"/>
            <a:ext cx="1218438" cy="5029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710678" y="4892040"/>
            <a:ext cx="1218438" cy="5029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Paket DOCK-UP</a:t>
            </a:r>
          </a:p>
        </p:txBody>
      </p:sp>
      <p:sp>
        <p:nvSpPr>
          <p:cNvPr id="82" name="Right Arrow 81"/>
          <p:cNvSpPr/>
          <p:nvPr/>
        </p:nvSpPr>
        <p:spPr>
          <a:xfrm>
            <a:off x="8965692" y="5070348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111996" y="4892040"/>
            <a:ext cx="1218438" cy="5029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111996" y="4892040"/>
            <a:ext cx="1218438" cy="5029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Tokenisasi biayai</a:t>
            </a:r>
          </a:p>
        </p:txBody>
      </p:sp>
      <p:sp>
        <p:nvSpPr>
          <p:cNvPr id="85" name="Right Arrow 84"/>
          <p:cNvSpPr/>
          <p:nvPr/>
        </p:nvSpPr>
        <p:spPr>
          <a:xfrm>
            <a:off x="10367009" y="5070348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513314" y="4892040"/>
            <a:ext cx="1218438" cy="5029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513314" y="4892040"/>
            <a:ext cx="1218438" cy="5029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Pemasok dibayar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09360" y="5486400"/>
            <a:ext cx="5422392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Titik integrasi seluruh kajian: permintaan dari program pertahanan, DOCK-UP mengkualifikasi pemasok, tokenisasi membiayai modal kerja.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08 · KANAL PEMBIAYAAN 1: NATURAL RESOURCE FUND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NRF menjawab turunnya penerimaan sumber daya alam (19,3% → 7,7%), tetapi delapan isu valuasi, hukum, dan fiskal harus selesai sebelum desain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8 (D5, D10, D11). Ilustrasi valuasi: deposit hipotetis, kelas D. Ambang inflasi adalah usulan awal.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29184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Porsi SDA dalam penerimaan negara, 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3255263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3474720" cy="2103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023360"/>
            <a:ext cx="3291840" cy="10058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023360"/>
            <a:ext cx="64008" cy="10058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059936"/>
            <a:ext cx="31089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251FF"/>
                </a:solidFill>
                <a:latin typeface="Arial"/>
              </a:rPr>
              <a:t>US$80 M → US$3,9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324096"/>
            <a:ext cx="3108960" cy="68681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nilai in-situ vs nilai yang dapat diterbitkan (4,9%): hanya cadangan terbukti + terkira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166360"/>
            <a:ext cx="3291840" cy="10058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166360"/>
            <a:ext cx="64008" cy="10058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202936"/>
            <a:ext cx="31089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251FF"/>
                </a:solidFill>
                <a:latin typeface="Arial"/>
              </a:rPr>
              <a:t>Rp1.000 T ≈ 4% PDB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467096"/>
            <a:ext cx="3108960" cy="68681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penyaluran dapat menghabiskan sebagian besar toleransi inflasi ±1 poin; pantau sebelum rupiah pertama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1371600"/>
            <a:ext cx="40233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Delapan isu yang harus diselesaikan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9936" y="1636776"/>
            <a:ext cx="39867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4023360" y="1719072"/>
            <a:ext cx="4023360" cy="32004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1 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Dasar valuasi Rp10.000 T tanpa metode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2 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Target Rp100 T / Rp1.000 T ambigu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3 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Hak hukum atas cadangan belum ditambang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4 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Sekuritisasi 50% = pinjaman beragun penerimaan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5 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Reprofiling utang menukar liabilitas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6 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NRF di bawah Presiden vs Danantara: tumpang tindih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7 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Proses hukum atas peninjauan IUP/HGU</a:t>
            </a:r>
          </a:p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8 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Distribusi via koperasi mencampur kanal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572000"/>
            <a:ext cx="40233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Lima jendela penggunaan dana hasil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59936" y="4837176"/>
            <a:ext cx="39867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4023360" y="4892040"/>
            <a:ext cx="4023360" cy="1371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Stabilisasi · Tabungan generasi · Pengembangan industri · Kapabilitas pemasok (DOCK-UP) · Distribusi sosial; tiap jendela punya aturan sendiri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371600"/>
            <a:ext cx="34107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Empat opsi monetisasi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357615" y="1636776"/>
            <a:ext cx="3374137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8321040" y="1719072"/>
          <a:ext cx="3410712" cy="21945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05356"/>
                <a:gridCol w="1705356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Opsi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Catatan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Efek beragun aset berdaulat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Dikenal investor; perlu true sale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Surat utang berbasis mineral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Paling sederhana; jelas utang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Pembiayaan berbasis royalti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Menarik maju penerimaan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Mineral Reserve Trust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Paling sulit secara hukum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8321040" y="4023360"/>
            <a:ext cx="34107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Pemantau inflasi NRF: 8 jalur transmisi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57615" y="4288536"/>
            <a:ext cx="3374137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8321040" y="4343400"/>
            <a:ext cx="3410712" cy="19202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Jalur terpenting: pembiayaan moneter (C2), harga diatur (C4), ekspektasi (C7)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Ambang merah: IHK &gt; 4,0%; setiap pembelian BI di pasar perdana di luar krisis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MVP 6–8 minggu, tim 7 orang; syarat pencairan: baseline pra-NRF ada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08 · NATURAL RESOURCE FUND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Delapan jalur transmisi inflasi dan batas valuasi sama pentingnya dengan niat NRF: pantau dan batasi sebelum rupiah pertama disalurkan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76072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Delapan jalur transmisi inflasi (↑ naik · ↓ turun · ↕ dua arah)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572414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457200" y="1783080"/>
            <a:ext cx="2834640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0352" y="1892807"/>
            <a:ext cx="420624" cy="42062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892807"/>
            <a:ext cx="420624" cy="42062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C1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83080"/>
            <a:ext cx="173736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Permintaan agregat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783080"/>
            <a:ext cx="50292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251FF"/>
                </a:solidFill>
                <a:latin typeface="Arial"/>
              </a:rPr>
              <a:t>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1783080"/>
            <a:ext cx="2834640" cy="64008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56432" y="1892807"/>
            <a:ext cx="420624" cy="42062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1892807"/>
            <a:ext cx="420624" cy="42062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C2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783080"/>
            <a:ext cx="173736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Pembiayaan moneter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783080"/>
            <a:ext cx="50292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↑↑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496312"/>
            <a:ext cx="2834640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0352" y="2606040"/>
            <a:ext cx="420624" cy="42062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2606040"/>
            <a:ext cx="420624" cy="42062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C3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496312"/>
            <a:ext cx="173736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Nilai tukar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2496312"/>
            <a:ext cx="50292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251FF"/>
                </a:solidFill>
                <a:latin typeface="Arial"/>
              </a:rPr>
              <a:t>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2496312"/>
            <a:ext cx="2834640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56432" y="2606040"/>
            <a:ext cx="420624" cy="42062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6432" y="2606040"/>
            <a:ext cx="420624" cy="42062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C4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2496312"/>
            <a:ext cx="173736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Harga diatur, batu bara/DMO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2496312"/>
            <a:ext cx="50292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251FF"/>
                </a:solidFill>
                <a:latin typeface="Arial"/>
              </a:rPr>
              <a:t>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09544"/>
            <a:ext cx="2834640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30352" y="3319272"/>
            <a:ext cx="420624" cy="42062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3319272"/>
            <a:ext cx="420624" cy="42062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C5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3209544"/>
            <a:ext cx="173736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Gangguan pasokan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209544"/>
            <a:ext cx="50292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251FF"/>
                </a:solidFill>
                <a:latin typeface="Arial"/>
              </a:rPr>
              <a:t>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3209544"/>
            <a:ext cx="2834640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456432" y="3319272"/>
            <a:ext cx="420624" cy="42062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56432" y="3319272"/>
            <a:ext cx="420624" cy="42062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C6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3209544"/>
            <a:ext cx="173736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Pemanasan daerah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3209544"/>
            <a:ext cx="50292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251FF"/>
                </a:solidFill>
                <a:latin typeface="Arial"/>
              </a:rPr>
              <a:t>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922776"/>
            <a:ext cx="2834640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0352" y="4032504"/>
            <a:ext cx="420624" cy="42062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4032504"/>
            <a:ext cx="420624" cy="42062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C7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3922776"/>
            <a:ext cx="173736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Ekspektasi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3922776"/>
            <a:ext cx="50292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251FF"/>
                </a:solidFill>
                <a:latin typeface="Arial"/>
              </a:rPr>
              <a:t>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80" y="3922776"/>
            <a:ext cx="2834640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456432" y="4032504"/>
            <a:ext cx="420624" cy="420624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56432" y="4032504"/>
            <a:ext cx="420624" cy="42062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C8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1920" y="3922776"/>
            <a:ext cx="173736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Kapasitas pasokan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0" y="3922776"/>
            <a:ext cx="50292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251FF"/>
                </a:solidFill>
                <a:latin typeface="Arial"/>
              </a:rPr>
              <a:t>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1371600"/>
            <a:ext cx="52395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Ambang lampu lalu lintas: inflasi IHK tahunan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528816" y="1636776"/>
            <a:ext cx="520293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51" name="Rectangle 50"/>
          <p:cNvSpPr/>
          <p:nvPr/>
        </p:nvSpPr>
        <p:spPr>
          <a:xfrm>
            <a:off x="6492240" y="1783080"/>
            <a:ext cx="1691640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1783080"/>
            <a:ext cx="1691640" cy="8686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Hijau</a:t>
            </a:r>
          </a:p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0000"/>
                </a:solidFill>
                <a:latin typeface="Arial"/>
              </a:rPr>
              <a:t>1,5–3,5%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66175" y="1783080"/>
            <a:ext cx="1691640" cy="86868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66175" y="1783080"/>
            <a:ext cx="1691640" cy="8686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Kuning</a:t>
            </a:r>
          </a:p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00000"/>
                </a:solidFill>
                <a:latin typeface="Arial"/>
              </a:rPr>
              <a:t>3,5–4,0%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40112" y="1783080"/>
            <a:ext cx="1691640" cy="86868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40112" y="1783080"/>
            <a:ext cx="1691640" cy="8686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Merah</a:t>
            </a:r>
          </a:p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&gt; 4,0%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2743200"/>
            <a:ext cx="5239512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Merah juga: setiap pembelian BI di pasar perdana di luar kerangka krisis sah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3246120"/>
            <a:ext cx="52395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Beban inflasi bila NRF membiayai pipeline (poin)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528816" y="3511296"/>
            <a:ext cx="520293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60" name="TextBox 59"/>
          <p:cNvSpPr txBox="1"/>
          <p:nvPr/>
        </p:nvSpPr>
        <p:spPr>
          <a:xfrm>
            <a:off x="6492240" y="3611880"/>
            <a:ext cx="2103120" cy="34747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Ekuitas DDMF saja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95359" y="3657600"/>
            <a:ext cx="362285" cy="256031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94221" y="3611880"/>
            <a:ext cx="914400" cy="34747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≤ 0,07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3995928"/>
            <a:ext cx="2103120" cy="34747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Seluruh pipeline rata-rata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95359" y="4041648"/>
            <a:ext cx="1811426" cy="256031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443362" y="3995928"/>
            <a:ext cx="914400" cy="34747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≤ 0,35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92240" y="4379976"/>
            <a:ext cx="2103120" cy="34747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Seluruh pipeline puncak 2029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95359" y="4425696"/>
            <a:ext cx="2535996" cy="256031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167932" y="4379976"/>
            <a:ext cx="914400" cy="347472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≤ 0,49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4709160"/>
            <a:ext cx="576072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Valuasi: mengapa nilai yang dapat dibiayai jauh di bawah nilai in-situ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493776" y="4974336"/>
            <a:ext cx="572414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71" name="Rectangle 70"/>
          <p:cNvSpPr/>
          <p:nvPr/>
        </p:nvSpPr>
        <p:spPr>
          <a:xfrm>
            <a:off x="457200" y="5074920"/>
            <a:ext cx="1035100" cy="685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5074920"/>
            <a:ext cx="1035100" cy="6858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Tonase terbukti + terkira</a:t>
            </a:r>
          </a:p>
        </p:txBody>
      </p:sp>
      <p:sp>
        <p:nvSpPr>
          <p:cNvPr id="73" name="Right Arrow 72"/>
          <p:cNvSpPr/>
          <p:nvPr/>
        </p:nvSpPr>
        <p:spPr>
          <a:xfrm>
            <a:off x="1528876" y="5344668"/>
            <a:ext cx="73152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638604" y="5074920"/>
            <a:ext cx="1035100" cy="6858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38604" y="5074920"/>
            <a:ext cx="1035100" cy="6858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Rencana produksi</a:t>
            </a:r>
          </a:p>
        </p:txBody>
      </p:sp>
      <p:sp>
        <p:nvSpPr>
          <p:cNvPr id="76" name="Right Arrow 75"/>
          <p:cNvSpPr/>
          <p:nvPr/>
        </p:nvSpPr>
        <p:spPr>
          <a:xfrm>
            <a:off x="2710281" y="5344668"/>
            <a:ext cx="73152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820009" y="5074920"/>
            <a:ext cx="1035100" cy="685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820009" y="5074920"/>
            <a:ext cx="1035100" cy="6858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Harga konservatif</a:t>
            </a:r>
          </a:p>
        </p:txBody>
      </p:sp>
      <p:sp>
        <p:nvSpPr>
          <p:cNvPr id="79" name="Right Arrow 78"/>
          <p:cNvSpPr/>
          <p:nvPr/>
        </p:nvSpPr>
        <p:spPr>
          <a:xfrm>
            <a:off x="3891686" y="5344668"/>
            <a:ext cx="73152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001414" y="5074920"/>
            <a:ext cx="1035100" cy="6858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001414" y="5074920"/>
            <a:ext cx="1035100" cy="6858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Porsi negara</a:t>
            </a:r>
          </a:p>
        </p:txBody>
      </p:sp>
      <p:sp>
        <p:nvSpPr>
          <p:cNvPr id="82" name="Right Arrow 81"/>
          <p:cNvSpPr/>
          <p:nvPr/>
        </p:nvSpPr>
        <p:spPr>
          <a:xfrm>
            <a:off x="5073091" y="5344668"/>
            <a:ext cx="73152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182819" y="5074920"/>
            <a:ext cx="1035100" cy="685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182819" y="5074920"/>
            <a:ext cx="1035100" cy="6858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Nilai kini ÷ cakupan 1,5×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" y="5852160"/>
            <a:ext cx="5760720" cy="4114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51C5C"/>
                </a:solidFill>
                <a:latin typeface="Arial"/>
              </a:rPr>
              <a:t>Contoh: US$80 M in-situ → ≈ US$3,9 M dapat diterbitkan (4,9%)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92240" y="4709160"/>
            <a:ext cx="52395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Aset dana 2050 (Rp T): menabung vs agresif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6528816" y="4974336"/>
            <a:ext cx="520293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88" name="Rectangle 87"/>
          <p:cNvSpPr/>
          <p:nvPr/>
        </p:nvSpPr>
        <p:spPr>
          <a:xfrm>
            <a:off x="6766560" y="5436926"/>
            <a:ext cx="914400" cy="415233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675120" y="5217470"/>
            <a:ext cx="1097280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1,438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56832" y="5879592"/>
            <a:ext cx="1133856" cy="3657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Hanya menabung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321040" y="5319401"/>
            <a:ext cx="914400" cy="532758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229600" y="5099945"/>
            <a:ext cx="1097280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1,845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211312" y="5879592"/>
            <a:ext cx="1133856" cy="3657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Agresif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875520" y="5417001"/>
            <a:ext cx="914400" cy="43515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784080" y="5197545"/>
            <a:ext cx="1097280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1,507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765792" y="5879592"/>
            <a:ext cx="1133856" cy="3657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Uji tekanan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09 · KANAL PEMBIAYAAN 2: TOKENISASI PROYEK BERDAULAT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PALCapital menguji pencairan per tonggak capaian, tetapi instrumennya adalah utang dan enam prasyarat harus terpenuhi sebelum uji coba US$150 juta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9 (D6). Istilah instrumen dan angka dari D6; penilaian dan prasyarat adalah rekomendasi kajian.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0233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Instrumen PAL-SUB-1 (usulan D6)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39867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19072"/>
          <a:ext cx="4023360" cy="3657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97280"/>
                <a:gridCol w="29260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Fitur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Isi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Ukuran / tenor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US$150 juta; 700 bps tetap; 720 hari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Teknologi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ERC-3643 pada Hyperledger Besu; bukti ZK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Escrow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Fiat di Bank Mandiri Custody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Pencairan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Per tonggak ke vendor; persetujuan 2-dari-2 BKI + TNI 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Pelunasan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Pembayaran Kemhan ke collection account; waterfall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Investor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Danantara jangkar; Mandiri, BRI, SWF; tanpa ritel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Regulasi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Sandbox IKD OJK; sovereign cloud; ISO 27001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54880" y="1371600"/>
            <a:ext cx="697687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Siklus dana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91456" y="1636776"/>
            <a:ext cx="694029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2" name="Rectangle 11"/>
          <p:cNvSpPr/>
          <p:nvPr/>
        </p:nvSpPr>
        <p:spPr>
          <a:xfrm>
            <a:off x="4754880" y="1737360"/>
            <a:ext cx="1010412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737360"/>
            <a:ext cx="1010412" cy="64008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Kontrak Kemhan di-hash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01868" y="1984248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8172" y="1737360"/>
            <a:ext cx="1010412" cy="64008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8172" y="1737360"/>
            <a:ext cx="1010412" cy="64008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Bukti ZK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995159" y="1984248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41464" y="1737360"/>
            <a:ext cx="1010412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41464" y="1737360"/>
            <a:ext cx="1010412" cy="64008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Onboarding investor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188452" y="1984248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34756" y="1737360"/>
            <a:ext cx="1010412" cy="64008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4756" y="1737360"/>
            <a:ext cx="1010412" cy="64008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Dana di escrow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381744" y="1984248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28048" y="1737360"/>
            <a:ext cx="1010412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28048" y="1737360"/>
            <a:ext cx="1010412" cy="64008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Pencairan per tonggak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575036" y="1984248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21340" y="1737360"/>
            <a:ext cx="1010412" cy="64008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21340" y="1737360"/>
            <a:ext cx="1010412" cy="64008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Pelunasan waterfall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2606040"/>
            <a:ext cx="2194560" cy="9144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0" y="2606040"/>
            <a:ext cx="64008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2040" y="2642616"/>
            <a:ext cx="2011679" cy="29146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US$20,7 juta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2923286"/>
            <a:ext cx="2011679" cy="57886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imbal hasil atas US$150 juta, 700 bps, 720 hari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59168" y="2606040"/>
            <a:ext cx="2194560" cy="9144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59168" y="2606040"/>
            <a:ext cx="64008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96328" y="2642616"/>
            <a:ext cx="2011679" cy="29146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4 tahap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96328" y="2923286"/>
            <a:ext cx="2011679" cy="57886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tranche tonggak: 40 + 45 + 40 + 25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63456" y="2606040"/>
            <a:ext cx="2368296" cy="9144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363456" y="2606040"/>
            <a:ext cx="64008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0616" y="2642616"/>
            <a:ext cx="2185415" cy="29146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75%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0616" y="2923286"/>
            <a:ext cx="2185415" cy="57886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material PAL diimpor: kebocoran pencairan ke vendor asing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3703320"/>
            <a:ext cx="697687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Isu utama penilaian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791456" y="3968496"/>
            <a:ext cx="694029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4754880" y="4023360"/>
            <a:ext cx="3429000" cy="17373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Ini utang: dicatat sebagai liabilitas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Pengalihan tagihan negara perlu persetujuan Kemhan dan Kemenkeu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Perbandingan biaya 7% vs bank 9–11% tidak setara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Investor = uang negara berputar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4023360"/>
            <a:ext cx="3456432" cy="17373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Blockchain perlu dibuktikan; escrow konvensional bisa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Konsentrasi peran Danantara (investor, validator, kunci)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Klaim belum terverifikasi: AUM US$900 M+, persetujuan awal BSSN/OJK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Inkonsistensi term sheet (45 vs 90 hari, 6–7% vs 700 bps)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486400"/>
            <a:ext cx="40233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Perluasan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93776" y="5751576"/>
            <a:ext cx="39867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457200" y="5779008"/>
            <a:ext cx="4023360" cy="5486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Keluarga Surat Tagihan Proyek Berdaulat dalam rupiah: pertahanan, KPBU, WtE, hilirisasi, perumahan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54880" y="5779008"/>
            <a:ext cx="6976872" cy="5029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00600" y="5779008"/>
            <a:ext cx="6885432" cy="5029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Enam prasyarat: </a:t>
            </a:r>
            <a:r>
              <a:rPr sz="1000" b="0" i="0">
                <a:solidFill>
                  <a:srgbClr val="FFFFFF"/>
                </a:solidFill>
                <a:latin typeface="Arial"/>
              </a:rPr>
              <a:t>hukum · risiko fiskal/grup · keekonomian · tata kelola · teknologi/keamanan · keterkaitan industri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09 · TOKENISASI PROYEK BERDAULAT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Dana PAL-SUB-1 mengalir dalam enam langkah terkendali; instrumen ini utang dan baru sah dilanjutkan setelah enam prasyarat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Siklus dana dan pihak yang bertanggung jawab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Oval 8"/>
          <p:cNvSpPr/>
          <p:nvPr/>
        </p:nvSpPr>
        <p:spPr>
          <a:xfrm>
            <a:off x="1168146" y="1783080"/>
            <a:ext cx="457200" cy="45720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8146" y="1783080"/>
            <a:ext cx="45720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71066" y="2011680"/>
            <a:ext cx="1330452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502920" y="2286000"/>
            <a:ext cx="1787652" cy="5029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Kontrak Kemhan di-hash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88920"/>
            <a:ext cx="1787652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2251FF"/>
                </a:solidFill>
                <a:latin typeface="Arial"/>
              </a:rPr>
              <a:t>PAL · Kemhan</a:t>
            </a:r>
          </a:p>
        </p:txBody>
      </p:sp>
      <p:sp>
        <p:nvSpPr>
          <p:cNvPr id="14" name="Oval 13"/>
          <p:cNvSpPr/>
          <p:nvPr/>
        </p:nvSpPr>
        <p:spPr>
          <a:xfrm>
            <a:off x="3047238" y="1783080"/>
            <a:ext cx="457200" cy="45720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7238" y="1783080"/>
            <a:ext cx="45720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50158" y="2011680"/>
            <a:ext cx="1330452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2382012" y="2286000"/>
            <a:ext cx="1787652" cy="5029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Bukti ZK nilai 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2012" y="2788920"/>
            <a:ext cx="1787652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2251FF"/>
                </a:solidFill>
                <a:latin typeface="Arial"/>
              </a:rPr>
              <a:t>Kemenkeu</a:t>
            </a:r>
          </a:p>
        </p:txBody>
      </p:sp>
      <p:sp>
        <p:nvSpPr>
          <p:cNvPr id="19" name="Oval 18"/>
          <p:cNvSpPr/>
          <p:nvPr/>
        </p:nvSpPr>
        <p:spPr>
          <a:xfrm>
            <a:off x="4926330" y="1783080"/>
            <a:ext cx="457200" cy="45720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26330" y="1783080"/>
            <a:ext cx="45720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29250" y="2011680"/>
            <a:ext cx="1330452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4261104" y="2286000"/>
            <a:ext cx="1787652" cy="5029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Onboarding 100 dompet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1104" y="2788920"/>
            <a:ext cx="1787652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2251FF"/>
                </a:solidFill>
                <a:latin typeface="Arial"/>
              </a:rPr>
              <a:t>Danantara · co-investor</a:t>
            </a:r>
          </a:p>
        </p:txBody>
      </p:sp>
      <p:sp>
        <p:nvSpPr>
          <p:cNvPr id="24" name="Oval 23"/>
          <p:cNvSpPr/>
          <p:nvPr/>
        </p:nvSpPr>
        <p:spPr>
          <a:xfrm>
            <a:off x="6805422" y="1783080"/>
            <a:ext cx="457200" cy="45720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5422" y="1783080"/>
            <a:ext cx="45720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08342" y="2011680"/>
            <a:ext cx="1330452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140196" y="2286000"/>
            <a:ext cx="1787652" cy="5029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Dana di escrow fiat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0196" y="2788920"/>
            <a:ext cx="1787652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2251FF"/>
                </a:solidFill>
                <a:latin typeface="Arial"/>
              </a:rPr>
              <a:t>Bank Mandiri Custody</a:t>
            </a:r>
          </a:p>
        </p:txBody>
      </p:sp>
      <p:sp>
        <p:nvSpPr>
          <p:cNvPr id="29" name="Oval 28"/>
          <p:cNvSpPr/>
          <p:nvPr/>
        </p:nvSpPr>
        <p:spPr>
          <a:xfrm>
            <a:off x="8684514" y="1783080"/>
            <a:ext cx="457200" cy="45720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4514" y="1783080"/>
            <a:ext cx="45720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87434" y="2011680"/>
            <a:ext cx="1330452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8019288" y="2286000"/>
            <a:ext cx="1787652" cy="5029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Pencairan per tonggak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9288" y="2788920"/>
            <a:ext cx="1787652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2251FF"/>
                </a:solidFill>
                <a:latin typeface="Arial"/>
              </a:rPr>
              <a:t>BKI + TNI AL 2-dari-2</a:t>
            </a:r>
          </a:p>
        </p:txBody>
      </p:sp>
      <p:sp>
        <p:nvSpPr>
          <p:cNvPr id="34" name="Oval 33"/>
          <p:cNvSpPr/>
          <p:nvPr/>
        </p:nvSpPr>
        <p:spPr>
          <a:xfrm>
            <a:off x="10563606" y="1783080"/>
            <a:ext cx="457200" cy="45720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63606" y="1783080"/>
            <a:ext cx="45720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98380" y="2286000"/>
            <a:ext cx="1787652" cy="5029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Pelunasan waterfall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98380" y="2788920"/>
            <a:ext cx="1787652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0" i="0">
                <a:solidFill>
                  <a:srgbClr val="2251FF"/>
                </a:solidFill>
                <a:latin typeface="Arial"/>
              </a:rPr>
              <a:t>Collection account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291840"/>
            <a:ext cx="3657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Tranche tonggak, US$ juta (total 150)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93776" y="3557016"/>
            <a:ext cx="36210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40" name="Rectangle 39"/>
          <p:cNvSpPr/>
          <p:nvPr/>
        </p:nvSpPr>
        <p:spPr>
          <a:xfrm>
            <a:off x="457200" y="3703320"/>
            <a:ext cx="975360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703320"/>
            <a:ext cx="97536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T1 40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32560" y="3703320"/>
            <a:ext cx="1097280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32560" y="3703320"/>
            <a:ext cx="109728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T2 45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29840" y="3703320"/>
            <a:ext cx="975360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29840" y="3703320"/>
            <a:ext cx="97536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T3 40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05199" y="3703320"/>
            <a:ext cx="609600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05199" y="3703320"/>
            <a:ext cx="60960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T4 25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434840"/>
            <a:ext cx="1783080" cy="9144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4434840"/>
            <a:ext cx="64008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4471416"/>
            <a:ext cx="1600200" cy="24003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251FF"/>
                </a:solidFill>
                <a:latin typeface="Arial"/>
              </a:rPr>
              <a:t>US$20,7 juta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4702555"/>
            <a:ext cx="1600200" cy="62839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imbal hasil 700 bps × 720 hari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31720" y="4434840"/>
            <a:ext cx="1783080" cy="9144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331720" y="4434840"/>
            <a:ext cx="64008" cy="9144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468879" y="4471416"/>
            <a:ext cx="1600200" cy="3429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2251FF"/>
                </a:solidFill>
                <a:latin typeface="Arial"/>
              </a:rPr>
              <a:t>75%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68879" y="4801616"/>
            <a:ext cx="1600200" cy="52933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material PAL diimpor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0" y="3291840"/>
            <a:ext cx="3657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Sepuluh isu penilaian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425696" y="3557016"/>
            <a:ext cx="36210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58" name="Rectangle 57"/>
          <p:cNvSpPr/>
          <p:nvPr/>
        </p:nvSpPr>
        <p:spPr>
          <a:xfrm>
            <a:off x="4389120" y="3703320"/>
            <a:ext cx="1801368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9120" y="3703320"/>
            <a:ext cx="1801368" cy="32918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1  Utang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45352" y="3703320"/>
            <a:ext cx="1801368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45352" y="3703320"/>
            <a:ext cx="1801368" cy="32918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2  Alih tagihan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89120" y="4069080"/>
            <a:ext cx="1801368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89120" y="4069080"/>
            <a:ext cx="1801368" cy="32918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3  Alokasi anggaran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45352" y="4069080"/>
            <a:ext cx="1801368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45352" y="4069080"/>
            <a:ext cx="1801368" cy="32918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4  Biaya tak setara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89120" y="4434840"/>
            <a:ext cx="1801368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89120" y="4434840"/>
            <a:ext cx="1801368" cy="32918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5  Investor negara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45352" y="4434840"/>
            <a:ext cx="1801368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45352" y="4434840"/>
            <a:ext cx="1801368" cy="32918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6  Perlu blockchain?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89120" y="4800600"/>
            <a:ext cx="1801368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89120" y="4800600"/>
            <a:ext cx="1801368" cy="32918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7  Konsentrasi peran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45352" y="4800600"/>
            <a:ext cx="1801368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45352" y="4800600"/>
            <a:ext cx="1801368" cy="32918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8  Klaim belum terbukti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89120" y="5166360"/>
            <a:ext cx="1801368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389120" y="5166360"/>
            <a:ext cx="1801368" cy="32918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9  Term sheet tak konsisten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45352" y="5166360"/>
            <a:ext cx="1801368" cy="32918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45352" y="5166360"/>
            <a:ext cx="1801368" cy="32918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10  Kebocoran impor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21040" y="3291840"/>
            <a:ext cx="34107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Enam prasyarat uji coba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8357615" y="3557016"/>
            <a:ext cx="3374137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80" name="Rectangle 79"/>
          <p:cNvSpPr/>
          <p:nvPr/>
        </p:nvSpPr>
        <p:spPr>
          <a:xfrm>
            <a:off x="8321040" y="3703320"/>
            <a:ext cx="1664208" cy="5029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321040" y="3703320"/>
            <a:ext cx="1664208" cy="5029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Hukum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058400" y="3703320"/>
            <a:ext cx="1664208" cy="5029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058400" y="3703320"/>
            <a:ext cx="1664208" cy="5029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Risiko fiskal/grup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21040" y="4270248"/>
            <a:ext cx="1664208" cy="5029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21040" y="4270248"/>
            <a:ext cx="1664208" cy="5029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Keekonomian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058400" y="4270248"/>
            <a:ext cx="1664208" cy="5029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058400" y="4270248"/>
            <a:ext cx="1664208" cy="5029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Tata kelola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21040" y="4837176"/>
            <a:ext cx="1664208" cy="5029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21040" y="4837176"/>
            <a:ext cx="1664208" cy="5029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Teknologi/keamanan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058400" y="4837176"/>
            <a:ext cx="1664208" cy="5029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058400" y="4837176"/>
            <a:ext cx="1664208" cy="50292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Keterkaitan industri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251FF"/>
                </a:solidFill>
                <a:latin typeface="Arial"/>
              </a:rPr>
              <a:t>Perluasan: </a:t>
            </a:r>
            <a:r>
              <a:rPr sz="1050" b="0" i="0">
                <a:solidFill>
                  <a:srgbClr val="000000"/>
                </a:solidFill>
                <a:latin typeface="Arial"/>
              </a:rPr>
              <a:t>keluarga Surat Tagihan Proyek Berdaulat dalam rupiah untuk pertahanan, KPBU, WtE, hilirisasi, dan perumahan; dicatat sebagai utang penerbit.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10 · ARSITEKTUR PEMBIAYAAN TERINTEGRASI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Dua kanal baru saling melengkapi tetapi hanya menutup 6,8% portofolio; pengungkit penentu adalah mobilisasi, pembiayaan per gerbang, dan isolasi risiko sistemik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10 (D1, D5, D6, D9, D11). Sumber dan penggunaan dana: ilustrasi kelas D; defisit pembiayaan D9: kelas 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1148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Kedua kanal saling melengkapi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40782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19072"/>
          <a:ext cx="4114800" cy="2743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14400"/>
                <a:gridCol w="1600200"/>
                <a:gridCol w="16002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NRF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Tokenisasi proyek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Tingkat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Dana (hulu)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Proyek dan pemasok (hilir)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Sumber nilai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Porsi negara atas rente SDA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Kewajiban bayar negara terkontrak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Penggunaan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Ekuitas sabar, first-loss, tabungan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Modal kerja per tonggak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Horizon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Puluhan tahun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1–5 tahun per instrumen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Risiko utama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Harga, hak hukum, substansi fiskal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Penyelesaian, alokasi anggaran, tata kelola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617720"/>
            <a:ext cx="41148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Portofolio ganda (D9): tanpa subsidi silang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776" y="4882896"/>
            <a:ext cx="40782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457200" y="4937760"/>
            <a:ext cx="4114800" cy="1371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1" i="0">
                <a:solidFill>
                  <a:srgbClr val="000000"/>
                </a:solidFill>
                <a:latin typeface="Arial"/>
              </a:rPr>
              <a:t>Alpha (komersial):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Mandiri, BRI, BNI, Telkom; ROE &gt; 15%; tanpa pinjaman paksa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1" i="0">
                <a:solidFill>
                  <a:srgbClr val="000000"/>
                </a:solidFill>
                <a:latin typeface="Arial"/>
              </a:rPr>
              <a:t>Impact (proyek):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utang non-recourse; SPV ring-fenced, ekuitas kedaulatan ≤ 30%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1" i="0">
                <a:solidFill>
                  <a:srgbClr val="000000"/>
                </a:solidFill>
                <a:latin typeface="Arial"/>
              </a:rPr>
              <a:t>Defisit pembiayaan: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Rp95–125 T per tahun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371600"/>
            <a:ext cx="338328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Sumber dana ilustratif, Rp triliun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82896" y="1636776"/>
            <a:ext cx="334670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846320" y="1719072"/>
          <a:ext cx="3383280" cy="21945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94560"/>
                <a:gridCol w="11887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Sumber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Rp 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Alokasi strategis Danantara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≈ 578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Surat utang terkait NRF Tahap 1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≈ 118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Surat tagihan proyek berdaulat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≈ 24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251FF"/>
                          </a:solidFill>
                          <a:latin typeface="Arial"/>
                        </a:rPr>
                        <a:t>Subtotal dua kanal baru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251FF"/>
                          </a:solidFill>
                          <a:latin typeface="Arial"/>
                        </a:rPr>
                        <a:t>≈ 142 (6,8%)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Sisa harus didanai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≈ 1.371 (65,6%)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846320" y="4023360"/>
            <a:ext cx="3383280" cy="7772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Sisa: utang tingkat proyek, neraca BUMN, ko-investor swasta dan asing, APBN. Ekuitas 30% = Rp627 T; utang 70% = Rp1.464 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754880"/>
            <a:ext cx="338328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Uji stres (11 guncangan)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82896" y="5020056"/>
            <a:ext cx="334670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4846320" y="5047488"/>
            <a:ext cx="3383280" cy="12801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IDR −15%; spread +200 bps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Capex +20%, terlambat 12 bulan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Batu bara −30% tiga tahun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Bayar negara terlambat 180 hari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1371600"/>
            <a:ext cx="322783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Pembiayaan mengikuti gerbang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40496" y="1636776"/>
            <a:ext cx="319125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8503920" y="1719072"/>
          <a:ext cx="3227831" cy="23042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91132"/>
                <a:gridCol w="1936699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Gerbang proyek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Instrumen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P0–P2 persiapan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Dana penyiapan DDMF, hibah kajian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P3 keputusan modal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Ekuitas Danantara, jendela industri NRF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P4 konstruksi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Surat tagihan, bank, kredit ekspor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P5 commissioning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Refinancing obligasi jangka panjang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P6 operasi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Daur ulang aset ke investor swasta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8503920" y="4160520"/>
          <a:ext cx="3227831" cy="197510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91132"/>
                <a:gridCol w="1936699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Gerbang pemasok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Instrumen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Masuk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Insinyur pendamping, pelatihan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G1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Hibah pendamping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G2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Pembiayaan rantai pasok, KUR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G3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Kredit investasi + first-loss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G4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Venture korporasi, LPEI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10 · ARSITEKTUR PEMBIAYAAN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Rp2.091 T tidak dapat didanai dua kanal baru: sisa Rp1.371 T harus dimobilisasi dari utang proyek, ko-investor, dan APBN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667512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Air terjun sumber dana, Rp triliun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663854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640080" y="1920240"/>
            <a:ext cx="1005840" cy="265176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73352"/>
            <a:ext cx="1005840" cy="24688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2.091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08576"/>
            <a:ext cx="1188720" cy="4572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Portofolio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39" y="1920240"/>
            <a:ext cx="1005840" cy="733006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39" y="1673352"/>
            <a:ext cx="1005840" cy="24688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578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799" y="4608576"/>
            <a:ext cx="1188720" cy="4572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Alokasi Danantara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653246"/>
            <a:ext cx="1005840" cy="1496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2406358"/>
            <a:ext cx="1005840" cy="24688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118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608576"/>
            <a:ext cx="1188720" cy="4572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NRF Tahap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2802891"/>
            <a:ext cx="1005840" cy="30436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2556003"/>
            <a:ext cx="1005840" cy="24688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608576"/>
            <a:ext cx="1188720" cy="4572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Surat tagihan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2833328"/>
            <a:ext cx="1005840" cy="1738671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586440"/>
            <a:ext cx="1005840" cy="246888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1.371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608576"/>
            <a:ext cx="1188720" cy="4572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Sisa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1371600"/>
            <a:ext cx="43251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Struktur modal ilustratif 30 : 70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43215" y="1636776"/>
            <a:ext cx="4288537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7406640" y="1783080"/>
            <a:ext cx="1297533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04173" y="1783080"/>
            <a:ext cx="3027578" cy="64008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1783080"/>
            <a:ext cx="1297533" cy="64008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Ekuitas Rp627 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4173" y="1783080"/>
            <a:ext cx="3027578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Utang Rp1.464 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606040"/>
            <a:ext cx="43251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Defisit pembiayaan proyek (D9), Rp T per tahun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43215" y="2871216"/>
            <a:ext cx="4288537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7406640" y="2971800"/>
            <a:ext cx="14173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Kebutuhan capex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23960" y="3017520"/>
            <a:ext cx="2246376" cy="237744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06912" y="2971800"/>
            <a:ext cx="82296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275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337560"/>
            <a:ext cx="14173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Retensi dividen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23960" y="3383279"/>
            <a:ext cx="694334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4870" y="3337560"/>
            <a:ext cx="82296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85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3703320"/>
            <a:ext cx="14173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Arus kas internal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23960" y="3749039"/>
            <a:ext cx="612648" cy="23774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73184" y="3703320"/>
            <a:ext cx="82296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75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4069080"/>
            <a:ext cx="141732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Defisit neto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23960" y="4114800"/>
            <a:ext cx="898550" cy="237744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59086" y="4069080"/>
            <a:ext cx="822960" cy="329184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110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4480560"/>
            <a:ext cx="4325112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051C5C"/>
                </a:solidFill>
                <a:latin typeface="Arial"/>
              </a:rPr>
              <a:t>titik tengah rentang: 250–300 · 80–90 · 70–80 · 95–125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93776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Pembiayaan mengikuti gerbang: dari persiapan sampai daur ulang aset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93776" y="520293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47" name="Rectangle 46"/>
          <p:cNvSpPr/>
          <p:nvPr/>
        </p:nvSpPr>
        <p:spPr>
          <a:xfrm>
            <a:off x="457200" y="5303520"/>
            <a:ext cx="2072030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5303520"/>
            <a:ext cx="2072030" cy="54864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P0–P2 hibah penyiapan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2565806" y="5504688"/>
            <a:ext cx="15544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57830" y="5303520"/>
            <a:ext cx="2072030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57830" y="5303520"/>
            <a:ext cx="2072030" cy="54864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P3 ekuitas Danantara + NRF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4866436" y="5504688"/>
            <a:ext cx="15544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58460" y="5303520"/>
            <a:ext cx="2072030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58460" y="5303520"/>
            <a:ext cx="2072030" cy="54864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P4 surat tagihan, bank, kredit ekspor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7167067" y="5504688"/>
            <a:ext cx="15544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359091" y="5303520"/>
            <a:ext cx="2072030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59091" y="5303520"/>
            <a:ext cx="2072030" cy="54864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P5 refinancing obligasi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9467697" y="5504688"/>
            <a:ext cx="15544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659721" y="5303520"/>
            <a:ext cx="2072030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59721" y="5303520"/>
            <a:ext cx="2072030" cy="54864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P6 daur ulang aset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51C5C"/>
                </a:solidFill>
                <a:latin typeface="Arial"/>
              </a:rPr>
              <a:t>Portofolio Alpha (komersial) dan Impact (SPV ring-fenced, ekuitas kedaulatan ≤ 30%) tidak boleh subsidi silang.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11 · KAJIAN BUMN KARYA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BUMN Karya harus kembali menjadi kontraktor yang disiplin: rugi 2025 ≈ Rp28 T dan anggaran infrastruktur turun ≈ 45%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11 (D3, D1). Angka kerugian adalah estimasi kelas C; harus digantikan angka teraudit TB2025.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5661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Estimasi rugi 2025, Rp triliun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35295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3749039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840480"/>
            <a:ext cx="35661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Anggaran infrastruktur, Rp triliun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776" y="4105656"/>
            <a:ext cx="35295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65760" y="4114800"/>
          <a:ext cx="3749039" cy="2148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297680" y="1371600"/>
            <a:ext cx="35661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Akar masalah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34256" y="1636776"/>
            <a:ext cx="35295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4297680" y="1719072"/>
            <a:ext cx="3566160" cy="21945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Ekspansi infrastruktur agresif dalam waktu singkat</a:t>
            </a:r>
          </a:p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Margin konstruksi rendah; penugasan tanpa kompensasi penuh</a:t>
            </a:r>
          </a:p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Pembayaran terlambat dari Pemerintah dan BUMN pemilik proyek</a:t>
            </a:r>
          </a:p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Risiko turnkey/EPC ditanggung kontraktor</a:t>
            </a:r>
          </a:p>
          <a:p>
            <a:pPr algn="l" marL="146304" indent="-146304">
              <a:spcAft>
                <a:spcPts val="400"/>
              </a:spcAft>
              <a:buClr>
                <a:srgbClr val="2251FF"/>
              </a:buClr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Insentif mengukur penyelesaian proyek, bukan profitabilitas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840480"/>
            <a:ext cx="35661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Dari konglomerasi ke kontraktor disiplin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34256" y="4105656"/>
            <a:ext cx="35295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4297680" y="4206240"/>
            <a:ext cx="768096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4206240"/>
            <a:ext cx="768096" cy="64008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Fokus inti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102352" y="4453127"/>
            <a:ext cx="91439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30368" y="4206240"/>
            <a:ext cx="768096" cy="64008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30368" y="4206240"/>
            <a:ext cx="768096" cy="64008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Seleksi margin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035040" y="4453127"/>
            <a:ext cx="91439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3056" y="4206240"/>
            <a:ext cx="768096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3056" y="4206240"/>
            <a:ext cx="768096" cy="64008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Kendali risiko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967728" y="4453127"/>
            <a:ext cx="91439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95744" y="4206240"/>
            <a:ext cx="768096" cy="64008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95744" y="4206240"/>
            <a:ext cx="768096" cy="64008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Tata kelola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937760"/>
            <a:ext cx="3566160" cy="12801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Siklus kas sehat: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terima uang muka → laksanakan → sertifikasi → tagih dan kumpulkan piutang.</a:t>
            </a:r>
          </a:p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Aset warisan </a:t>
            </a:r>
            <a:r>
              <a:rPr sz="950" b="0" i="0">
                <a:solidFill>
                  <a:srgbClr val="000000"/>
                </a:solidFill>
                <a:latin typeface="Arial"/>
              </a:rPr>
              <a:t>(tol, properti, bandara, tambang) dipisah ke wahana aset setelah diagnostik.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1371600"/>
            <a:ext cx="359359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Tujuh rekomendasi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174736" y="1636776"/>
            <a:ext cx="355701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2" name="Rectangle 31"/>
          <p:cNvSpPr/>
          <p:nvPr/>
        </p:nvSpPr>
        <p:spPr>
          <a:xfrm>
            <a:off x="8138160" y="1737360"/>
            <a:ext cx="365760" cy="42062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1737360"/>
            <a:ext cx="365760" cy="4206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1737360"/>
            <a:ext cx="3227832" cy="42062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0496" y="1737360"/>
            <a:ext cx="3172968" cy="4206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Diagnostik per perusahaan, Hari 30–90, data teraudit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2212848"/>
            <a:ext cx="365760" cy="42062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2212848"/>
            <a:ext cx="365760" cy="4206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03920" y="2212848"/>
            <a:ext cx="3227832" cy="42062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0496" y="2212848"/>
            <a:ext cx="3172968" cy="4206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Pisahkan aset warisan setelah diagnostik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2688336"/>
            <a:ext cx="365760" cy="42062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2688336"/>
            <a:ext cx="365760" cy="4206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2688336"/>
            <a:ext cx="3227832" cy="42062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0496" y="2688336"/>
            <a:ext cx="3172968" cy="4206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Disiplin penawaran: gerbang bid/no-bid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3163824"/>
            <a:ext cx="365760" cy="42062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38160" y="3163824"/>
            <a:ext cx="365760" cy="4206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03920" y="3163824"/>
            <a:ext cx="3227832" cy="42062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0496" y="3163824"/>
            <a:ext cx="3172968" cy="4206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Perlindungan kas dan eskalasi piutang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3639312"/>
            <a:ext cx="365760" cy="42062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0" y="3639312"/>
            <a:ext cx="365760" cy="4206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0" y="3639312"/>
            <a:ext cx="3227832" cy="42062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40496" y="3639312"/>
            <a:ext cx="3172968" cy="4206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Tulang punggung pengendalian proyek: WBS, kode biaya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38160" y="4114800"/>
            <a:ext cx="365760" cy="42062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38160" y="4114800"/>
            <a:ext cx="365760" cy="4206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4114800"/>
            <a:ext cx="3227832" cy="42062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0496" y="4114800"/>
            <a:ext cx="3172968" cy="4206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Peran sebagai EPC dan integrator proyek jangkar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38160" y="4590288"/>
            <a:ext cx="365760" cy="42062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38160" y="4590288"/>
            <a:ext cx="365760" cy="4206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03920" y="4590288"/>
            <a:ext cx="3227832" cy="42062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40496" y="4590288"/>
            <a:ext cx="3172968" cy="4206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Struktur diputuskan berdasarkan bukti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38160" y="5120640"/>
            <a:ext cx="3593592" cy="11430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Ukur pemulihan: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laba ekonomi inkremental, konversi kas operasional dan DSO, utang bersih/EBITDA, margin backlog saat tawar vs selesai, CPI/SPI, manfaat transformasi bersih terverifikasi.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11 · BUMN KARYA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Dari konglomerasi infrastruktur ke kontraktor disiplin: perubahan model, siklus kas yang melindungi, dan metrik pemulihan yang jujur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64008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Dari → Ke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63642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457200" y="1783080"/>
            <a:ext cx="2834640" cy="62179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2834640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Kontraktor + pengembang + investor tol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337560" y="1965960"/>
            <a:ext cx="502920" cy="25603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86200" y="1783080"/>
            <a:ext cx="2971800" cy="62179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783080"/>
            <a:ext cx="2971800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Fokus pada bisnis inti konstruksi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96312"/>
            <a:ext cx="2834640" cy="62179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96312"/>
            <a:ext cx="2834640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Mengambil proyek apa saja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337560" y="2679192"/>
            <a:ext cx="502920" cy="25603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86200" y="2496312"/>
            <a:ext cx="2971800" cy="62179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2496312"/>
            <a:ext cx="2971800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Selektif: hanya margin sehat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09544"/>
            <a:ext cx="2834640" cy="62179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09544"/>
            <a:ext cx="2834640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Pemilik aset jangka panjang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337560" y="3392424"/>
            <a:ext cx="502920" cy="25603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86200" y="3209544"/>
            <a:ext cx="2971800" cy="62179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3209544"/>
            <a:ext cx="2971800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Tidak menahan aset berlebih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22776"/>
            <a:ext cx="2834640" cy="62179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922776"/>
            <a:ext cx="2834640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Pendanaan dari utang perusahaan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337560" y="4105656"/>
            <a:ext cx="502920" cy="25603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86200" y="3922776"/>
            <a:ext cx="2971800" cy="62179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6200" y="3922776"/>
            <a:ext cx="2971800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Pendanaan dari pemilik proyek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636008"/>
            <a:ext cx="2834640" cy="621792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636008"/>
            <a:ext cx="2834640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Sukses = proyek selesai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3337560" y="4818888"/>
            <a:ext cx="502920" cy="25603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86200" y="4636008"/>
            <a:ext cx="2971800" cy="62179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86200" y="4636008"/>
            <a:ext cx="2971800" cy="6217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Sukses = laba dan kas berkelanjutan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1371600"/>
            <a:ext cx="450799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Siklus kas kontraktor sehat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260336" y="1636776"/>
            <a:ext cx="447141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6" name="Oval 35"/>
          <p:cNvSpPr/>
          <p:nvPr/>
        </p:nvSpPr>
        <p:spPr>
          <a:xfrm>
            <a:off x="7223760" y="1783080"/>
            <a:ext cx="411480" cy="41148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0" y="1783080"/>
            <a:ext cx="411480" cy="41148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1783080"/>
            <a:ext cx="2194560" cy="4114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Terima uang muka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424927" y="2194560"/>
            <a:ext cx="0" cy="155448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7223760" y="2350008"/>
            <a:ext cx="411480" cy="41148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3760" y="2350008"/>
            <a:ext cx="411480" cy="41148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2350008"/>
            <a:ext cx="2194560" cy="4114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Laksanakan pekerjaan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424927" y="2761488"/>
            <a:ext cx="0" cy="155448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44" name="Oval 43"/>
          <p:cNvSpPr/>
          <p:nvPr/>
        </p:nvSpPr>
        <p:spPr>
          <a:xfrm>
            <a:off x="7223760" y="2916936"/>
            <a:ext cx="411480" cy="41148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0" y="2916936"/>
            <a:ext cx="411480" cy="41148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2916936"/>
            <a:ext cx="2194560" cy="4114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Sertifikasi kemajuan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424927" y="3328416"/>
            <a:ext cx="0" cy="155448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48" name="Oval 47"/>
          <p:cNvSpPr/>
          <p:nvPr/>
        </p:nvSpPr>
        <p:spPr>
          <a:xfrm>
            <a:off x="7223760" y="3483863"/>
            <a:ext cx="411480" cy="41148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23760" y="3483863"/>
            <a:ext cx="411480" cy="41148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3483863"/>
            <a:ext cx="2194560" cy="4114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Tagih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424927" y="3895344"/>
            <a:ext cx="0" cy="155447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52" name="Oval 51"/>
          <p:cNvSpPr/>
          <p:nvPr/>
        </p:nvSpPr>
        <p:spPr>
          <a:xfrm>
            <a:off x="7223760" y="4050791"/>
            <a:ext cx="411480" cy="41148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23760" y="4050791"/>
            <a:ext cx="411480" cy="41148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4050791"/>
            <a:ext cx="2194560" cy="4114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Kumpulkan piutang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12680" y="1783080"/>
            <a:ext cx="1719072" cy="128016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012680" y="1783080"/>
            <a:ext cx="64008" cy="128016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49840" y="1819656"/>
            <a:ext cx="1536192" cy="29146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≈ Rp28 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49840" y="2100326"/>
            <a:ext cx="1536192" cy="94462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estimasi rugi 2025 (kelas C)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12680" y="3154680"/>
            <a:ext cx="1719072" cy="128016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012680" y="3154680"/>
            <a:ext cx="64008" cy="128016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49840" y="3191256"/>
            <a:ext cx="1536192" cy="4114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2251FF"/>
                </a:solidFill>
                <a:latin typeface="Arial"/>
              </a:rPr>
              <a:t>−45%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49840" y="3587496"/>
            <a:ext cx="1536192" cy="82905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anggaran infra: Rp110,95 → 61,38 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539496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Tujuh metrik pemulihan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93776" y="566013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65" name="Rectangle 64"/>
          <p:cNvSpPr/>
          <p:nvPr/>
        </p:nvSpPr>
        <p:spPr>
          <a:xfrm>
            <a:off x="475488" y="5760720"/>
            <a:ext cx="1574074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75488" y="5760720"/>
            <a:ext cx="1574074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Laba ekonomi inkremental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86138" y="5760720"/>
            <a:ext cx="1574074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86138" y="5760720"/>
            <a:ext cx="1574074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Konversi kas, DSO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96788" y="5760720"/>
            <a:ext cx="1574074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96788" y="5760720"/>
            <a:ext cx="1574074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Utang bersih / EBITDA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307438" y="5760720"/>
            <a:ext cx="1574074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07438" y="5760720"/>
            <a:ext cx="1574074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Margin backlog tawar vs selesai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18089" y="5760720"/>
            <a:ext cx="1574074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18089" y="5760720"/>
            <a:ext cx="1574074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CPI dan SPI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28739" y="5760720"/>
            <a:ext cx="1574074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28739" y="5760720"/>
            <a:ext cx="1574074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Klaim dipulihkan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139389" y="5760720"/>
            <a:ext cx="1574074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139389" y="5760720"/>
            <a:ext cx="1574074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Manfaat transformasi bersih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12 · MENINGKATKAN MANAJEMEN BISNIS DENGAN AI MULTI-AGEN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Sistem operasi proyek berbasis AI multi-agen: MVP tiga bulan, enam agen prioritas, integrasi baca-saja, dan manusia tetap memutuskan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12 (D3). Spesifikasi komputasi dan jalur peningkatan skala adalah usulan; business case disusun sebelum Fase 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749039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Arsitektur berlapis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371246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457200" y="1737360"/>
            <a:ext cx="3749039" cy="5029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3749039" cy="5029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Danantara Portfolio Control Tower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04288"/>
            <a:ext cx="3749039" cy="5029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04288"/>
            <a:ext cx="3749039" cy="5029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SOE Enterprise Orchestrator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71216"/>
            <a:ext cx="3749039" cy="5029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71216"/>
            <a:ext cx="3749039" cy="5029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Kelompok agen AI korporat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38144"/>
            <a:ext cx="3749039" cy="5029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38144"/>
            <a:ext cx="3749039" cy="5029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Project Control Tower (per proyek)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05072"/>
            <a:ext cx="3749039" cy="5029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005072"/>
            <a:ext cx="3749039" cy="5029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Intelijen lapangan: drone, IoT, BIM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72000"/>
            <a:ext cx="3749039" cy="5029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0"/>
            <a:ext cx="3749039" cy="5029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Platform data + master data (ERP, BIM, kontrak)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3749039" cy="10515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Satu set pengenal untuk semua agen: ID proyek, WBS, kode biaya, kontrak, pemasok, perubahan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Pola akhir: hub-and-spoke di platform AI Danantara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1371600"/>
            <a:ext cx="35661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Enam agen prioritas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17136" y="1636776"/>
            <a:ext cx="35295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4480560" y="1737360"/>
            <a:ext cx="3566160" cy="457200"/>
          </a:xfrm>
          <a:prstGeom prst="rect">
            <a:avLst/>
          </a:prstGeom>
          <a:solidFill>
            <a:srgbClr val="E6ECFD"/>
          </a:solidFill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Risiko portofolio: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peringkat risiko, deteksi dini rugi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240280"/>
            <a:ext cx="3566160" cy="457200"/>
          </a:xfrm>
          <a:prstGeom prst="rect">
            <a:avLst/>
          </a:prstGeom>
          <a:solidFill>
            <a:srgbClr val="E6ECFD"/>
          </a:solidFill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Bid / no-bid: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margin, risiko kontrak, modal kerja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743200"/>
            <a:ext cx="3566160" cy="457200"/>
          </a:xfrm>
          <a:prstGeom prst="rect">
            <a:avLst/>
          </a:prstGeom>
          <a:solidFill>
            <a:srgbClr val="E6ECFD"/>
          </a:solidFill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Estimasi biaya: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estimasi independen dari data historis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246120"/>
            <a:ext cx="3566160" cy="457200"/>
          </a:xfrm>
          <a:prstGeom prst="rect">
            <a:avLst/>
          </a:prstGeom>
          <a:solidFill>
            <a:srgbClr val="E6ECFD"/>
          </a:solidFill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Piutang dan pembayaran: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faktur, keterlambatan, rekonsiliasi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749039"/>
            <a:ext cx="3566160" cy="457200"/>
          </a:xfrm>
          <a:prstGeom prst="rect">
            <a:avLst/>
          </a:prstGeom>
          <a:solidFill>
            <a:srgbClr val="E6ECFD"/>
          </a:solidFill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Jadwal dan kemajuan: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kemajuan fisik, dampak ke margin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251959"/>
            <a:ext cx="3566160" cy="457200"/>
          </a:xfrm>
          <a:prstGeom prst="rect">
            <a:avLst/>
          </a:prstGeom>
          <a:solidFill>
            <a:srgbClr val="E6ECFD"/>
          </a:solidFill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Pengadaan dan pemasok: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harga pasar, risiko pemasok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846320"/>
            <a:ext cx="35661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Human in the loop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17136" y="5111496"/>
            <a:ext cx="35295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4480560" y="5138928"/>
            <a:ext cx="3566160" cy="11887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L0 informasikan · L1 rekomendasikan · L2 siapkan draf · L3 laksanakan dalam batas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Keputusan material selalu disetujui manusia; setiap rekomendasi mengutip sumber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1371600"/>
            <a:ext cx="34107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MVP tiga bulan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357615" y="1636776"/>
            <a:ext cx="3374137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8321040" y="1719072"/>
          <a:ext cx="3410711" cy="15361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45269"/>
                <a:gridCol w="276544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Bulan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Fokus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Fondasi dan integrasi data baca-saja dengan ERP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Enam agen prioritas dibangun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Integrasi, percontohan 2–3 proyek, go-live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Rectangle 35"/>
          <p:cNvSpPr/>
          <p:nvPr/>
        </p:nvSpPr>
        <p:spPr>
          <a:xfrm>
            <a:off x="8321040" y="3429000"/>
            <a:ext cx="1645920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21040" y="342900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58200" y="3465576"/>
            <a:ext cx="146304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251FF"/>
                </a:solidFill>
                <a:latin typeface="Arial"/>
              </a:rPr>
              <a:t>14 + 6–8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3729736"/>
            <a:ext cx="1463040" cy="54965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tim teknis + pakar bisnis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85832" y="3429000"/>
            <a:ext cx="1645920" cy="8686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85832" y="3429000"/>
            <a:ext cx="64008" cy="8686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22992" y="3465576"/>
            <a:ext cx="146304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251FF"/>
                </a:solidFill>
                <a:latin typeface="Arial"/>
              </a:rPr>
              <a:t>≈ Hari 120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22992" y="3729736"/>
            <a:ext cx="1463040" cy="54965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percontohan beroperasi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434840"/>
            <a:ext cx="34107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Peningkatan skala: GPU per fase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357615" y="4700016"/>
            <a:ext cx="3374137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46" name="Chart 45"/>
          <p:cNvGraphicFramePr>
            <a:graphicFrameLocks noGrp="1"/>
          </p:cNvGraphicFramePr>
          <p:nvPr/>
        </p:nvGraphicFramePr>
        <p:xfrm>
          <a:off x="8229600" y="4709160"/>
          <a:ext cx="3566160" cy="1600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12 · AI MULTI-AGEN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Agen AI menjaga rantai kendali biaya dari estimasi sampai pembayaran, dengan otonomi bertingkat dan MVP tiga bulan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Rantai pengendalian yang ditegakkan agen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457200" y="1783080"/>
            <a:ext cx="1453895" cy="685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1453895" cy="6858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Estimasi biaya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947672" y="2052828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93976" y="1783080"/>
            <a:ext cx="1453895" cy="6858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3976" y="1783080"/>
            <a:ext cx="1453895" cy="6858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Anggaran WBS × PBS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584448" y="2052828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30752" y="1783080"/>
            <a:ext cx="1453895" cy="685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1783080"/>
            <a:ext cx="1453895" cy="6858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Komitmen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221224" y="2052828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67527" y="1783080"/>
            <a:ext cx="1453895" cy="6858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67527" y="1783080"/>
            <a:ext cx="1453895" cy="6858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PR: cek anggaran, kuantitas, waktu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857999" y="2052828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04303" y="1783080"/>
            <a:ext cx="1453895" cy="685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04303" y="1783080"/>
            <a:ext cx="1453895" cy="6858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PO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494776" y="2052828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41080" y="1783080"/>
            <a:ext cx="1453895" cy="6858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1783080"/>
            <a:ext cx="1453895" cy="6858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Three-way match PO = GR = faktur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131551" y="2052828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277855" y="1783080"/>
            <a:ext cx="1453895" cy="685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77855" y="1783080"/>
            <a:ext cx="1453895" cy="68580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Bayar dan tagih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743200"/>
            <a:ext cx="384048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Tangga otonomi agen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93776" y="3008376"/>
            <a:ext cx="380390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1" name="Rectangle 30"/>
          <p:cNvSpPr/>
          <p:nvPr/>
        </p:nvSpPr>
        <p:spPr>
          <a:xfrm>
            <a:off x="457200" y="4114800"/>
            <a:ext cx="914400" cy="45720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114800"/>
            <a:ext cx="914400" cy="4572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000000"/>
                </a:solidFill>
                <a:latin typeface="Arial"/>
              </a:rPr>
              <a:t>L0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590288"/>
            <a:ext cx="1005840" cy="4572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Informasikan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17320" y="3840480"/>
            <a:ext cx="914400" cy="7315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17320" y="3840480"/>
            <a:ext cx="914400" cy="7315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L1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590288"/>
            <a:ext cx="1005840" cy="4572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Rekomendasikan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77440" y="3566160"/>
            <a:ext cx="914400" cy="10058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77440" y="3566160"/>
            <a:ext cx="914400" cy="10058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L2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4590288"/>
            <a:ext cx="1005840" cy="4572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Siapkan draf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37560" y="3291840"/>
            <a:ext cx="914400" cy="128016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37560" y="3291840"/>
            <a:ext cx="914400" cy="12801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L3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4590288"/>
            <a:ext cx="1005840" cy="45720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Laksanakan dalam batas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074920"/>
            <a:ext cx="384048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Keputusan material tetap disetujui manusia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2743200"/>
            <a:ext cx="3657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MVP tiga bulan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608576" y="3008376"/>
            <a:ext cx="36210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46" name="Rectangle 45"/>
          <p:cNvSpPr/>
          <p:nvPr/>
        </p:nvSpPr>
        <p:spPr>
          <a:xfrm>
            <a:off x="4572000" y="3154680"/>
            <a:ext cx="1170432" cy="36576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0" y="3154680"/>
            <a:ext cx="1170432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Bln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3566160"/>
            <a:ext cx="1170432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Fondasi data, ERP baca-saja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06440" y="3154680"/>
            <a:ext cx="1170432" cy="36576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06440" y="3154680"/>
            <a:ext cx="1170432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Bln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06440" y="3566160"/>
            <a:ext cx="1170432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Enam agen prioritas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40880" y="3154680"/>
            <a:ext cx="1170432" cy="36576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40880" y="3154680"/>
            <a:ext cx="1170432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Bln 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0" y="3566160"/>
            <a:ext cx="1170432" cy="7315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Integrasi, percontohan, go-live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0" y="4343400"/>
            <a:ext cx="1783080" cy="105156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2000" y="4343400"/>
            <a:ext cx="64008" cy="105156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09160" y="4379976"/>
            <a:ext cx="160020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251FF"/>
                </a:solidFill>
                <a:latin typeface="Arial"/>
              </a:rPr>
              <a:t>14 + 6–8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09160" y="4644136"/>
            <a:ext cx="1600200" cy="73253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tim teknis + pakar bisnis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4343400"/>
            <a:ext cx="1783080" cy="105156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46520" y="4343400"/>
            <a:ext cx="64008" cy="105156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0" y="4379976"/>
            <a:ext cx="160020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251FF"/>
                </a:solidFill>
                <a:latin typeface="Arial"/>
              </a:rPr>
              <a:t>≈ Hari 120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0" y="4644136"/>
            <a:ext cx="1600200" cy="73253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percontohan beroperasi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03920" y="2743200"/>
            <a:ext cx="322783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GPU per fase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8540496" y="3008376"/>
            <a:ext cx="319125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65" name="Rectangle 64"/>
          <p:cNvSpPr/>
          <p:nvPr/>
        </p:nvSpPr>
        <p:spPr>
          <a:xfrm>
            <a:off x="8686800" y="4229100"/>
            <a:ext cx="640080" cy="34290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95360" y="4009644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77072" y="4599432"/>
            <a:ext cx="859536" cy="3657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F1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646920" y="3886200"/>
            <a:ext cx="640080" cy="685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55480" y="3666744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37192" y="4599432"/>
            <a:ext cx="859536" cy="3657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F2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607040" y="3200400"/>
            <a:ext cx="640080" cy="13716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515600" y="2980944"/>
            <a:ext cx="822959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497312" y="4599432"/>
            <a:ext cx="859536" cy="3657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F3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03920" y="4983480"/>
            <a:ext cx="3227832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 BUMN → 2–3 BUMN → seluruh Karya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5486400"/>
            <a:ext cx="3840480" cy="7772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57200" y="5486400"/>
            <a:ext cx="64008" cy="7772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94360" y="5522976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251FF"/>
                </a:solidFill>
                <a:latin typeface="Arial"/>
              </a:rPr>
              <a:t>Rp0,55 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4360" y="5787136"/>
            <a:ext cx="3657600" cy="45821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piutang dilepas bila DSO turun 10 hari (Rp20 T × 10/365 × 10%)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0" y="5532120"/>
            <a:ext cx="7159752" cy="7315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0" y="5532120"/>
            <a:ext cx="7159752" cy="73152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Enam agen: risiko portofolio · bid/no-bid · estimasi biaya · piutang dan pembayaran · jadwal dan kemajuan · pengadaan dan pemasok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13 · TATA KELOLA, ORGANISASI, DAN HAK KEPUTUSAN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Mulai dengan unit Industri Strategis (NITO) di tingkat BPI, dan putuskan posisi formal berdasarkan bukti terukur, bukan sebaliknya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13 (D2, D3). Waktu penyelesaian hambatan adalah target internal, bukan tenggat hukum; persetujuan tidak pernah otomatis.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8521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Empat opsi organisasi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58155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19072"/>
          <a:ext cx="5852160" cy="2514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7360"/>
                <a:gridCol w="2743200"/>
                <a:gridCol w="13716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Opsi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Inti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Penilaian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A  Perkuat CTO dan DDMF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Cepat; memakai fungsi ada; terbatas pada proyek pengembangan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Pelengkap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251FF"/>
                          </a:solidFill>
                          <a:latin typeface="Arial"/>
                        </a:rPr>
                        <a:t>B  Unit Industri Strategis di BPI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51FF"/>
                          </a:solidFill>
                          <a:latin typeface="Arial"/>
                        </a:rPr>
                        <a:t>Mengintegrasikan 40 proyek lintas lini; satu pemilik portofolio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251FF"/>
                          </a:solidFill>
                          <a:latin typeface="Arial"/>
                        </a:rPr>
                        <a:t>Didahulukan; uji 90 hari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C  Wakil Kepala formal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Koordinasi senior; perlu kepastian hukum jabatan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Tinjau bulan ke-12+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D  Holding/badan baru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Untuk kepemilikan platform khusus; pengalihan aset rumit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Hanya bila kriteria terpenuhi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389120"/>
            <a:ext cx="58521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Struktur unit (penugasan awal)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776" y="4654296"/>
            <a:ext cx="58155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2" name="Rectangle 11"/>
          <p:cNvSpPr/>
          <p:nvPr/>
        </p:nvSpPr>
        <p:spPr>
          <a:xfrm>
            <a:off x="457200" y="4709160"/>
            <a:ext cx="5852160" cy="4572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5852160" cy="45720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Kepala Industri Strategis dan Pelaksanaan Proyek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230368"/>
            <a:ext cx="1883664" cy="50292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230368"/>
            <a:ext cx="1883664" cy="5029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MD Portofolio dan Pelaksanaan Proyek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41448" y="5230368"/>
            <a:ext cx="1883664" cy="50292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41448" y="5230368"/>
            <a:ext cx="1883664" cy="5029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MD Pengembangan Industri Strategis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25696" y="5230368"/>
            <a:ext cx="1883664" cy="50292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5696" y="5230368"/>
            <a:ext cx="1883664" cy="5029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MD Rekayasa dan Pelaksanaan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97296"/>
            <a:ext cx="5852160" cy="36576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797296"/>
            <a:ext cx="5852160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Empat pimpinan klaster: mineral · energi/infra · pertahanan/maritim · manufaktur lain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371600"/>
            <a:ext cx="514807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Hak keputusan: unit menyiapkan, organ berwenang memutuskan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20256" y="1636776"/>
            <a:ext cx="511149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583680" y="1719072"/>
          <a:ext cx="5148071" cy="24140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70877"/>
                <a:gridCol w="1838597"/>
                <a:gridCol w="1838597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Keputusan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Pemutus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Peran unit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Prioritas portofolio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Kepala Badan Pelaksana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Integrasi, tunjukkan konflik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Investasi perusahaan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Direksi/RUPS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Uji kesiapan; bukan persetujuan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Pinjaman/agunan BPI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Presiden + Dewan Pengawas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Siapkan paket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Kontrak konstruksi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Organ perusahaan pelaksana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Kaji; direktur proyek mengendalikan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HKI dan standar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Perjanjian; otoritas negara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Rundingkan strategi HKI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583680" y="4297680"/>
            <a:ext cx="514807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Penyelesaian hambatan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20256" y="4562856"/>
            <a:ext cx="511149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6583680" y="4645152"/>
            <a:ext cx="1149857" cy="56692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645152"/>
            <a:ext cx="1149857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Triase 2 hari kerja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770113" y="4855464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16418" y="4645152"/>
            <a:ext cx="1149857" cy="566928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6418" y="4645152"/>
            <a:ext cx="1149857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Rencana 5 hari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102852" y="4855464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49156" y="4645152"/>
            <a:ext cx="1149857" cy="56692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49156" y="4645152"/>
            <a:ext cx="1149857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Kajian lengkap 15 hari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0435590" y="4855464"/>
            <a:ext cx="109728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581894" y="4645152"/>
            <a:ext cx="1149857" cy="566928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81894" y="4645152"/>
            <a:ext cx="1149857" cy="566928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Eskalasi ke Kepala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321808"/>
            <a:ext cx="5148072" cy="9601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PP 19/2026 tidak membentuk jabatan Wakil Kepala; pengangkatan anggota oleh Presiden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Risiko, Hukum, dan Audit tidak melapor kepada pengusul proyek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Pelajaran: SASAC/SDIC, Vietnam CMSC (dibubarkan 2025), India PRAGATI, Khazanah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13 · TATA KELOLA DAN ORGANISASI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Semakin formal posisinya, semakin besar perubahan hukum yang dibutuhkan; karena itu mulai dari unit dan putuskan berdasarkan bukti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8521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Empat desain, makin besar beban hukum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58155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457200" y="3657599"/>
            <a:ext cx="1371600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657599"/>
            <a:ext cx="1371600" cy="5486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251960"/>
            <a:ext cx="1463040" cy="8229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Unit dengan pimpinan profesional</a:t>
            </a:r>
          </a:p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Peraturan Kepala, piagam unit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3200399"/>
            <a:ext cx="1371600" cy="10058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3200399"/>
            <a:ext cx="1371600" cy="10058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20" y="4251960"/>
            <a:ext cx="1463040" cy="8229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Anggota Badan Pelaksana bidang industri</a:t>
            </a:r>
          </a:p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Pasal 14, pengangkatan Presiden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743199"/>
            <a:ext cx="1371600" cy="146304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743199"/>
            <a:ext cx="1371600" cy="14630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4251960"/>
            <a:ext cx="1463040" cy="8229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Wakil Kepala formal</a:t>
            </a:r>
          </a:p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Harmonisasi Pasal 12–18; 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285999"/>
            <a:ext cx="1371600" cy="19202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285999"/>
            <a:ext cx="1371600" cy="19202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251960"/>
            <a:ext cx="1463040" cy="82296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51C5C"/>
                </a:solidFill>
                <a:latin typeface="Arial"/>
              </a:rPr>
              <a:t>Holding baru</a:t>
            </a:r>
          </a:p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Persetujuan Presiden; Pasal 29B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20640"/>
            <a:ext cx="58521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Langkah pertama: desain 1, diuji 90 hari; tinjau jabatan formal bulan ke-12+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371600"/>
            <a:ext cx="514807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Penyelesaian hambatan (target internal)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20256" y="1636776"/>
            <a:ext cx="511149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4" name="Rectangle 23"/>
          <p:cNvSpPr/>
          <p:nvPr/>
        </p:nvSpPr>
        <p:spPr>
          <a:xfrm>
            <a:off x="6583680" y="1783080"/>
            <a:ext cx="822960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783080"/>
            <a:ext cx="822960" cy="5486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1783080"/>
            <a:ext cx="3017520" cy="5486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51C5C"/>
                </a:solidFill>
                <a:latin typeface="Arial"/>
              </a:rPr>
              <a:t>hari kerja · triase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423160"/>
            <a:ext cx="1143000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423160"/>
            <a:ext cx="1143000" cy="5486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19" y="2423160"/>
            <a:ext cx="3017520" cy="5486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51C5C"/>
                </a:solidFill>
                <a:latin typeface="Arial"/>
              </a:rPr>
              <a:t>hari · rencana penanganan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063239"/>
            <a:ext cx="1463040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3063239"/>
            <a:ext cx="1463040" cy="5486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59" y="3063239"/>
            <a:ext cx="3017520" cy="5486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51C5C"/>
                </a:solidFill>
                <a:latin typeface="Arial"/>
              </a:rPr>
              <a:t>hari · kajian lengkap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3703320"/>
            <a:ext cx="1783079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3703320"/>
            <a:ext cx="1783079" cy="5486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3703320"/>
            <a:ext cx="3017520" cy="5486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51C5C"/>
                </a:solidFill>
                <a:latin typeface="Arial"/>
              </a:rPr>
              <a:t>hari · eskalasi bila lintas lini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434840"/>
            <a:ext cx="514807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Independensi yang dijaga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620256" y="4700016"/>
            <a:ext cx="511149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8" name="Rectangle 37"/>
          <p:cNvSpPr/>
          <p:nvPr/>
        </p:nvSpPr>
        <p:spPr>
          <a:xfrm>
            <a:off x="6583680" y="4800600"/>
            <a:ext cx="1673352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4800600"/>
            <a:ext cx="1673352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Risiko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4800600"/>
            <a:ext cx="1673352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4800600"/>
            <a:ext cx="1673352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Hukum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00" y="4800600"/>
            <a:ext cx="1673352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0" y="4800600"/>
            <a:ext cx="1673352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Audit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394960"/>
            <a:ext cx="5148072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tidak melapor secara substantif kepada pengusul proyek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486400"/>
            <a:ext cx="58521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Pelajaran negara lain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93776" y="5751576"/>
            <a:ext cx="58155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47" name="Rectangle 46"/>
          <p:cNvSpPr/>
          <p:nvPr/>
        </p:nvSpPr>
        <p:spPr>
          <a:xfrm>
            <a:off x="457200" y="5852160"/>
            <a:ext cx="1417320" cy="4572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5852160"/>
            <a:ext cx="1417320" cy="45720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Tiongkok: SASAC/SDIC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20240" y="5852160"/>
            <a:ext cx="1417320" cy="4572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20240" y="5852160"/>
            <a:ext cx="1417320" cy="45720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Vietnam: CMSC bubar 2025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83280" y="5852160"/>
            <a:ext cx="1417320" cy="4572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83280" y="5852160"/>
            <a:ext cx="1417320" cy="45720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India: PRAGATI, NIIF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46320" y="5852160"/>
            <a:ext cx="1417320" cy="45720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46320" y="5852160"/>
            <a:ext cx="1417320" cy="45720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Malaysia: Khazanah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14 · MANAJEMEN DAN PENGUKURAN KINERJA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Tiga scorecard (40/35/25) dengan gerbang tata kelola, ditambah indikator kapabilitas platform, pemisahan lima tahap modal, dan pengendalian penghitungan ganda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14 (D1, D7, D10–D13). Bobot 40/35/25 mencerminkan ketersediaan data awal; jalur transisi perlu diterbitkan.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1148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Tiga scorecard + gerbang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40782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45920"/>
          <a:ext cx="4297680" cy="1737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429000"/>
            <a:ext cx="4114800" cy="1463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Gerbang tata kelola (6 pengendalian): lulus/gagal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Skor 0/80/100 dengan interpolasi; cakupan ≥ 80% per aliran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Tidak tersedia = NR, bukan nol; hanya bukti kelas A/B dinilai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Belum ada skor agregat saat 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41148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Lima tahap modal, dilaporkan terpisah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3776" y="5111496"/>
            <a:ext cx="40782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457200" y="5212080"/>
            <a:ext cx="705916" cy="59436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212080"/>
            <a:ext cx="705916" cy="59436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Dihimpun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199692" y="5436108"/>
            <a:ext cx="73152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09420" y="5212080"/>
            <a:ext cx="705916" cy="59436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09420" y="5212080"/>
            <a:ext cx="705916" cy="59436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Komit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051913" y="5436108"/>
            <a:ext cx="73152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61641" y="5212080"/>
            <a:ext cx="705916" cy="59436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61641" y="5212080"/>
            <a:ext cx="705916" cy="59436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Cair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904134" y="5436108"/>
            <a:ext cx="73152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13862" y="5212080"/>
            <a:ext cx="705916" cy="59436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3862" y="5212080"/>
            <a:ext cx="705916" cy="59436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Bangun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756355" y="5436108"/>
            <a:ext cx="73152" cy="146304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66083" y="5212080"/>
            <a:ext cx="705916" cy="59436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66083" y="5212080"/>
            <a:ext cx="705916" cy="594360"/>
          </a:xfrm>
          <a:prstGeom prst="rect">
            <a:avLst/>
          </a:prstGeom>
          <a:noFill/>
        </p:spPr>
        <p:txBody>
          <a:bodyPr wrap="square" lIns="36576" rIns="36576" tIns="27432" bIns="27432" anchor="ctr"/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Operasi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852160"/>
            <a:ext cx="4114800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Menghimpun dana dan belanja bukan laba; tahap lanjut tidak disimpulkan dari tahap awal.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1371600"/>
            <a:ext cx="338328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Indikator kapabilitas platform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882896" y="1636776"/>
            <a:ext cx="334670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4846320" y="1719072"/>
          <a:ext cx="3383280" cy="23042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54480"/>
                <a:gridCol w="1828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Indikator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Ukuran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Pemasok per gerbang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UKM Masuk–G4 dan perpindahan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Nilai tambah dalam negeri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Porsi pada paket jangkar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Produktivitas pemasok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Nilai tambah riil per FTE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Paritas biaya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Harga lokal / impor landed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Pesanan ulang dan ekspor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Di luar program asal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4846320" y="4114800"/>
            <a:ext cx="338328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Pengendalian penghitungan ganda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882896" y="4379976"/>
            <a:ext cx="334670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4846320" y="4434840"/>
            <a:ext cx="3383280" cy="18288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Jembatan NAV: awal + modal + hasil − distribusi = akhir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Eliminasi konsolidasi laba BUMN vs dividen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Pisahkan mobilisasi langsung (TPDM), berikutnya (PPDM), tidak langsung (PIM)</a:t>
            </a:r>
          </a:p>
          <a:p>
            <a:pPr algn="l" marL="146304" indent="-146304">
              <a:spcAft>
                <a:spcPts val="300"/>
              </a:spcAft>
              <a:buClr>
                <a:srgbClr val="2251FF"/>
              </a:buClr>
              <a:buChar char="•"/>
            </a:pPr>
            <a:r>
              <a:rPr sz="950" b="0" i="0">
                <a:solidFill>
                  <a:srgbClr val="000000"/>
                </a:solidFill>
                <a:latin typeface="Arial"/>
              </a:rPr>
              <a:t>Pekerjaan: rentang bawah-atas vs turunan-PDB, tanpa pengalihan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1371600"/>
            <a:ext cx="322783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Pemicu makro (di luar skor)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540496" y="1636776"/>
            <a:ext cx="319125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8503920" y="1719072"/>
          <a:ext cx="3227831" cy="268833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83356"/>
                <a:gridCol w="1844475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Indikator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Pemicu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Pertumbuhan PDB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&lt; 6% setelah 2027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ICOR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&gt; 5,0 pada 2028 (jalur ≈ 4,2)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Transaksi berjalan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&gt; 2,5% PDB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Inflasi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&gt; 3,5% bertahan; merah &gt; 4,0%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Pipeline penerus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Belum ada pada 2030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Identitas register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100% pada Hari ke-45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8503920" y="4572000"/>
            <a:ext cx="322783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15 KPI kepemimpinan, ritme lapor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540496" y="4837176"/>
            <a:ext cx="319125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8503920" y="4892040"/>
            <a:ext cx="3227832" cy="1371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00" b="0" i="0">
                <a:solidFill>
                  <a:srgbClr val="000000"/>
                </a:solidFill>
                <a:latin typeface="Arial"/>
              </a:rPr>
              <a:t>Contoh: mutu register, waktu keputusan, cakupan bukti ≥ 80%, pemasok ≥ G2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00" b="0" i="0">
                <a:solidFill>
                  <a:srgbClr val="000000"/>
                </a:solidFill>
                <a:latin typeface="Arial"/>
              </a:rPr>
              <a:t>Bulanan: likuiditas, konstruksi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00" b="0" i="0">
                <a:solidFill>
                  <a:srgbClr val="000000"/>
                </a:solidFill>
                <a:latin typeface="Arial"/>
              </a:rPr>
              <a:t>Triwulanan: imbal hasil, gerbang DOCK-UP</a:t>
            </a:r>
          </a:p>
          <a:p>
            <a:pPr algn="l" marL="146304" indent="-146304">
              <a:spcAft>
                <a:spcPts val="200"/>
              </a:spcAft>
              <a:buClr>
                <a:srgbClr val="2251FF"/>
              </a:buClr>
              <a:buChar char="•"/>
            </a:pPr>
            <a:r>
              <a:rPr sz="900" b="0" i="0">
                <a:solidFill>
                  <a:srgbClr val="000000"/>
                </a:solidFill>
                <a:latin typeface="Arial"/>
              </a:rPr>
              <a:t>Tahunan: laporan teraudit dan portofolio publik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14 · MANAJEMEN KINERJA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Skor dihitung dari jangkar buruk, target, dan stretch; gerbang tata kelola dan 15 KPI memastikan angka yang dilaporkan dapat dipercaya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84048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Skala skor setiap metrik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380390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822959" y="2560320"/>
            <a:ext cx="1280161" cy="1280160"/>
          </a:xfrm>
          <a:prstGeom prst="line">
            <a:avLst/>
          </a:prstGeom>
          <a:ln w="38100">
            <a:solidFill>
              <a:srgbClr val="2251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103120" y="2103120"/>
            <a:ext cx="1371600" cy="457200"/>
          </a:xfrm>
          <a:prstGeom prst="line">
            <a:avLst/>
          </a:prstGeom>
          <a:ln w="38100">
            <a:solidFill>
              <a:srgbClr val="2251FF"/>
            </a:solidFill>
          </a:ln>
        </p:spPr>
      </p:cxnSp>
      <p:sp>
        <p:nvSpPr>
          <p:cNvPr id="11" name="Oval 10"/>
          <p:cNvSpPr/>
          <p:nvPr/>
        </p:nvSpPr>
        <p:spPr>
          <a:xfrm>
            <a:off x="640080" y="3657600"/>
            <a:ext cx="365760" cy="36576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59" y="4160520"/>
            <a:ext cx="914400" cy="27432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jangkar buruk</a:t>
            </a:r>
          </a:p>
        </p:txBody>
      </p:sp>
      <p:sp>
        <p:nvSpPr>
          <p:cNvPr id="14" name="Oval 13"/>
          <p:cNvSpPr/>
          <p:nvPr/>
        </p:nvSpPr>
        <p:spPr>
          <a:xfrm>
            <a:off x="1920240" y="2377439"/>
            <a:ext cx="365760" cy="36576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2377439"/>
            <a:ext cx="36576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160520"/>
            <a:ext cx="914400" cy="27432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target</a:t>
            </a:r>
          </a:p>
        </p:txBody>
      </p:sp>
      <p:sp>
        <p:nvSpPr>
          <p:cNvPr id="17" name="Oval 16"/>
          <p:cNvSpPr/>
          <p:nvPr/>
        </p:nvSpPr>
        <p:spPr>
          <a:xfrm>
            <a:off x="3291840" y="1920239"/>
            <a:ext cx="365760" cy="36576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1920239"/>
            <a:ext cx="36576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160520"/>
            <a:ext cx="914400" cy="274320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stretch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26280"/>
            <a:ext cx="3840480" cy="5486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Interpolasi linear dibatasi 0–100; NR bukan nol; cakupan ≥ 80% sebelum skor komposit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1371600"/>
            <a:ext cx="347472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Pemicu inflasi dan makro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08576" y="1636776"/>
            <a:ext cx="343814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23" name="Rectangle 22"/>
          <p:cNvSpPr/>
          <p:nvPr/>
        </p:nvSpPr>
        <p:spPr>
          <a:xfrm>
            <a:off x="4572000" y="1783080"/>
            <a:ext cx="109728" cy="493776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1783080"/>
            <a:ext cx="3291840" cy="49377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PDB riil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251FF"/>
                </a:solidFill>
                <a:latin typeface="Arial"/>
              </a:rPr>
              <a:t>&lt; 6% setelah 2027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2350008"/>
            <a:ext cx="109728" cy="493776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2350008"/>
            <a:ext cx="3291840" cy="49377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ICOR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251FF"/>
                </a:solidFill>
                <a:latin typeface="Arial"/>
              </a:rPr>
              <a:t>&gt; 5,0 pada 2028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916936"/>
            <a:ext cx="109728" cy="493776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2916936"/>
            <a:ext cx="3291840" cy="49377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Transaksi berjalan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251FF"/>
                </a:solidFill>
                <a:latin typeface="Arial"/>
              </a:rPr>
              <a:t>&gt; 2,5% PDB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3483863"/>
            <a:ext cx="109728" cy="493776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3483863"/>
            <a:ext cx="3291840" cy="49377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Inflasi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251FF"/>
                </a:solidFill>
                <a:latin typeface="Arial"/>
              </a:rPr>
              <a:t>&gt; 3,5% bertahan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4050791"/>
            <a:ext cx="109728" cy="493776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4050791"/>
            <a:ext cx="3291840" cy="49377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Pipeline penerus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251FF"/>
                </a:solidFill>
                <a:latin typeface="Arial"/>
              </a:rPr>
              <a:t>belum ada 2030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1371600"/>
            <a:ext cx="341071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Lima tahap modal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357615" y="1636776"/>
            <a:ext cx="3374137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8321040" y="1783080"/>
            <a:ext cx="1364284" cy="475488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1783080"/>
            <a:ext cx="1364284" cy="475488"/>
          </a:xfrm>
          <a:prstGeom prst="rect">
            <a:avLst/>
          </a:prstGeom>
          <a:noFill/>
        </p:spPr>
        <p:txBody>
          <a:bodyPr wrap="square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Dihimpun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2331720"/>
            <a:ext cx="1875891" cy="475488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2331720"/>
            <a:ext cx="1875891" cy="475488"/>
          </a:xfrm>
          <a:prstGeom prst="rect">
            <a:avLst/>
          </a:prstGeom>
          <a:noFill/>
        </p:spPr>
        <p:txBody>
          <a:bodyPr wrap="square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Dikomitmenkan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2880360"/>
            <a:ext cx="2387498" cy="47548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2880360"/>
            <a:ext cx="2387498" cy="475488"/>
          </a:xfrm>
          <a:prstGeom prst="rect">
            <a:avLst/>
          </a:prstGeom>
          <a:noFill/>
        </p:spPr>
        <p:txBody>
          <a:bodyPr wrap="square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Dicairkan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3429000"/>
            <a:ext cx="2899105" cy="47548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3429000"/>
            <a:ext cx="2899105" cy="475488"/>
          </a:xfrm>
          <a:prstGeom prst="rect">
            <a:avLst/>
          </a:prstGeom>
          <a:noFill/>
        </p:spPr>
        <p:txBody>
          <a:bodyPr wrap="square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Terbangun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3977639"/>
            <a:ext cx="3410712" cy="475488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3977639"/>
            <a:ext cx="3410712" cy="475488"/>
          </a:xfrm>
          <a:prstGeom prst="rect">
            <a:avLst/>
          </a:prstGeom>
          <a:noFill/>
        </p:spPr>
        <p:txBody>
          <a:bodyPr wrap="square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Beroperasi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12064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Lima belas KPI kepemimpinan, dikelompokkan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93776" y="538581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47" name="Rectangle 46"/>
          <p:cNvSpPr/>
          <p:nvPr/>
        </p:nvSpPr>
        <p:spPr>
          <a:xfrm>
            <a:off x="475488" y="5486400"/>
            <a:ext cx="2969971" cy="7772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" y="5486400"/>
            <a:ext cx="2969971" cy="7772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Data dan keputusan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KPI 1–4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82035" y="5486400"/>
            <a:ext cx="2218334" cy="7772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82035" y="5486400"/>
            <a:ext cx="2218334" cy="7772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Investasi dan BUMN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KPI 5–7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36945" y="5486400"/>
            <a:ext cx="4473244" cy="7772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36945" y="5486400"/>
            <a:ext cx="4473244" cy="7772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Pembangunan dan industri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KPI 8–13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246766" y="5486400"/>
            <a:ext cx="1466697" cy="7772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46766" y="5486400"/>
            <a:ext cx="1466697" cy="77724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Pembiayaan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KPI 14–15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15 · RISIKO UTAMA DAN MITIGASINYA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Dari 24 risiko, 16 berdampak tinggi; tiga paling mendesak (kemungkinan dan dampak tinggi) adalah valuasi berlebih, penularan BUMN Karya, dan register tak teruji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15, Tabel 53–54. Peringkat kualitatif atas kemungkinan (K) dan dampak (D) dalam 24 bulan; nomor risiko merujuk Tabel 53.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4805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Peta risiko: nomor risiko per sel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444398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1325880" y="1691640"/>
            <a:ext cx="1188720" cy="228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Dampak rendah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691640"/>
            <a:ext cx="1188720" cy="228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Dampak sedang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691640"/>
            <a:ext cx="1188720" cy="2286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Dampak tinggi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57400"/>
            <a:ext cx="86868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Kemungk.
tinggi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86868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Kemungk.
sedang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43400"/>
            <a:ext cx="86868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51C5C"/>
                </a:solidFill>
                <a:latin typeface="Arial"/>
              </a:rPr>
              <a:t>Kemungk.
rendah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21607" y="2075688"/>
            <a:ext cx="1152144" cy="1106424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21607" y="2075688"/>
            <a:ext cx="1152144" cy="11064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6 · 9 · 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32888" y="2075688"/>
            <a:ext cx="1152144" cy="110642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32888" y="2075688"/>
            <a:ext cx="1152144" cy="11064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13 · 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44168" y="2075688"/>
            <a:ext cx="1152144" cy="110642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44168" y="2075688"/>
            <a:ext cx="1152144" cy="11064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21607" y="3218688"/>
            <a:ext cx="1152144" cy="110642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7" y="3218688"/>
            <a:ext cx="1152144" cy="11064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 · 3 · 4 · 5 · 12 · 15 · 16 · 18 · 20 · 21 · 22 · 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32888" y="3218688"/>
            <a:ext cx="1152144" cy="1106424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32888" y="3218688"/>
            <a:ext cx="1152144" cy="11064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2 · 7 · 10 · 11 · 17 · 19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44168" y="3218688"/>
            <a:ext cx="1152144" cy="110642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4168" y="3218688"/>
            <a:ext cx="1152144" cy="11064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21607" y="4361688"/>
            <a:ext cx="1152144" cy="1106424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21607" y="4361688"/>
            <a:ext cx="1152144" cy="11064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32888" y="4361688"/>
            <a:ext cx="1152144" cy="110642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32888" y="4361688"/>
            <a:ext cx="1152144" cy="11064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44168" y="4361688"/>
            <a:ext cx="1152144" cy="1106424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44168" y="4361688"/>
            <a:ext cx="1152144" cy="1106424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577840"/>
            <a:ext cx="4480560" cy="6858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2251FF"/>
                </a:solidFill>
                <a:latin typeface="Arial"/>
              </a:rPr>
              <a:t>Isu lintas risiko: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risiko 1 (kuota alih-alih gerbang), 3 (dominasi pengusul), dan 18 (integritas DOCK-UP) dikendalikan oleh gerbang dan independensi fungsi risiko, hukum, audit.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1371600"/>
            <a:ext cx="651967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Risiko dengan dampak tinggi dan pengendalian utama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248656" y="1636776"/>
            <a:ext cx="648309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212080" y="1719072"/>
          <a:ext cx="6519670" cy="45079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13218"/>
                <a:gridCol w="2387485"/>
                <a:gridCol w="3213922"/>
                <a:gridCol w="505045"/>
              </a:tblGrid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Risiko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Mitigasi utama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K/D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Valuasi dilebih-lebihkan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Hanya cadangan terbukti + terkira; penilai independen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T/T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Penularan BUMN Karya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Uji stres grup; pisahkan aset warisan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T/T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Register 40 proyek tak teruji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Rencana bukti 90 hari; identitas 100%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T/T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Kuota alih-alih gerbang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Gerbang dalam kontrak; asesor independen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Dominasi pengusul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Lini risiko/hukum independen; dissent dicatat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Kewajiban fiskal tersembunyi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Klasifikasi berbasis substansi; register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Gugatan hak SDA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Kajian hukum sebelum penerbitan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Penyalahgunaan label strategis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Kriteria masuk; disiplin exit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Peringkat negara dan ruang fiskal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Dialog dini dengan Kemenkeu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Tumpang tindih mandat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Surat mandat; pisahkan pemilik–pengelola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Integritas DOCK-UP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Asesor independen, rotasi, jejak audit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Penurunan investasi 2032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Pipeline penerus; perpanjang linimasa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Tekanan impor, transaksi berjalan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Pemicu 2,5% PDB; jadwal ulang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Inflasi dari NRF/puncak konstruksi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Pemantau; pengaman dalam piagam NRF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Paksa bank BUMN biayai greenfield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Portofolio ganda; SPV ring-fenced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S/T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Teknologi dan siber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Audit independen; HSM; ledger cadangan fiat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R/T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15 · RISIKO UTAMA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Kedua puluh empat risiko dikelompokkan menurut sumbernya; risiko tertinggi bertumpu pada data, fiskal, dan penularan BUMN Karya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35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377440" cy="65836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73152" cy="65836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2194560" cy="65836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51C5C"/>
                </a:solidFill>
                <a:latin typeface="Arial"/>
              </a:rPr>
              <a:t>Tata kelola dan kelembagaan</a:t>
            </a:r>
          </a:p>
        </p:txBody>
      </p:sp>
      <p:sp>
        <p:nvSpPr>
          <p:cNvPr id="10" name="Oval 9"/>
          <p:cNvSpPr/>
          <p:nvPr/>
        </p:nvSpPr>
        <p:spPr>
          <a:xfrm>
            <a:off x="3017520" y="1472184"/>
            <a:ext cx="548640" cy="548640"/>
          </a:xfrm>
          <a:prstGeom prst="ellipse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47218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3730752" y="1472184"/>
            <a:ext cx="548640" cy="54864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147218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4443983" y="1472184"/>
            <a:ext cx="548640" cy="54864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3" y="147218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16" name="Oval 15"/>
          <p:cNvSpPr/>
          <p:nvPr/>
        </p:nvSpPr>
        <p:spPr>
          <a:xfrm>
            <a:off x="5157216" y="1472184"/>
            <a:ext cx="548640" cy="54864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7216" y="147218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18" name="Oval 17"/>
          <p:cNvSpPr/>
          <p:nvPr/>
        </p:nvSpPr>
        <p:spPr>
          <a:xfrm>
            <a:off x="5870448" y="1472184"/>
            <a:ext cx="548640" cy="548640"/>
          </a:xfrm>
          <a:prstGeom prst="ellipse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0448" y="147218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17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1472184"/>
            <a:ext cx="548640" cy="54864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47218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194560"/>
            <a:ext cx="2377440" cy="65836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194560"/>
            <a:ext cx="73152" cy="65836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194560"/>
            <a:ext cx="2194560" cy="65836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51C5C"/>
                </a:solidFill>
                <a:latin typeface="Arial"/>
              </a:rPr>
              <a:t>Fiskal dan hukum</a:t>
            </a:r>
          </a:p>
        </p:txBody>
      </p:sp>
      <p:sp>
        <p:nvSpPr>
          <p:cNvPr id="25" name="Oval 24"/>
          <p:cNvSpPr/>
          <p:nvPr/>
        </p:nvSpPr>
        <p:spPr>
          <a:xfrm>
            <a:off x="3017520" y="2249424"/>
            <a:ext cx="548640" cy="54864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224942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Oval 26"/>
          <p:cNvSpPr/>
          <p:nvPr/>
        </p:nvSpPr>
        <p:spPr>
          <a:xfrm>
            <a:off x="3730752" y="2249424"/>
            <a:ext cx="548640" cy="54864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30752" y="224942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Oval 28"/>
          <p:cNvSpPr/>
          <p:nvPr/>
        </p:nvSpPr>
        <p:spPr>
          <a:xfrm>
            <a:off x="4443983" y="2249424"/>
            <a:ext cx="548640" cy="54864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43983" y="224942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Oval 30"/>
          <p:cNvSpPr/>
          <p:nvPr/>
        </p:nvSpPr>
        <p:spPr>
          <a:xfrm>
            <a:off x="5157216" y="2249424"/>
            <a:ext cx="548640" cy="548640"/>
          </a:xfrm>
          <a:prstGeom prst="ellipse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57216" y="224942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33" name="Oval 32"/>
          <p:cNvSpPr/>
          <p:nvPr/>
        </p:nvSpPr>
        <p:spPr>
          <a:xfrm>
            <a:off x="5870448" y="2249424"/>
            <a:ext cx="548640" cy="54864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70448" y="224942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971800"/>
            <a:ext cx="2377440" cy="65836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2971800"/>
            <a:ext cx="73152" cy="65836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2971800"/>
            <a:ext cx="2194560" cy="65836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51C5C"/>
                </a:solidFill>
                <a:latin typeface="Arial"/>
              </a:rPr>
              <a:t>Teknologi dan data</a:t>
            </a:r>
          </a:p>
        </p:txBody>
      </p:sp>
      <p:sp>
        <p:nvSpPr>
          <p:cNvPr id="38" name="Oval 37"/>
          <p:cNvSpPr/>
          <p:nvPr/>
        </p:nvSpPr>
        <p:spPr>
          <a:xfrm>
            <a:off x="3017520" y="3026664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17520" y="302666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40" name="Oval 39"/>
          <p:cNvSpPr/>
          <p:nvPr/>
        </p:nvSpPr>
        <p:spPr>
          <a:xfrm>
            <a:off x="3017520" y="3026664"/>
            <a:ext cx="548640" cy="548640"/>
          </a:xfrm>
          <a:prstGeom prst="ellipse">
            <a:avLst/>
          </a:prstGeom>
          <a:noFill/>
          <a:ln w="19050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30752" y="3026664"/>
            <a:ext cx="548640" cy="548640"/>
          </a:xfrm>
          <a:prstGeom prst="ellipse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30752" y="302666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43" name="Oval 42"/>
          <p:cNvSpPr/>
          <p:nvPr/>
        </p:nvSpPr>
        <p:spPr>
          <a:xfrm>
            <a:off x="4443983" y="3026664"/>
            <a:ext cx="548640" cy="548640"/>
          </a:xfrm>
          <a:prstGeom prst="ellipse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43983" y="302666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11</a:t>
            </a:r>
          </a:p>
        </p:txBody>
      </p:sp>
      <p:sp>
        <p:nvSpPr>
          <p:cNvPr id="45" name="Oval 44"/>
          <p:cNvSpPr/>
          <p:nvPr/>
        </p:nvSpPr>
        <p:spPr>
          <a:xfrm>
            <a:off x="5157216" y="3026664"/>
            <a:ext cx="548640" cy="548640"/>
          </a:xfrm>
          <a:prstGeom prst="ellipse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57216" y="302666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13</a:t>
            </a:r>
          </a:p>
        </p:txBody>
      </p:sp>
      <p:sp>
        <p:nvSpPr>
          <p:cNvPr id="47" name="Oval 46"/>
          <p:cNvSpPr/>
          <p:nvPr/>
        </p:nvSpPr>
        <p:spPr>
          <a:xfrm>
            <a:off x="5870448" y="3026664"/>
            <a:ext cx="548640" cy="54864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70448" y="302666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749039"/>
            <a:ext cx="2377440" cy="65836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" y="3749039"/>
            <a:ext cx="73152" cy="65836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3749039"/>
            <a:ext cx="2194560" cy="65836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51C5C"/>
                </a:solidFill>
                <a:latin typeface="Arial"/>
              </a:rPr>
              <a:t>Pelaksanaan dan sistemik</a:t>
            </a:r>
          </a:p>
        </p:txBody>
      </p:sp>
      <p:sp>
        <p:nvSpPr>
          <p:cNvPr id="52" name="Oval 51"/>
          <p:cNvSpPr/>
          <p:nvPr/>
        </p:nvSpPr>
        <p:spPr>
          <a:xfrm>
            <a:off x="3017520" y="3803903"/>
            <a:ext cx="548640" cy="54864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17520" y="3803903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4" name="Oval 53"/>
          <p:cNvSpPr/>
          <p:nvPr/>
        </p:nvSpPr>
        <p:spPr>
          <a:xfrm>
            <a:off x="3730752" y="3803903"/>
            <a:ext cx="548640" cy="54864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30752" y="3803903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6" name="Oval 55"/>
          <p:cNvSpPr/>
          <p:nvPr/>
        </p:nvSpPr>
        <p:spPr>
          <a:xfrm>
            <a:off x="4443983" y="3803903"/>
            <a:ext cx="548640" cy="548640"/>
          </a:xfrm>
          <a:prstGeom prst="ellipse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43983" y="3803903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58" name="Oval 57"/>
          <p:cNvSpPr/>
          <p:nvPr/>
        </p:nvSpPr>
        <p:spPr>
          <a:xfrm>
            <a:off x="5157216" y="3803903"/>
            <a:ext cx="548640" cy="548640"/>
          </a:xfrm>
          <a:prstGeom prst="ellipse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57216" y="3803903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0000"/>
                </a:solidFill>
                <a:latin typeface="Arial"/>
              </a:rPr>
              <a:t>19</a:t>
            </a:r>
          </a:p>
        </p:txBody>
      </p:sp>
      <p:sp>
        <p:nvSpPr>
          <p:cNvPr id="60" name="Oval 59"/>
          <p:cNvSpPr/>
          <p:nvPr/>
        </p:nvSpPr>
        <p:spPr>
          <a:xfrm>
            <a:off x="5870448" y="3803903"/>
            <a:ext cx="548640" cy="54864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70448" y="3803903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4526280"/>
            <a:ext cx="2377440" cy="65836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57200" y="4526280"/>
            <a:ext cx="73152" cy="658368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0" y="4526280"/>
            <a:ext cx="2194560" cy="658368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51C5C"/>
                </a:solidFill>
                <a:latin typeface="Arial"/>
              </a:rPr>
              <a:t>Makro dan pembiayaan</a:t>
            </a:r>
          </a:p>
        </p:txBody>
      </p:sp>
      <p:sp>
        <p:nvSpPr>
          <p:cNvPr id="65" name="Oval 64"/>
          <p:cNvSpPr/>
          <p:nvPr/>
        </p:nvSpPr>
        <p:spPr>
          <a:xfrm>
            <a:off x="3017520" y="4581144"/>
            <a:ext cx="548640" cy="54864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017520" y="458114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20</a:t>
            </a:r>
          </a:p>
        </p:txBody>
      </p:sp>
      <p:sp>
        <p:nvSpPr>
          <p:cNvPr id="67" name="Oval 66"/>
          <p:cNvSpPr/>
          <p:nvPr/>
        </p:nvSpPr>
        <p:spPr>
          <a:xfrm>
            <a:off x="3730752" y="4581144"/>
            <a:ext cx="548640" cy="54864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730752" y="458114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21</a:t>
            </a:r>
          </a:p>
        </p:txBody>
      </p:sp>
      <p:sp>
        <p:nvSpPr>
          <p:cNvPr id="69" name="Oval 68"/>
          <p:cNvSpPr/>
          <p:nvPr/>
        </p:nvSpPr>
        <p:spPr>
          <a:xfrm>
            <a:off x="4443983" y="4581144"/>
            <a:ext cx="548640" cy="54864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43983" y="4581144"/>
            <a:ext cx="548640" cy="54864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17520" y="5349240"/>
            <a:ext cx="54864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Legenda peringkat kemungkinan / dampak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3054096" y="5614416"/>
            <a:ext cx="54498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73" name="Oval 72"/>
          <p:cNvSpPr/>
          <p:nvPr/>
        </p:nvSpPr>
        <p:spPr>
          <a:xfrm>
            <a:off x="3017520" y="5760720"/>
            <a:ext cx="365760" cy="36576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17520" y="5760720"/>
            <a:ext cx="36576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29000" y="5760720"/>
            <a:ext cx="91440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T/T</a:t>
            </a:r>
          </a:p>
        </p:txBody>
      </p:sp>
      <p:sp>
        <p:nvSpPr>
          <p:cNvPr id="76" name="Oval 75"/>
          <p:cNvSpPr/>
          <p:nvPr/>
        </p:nvSpPr>
        <p:spPr>
          <a:xfrm>
            <a:off x="4389120" y="5760720"/>
            <a:ext cx="365760" cy="36576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89120" y="5760720"/>
            <a:ext cx="36576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00600" y="5760720"/>
            <a:ext cx="91440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S/T</a:t>
            </a:r>
          </a:p>
        </p:txBody>
      </p:sp>
      <p:sp>
        <p:nvSpPr>
          <p:cNvPr id="79" name="Oval 78"/>
          <p:cNvSpPr/>
          <p:nvPr/>
        </p:nvSpPr>
        <p:spPr>
          <a:xfrm>
            <a:off x="5760720" y="5760720"/>
            <a:ext cx="365760" cy="365760"/>
          </a:xfrm>
          <a:prstGeom prst="ellipse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760720" y="5760720"/>
            <a:ext cx="36576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72200" y="5760720"/>
            <a:ext cx="91440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S/S atau T/S</a:t>
            </a:r>
          </a:p>
        </p:txBody>
      </p:sp>
      <p:sp>
        <p:nvSpPr>
          <p:cNvPr id="82" name="Oval 81"/>
          <p:cNvSpPr/>
          <p:nvPr/>
        </p:nvSpPr>
        <p:spPr>
          <a:xfrm>
            <a:off x="7132320" y="57607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32320" y="5760720"/>
            <a:ext cx="36576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84" name="Oval 83"/>
          <p:cNvSpPr/>
          <p:nvPr/>
        </p:nvSpPr>
        <p:spPr>
          <a:xfrm>
            <a:off x="7132320" y="5760720"/>
            <a:ext cx="365760" cy="365760"/>
          </a:xfrm>
          <a:prstGeom prst="ellipse">
            <a:avLst/>
          </a:prstGeom>
          <a:noFill/>
          <a:ln w="19050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543800" y="5760720"/>
            <a:ext cx="914400" cy="36576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R/T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869680" y="1371600"/>
            <a:ext cx="286207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Tiga risiko paling mendesak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8906255" y="1636776"/>
            <a:ext cx="282549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88" name="Oval 87"/>
          <p:cNvSpPr/>
          <p:nvPr/>
        </p:nvSpPr>
        <p:spPr>
          <a:xfrm>
            <a:off x="8869680" y="1783080"/>
            <a:ext cx="640080" cy="64008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869680" y="1783080"/>
            <a:ext cx="640080" cy="64008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01200" y="1783080"/>
            <a:ext cx="2130552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Valuasi dilebih-lebihkan</a:t>
            </a:r>
          </a:p>
        </p:txBody>
      </p:sp>
      <p:sp>
        <p:nvSpPr>
          <p:cNvPr id="91" name="Oval 90"/>
          <p:cNvSpPr/>
          <p:nvPr/>
        </p:nvSpPr>
        <p:spPr>
          <a:xfrm>
            <a:off x="8869680" y="2697480"/>
            <a:ext cx="640080" cy="64008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869680" y="2697480"/>
            <a:ext cx="640080" cy="64008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601200" y="2697480"/>
            <a:ext cx="2130552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Penularan BUMN Karya ke bank BUMN</a:t>
            </a:r>
          </a:p>
        </p:txBody>
      </p:sp>
      <p:sp>
        <p:nvSpPr>
          <p:cNvPr id="94" name="Oval 93"/>
          <p:cNvSpPr/>
          <p:nvPr/>
        </p:nvSpPr>
        <p:spPr>
          <a:xfrm>
            <a:off x="8869680" y="3611880"/>
            <a:ext cx="640080" cy="640080"/>
          </a:xfrm>
          <a:prstGeom prst="ellipse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869680" y="3611880"/>
            <a:ext cx="640080" cy="64008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601200" y="3611880"/>
            <a:ext cx="2130552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Register 40 proyek tak teruji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869680" y="4572000"/>
            <a:ext cx="1371600" cy="10972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869680" y="4572000"/>
            <a:ext cx="64008" cy="10972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006840" y="4608576"/>
            <a:ext cx="1188720" cy="4114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2251FF"/>
                </a:solidFill>
                <a:latin typeface="Arial"/>
              </a:rPr>
              <a:t>16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006840" y="5004816"/>
            <a:ext cx="1188720" cy="64617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berdampak tinggi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360152" y="4572000"/>
            <a:ext cx="1371600" cy="10972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360152" y="4572000"/>
            <a:ext cx="64008" cy="10972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497312" y="4608576"/>
            <a:ext cx="1188720" cy="41148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2251FF"/>
                </a:solidFill>
                <a:latin typeface="Arial"/>
              </a:rPr>
              <a:t>24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497312" y="5004816"/>
            <a:ext cx="1188720" cy="646175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risiko dalam register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16 · PETA JALAN TERINTEGRASI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Delapan alur kerja dalam empat fase: setiap perluasan bersyarat pada bukti dari titik keputusan sebelumnya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16. Hari ke-0 = persetujuan prinsip model platform; seluruh jadwal usulan dan menunggu keputusan organ berwenang.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36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11274549" cy="42793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6608"/>
                <a:gridCol w="2749890"/>
                <a:gridCol w="2658227"/>
                <a:gridCol w="2291575"/>
                <a:gridCol w="2108249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Alur kerja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0–90 hari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4–12 bulan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12–24 bulan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&gt; 24 bulan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1 Tata kelola, unit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Persetujuan Hari 0; piagam; desain dikonfirmasi Hari 90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Perluas unit; tinjau jabatan formal ≥ bulan 12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Putuskan struktur permanen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Opsi holding bila kriteria terpenuhi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2 Register, scorecard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Register terekonsiliasi; identitas 100% Hari 45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Dasbor pertama; scorecard triwulanan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Laporan portofolio tahunan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Evaluasi proyek selesai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3 DOCK-UP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Gerbang dan desain uji coba Hari 60; asesor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Uji coba bulan 4; pesanan G1 bulan 10–11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Integrator kedua; pemasok G2–G3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Model standar DEFEND ID, proyek jangkar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4 Proyek jangkar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Identifikasi; daftar panjang paket lokal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Rencana lokalisasi di P2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Kontrak kerangka P3/P4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Nilai tambah terverifikasi P6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5 NRF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Usulan ke Pemerintah Hari 90; MVP pemantau inflasi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Tahap 0 (hak, valuasi, fiskal) → percontohan Tahap 1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Tahap 2: mineral, jendela industri/DOCK-UP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Tahap 3: dana matang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6 Tokenisasi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Penuhi enam prasyarat; term sheet koreksi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Fase 1 US$150 juta di sandbox OJK (≥ Tw I 2027)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Keputusan Fase 2; surat tagihan rupiah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Fase 3 setelah izin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7 BUMN Karya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Diagnostik teraudit Hari 30–90; disiplin tawar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Pisahkan aset warisan; lindungi kas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Keputusan struktur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Laba ekonomi berkelanjutan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8 Platform AI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MVP mulai Hari 30; 6 agen; percontohan ~Hari 120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Fase 2: 2–3 BUMN, 20–50 proyek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Fase 3: semua BUMN Karya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Fase 4: nasional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0644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Titik keputusan kunci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3776" y="607161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457200" y="6053328"/>
            <a:ext cx="11274552" cy="32004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51C5C"/>
                </a:solidFill>
                <a:latin typeface="Arial"/>
              </a:rPr>
              <a:t>Hari 90: desain unit · Bulan 6: perluasan AI · Bulan 12: jabatan formal · Bulan 12–15: integrator kedua · Sebelum penyaluran NRF: baseline inflasi + ambang BI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16 · PETA JALAN TERINTEGRASI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Delapan alur kerja berjalan paralel dalam empat fase, dan setiap perluasan menunggu titik keputusan berbasis bukti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37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371600"/>
            <a:ext cx="2370582" cy="36576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21408" y="1371600"/>
            <a:ext cx="2370582" cy="36576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0–90 hari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8566" y="1371600"/>
            <a:ext cx="2370582" cy="36576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8566" y="1371600"/>
            <a:ext cx="2370582" cy="36576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4–12 bulan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35724" y="1371600"/>
            <a:ext cx="2370582" cy="36576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5724" y="1371600"/>
            <a:ext cx="2370582" cy="36576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12–24 bulan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42882" y="1371600"/>
            <a:ext cx="2370582" cy="36576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42882" y="1371600"/>
            <a:ext cx="2370582" cy="36576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&gt; 24 bulan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828800"/>
            <a:ext cx="1645920" cy="40233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Tata kelola, unit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39696" y="1865376"/>
            <a:ext cx="9555480" cy="32918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39696" y="1865376"/>
            <a:ext cx="9555480" cy="329184"/>
          </a:xfrm>
          <a:prstGeom prst="rect">
            <a:avLst/>
          </a:prstGeom>
          <a:noFill/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Unit → asurans → struktur permanen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1645920" cy="40233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Register, scorecard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39696" y="2322576"/>
            <a:ext cx="7148322" cy="329184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39696" y="2322576"/>
            <a:ext cx="7148322" cy="329184"/>
          </a:xfrm>
          <a:prstGeom prst="rect">
            <a:avLst/>
          </a:prstGeom>
          <a:noFill/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Register → dasbor → laporan tahunan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743200"/>
            <a:ext cx="1645920" cy="40233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DOCK-UP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39696" y="2779776"/>
            <a:ext cx="9555480" cy="32918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39696" y="2779776"/>
            <a:ext cx="9555480" cy="329184"/>
          </a:xfrm>
          <a:prstGeom prst="rect">
            <a:avLst/>
          </a:prstGeom>
          <a:noFill/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Desain → uji coba (bln 4) → integrator 2 → standar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00400"/>
            <a:ext cx="1645920" cy="40233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Proyek jangkar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39696" y="3236976"/>
            <a:ext cx="9555480" cy="329184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39696" y="3236976"/>
            <a:ext cx="9555480" cy="329184"/>
          </a:xfrm>
          <a:prstGeom prst="rect">
            <a:avLst/>
          </a:prstGeom>
          <a:noFill/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Daftar → rencana lokal → kontrak → nilai tambah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657600"/>
            <a:ext cx="1645920" cy="40233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NRF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39696" y="3694176"/>
            <a:ext cx="9555480" cy="32918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39696" y="3694176"/>
            <a:ext cx="9555480" cy="329184"/>
          </a:xfrm>
          <a:prstGeom prst="rect">
            <a:avLst/>
          </a:prstGeom>
          <a:noFill/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Usulan → Tahap 0 → Tahap 1–2 → dana matang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114800"/>
            <a:ext cx="1645920" cy="40233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Tokenisasi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39696" y="4151376"/>
            <a:ext cx="9555480" cy="329184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39696" y="4151376"/>
            <a:ext cx="9555480" cy="329184"/>
          </a:xfrm>
          <a:prstGeom prst="rect">
            <a:avLst/>
          </a:prstGeom>
          <a:noFill/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Prasyarat → Fase 1 (≥ Tw I 2027) → Fase 2–3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572000"/>
            <a:ext cx="1645920" cy="40233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BUMN Karya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39696" y="4608576"/>
            <a:ext cx="7148322" cy="329184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39696" y="4608576"/>
            <a:ext cx="7148322" cy="329184"/>
          </a:xfrm>
          <a:prstGeom prst="rect">
            <a:avLst/>
          </a:prstGeom>
          <a:noFill/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Diagnostik → pisah aset → struktur → laba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029200"/>
            <a:ext cx="1645920" cy="402336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Platform AI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39696" y="5065776"/>
            <a:ext cx="9555480" cy="329184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39696" y="5065776"/>
            <a:ext cx="9555480" cy="329184"/>
          </a:xfrm>
          <a:prstGeom prst="rect">
            <a:avLst/>
          </a:prstGeom>
          <a:noFill/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MVP → Fase 2 → Fase 3 → nasional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57784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Rencana bukti 90 hari untuk register 40 proyek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93776" y="584301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41" name="Rectangle 40"/>
          <p:cNvSpPr/>
          <p:nvPr/>
        </p:nvSpPr>
        <p:spPr>
          <a:xfrm>
            <a:off x="457200" y="5943600"/>
            <a:ext cx="3657600" cy="3840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943600"/>
            <a:ext cx="3657600" cy="384048"/>
          </a:xfrm>
          <a:prstGeom prst="rect">
            <a:avLst/>
          </a:prstGeom>
          <a:noFill/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2251FF"/>
                </a:solidFill>
                <a:latin typeface="Arial"/>
              </a:rPr>
              <a:t>Hari 1–30  </a:t>
            </a:r>
            <a:r>
              <a:rPr sz="850" b="0" i="0">
                <a:solidFill>
                  <a:srgbClr val="000000"/>
                </a:solidFill>
                <a:latin typeface="Arial"/>
              </a:rPr>
              <a:t>Register resmi, crosswalk SPV, pemilik data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79392" y="5943600"/>
            <a:ext cx="3657600" cy="3840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79392" y="5943600"/>
            <a:ext cx="3657600" cy="384048"/>
          </a:xfrm>
          <a:prstGeom prst="rect">
            <a:avLst/>
          </a:prstGeom>
          <a:noFill/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2251FF"/>
                </a:solidFill>
                <a:latin typeface="Arial"/>
              </a:rPr>
              <a:t>Hari 31–60  </a:t>
            </a:r>
            <a:r>
              <a:rPr sz="850" b="0" i="0">
                <a:solidFill>
                  <a:srgbClr val="000000"/>
                </a:solidFill>
                <a:latin typeface="Arial"/>
              </a:rPr>
              <a:t>FNPV, ENPV, EIRR enam label terbesar; baseline inflasi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01583" y="5943600"/>
            <a:ext cx="3657600" cy="3840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01583" y="5943600"/>
            <a:ext cx="3657600" cy="384048"/>
          </a:xfrm>
          <a:prstGeom prst="rect">
            <a:avLst/>
          </a:prstGeom>
          <a:noFill/>
        </p:spPr>
        <p:txBody>
          <a:bodyPr wrap="square" lIns="73152" rIns="73152" tIns="27432" bIns="27432" anchor="ctr"/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2251FF"/>
                </a:solidFill>
                <a:latin typeface="Arial"/>
              </a:rPr>
              <a:t>Hari 61–90  </a:t>
            </a:r>
            <a:r>
              <a:rPr sz="850" b="0" i="0">
                <a:solidFill>
                  <a:srgbClr val="000000"/>
                </a:solidFill>
                <a:latin typeface="Arial"/>
              </a:rPr>
              <a:t>Ledger mobilisasi, audit DVA, kebijakan Alpha/Impact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BAB 17 · REKOMENDASI PER PEMANGKU KEPENTINGAN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Setiap pemangku kepentingan diminta tindakan spesifik: Danantara memutuskan yang berada dalam kewenangannya, regulator dimintai pertimbangan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Bab 17. Usulan untuk Pemerintah dan regulator adalah untuk pertimbangan, bukan keputusan Danantara.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38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5532120" cy="40965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71600"/>
                <a:gridCol w="416052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Pemangku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Tindakan yang direkomendasikan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Kaji NRF (hukum, valuasi, fiskal) lebih dahulu; uji substitusi pembiayaan domestik; pengaman inflasi dalam piagam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Kementerian Keuangan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Klasifikasi instrumen berdasarkan substansi; proses persetujuan pengalihan tagihan ke escrow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Dewan Pengawas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Setujui tiga scorecard, NR, dan gerbang; pisahkan portofolio Alpha/Impact; pantau uji unit 90 hari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Kepala Badan Pelaksana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Bentuk unit (NITO); sahkan register 40 proyek; jaga independensi risiko, hukum, audit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DAM / COO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Luncurkan diagnostik BUMN Karya dan pisah aset warisan; sponsori MVP AI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DIM / CIO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Metodologi imbal hasil; PALCapital hanya setelah 6 prasyarat; SPV ring-fenced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DDMF / CTO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Business case finansial + ekonomi; crosswalk register; dampak PDB, kerja, impor, ICOR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99632" y="1417320"/>
          <a:ext cx="5532118" cy="40965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3039"/>
                <a:gridCol w="4069079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Pemangku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Tindakan yang direkomendasikan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Kemhan dan KKIP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Jadikan DOCK-UP model standar; gerbang dalam kontrak kerangka dan ofset; dukung escrow tonggak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OJK dan Bank Indonesia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Percontohan di sandbox IKD; perlakuan surat tagihan; kerangka pantau inflasi; larangan pembelian BI di pasar perdana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Integrator (PT PAL, DEFEND ID)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Terbitkan rencana lokalisasi; pesan hanya berdasarkan gerbang terverifikasi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BUMN Karya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Disiplin tawar dan perlindungan kas; kode biaya dan percontohan AI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Bank, LPEI, penjamin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Kaitkan KUR, kredit, ekspor dengan gerbang; rancang first-loss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UKM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Masuk register kesiapan; ikuti rencana menuju G1–G4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000000"/>
                          </a:solidFill>
                          <a:latin typeface="Arial"/>
                        </a:rPr>
                        <a:t>BKI, lab uji, kampus, BRIN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Arial"/>
                        </a:rPr>
                        <a:t>Bentuk kumpulan asesor independen; dukung TRL dan sertifikasi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solidFill>
            <a:srgbClr val="051C5C"/>
          </a:solidFill>
        </p:spPr>
        <p:txBody>
          <a:bodyPr wrap="square" lIns="137160" rIns="137160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Penutup: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Danantara tidak butuh lebih banyak pengumuman; Danantara butuh mekanisme yang mengubah modal menjadi kapabilitas, pembiayaan yang jujur pada substansi, dan bukti hasil.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17 · REKOMENDASI PER PEMANGKU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Empat belas pemangku kepentingan mengelilingi satu platform: organ Danantara memutuskan, regulator menimbang, ekosistem melaksanakan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39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6099048" y="1828800"/>
            <a:ext cx="0" cy="2240280"/>
          </a:xfrm>
          <a:prstGeom prst="line">
            <a:avLst/>
          </a:prstGeom>
          <a:ln w="12700">
            <a:solidFill>
              <a:srgbClr val="8FA8F5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6099048" y="2023491"/>
            <a:ext cx="2023390" cy="2045589"/>
          </a:xfrm>
          <a:prstGeom prst="line">
            <a:avLst/>
          </a:prstGeom>
          <a:ln w="12700">
            <a:solidFill>
              <a:srgbClr val="8FA8F5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6099048" y="2569003"/>
            <a:ext cx="3646024" cy="1500077"/>
          </a:xfrm>
          <a:prstGeom prst="line">
            <a:avLst/>
          </a:prstGeom>
          <a:ln w="12700">
            <a:solidFill>
              <a:srgbClr val="8FA8F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9048" y="3357292"/>
            <a:ext cx="4546517" cy="711788"/>
          </a:xfrm>
          <a:prstGeom prst="line">
            <a:avLst/>
          </a:prstGeom>
          <a:ln w="12700">
            <a:solidFill>
              <a:srgbClr val="8FA8F5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6099048" y="4069080"/>
            <a:ext cx="4546517" cy="163147"/>
          </a:xfrm>
          <a:prstGeom prst="line">
            <a:avLst/>
          </a:prstGeom>
          <a:ln w="12700">
            <a:solidFill>
              <a:srgbClr val="8FA8F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099048" y="4069080"/>
            <a:ext cx="3646024" cy="951436"/>
          </a:xfrm>
          <a:prstGeom prst="line">
            <a:avLst/>
          </a:prstGeom>
          <a:ln w="12700">
            <a:solidFill>
              <a:srgbClr val="8FA8F5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099048" y="4069080"/>
            <a:ext cx="2023390" cy="1496948"/>
          </a:xfrm>
          <a:prstGeom prst="line">
            <a:avLst/>
          </a:prstGeom>
          <a:ln w="12700">
            <a:solidFill>
              <a:srgbClr val="8FA8F5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6099048" y="4069080"/>
            <a:ext cx="0" cy="1691640"/>
          </a:xfrm>
          <a:prstGeom prst="line">
            <a:avLst/>
          </a:prstGeom>
          <a:ln w="12700">
            <a:solidFill>
              <a:srgbClr val="8FA8F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4075657" y="4069080"/>
            <a:ext cx="2023391" cy="1496948"/>
          </a:xfrm>
          <a:prstGeom prst="line">
            <a:avLst/>
          </a:prstGeom>
          <a:ln w="12700">
            <a:solidFill>
              <a:srgbClr val="8FA8F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H="1">
            <a:off x="2453023" y="4069080"/>
            <a:ext cx="3646025" cy="951436"/>
          </a:xfrm>
          <a:prstGeom prst="line">
            <a:avLst/>
          </a:prstGeom>
          <a:ln w="12700">
            <a:solidFill>
              <a:srgbClr val="8FA8F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H="1">
            <a:off x="1552530" y="4069080"/>
            <a:ext cx="4546518" cy="163147"/>
          </a:xfrm>
          <a:prstGeom prst="line">
            <a:avLst/>
          </a:prstGeom>
          <a:ln w="12700">
            <a:solidFill>
              <a:srgbClr val="8FA8F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H="1" flipV="1">
            <a:off x="1552530" y="3357292"/>
            <a:ext cx="4546518" cy="711788"/>
          </a:xfrm>
          <a:prstGeom prst="line">
            <a:avLst/>
          </a:prstGeom>
          <a:ln w="12700">
            <a:solidFill>
              <a:srgbClr val="8FA8F5"/>
            </a:solidFill>
          </a:ln>
        </p:spPr>
      </p:cxnSp>
      <p:cxnSp>
        <p:nvCxnSpPr>
          <p:cNvPr id="19" name="Connector 18"/>
          <p:cNvCxnSpPr/>
          <p:nvPr/>
        </p:nvCxnSpPr>
        <p:spPr>
          <a:xfrm flipH="1" flipV="1">
            <a:off x="2453023" y="2569003"/>
            <a:ext cx="3646025" cy="1500077"/>
          </a:xfrm>
          <a:prstGeom prst="line">
            <a:avLst/>
          </a:prstGeom>
          <a:ln w="12700">
            <a:solidFill>
              <a:srgbClr val="8FA8F5"/>
            </a:solidFill>
          </a:ln>
        </p:spPr>
      </p:cxnSp>
      <p:cxnSp>
        <p:nvCxnSpPr>
          <p:cNvPr id="20" name="Connector 19"/>
          <p:cNvCxnSpPr/>
          <p:nvPr/>
        </p:nvCxnSpPr>
        <p:spPr>
          <a:xfrm flipH="1" flipV="1">
            <a:off x="4075657" y="2023491"/>
            <a:ext cx="2023391" cy="2045589"/>
          </a:xfrm>
          <a:prstGeom prst="line">
            <a:avLst/>
          </a:prstGeom>
          <a:ln w="12700">
            <a:solidFill>
              <a:srgbClr val="8FA8F5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5230368" y="1554480"/>
            <a:ext cx="1737360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30368" y="1554480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Dewan Pengawas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setujui kerangka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53758" y="1749171"/>
            <a:ext cx="1737360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53758" y="1749171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Kepala BP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bentuk unit, sahkan register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76392" y="2294683"/>
            <a:ext cx="1737360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76392" y="2294683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DAM / COO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diagnostik Karya, MVP AI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76885" y="3082972"/>
            <a:ext cx="1737360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76885" y="3082972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DIM / CIO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metodologi, PALCapital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76885" y="3957907"/>
            <a:ext cx="1737360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76885" y="3957907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DDMF / CTO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business case, crosswalk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76392" y="4746196"/>
            <a:ext cx="1737360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76392" y="4746196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Pemerintah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kaji NRF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53758" y="5291708"/>
            <a:ext cx="1737360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53758" y="5291708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Kemenkeu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klasifikasi substansi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30368" y="5486400"/>
            <a:ext cx="1737360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30368" y="5486400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Kemhan / KKIP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DOCK-UP dalam kontrak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6977" y="5291708"/>
            <a:ext cx="1737360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6977" y="5291708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OJK / BI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sandbox, pantau inflasi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84343" y="4746196"/>
            <a:ext cx="1737360" cy="54864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84343" y="4746196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PT PAL / integrator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Arial"/>
              </a:rPr>
              <a:t>pesan per gerbang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3850" y="3957907"/>
            <a:ext cx="1737360" cy="54864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3850" y="3957907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BUMN Karya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Arial"/>
              </a:rPr>
              <a:t>disiplin tawar, AI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3850" y="3082972"/>
            <a:ext cx="1737360" cy="54864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3850" y="3082972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Bank / LPEI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Arial"/>
              </a:rPr>
              <a:t>kredit per gerbang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84343" y="2294683"/>
            <a:ext cx="1737360" cy="54864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84343" y="2294683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UKM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Arial"/>
              </a:rPr>
              <a:t>masuk register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6977" y="1749171"/>
            <a:ext cx="1737360" cy="54864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6977" y="1749171"/>
            <a:ext cx="1737360" cy="548640"/>
          </a:xfrm>
          <a:prstGeom prst="rect">
            <a:avLst/>
          </a:prstGeom>
          <a:noFill/>
        </p:spPr>
        <p:txBody>
          <a:bodyPr wrap="square" lIns="27432" rIns="27432" tIns="27432" bIns="27432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Arial"/>
              </a:rPr>
              <a:t>BKI / BRIN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Arial"/>
              </a:rPr>
              <a:t>asesor independen</a:t>
            </a:r>
          </a:p>
        </p:txBody>
      </p:sp>
      <p:sp>
        <p:nvSpPr>
          <p:cNvPr id="49" name="Oval 48"/>
          <p:cNvSpPr/>
          <p:nvPr/>
        </p:nvSpPr>
        <p:spPr>
          <a:xfrm>
            <a:off x="5184648" y="3154680"/>
            <a:ext cx="1828800" cy="1828800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84648" y="3154680"/>
            <a:ext cx="1828800" cy="18288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DANANTARA PLATFORM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806440"/>
            <a:ext cx="274320" cy="128016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760720"/>
            <a:ext cx="3017520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Organ Danantara: putuskan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989320"/>
            <a:ext cx="274320" cy="128016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5943600"/>
            <a:ext cx="3017520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Pemerintah dan regulator: pertimbangkan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6172200"/>
            <a:ext cx="274320" cy="128016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" y="6126480"/>
            <a:ext cx="3017520" cy="219456"/>
          </a:xfrm>
          <a:prstGeom prst="rect">
            <a:avLst/>
          </a:prstGeom>
          <a:noFill/>
        </p:spPr>
        <p:txBody>
          <a:bodyPr wrap="square" lIns="0" rIns="0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Ekosistem: laksanakan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LAMPIRAN A–E · KAMUS METRIK, KETIDAKSESUAIAN, PERHITUNGAN, GLOSARIUM, REFERENSI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Lampiran membuat kajian dapat diaudit: 39 metrik terdefinisi, 31 ketidaksesuaian sumber dicatat, dan setiap perhitungan dapat diulang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(v2), Lampiran A–E.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40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02920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0292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1417320"/>
            <a:ext cx="5120640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417320"/>
            <a:ext cx="502920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251FF"/>
                </a:solidFill>
                <a:latin typeface="Arial"/>
              </a:rPr>
              <a:t>Kamus metrik. </a:t>
            </a:r>
            <a:r>
              <a:rPr sz="900" b="0" i="0">
                <a:solidFill>
                  <a:srgbClr val="000000"/>
                </a:solidFill>
                <a:latin typeface="Arial"/>
              </a:rPr>
              <a:t>39 metrik hasil dalam tiga scorecard: I01–I12 investasi, O01–O15 operasi BUMN, D01–D12 pembangunan. Tiap metrik punya definisi, bukti, dan batasan; ambang perlu persetujuan.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30552"/>
            <a:ext cx="502920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30552"/>
            <a:ext cx="50292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2130552"/>
            <a:ext cx="5120640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130552"/>
            <a:ext cx="502920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251FF"/>
                </a:solidFill>
                <a:latin typeface="Arial"/>
              </a:rPr>
              <a:t>Ketidaksesuaian sumber. </a:t>
            </a:r>
            <a:r>
              <a:rPr sz="900" b="0" i="0">
                <a:solidFill>
                  <a:srgbClr val="000000"/>
                </a:solidFill>
                <a:latin typeface="Arial"/>
              </a:rPr>
              <a:t>31 temuan, tidak ada yang diselesaikan dengan asumsi. Contoh: total 40 proyek Rp2.091,46 T vs Rp2.072,53 T; label SDA 10,86% vs 10,68%; D6 "bukan utang" vs "surat utang".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43784"/>
            <a:ext cx="502920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43784"/>
            <a:ext cx="50292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2843784"/>
            <a:ext cx="5120640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843784"/>
            <a:ext cx="502920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251FF"/>
                </a:solidFill>
                <a:latin typeface="Arial"/>
              </a:rPr>
              <a:t>Perhitungan. </a:t>
            </a:r>
            <a:r>
              <a:rPr sz="900" b="0" i="0">
                <a:solidFill>
                  <a:srgbClr val="000000"/>
                </a:solidFill>
                <a:latin typeface="Arial"/>
              </a:rPr>
              <a:t>Setiap angka turunan dapat diulang dari input sumber; kelas D ditandai ilustratif.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57016"/>
            <a:ext cx="502920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57016"/>
            <a:ext cx="50292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3557016"/>
            <a:ext cx="5120640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557016"/>
            <a:ext cx="502920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251FF"/>
                </a:solidFill>
                <a:latin typeface="Arial"/>
              </a:rPr>
              <a:t>Glosarium. </a:t>
            </a:r>
            <a:r>
              <a:rPr sz="900" b="0" i="0">
                <a:solidFill>
                  <a:srgbClr val="000000"/>
                </a:solidFill>
                <a:latin typeface="Arial"/>
              </a:rPr>
              <a:t>Istilah: TRL/MRL, DOCK-UP, NITO, NRF, SPV, ICOR, TPDM/PPDM/PIM, NR, dan lainnya.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70248"/>
            <a:ext cx="502920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270248"/>
            <a:ext cx="50292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" y="4270248"/>
            <a:ext cx="5120640" cy="64008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270248"/>
            <a:ext cx="5029200" cy="64008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251FF"/>
                </a:solidFill>
                <a:latin typeface="Arial"/>
              </a:rPr>
              <a:t>Referensi. </a:t>
            </a:r>
            <a:r>
              <a:rPr sz="900" b="0" i="0">
                <a:solidFill>
                  <a:srgbClr val="000000"/>
                </a:solidFill>
                <a:latin typeface="Arial"/>
              </a:rPr>
              <a:t>Dikutip melalui D1 (kajian kinerja), D2 (tata kelola), D7 (rujukan web WEB01–WEB32), dan D11.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371600"/>
            <a:ext cx="53309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Contoh perhitungan yang direkonsiliasi (Lampiran C)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37376" y="1636776"/>
            <a:ext cx="52943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400800" y="1719072"/>
          <a:ext cx="5330951" cy="37856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22085"/>
                <a:gridCol w="2113998"/>
                <a:gridCol w="1194868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Butir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Perhitungan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Hasil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2251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Imbal hasil tertimbang surat utang DIM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(750×5,35% + 750×5,95%) / 1.500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5,65%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Kelebihan permintaan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4,6 / 1,5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≈ 3,07×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Porsi bersama CA–EDC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200 / 800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Selisih 40 proyek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2.091,46 − 2.072,53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Rp18,93 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Slot bernama vs headline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604,97 / 2.091,46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28,9%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Total tranche PAL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40 + 45 + 40 + 25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US$150 juta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Alokasi strategis 5 tahun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7 × 5 × 16.500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Rp578 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000000"/>
                          </a:solidFill>
                          <a:latin typeface="Arial"/>
                        </a:rPr>
                        <a:t>Ekuitas / utang 30:70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30% dan 70% × 2.091,46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Rp627 T / Rp1.464 T</a:t>
                      </a:r>
                    </a:p>
                  </a:txBody>
                  <a:tcPr marL="54864" marR="54864" marT="22860" marB="228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051C5C"/>
                      </a:solidFill>
                    </a:lnB>
                    <a:solidFill>
                      <a:srgbClr val="E6ECFD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457200" y="5166360"/>
            <a:ext cx="5623560" cy="822960"/>
          </a:xfrm>
          <a:prstGeom prst="rect">
            <a:avLst/>
          </a:prstGeom>
          <a:solidFill>
            <a:srgbClr val="051C5C"/>
          </a:solidFill>
        </p:spPr>
        <p:txBody>
          <a:bodyPr wrap="square" lIns="137160" rIns="137160" tIns="27432" bIns="27432" anchor="ctr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Aturan: </a:t>
            </a:r>
            <a:r>
              <a:rPr sz="1050" b="0" i="0">
                <a:solidFill>
                  <a:srgbClr val="FFFFFF"/>
                </a:solidFill>
                <a:latin typeface="Arial"/>
              </a:rPr>
              <a:t>setiap ketidaksesuaian dikoreksi pemilik data sebelum angkanya dipakai untuk keputusan; tidak ada yang diselesaikan dengan asumsi.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· BAB A–E · LAMPIRAN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Lampiran menjadikan kajian dapat diaudit: setiap metrik terdefinisi, setiap ketidaksesuaian dicatat, setiap perhitungan dapat diulang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Infografik visual atas isi bab;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657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A · 39 metrik dalam tiga scorecard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" y="1636776"/>
            <a:ext cx="3621024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457200" y="1783080"/>
            <a:ext cx="1125415" cy="64008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1125415" cy="64008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Investasi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82615" y="1783080"/>
            <a:ext cx="1406769" cy="64008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2615" y="1783080"/>
            <a:ext cx="1406769" cy="64008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BUMN 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89384" y="1783080"/>
            <a:ext cx="1125415" cy="64008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89384" y="1783080"/>
            <a:ext cx="1125415" cy="64008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ctr">
              <a:spcAft>
                <a:spcPts val="300"/>
              </a:spcAft>
            </a:pPr>
            <a:r>
              <a:rPr sz="850" b="1" i="0">
                <a:solidFill>
                  <a:srgbClr val="000000"/>
                </a:solidFill>
                <a:latin typeface="Arial"/>
              </a:rPr>
              <a:t>Pembangunan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14600"/>
            <a:ext cx="3657600" cy="45720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I01–I12 · O01–O15 · D01–D12: definisi, bukti, batasan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371600"/>
            <a:ext cx="356616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B · 31 ketidaksesuaian sumber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25696" y="1636776"/>
            <a:ext cx="3529583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4389120" y="1783080"/>
            <a:ext cx="274320" cy="2743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18304" y="1783080"/>
            <a:ext cx="274320" cy="2743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7488" y="1783080"/>
            <a:ext cx="274320" cy="2743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76672" y="1783080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05856" y="1783080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5040" y="1783080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64224" y="1783080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93408" y="1783080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22592" y="1783080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5" y="1783080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59" y="1783080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2112264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18304" y="2112264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47488" y="2112264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76672" y="2112264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05856" y="2112264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35040" y="2112264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64224" y="2112264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93408" y="2112264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22592" y="2112264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51775" y="2112264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80959" y="2112264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89120" y="2441448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18304" y="2441448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47488" y="2441448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76672" y="2441448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05856" y="2441448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2441448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64224" y="2441448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93408" y="2441448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022592" y="2441448"/>
            <a:ext cx="27432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0" y="2834640"/>
            <a:ext cx="3566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Tidak ada yang diselesaikan dengan asumsi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1371600"/>
            <a:ext cx="35021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E · rujukan web WEB01–WEB32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266175" y="1636776"/>
            <a:ext cx="3465577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52" name="Rectangle 51"/>
          <p:cNvSpPr/>
          <p:nvPr/>
        </p:nvSpPr>
        <p:spPr>
          <a:xfrm>
            <a:off x="8229600" y="1783080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540496" y="1783080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851392" y="1783080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62288" y="1783080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473184" y="1783080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784080" y="1783080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094976" y="1783080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405872" y="1783080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716768" y="1783080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027664" y="1783080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338560" y="1783080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29600" y="2093976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540496" y="2093976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851392" y="2093976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162288" y="2093976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473184" y="2093976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784080" y="2093976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094976" y="2093976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405872" y="2093976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716768" y="2093976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027664" y="2093976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338560" y="2093976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29600" y="2404872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540496" y="2404872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851392" y="2404872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162288" y="2404872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473184" y="2404872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784080" y="2404872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094976" y="2404872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405872" y="2404872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716768" y="2404872"/>
            <a:ext cx="256032" cy="256032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1027664" y="2404872"/>
            <a:ext cx="256032" cy="256032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29600" y="2834640"/>
            <a:ext cx="3502152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dikutip melalui D1, D2, D7, D11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" y="347472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C · perhitungan yang dapat diulang (contoh)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493776" y="373989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87" name="Rectangle 86"/>
          <p:cNvSpPr/>
          <p:nvPr/>
        </p:nvSpPr>
        <p:spPr>
          <a:xfrm>
            <a:off x="457200" y="3840480"/>
            <a:ext cx="2145182" cy="10058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57200" y="3840480"/>
            <a:ext cx="64008" cy="10058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94360" y="3877056"/>
            <a:ext cx="1962302" cy="30861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2251FF"/>
                </a:solidFill>
                <a:latin typeface="Arial"/>
              </a:rPr>
              <a:t>5,65%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4360" y="4174236"/>
            <a:ext cx="1962302" cy="65379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(750×5,35% + 750×5,95%) / 1.500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12110" y="3840480"/>
            <a:ext cx="2145182" cy="10058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712110" y="3840480"/>
            <a:ext cx="64008" cy="10058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849270" y="3877056"/>
            <a:ext cx="1962302" cy="30861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2251FF"/>
                </a:solidFill>
                <a:latin typeface="Arial"/>
              </a:rPr>
              <a:t>3,07×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849270" y="4174236"/>
            <a:ext cx="1962302" cy="65379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4,6 / 1,5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967020" y="3840480"/>
            <a:ext cx="2145182" cy="10058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967020" y="3840480"/>
            <a:ext cx="64008" cy="10058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104180" y="3877056"/>
            <a:ext cx="1962302" cy="30861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2251FF"/>
                </a:solidFill>
                <a:latin typeface="Arial"/>
              </a:rPr>
              <a:t>Rp18,93 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104180" y="4174236"/>
            <a:ext cx="1962302" cy="65379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2.091,46 − 2.072,53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221931" y="3840480"/>
            <a:ext cx="2145182" cy="10058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221931" y="3840480"/>
            <a:ext cx="64008" cy="10058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359091" y="3877056"/>
            <a:ext cx="1962302" cy="30861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2251FF"/>
                </a:solidFill>
                <a:latin typeface="Arial"/>
              </a:rPr>
              <a:t>28,9%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359091" y="4174236"/>
            <a:ext cx="1962302" cy="65379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604,97 / 2.091,46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476841" y="3840480"/>
            <a:ext cx="2145182" cy="1005840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476841" y="3840480"/>
            <a:ext cx="64008" cy="10058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614001" y="3877056"/>
            <a:ext cx="1962302" cy="30861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2251FF"/>
                </a:solidFill>
                <a:latin typeface="Arial"/>
              </a:rPr>
              <a:t>Rp578 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614001" y="4174236"/>
            <a:ext cx="1962302" cy="653796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7 × 5 × 16.500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7200" y="5074920"/>
            <a:ext cx="11274552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51FF"/>
                </a:solidFill>
                <a:latin typeface="Arial"/>
              </a:rPr>
              <a:t>D · glosarium istilah kunci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493776" y="5340096"/>
            <a:ext cx="11237976" cy="0"/>
          </a:xfrm>
          <a:prstGeom prst="line">
            <a:avLst/>
          </a:prstGeom>
          <a:ln w="12700">
            <a:solidFill>
              <a:srgbClr val="2251FF"/>
            </a:solidFill>
          </a:ln>
        </p:spPr>
      </p:cxnSp>
      <p:sp>
        <p:nvSpPr>
          <p:cNvPr id="109" name="Rectangle 108"/>
          <p:cNvSpPr/>
          <p:nvPr/>
        </p:nvSpPr>
        <p:spPr>
          <a:xfrm>
            <a:off x="475488" y="5440680"/>
            <a:ext cx="1372743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5488" y="5440680"/>
            <a:ext cx="1372743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TRL / MRL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884806" y="5440680"/>
            <a:ext cx="1372743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884806" y="5440680"/>
            <a:ext cx="1372743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DOCK-UP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294126" y="5440680"/>
            <a:ext cx="1372743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294126" y="5440680"/>
            <a:ext cx="1372743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NITO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703445" y="5440680"/>
            <a:ext cx="1372743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703445" y="5440680"/>
            <a:ext cx="1372743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NRF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112764" y="5440680"/>
            <a:ext cx="1372743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112764" y="5440680"/>
            <a:ext cx="1372743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SPV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522083" y="5440680"/>
            <a:ext cx="1372743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522083" y="5440680"/>
            <a:ext cx="1372743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ICOR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931402" y="5440680"/>
            <a:ext cx="1372743" cy="54864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931402" y="5440680"/>
            <a:ext cx="1372743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TPDM / PPDM / PIM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340721" y="5440680"/>
            <a:ext cx="1372743" cy="54864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340721" y="5440680"/>
            <a:ext cx="1372743" cy="54864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NR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