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251FF"/>
                </a:solidFill>
                <a:latin typeface="Arial"/>
              </a:rPr>
              <a:t>INFOGRAFIK SATU HALAMAN · SELURUH BAB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2100" b="1" i="0">
                <a:solidFill>
                  <a:srgbClr val="051C5C"/>
                </a:solidFill>
                <a:latin typeface="Arial"/>
              </a:rPr>
              <a:t>Tujuh belas bab bertumpu pada satu logika: modal menjadi permintaan, permintaan menjadi pemasok, pemasok menjadi kapabilitas yang terukur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261872"/>
            <a:ext cx="11274552" cy="0"/>
          </a:xfrm>
          <a:prstGeom prst="line">
            <a:avLst/>
          </a:prstGeom>
          <a:ln w="15875">
            <a:solidFill>
              <a:srgbClr val="000000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457200" y="6382512"/>
            <a:ext cx="10424160" cy="36576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51C5C"/>
                </a:solidFill>
                <a:latin typeface="Arial"/>
              </a:rPr>
              <a:t>Sumber: Kajian Komite Pengarah Danantara, Okt 2026 (v2). Angka kelas C/D adalah pengumuman, ilustrasi, atau model, bukan hasil terealisasi.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94360" cy="274320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051C5C"/>
                </a:solidFill>
                <a:latin typeface="Arial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Bab 1–5 · Diagnosis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43200" cy="27432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743200" cy="2743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Bab 6–7 · Mekanisme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Bab 8–10 · Pembiayaan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743200" cy="274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743200" cy="27432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Bab 11–17 · Pelaksanaan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1801368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Ringkasan eksekutif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9 temuan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5 inti + 4 tambahan; 6 rekomendasi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008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50008" y="1783080"/>
            <a:ext cx="1801368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0008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Pendahuluan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7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6 ·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7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pertanyaan · kelas bukti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1783080"/>
            <a:ext cx="1801368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0016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Danantara saat 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8536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US$1,5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8536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surat utang DIM, imbal hasil 5,65%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3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35623" y="1783080"/>
            <a:ext cx="1801368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3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2823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Evaluasi kinerja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3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18 / 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3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slot proyek bernama; skor 0/100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1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1" y="1783080"/>
            <a:ext cx="1801368" cy="457200"/>
          </a:xfrm>
          <a:prstGeom prst="rect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Apa yang diharapkan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+1,5%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74152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PDB puncak 2030 (model, kelas 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1783080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21240" y="1783080"/>
            <a:ext cx="1801368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1783080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DOCK-UP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258568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G1–G4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2624328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gerbang TRL/MRL; uji coba 20–30 UKM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3172968"/>
            <a:ext cx="1801368" cy="4572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Proyek jangkar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P0–P6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gerbang proyek × M0–M9 industri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50008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72968"/>
            <a:ext cx="1801368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0008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07208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Natural Resource Fund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95727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19,3 → 7,7%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95727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porsi SDA dalam penerimaan negara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42816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42816" y="3172968"/>
            <a:ext cx="1801368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42816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0016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Tokenisasi proyek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8536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US$150 juta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8536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PAL-SUB-1, 4 tranche; instrumen = utang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35623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35623" y="3172968"/>
            <a:ext cx="1801368" cy="457200"/>
          </a:xfrm>
          <a:prstGeom prst="rect">
            <a:avLst/>
          </a:prstGeom>
          <a:solidFill>
            <a:srgbClr val="8FA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35623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92823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Pembiayaan terpadu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81343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6,8%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81343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porsi dua kanal baru dari Rp2.091 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28431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28431" y="3172968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28431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85632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BUMN Karya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74152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≈ Rp28 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74152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estimasi rugi 2025; anggaran infra −45%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21240" y="3172968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921240" y="3172968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21240" y="3172968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78440" y="3172968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AI multi-agen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6960" y="3648456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6 agen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4014215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MVP 3 bulan, baca-saja, manusia memutuskan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62856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7200" y="4562856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Tata kelola dan unit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Opsi 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unit NITO di BPI, diuji 90 hari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50008" y="4562856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350008" y="4562856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350008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07208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Pengukuran kinerja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395727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40/35/25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95727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tiga scorecard + gerbang tata kelola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42816" y="4562856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242816" y="4562856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42816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0016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Risiko utama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88536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24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88536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risiko; 16 berdampak tinggi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35623" y="4562856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35623" y="4562856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3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92823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Peta jalan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81343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251FF"/>
                </a:solidFill>
                <a:latin typeface="Arial"/>
              </a:rPr>
              <a:t>8 alur · 4 fase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81343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titik keputusan Hari 0, 45, 60, 90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28431" y="4562856"/>
            <a:ext cx="1801368" cy="1298448"/>
          </a:xfrm>
          <a:prstGeom prst="rect">
            <a:avLst/>
          </a:prstGeom>
          <a:solidFill>
            <a:srgbClr val="E6EC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028431" y="4562856"/>
            <a:ext cx="1801368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28431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85632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Rekomendasi pemangku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74152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74152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pemangku kepentingan, tindakan spesifik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921240" y="4562856"/>
            <a:ext cx="180136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21240" y="4562856"/>
            <a:ext cx="1801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51C5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21240" y="4562856"/>
            <a:ext cx="502920" cy="457200"/>
          </a:xfrm>
          <a:prstGeom prst="rect">
            <a:avLst/>
          </a:prstGeom>
          <a:noFill/>
        </p:spPr>
        <p:txBody>
          <a:bodyPr wrap="square" lIns="0" rIns="0" tIns="27432" bIns="27432" anchor="ctr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051C5C"/>
                </a:solidFill>
                <a:latin typeface="Arial"/>
              </a:rPr>
              <a:t>A–E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378440" y="4562856"/>
            <a:ext cx="1325880" cy="457200"/>
          </a:xfrm>
          <a:prstGeom prst="rect">
            <a:avLst/>
          </a:prstGeom>
          <a:noFill/>
        </p:spPr>
        <p:txBody>
          <a:bodyPr wrap="square" lIns="18288" rIns="18288" tIns="27432" bIns="27432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51C5C"/>
                </a:solidFill>
                <a:latin typeface="Arial"/>
              </a:rPr>
              <a:t>Lampiran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66960" y="5038344"/>
            <a:ext cx="1709928" cy="365760"/>
          </a:xfrm>
          <a:prstGeom prst="rect">
            <a:avLst/>
          </a:prstGeom>
          <a:noFill/>
        </p:spPr>
        <p:txBody>
          <a:bodyPr wrap="square" lIns="54864" rIns="54864" tIns="27432" bIns="27432" anchor="ctr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2251FF"/>
                </a:solidFill>
                <a:latin typeface="Arial"/>
              </a:rPr>
              <a:t>39 · 31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966960" y="5404104"/>
            <a:ext cx="1709928" cy="438912"/>
          </a:xfrm>
          <a:prstGeom prst="rect">
            <a:avLst/>
          </a:prstGeom>
          <a:noFill/>
        </p:spPr>
        <p:txBody>
          <a:bodyPr wrap="square" lIns="54864" rIns="54864" tIns="27432" bIns="27432" anchor="t"/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metrik · ketidaksesuaian sumber</a:t>
            </a:r>
          </a:p>
        </p:txBody>
      </p:sp>
      <p:sp>
        <p:nvSpPr>
          <p:cNvPr id="123" name="Pentagon 122"/>
          <p:cNvSpPr/>
          <p:nvPr/>
        </p:nvSpPr>
        <p:spPr>
          <a:xfrm>
            <a:off x="457200" y="5943600"/>
            <a:ext cx="2355494" cy="365760"/>
          </a:xfrm>
          <a:prstGeom prst="homePlate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73152" rIns="13716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Modal</a:t>
            </a:r>
          </a:p>
        </p:txBody>
      </p:sp>
      <p:sp>
        <p:nvSpPr>
          <p:cNvPr id="124" name="Chevron 123"/>
          <p:cNvSpPr/>
          <p:nvPr/>
        </p:nvSpPr>
        <p:spPr>
          <a:xfrm>
            <a:off x="2721254" y="5943600"/>
            <a:ext cx="2355494" cy="36576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Permintaan jangkar</a:t>
            </a:r>
          </a:p>
        </p:txBody>
      </p:sp>
      <p:sp>
        <p:nvSpPr>
          <p:cNvPr id="125" name="Chevron 124"/>
          <p:cNvSpPr/>
          <p:nvPr/>
        </p:nvSpPr>
        <p:spPr>
          <a:xfrm>
            <a:off x="4985308" y="5943600"/>
            <a:ext cx="2355494" cy="36576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Pesanan bergerbang</a:t>
            </a:r>
          </a:p>
        </p:txBody>
      </p:sp>
      <p:sp>
        <p:nvSpPr>
          <p:cNvPr id="126" name="Chevron 125"/>
          <p:cNvSpPr/>
          <p:nvPr/>
        </p:nvSpPr>
        <p:spPr>
          <a:xfrm>
            <a:off x="7249363" y="5943600"/>
            <a:ext cx="2355494" cy="365760"/>
          </a:xfrm>
          <a:prstGeom prst="chevron">
            <a:avLst/>
          </a:prstGeom>
          <a:solidFill>
            <a:srgbClr val="051C5C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Pemasok terkualifikasi</a:t>
            </a:r>
          </a:p>
        </p:txBody>
      </p:sp>
      <p:sp>
        <p:nvSpPr>
          <p:cNvPr id="127" name="Chevron 126"/>
          <p:cNvSpPr/>
          <p:nvPr/>
        </p:nvSpPr>
        <p:spPr>
          <a:xfrm>
            <a:off x="9513417" y="5943600"/>
            <a:ext cx="2218334" cy="365760"/>
          </a:xfrm>
          <a:prstGeom prst="chevron">
            <a:avLst/>
          </a:prstGeom>
          <a:solidFill>
            <a:srgbClr val="2251FF"/>
          </a:solidFill>
          <a:ln>
            <a:noFill/>
          </a:ln>
          <a:effectLst/>
        </p:spPr>
        <p:txBody>
          <a:bodyPr rtlCol="0" anchor="ctr" wrap="square" lIns="201168" rIns="13716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Kapabilitas terukur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