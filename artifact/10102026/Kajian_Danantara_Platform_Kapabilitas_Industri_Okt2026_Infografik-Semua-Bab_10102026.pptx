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109728" cy="68580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38328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KAJIAN KOMITE PENGARAH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338328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Draf untuk diskusi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Rahasia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694944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DANANTARA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83080"/>
            <a:ext cx="6949440" cy="20116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3400" b="1" i="0">
                <a:solidFill>
                  <a:srgbClr val="051C5C"/>
                </a:solidFill>
                <a:latin typeface="Arial"/>
              </a:rPr>
              <a:t>Dari pengonsolidasi aset menjadi platform kapabilitas industri nasional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00600" y="3931920"/>
            <a:ext cx="6903720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754880" y="4069080"/>
            <a:ext cx="6949440" cy="10058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Tinjauan kinerja, kerangka kapabilitas industri DOCK-UP, pembiayaan melalui Natural Resource Fund dan tokenisasi proyek berdaulat, reformasi BUMN Karya, dan AI multi-agen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394960"/>
            <a:ext cx="694944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51C5C"/>
                </a:solidFill>
                <a:latin typeface="Arial"/>
              </a:rPr>
              <a:t>Oktober 2026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"/>
              </a:rPr>
              <a:t>Disusun oleh anggota Komite Pengarah Danantara untuk organ tata kelola dan manajemen Danantara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400800"/>
            <a:ext cx="694944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Ringkasan dalam bentuk dek dari kajian lengkap; bukan keputusan atau posisi Danantara maupun Pemerintah.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1 DARI 3 · DIAGNOSIS (BAB 2–5)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Danantara sudah membuktikan akses pasar, tetapi belum hasil; harapan menuntut modal diubah menjadi kapabilitas yang terukur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merangkum seluruh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Pendekatan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3316528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6528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5440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Kondisi saat ini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6528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6175857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5857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4769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Evaluasi kinerja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75857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9035186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5186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4098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Harapan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35186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457200" y="192024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92024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1956816"/>
            <a:ext cx="1115568" cy="37719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320036"/>
            <a:ext cx="1115568" cy="45059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pertanyaan kerangka acuan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56232" y="192024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56232" y="192024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93392" y="1956816"/>
            <a:ext cx="1115568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D1–D13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2" y="2237486"/>
            <a:ext cx="1115568" cy="53314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13 dokumen sumber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926080"/>
            <a:ext cx="26974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Lima kelas bukti pada setiap angka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solidFill>
            <a:srgbClr val="051C5C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3246120"/>
            <a:ext cx="21671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Teraudit / dijamin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703320"/>
            <a:ext cx="457200" cy="365760"/>
          </a:xfrm>
          <a:prstGeom prst="rect">
            <a:avLst/>
          </a:prstGeom>
          <a:solidFill>
            <a:srgbClr val="2251FF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703320"/>
            <a:ext cx="4572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3703320"/>
            <a:ext cx="21671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Resmi dilaporkan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60520"/>
            <a:ext cx="457200" cy="365760"/>
          </a:xfrm>
          <a:prstGeom prst="rect">
            <a:avLst/>
          </a:prstGeom>
          <a:solidFill>
            <a:srgbClr val="8FA8F5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160520"/>
            <a:ext cx="4572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4160520"/>
            <a:ext cx="21671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Pengumuman, proyeksi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617720"/>
            <a:ext cx="457200" cy="365760"/>
          </a:xfrm>
          <a:prstGeom prst="rect">
            <a:avLst/>
          </a:prstGeom>
          <a:solidFill>
            <a:srgbClr val="E6ECFD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617720"/>
            <a:ext cx="4572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4617720"/>
            <a:ext cx="21671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Ilustrasi / asumsi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074920"/>
            <a:ext cx="457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074920"/>
            <a:ext cx="4572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NR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" y="5074920"/>
            <a:ext cx="21671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Tidak dapat dinilai ≠ nol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16528" y="1920240"/>
            <a:ext cx="2697480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16528" y="1920240"/>
            <a:ext cx="2697480" cy="4572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BPI · Badan Pelaksana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665268" y="2377440"/>
            <a:ext cx="0" cy="16459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3746296" y="2542032"/>
            <a:ext cx="1837944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3741724" y="2542032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52" name="Rectangle 51"/>
          <p:cNvSpPr/>
          <p:nvPr/>
        </p:nvSpPr>
        <p:spPr>
          <a:xfrm>
            <a:off x="3316528" y="2651760"/>
            <a:ext cx="850392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16528" y="2651760"/>
            <a:ext cx="850392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DAM · COO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665268" y="2542032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55" name="Rectangle 54"/>
          <p:cNvSpPr/>
          <p:nvPr/>
        </p:nvSpPr>
        <p:spPr>
          <a:xfrm>
            <a:off x="4240072" y="2651760"/>
            <a:ext cx="850392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40072" y="2651760"/>
            <a:ext cx="850392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DIM · CIO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588812" y="2542032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58" name="Rectangle 57"/>
          <p:cNvSpPr/>
          <p:nvPr/>
        </p:nvSpPr>
        <p:spPr>
          <a:xfrm>
            <a:off x="5163616" y="2651760"/>
            <a:ext cx="850392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63616" y="2651760"/>
            <a:ext cx="850392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DDMF · CTO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16528" y="3291840"/>
            <a:ext cx="2697480" cy="7772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16528" y="3291840"/>
            <a:ext cx="64008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53688" y="3328416"/>
            <a:ext cx="2514600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US$1,5 M · 5,65%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53688" y="3609086"/>
            <a:ext cx="2514600" cy="44170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surat utang DIM, Jun 2026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16528" y="4160520"/>
            <a:ext cx="2697480" cy="7772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316528" y="4160520"/>
            <a:ext cx="64008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53688" y="4197096"/>
            <a:ext cx="2514600" cy="32575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2251FF"/>
                </a:solidFill>
                <a:latin typeface="Arial"/>
              </a:rPr>
              <a:t>≈ 3,07×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53688" y="4510786"/>
            <a:ext cx="2514600" cy="40868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kelebihan permintaan surat utang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16528" y="5029200"/>
            <a:ext cx="2697480" cy="6858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316528" y="5029200"/>
            <a:ext cx="64008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53688" y="5065776"/>
            <a:ext cx="2514600" cy="2571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251FF"/>
                </a:solidFill>
                <a:latin typeface="Arial"/>
              </a:rPr>
              <a:t>US$14 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53688" y="5313426"/>
            <a:ext cx="2514600" cy="38328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rencana 2026: 50% pasar publik · 50% proyek riil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90841" y="1920240"/>
            <a:ext cx="484632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Terbukti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321" y="1920240"/>
            <a:ext cx="484632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Sebagian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13801" y="1920240"/>
            <a:ext cx="484632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Belum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25281" y="1920240"/>
            <a:ext cx="484632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NR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5857" y="2240280"/>
            <a:ext cx="105156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Investasi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45705" y="2258568"/>
            <a:ext cx="374904" cy="34747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657185" y="22585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68665" y="22585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480145" y="2258568"/>
            <a:ext cx="374904" cy="34747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75857" y="2697480"/>
            <a:ext cx="105156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Operasi BUMN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45705" y="27157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57185" y="2715768"/>
            <a:ext cx="374904" cy="34747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68665" y="27157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480145" y="27157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5857" y="3154680"/>
            <a:ext cx="105156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Industrialisasi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245705" y="31729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57185" y="31729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68665" y="3172968"/>
            <a:ext cx="374904" cy="34747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480145" y="31729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75857" y="3611880"/>
            <a:ext cx="105156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Tata kelola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45705" y="36301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57185" y="3630168"/>
            <a:ext cx="374904" cy="34747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68665" y="36301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0145" y="36301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75857" y="4114800"/>
            <a:ext cx="2697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Akses terbukti; imbal hasil NR · kontribusi BUMN belum terverifikasi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75857" y="4572000"/>
            <a:ext cx="2697480" cy="237744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Register 40 proyek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75857" y="4846320"/>
            <a:ext cx="1213866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75857" y="4846320"/>
            <a:ext cx="1213866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18 bernama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89723" y="4846320"/>
            <a:ext cx="1483614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89723" y="4846320"/>
            <a:ext cx="1483614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22 tanpa identitas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5857" y="5349240"/>
            <a:ext cx="269748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Rp604,97 T = 28,9% dari Rp2.091 T · skor 0/100 = penalti data</a:t>
            </a:r>
          </a:p>
        </p:txBody>
      </p:sp>
      <p:sp>
        <p:nvSpPr>
          <p:cNvPr id="103" name="Oval 102"/>
          <p:cNvSpPr/>
          <p:nvPr/>
        </p:nvSpPr>
        <p:spPr>
          <a:xfrm>
            <a:off x="9035186" y="1920240"/>
            <a:ext cx="841248" cy="8412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035186" y="1920240"/>
            <a:ext cx="841248" cy="8412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Kapabilitas</a:t>
            </a:r>
          </a:p>
        </p:txBody>
      </p:sp>
      <p:sp>
        <p:nvSpPr>
          <p:cNvPr id="105" name="Oval 104"/>
          <p:cNvSpPr/>
          <p:nvPr/>
        </p:nvSpPr>
        <p:spPr>
          <a:xfrm>
            <a:off x="9949586" y="1920240"/>
            <a:ext cx="841248" cy="841248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49586" y="1920240"/>
            <a:ext cx="841248" cy="8412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Ekonomi</a:t>
            </a:r>
          </a:p>
        </p:txBody>
      </p:sp>
      <p:sp>
        <p:nvSpPr>
          <p:cNvPr id="107" name="Oval 106"/>
          <p:cNvSpPr/>
          <p:nvPr/>
        </p:nvSpPr>
        <p:spPr>
          <a:xfrm>
            <a:off x="10863986" y="1920240"/>
            <a:ext cx="841248" cy="841248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863986" y="1920240"/>
            <a:ext cx="841248" cy="8412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Sosial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035186" y="292608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035186" y="292608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172346" y="2962656"/>
            <a:ext cx="1115568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Rp23–68 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72346" y="3193796"/>
            <a:ext cx="1115568" cy="5826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nilai tambah dari lokalisasi 10–30%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434218" y="292608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434218" y="292608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571378" y="2962656"/>
            <a:ext cx="1115568" cy="32575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2251FF"/>
                </a:solidFill>
                <a:latin typeface="Arial"/>
              </a:rPr>
              <a:t>+1,5%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571378" y="3276346"/>
            <a:ext cx="1115568" cy="50012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level PDB puncak 2030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035186" y="388620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035186" y="388620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172346" y="3922776"/>
            <a:ext cx="1115568" cy="2571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251FF"/>
                </a:solidFill>
                <a:latin typeface="Arial"/>
              </a:rPr>
              <a:t>11,4 juta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72346" y="4170425"/>
            <a:ext cx="1115568" cy="56616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tahun-kerja didukung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434218" y="388620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434218" y="388620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571378" y="3922776"/>
            <a:ext cx="1115568" cy="32575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2251FF"/>
                </a:solidFill>
                <a:latin typeface="Arial"/>
              </a:rPr>
              <a:t>≠ 8%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571378" y="4236466"/>
            <a:ext cx="1115568" cy="50012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dari SDA saja: 6,2–6,8%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035186" y="4846320"/>
            <a:ext cx="2697480" cy="8686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Lima portofolio, ukuran berbeda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Pelestarian kekayaan · Infrastruktur · Platform industri · Inovasi · Pemasok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7200" y="5833872"/>
            <a:ext cx="11274552" cy="457200"/>
          </a:xfrm>
          <a:prstGeom prst="rect">
            <a:avLst/>
          </a:prstGeom>
          <a:solidFill>
            <a:srgbClr val="051C5C"/>
          </a:solidFill>
        </p:spPr>
        <p:txBody>
          <a:bodyPr wrap="square" lIns="164592" rIns="164592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Kesimpulan: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akses pasar terbukti; imbal hasil, nilai BUMN, dan dampak industri belum dapat dinilai.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2 DARI 3 · MEKANISME DAN PEMBIAYAAN (BAB 6–10)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Permintaan jangkar diubah menjadi pemasok terkualifikasi lewat DOCK-UP, dibiayai dua kanal yang hanya menutup 6,8% portofolio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merangkum seluruh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DOCK-UP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3316528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6528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5440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Proyek jangkar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6528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6175857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5857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4769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Natural Resource Fund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75857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9035186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5186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4098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Tokenisasi proyek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35186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457200" y="1920240"/>
            <a:ext cx="603504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920240"/>
            <a:ext cx="603504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33856" y="1920240"/>
            <a:ext cx="603504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3856" y="1920240"/>
            <a:ext cx="603504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10512" y="1920240"/>
            <a:ext cx="603504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512" y="1920240"/>
            <a:ext cx="603504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7168" y="1920240"/>
            <a:ext cx="603504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87168" y="1920240"/>
            <a:ext cx="603504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395728"/>
            <a:ext cx="26974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Develop · Off-taker · Certification · Upgrading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611880"/>
            <a:ext cx="493776" cy="27432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3904487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Masuk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3383280"/>
            <a:ext cx="493776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" y="3904487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G1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3154680"/>
            <a:ext cx="493776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27048" y="3904487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G2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2926080"/>
            <a:ext cx="493776" cy="9601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3904487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G3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2697480"/>
            <a:ext cx="493776" cy="11887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24328" y="3904487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G4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206240"/>
            <a:ext cx="269748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TRL/MRL: volume pesanan dilepas hanya pada kesiapan terverifikasi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6528" y="1920240"/>
            <a:ext cx="9601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Mineral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6648" y="1956816"/>
            <a:ext cx="274965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9046" y="1920240"/>
            <a:ext cx="54864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284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6528" y="2340864"/>
            <a:ext cx="9601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Energi/infra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6648" y="2377440"/>
            <a:ext cx="1234440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38520" y="2340864"/>
            <a:ext cx="54864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1.275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6528" y="2761488"/>
            <a:ext cx="9601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Pertahanan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76648" y="2798064"/>
            <a:ext cx="78423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2504" y="2761488"/>
            <a:ext cx="54864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6528" y="3182112"/>
            <a:ext cx="9601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Lainnya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76648" y="3218688"/>
            <a:ext cx="437621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41701" y="3182112"/>
            <a:ext cx="54864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452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6528" y="3639312"/>
            <a:ext cx="2697480" cy="237744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51C5C"/>
                </a:solidFill>
                <a:latin typeface="Arial"/>
              </a:rPr>
              <a:t>Rp T, belum direkonsiliasi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453688" y="4224528"/>
            <a:ext cx="2423160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338053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7080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P0</a:t>
            </a:r>
          </a:p>
        </p:txBody>
      </p:sp>
      <p:sp>
        <p:nvSpPr>
          <p:cNvPr id="59" name="Oval 58"/>
          <p:cNvSpPr/>
          <p:nvPr/>
        </p:nvSpPr>
        <p:spPr>
          <a:xfrm>
            <a:off x="378439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7466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P1</a:t>
            </a:r>
          </a:p>
        </p:txBody>
      </p:sp>
      <p:sp>
        <p:nvSpPr>
          <p:cNvPr id="61" name="Oval 60"/>
          <p:cNvSpPr/>
          <p:nvPr/>
        </p:nvSpPr>
        <p:spPr>
          <a:xfrm>
            <a:off x="418825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7852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P2</a:t>
            </a:r>
          </a:p>
        </p:txBody>
      </p:sp>
      <p:sp>
        <p:nvSpPr>
          <p:cNvPr id="63" name="Oval 62"/>
          <p:cNvSpPr/>
          <p:nvPr/>
        </p:nvSpPr>
        <p:spPr>
          <a:xfrm>
            <a:off x="459211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8238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P3</a:t>
            </a:r>
          </a:p>
        </p:txBody>
      </p:sp>
      <p:sp>
        <p:nvSpPr>
          <p:cNvPr id="65" name="Oval 64"/>
          <p:cNvSpPr/>
          <p:nvPr/>
        </p:nvSpPr>
        <p:spPr>
          <a:xfrm>
            <a:off x="499597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8624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P4</a:t>
            </a:r>
          </a:p>
        </p:txBody>
      </p:sp>
      <p:sp>
        <p:nvSpPr>
          <p:cNvPr id="67" name="Oval 66"/>
          <p:cNvSpPr/>
          <p:nvPr/>
        </p:nvSpPr>
        <p:spPr>
          <a:xfrm>
            <a:off x="539983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9010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P5</a:t>
            </a:r>
          </a:p>
        </p:txBody>
      </p:sp>
      <p:sp>
        <p:nvSpPr>
          <p:cNvPr id="69" name="Oval 68"/>
          <p:cNvSpPr/>
          <p:nvPr/>
        </p:nvSpPr>
        <p:spPr>
          <a:xfrm>
            <a:off x="580369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396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16528" y="3886200"/>
            <a:ext cx="2697480" cy="237744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2251FF"/>
                </a:solidFill>
                <a:latin typeface="Arial"/>
              </a:rPr>
              <a:t>Gerbang proyek mengunci gerbang pemasok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8737" y="2057400"/>
            <a:ext cx="822960" cy="11887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730337" y="3187598"/>
            <a:ext cx="822960" cy="58521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58737" y="2057400"/>
            <a:ext cx="822960" cy="11887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US$80 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93177" y="2788920"/>
            <a:ext cx="109728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US$3,9 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5857" y="3264408"/>
            <a:ext cx="118872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Nilai in-situ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47457" y="3264408"/>
            <a:ext cx="1280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Dapat diterbitkan (4,9%)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5857" y="3794760"/>
            <a:ext cx="2697480" cy="8229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75857" y="3794760"/>
            <a:ext cx="64008" cy="8229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13017" y="3831336"/>
            <a:ext cx="2514600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19,3% → 7,7%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13017" y="4112006"/>
            <a:ext cx="2514600" cy="48742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porsi SDA dalam penerimaan negara; 8 isu hukum, valuasi, fiskal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126626" y="2479040"/>
            <a:ext cx="502920" cy="812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26626" y="2250440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26626" y="3310128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766706" y="2377440"/>
            <a:ext cx="502920" cy="9144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66706" y="2148840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66706" y="3310128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406786" y="2479040"/>
            <a:ext cx="502920" cy="812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06786" y="2250440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06786" y="3310128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046866" y="2783840"/>
            <a:ext cx="502920" cy="5080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046866" y="2555240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046866" y="3310128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35186" y="1901952"/>
            <a:ext cx="26974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Tranche tonggak PAL-SUB-1, US$ juta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035186" y="3657600"/>
            <a:ext cx="2697480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35186" y="365760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172346" y="3694176"/>
            <a:ext cx="2514600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US$150 juta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72346" y="3974846"/>
            <a:ext cx="2514600" cy="53314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700 bps · 720 hari · escrow · pencairan 2-dari-2; instrumen = utang, enam prasyarat</a:t>
            </a:r>
          </a:p>
        </p:txBody>
      </p:sp>
      <p:sp>
        <p:nvSpPr>
          <p:cNvPr id="99" name="Oval 9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6112" y="4754880"/>
            <a:ext cx="1083564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Arsitektur pembiayaan: sumber dana ilustratif untuk portofolio Rp2.091 T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457200" y="5175504"/>
            <a:ext cx="11274552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03" name="Rectangle 102"/>
          <p:cNvSpPr/>
          <p:nvPr/>
        </p:nvSpPr>
        <p:spPr>
          <a:xfrm>
            <a:off x="457200" y="5303520"/>
            <a:ext cx="3116542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7200" y="5303520"/>
            <a:ext cx="3116542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Alokasi Danantara 27,6%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73742" y="5303520"/>
            <a:ext cx="636249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573742" y="5303520"/>
            <a:ext cx="636249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NRF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209992" y="5303520"/>
            <a:ext cx="129406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339398" y="5303520"/>
            <a:ext cx="7392353" cy="45720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339398" y="5303520"/>
            <a:ext cx="7392353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Sisa 65,6%: utang proyek, ko-investor, APBN, neraca BUMN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573742" y="5779008"/>
            <a:ext cx="41148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NRF 5,6% + surat tagihan 1,1% = dua kanal baru 6,8%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6053328"/>
            <a:ext cx="11274552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Pembiayaan mengikuti gerbang · portofolio Alpha/Impact tanpa subsidi silang · SPV ring-fenced · 11 uji stres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3 DARI 3 · PELAKSANAAN (BAB 11–17 DAN LAMPIRAN)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Pelaksanaan bertumpu pada kontraktor yang disiplin, AI, unit tata kelola, tiga scorecard, pengendalian risiko, dan peta jalan bersyarat bukti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merangkum seluruh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37160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BUMN Karya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792224"/>
            <a:ext cx="36362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4276344" y="137160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6344" y="137160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5256" y="137160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AI multi-agen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76344" y="1792224"/>
            <a:ext cx="3636263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8095488" y="137160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5488" y="137160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4400" y="137160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Tata kelola dan unit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95488" y="1792224"/>
            <a:ext cx="36362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457200" y="338328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38328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Pengukuran: tiga scorecard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3803904"/>
            <a:ext cx="36362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4276344" y="338328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6344" y="338328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5256" y="338328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Risiko: 24 risiko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76344" y="3803904"/>
            <a:ext cx="3636263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8095488" y="338328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5488" y="338328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400" y="338328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Pemangku kepentingan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95488" y="3803904"/>
            <a:ext cx="36362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1" name="Rectangle 30"/>
          <p:cNvSpPr/>
          <p:nvPr/>
        </p:nvSpPr>
        <p:spPr>
          <a:xfrm>
            <a:off x="548640" y="2084832"/>
            <a:ext cx="384048" cy="6583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1883664"/>
            <a:ext cx="475488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10,14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761488"/>
            <a:ext cx="50292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WIKA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2223777"/>
            <a:ext cx="384048" cy="51942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2022609"/>
            <a:ext cx="475488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2761488"/>
            <a:ext cx="50292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2392589"/>
            <a:ext cx="384048" cy="35061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2191421"/>
            <a:ext cx="475488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5,4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2761488"/>
            <a:ext cx="50292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Adhi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0240" y="2452323"/>
            <a:ext cx="384048" cy="29087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19" y="2251155"/>
            <a:ext cx="475488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4,48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2761488"/>
            <a:ext cx="50292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Waskita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1874519"/>
            <a:ext cx="1624583" cy="7315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468880" y="1874519"/>
            <a:ext cx="6400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1911095"/>
            <a:ext cx="1441703" cy="2571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251FF"/>
                </a:solidFill>
                <a:latin typeface="Arial"/>
              </a:rPr>
              <a:t>≈ Rp28 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6040" y="2158746"/>
            <a:ext cx="1441703" cy="42900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rugi 2025 (est.)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0" y="2651760"/>
            <a:ext cx="1624583" cy="56692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68880" y="2651760"/>
            <a:ext cx="64008" cy="56692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06040" y="2688336"/>
            <a:ext cx="1441703" cy="22288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251FF"/>
                </a:solidFill>
                <a:latin typeface="Arial"/>
              </a:rPr>
              <a:t>−45%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06040" y="2902966"/>
            <a:ext cx="1441703" cy="297434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anggaran infra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76344" y="1874519"/>
            <a:ext cx="2286000" cy="30175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76344" y="1874519"/>
            <a:ext cx="228600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Portfolio Control Tower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76344" y="2212848"/>
            <a:ext cx="2286000" cy="30175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76344" y="2212848"/>
            <a:ext cx="228600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Orchestrator + agen korporat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76344" y="2551176"/>
            <a:ext cx="2286000" cy="301752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76344" y="2551176"/>
            <a:ext cx="228600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Project Control Tower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76344" y="2889503"/>
            <a:ext cx="2286000" cy="301752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76344" y="2889503"/>
            <a:ext cx="228600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Platform data + master data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53784" y="1874519"/>
            <a:ext cx="1258823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653784" y="1874519"/>
            <a:ext cx="64008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90944" y="1911095"/>
            <a:ext cx="1075943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6 agen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90944" y="2142236"/>
            <a:ext cx="1075943" cy="3540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prioritas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53784" y="2560320"/>
            <a:ext cx="1258823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53784" y="2560320"/>
            <a:ext cx="64008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90944" y="2596896"/>
            <a:ext cx="1075943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3 bulan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90944" y="2828036"/>
            <a:ext cx="1075943" cy="3540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MVP, baca-saja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76344" y="3200400"/>
            <a:ext cx="3636264" cy="1828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8095488" y="1874519"/>
            <a:ext cx="3636264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95488" y="1874519"/>
            <a:ext cx="3636264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Kepala Industri Strategis (NITO)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95488" y="2286000"/>
            <a:ext cx="1163320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95488" y="2286000"/>
            <a:ext cx="1163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MD Portofolio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31960" y="2286000"/>
            <a:ext cx="1163320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31960" y="2286000"/>
            <a:ext cx="1163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MD Industri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568432" y="2286000"/>
            <a:ext cx="1163320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68432" y="2286000"/>
            <a:ext cx="1163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MD Rekayasa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95488" y="2697480"/>
            <a:ext cx="3636264" cy="31089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5488" y="2697480"/>
            <a:ext cx="3636264" cy="31089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4 pimpinan klaster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95488" y="3044952"/>
            <a:ext cx="3636264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Opsi B didahulukan · formal ditinjau bulan 12+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3886200"/>
            <a:ext cx="1454505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3886200"/>
            <a:ext cx="1454505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Investasi 40%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11705" y="3886200"/>
            <a:ext cx="1272692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911705" y="3886200"/>
            <a:ext cx="1272692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BUMN 35%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84398" y="3886200"/>
            <a:ext cx="909065" cy="45720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84398" y="3886200"/>
            <a:ext cx="909065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Bangun 25%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4389120"/>
            <a:ext cx="363626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4389120"/>
            <a:ext cx="3636264" cy="29260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Gerbang tata kelola: lulus/gagal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54880"/>
            <a:ext cx="624840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4754880"/>
            <a:ext cx="624840" cy="32918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Dihimpun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1118616" y="4846320"/>
            <a:ext cx="54864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210056" y="4754880"/>
            <a:ext cx="624840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10056" y="4754880"/>
            <a:ext cx="624840" cy="32918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Komit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1871472" y="4846320"/>
            <a:ext cx="54864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962911" y="4754880"/>
            <a:ext cx="624840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962911" y="4754880"/>
            <a:ext cx="624840" cy="32918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Cair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2624328" y="4846320"/>
            <a:ext cx="54864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715768" y="4754880"/>
            <a:ext cx="624840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15768" y="4754880"/>
            <a:ext cx="624840" cy="32918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Bangun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3377184" y="4846320"/>
            <a:ext cx="54864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468624" y="4754880"/>
            <a:ext cx="624840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468624" y="4754880"/>
            <a:ext cx="624840" cy="32918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Operasi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779264" y="3886200"/>
            <a:ext cx="832103" cy="356616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647944" y="3886200"/>
            <a:ext cx="832103" cy="35661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47944" y="3886200"/>
            <a:ext cx="832103" cy="35661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516624" y="3886200"/>
            <a:ext cx="832103" cy="35661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516624" y="3886200"/>
            <a:ext cx="832103" cy="35661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779264" y="4279392"/>
            <a:ext cx="832103" cy="356616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647944" y="4279392"/>
            <a:ext cx="832103" cy="356616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647944" y="4279392"/>
            <a:ext cx="832103" cy="35661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516624" y="4279392"/>
            <a:ext cx="832103" cy="35661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516624" y="4279392"/>
            <a:ext cx="832103" cy="35661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779264" y="4672584"/>
            <a:ext cx="832103" cy="356616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647944" y="4672584"/>
            <a:ext cx="832103" cy="356616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516624" y="4672584"/>
            <a:ext cx="832103" cy="356616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516624" y="4672584"/>
            <a:ext cx="832103" cy="35661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276344" y="3886200"/>
            <a:ext cx="502920" cy="39319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Tinggi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276344" y="4279392"/>
            <a:ext cx="502920" cy="39319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Sedang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76344" y="4672584"/>
            <a:ext cx="502920" cy="39319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Rendah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79264" y="5074920"/>
            <a:ext cx="2651760" cy="18288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l">
              <a:spcAft>
                <a:spcPts val="300"/>
              </a:spcAft>
            </a:pPr>
            <a:r>
              <a:rPr sz="700" b="0" i="0">
                <a:solidFill>
                  <a:srgbClr val="051C5C"/>
                </a:solidFill>
                <a:latin typeface="Arial"/>
              </a:rPr>
              <a:t>Dampak: rendah · sedang · tinggi (baris = kemungkinan)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095488" y="3886200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95488" y="3886200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Pemerintah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322816" y="3886200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322816" y="3886200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Kemenkeu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550144" y="3886200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50144" y="3886200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Dewan Pengawas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095488" y="4142232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095488" y="4142232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Kepala BP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322816" y="4142232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322816" y="4142232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DAM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550144" y="4142232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550144" y="4142232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DIM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095488" y="4398264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095488" y="4398264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DDMF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322816" y="4398264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322816" y="4398264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Kemhan/KKIP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0550144" y="4398264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550144" y="4398264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OJK/BI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095488" y="4654296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095488" y="4654296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PT PAL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322816" y="4654296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322816" y="4654296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BUMN Karya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550144" y="4654296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550144" y="4654296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Bank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095488" y="4910328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95488" y="4910328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UKM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322816" y="4910328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322816" y="4910328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BKI/BRIN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095488" y="5166360"/>
            <a:ext cx="3636264" cy="1828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148" name="Oval 147"/>
          <p:cNvSpPr/>
          <p:nvPr/>
        </p:nvSpPr>
        <p:spPr>
          <a:xfrm>
            <a:off x="457200" y="521208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57200" y="521208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96112" y="5212080"/>
            <a:ext cx="1083564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Peta jalan: delapan alur kerja, empat fase, titik keputusan bersyarat bukti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457200" y="5632704"/>
            <a:ext cx="11274552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2" name="Pentagon 151"/>
          <p:cNvSpPr/>
          <p:nvPr/>
        </p:nvSpPr>
        <p:spPr>
          <a:xfrm>
            <a:off x="457200" y="5715000"/>
            <a:ext cx="2921508" cy="347472"/>
          </a:xfrm>
          <a:prstGeom prst="homePlat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73152" rIns="137160" tIns="18288" bIns="18288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0–90 hari · tata kelola, register, MVP</a:t>
            </a:r>
          </a:p>
        </p:txBody>
      </p:sp>
      <p:sp>
        <p:nvSpPr>
          <p:cNvPr id="153" name="Chevron 152"/>
          <p:cNvSpPr/>
          <p:nvPr/>
        </p:nvSpPr>
        <p:spPr>
          <a:xfrm>
            <a:off x="3287268" y="5715000"/>
            <a:ext cx="2921508" cy="347472"/>
          </a:xfrm>
          <a:prstGeom prst="chevron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4–12 bulan · uji coba DOCK-UP, Fase 1</a:t>
            </a:r>
          </a:p>
        </p:txBody>
      </p:sp>
      <p:sp>
        <p:nvSpPr>
          <p:cNvPr id="154" name="Chevron 153"/>
          <p:cNvSpPr/>
          <p:nvPr/>
        </p:nvSpPr>
        <p:spPr>
          <a:xfrm>
            <a:off x="6117336" y="5715000"/>
            <a:ext cx="2921508" cy="347472"/>
          </a:xfrm>
          <a:prstGeom prst="chevron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12–24 bulan · skala, scorecard penuh</a:t>
            </a:r>
          </a:p>
        </p:txBody>
      </p:sp>
      <p:sp>
        <p:nvSpPr>
          <p:cNvPr id="155" name="Chevron 154"/>
          <p:cNvSpPr/>
          <p:nvPr/>
        </p:nvSpPr>
        <p:spPr>
          <a:xfrm>
            <a:off x="8947404" y="5715000"/>
            <a:ext cx="2784348" cy="347472"/>
          </a:xfrm>
          <a:prstGeom prst="chevron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&gt; 24 bulan · model standar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57200" y="608076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Keputusan: Hari 0 · 45 · 60 · 90 · Bulan 6 · 12 · 24   |   Lampiran A–E: 39 metrik · 31 ketidaksesuaian · perhitungan · glosarium · referensi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02 · PENDAHULUAN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Enam pertanyaan dijawab dengan lima kelas bukti dan tiga batas yang tegas: bukan audit, bukan valuasi, bukan opini hukum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Enam pertanyaan dan tempat jawabannya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54498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Oval 8"/>
          <p:cNvSpPr/>
          <p:nvPr/>
        </p:nvSpPr>
        <p:spPr>
          <a:xfrm>
            <a:off x="457200" y="1874519"/>
            <a:ext cx="685800" cy="68580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685800" cy="6858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56231"/>
            <a:ext cx="192024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Kondisi dan kinerja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Bab 3–4</a:t>
            </a:r>
          </a:p>
        </p:txBody>
      </p:sp>
      <p:sp>
        <p:nvSpPr>
          <p:cNvPr id="12" name="Oval 11"/>
          <p:cNvSpPr/>
          <p:nvPr/>
        </p:nvSpPr>
        <p:spPr>
          <a:xfrm>
            <a:off x="3291840" y="1874519"/>
            <a:ext cx="685800" cy="68580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874519"/>
            <a:ext cx="685800" cy="6858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856231"/>
            <a:ext cx="192024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Harapan dan ukurannya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Bab 5, 14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971800"/>
            <a:ext cx="685800" cy="68580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71800"/>
            <a:ext cx="685800" cy="6858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953512"/>
            <a:ext cx="192024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DOCK-UP dan proyek jangkar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Bab 6–7</a:t>
            </a:r>
          </a:p>
        </p:txBody>
      </p:sp>
      <p:sp>
        <p:nvSpPr>
          <p:cNvPr id="18" name="Oval 17"/>
          <p:cNvSpPr/>
          <p:nvPr/>
        </p:nvSpPr>
        <p:spPr>
          <a:xfrm>
            <a:off x="3291840" y="2971800"/>
            <a:ext cx="685800" cy="68580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971800"/>
            <a:ext cx="685800" cy="6858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953512"/>
            <a:ext cx="192024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Pembiayaan NRF dan tokenisasi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Bab 8–10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069079"/>
            <a:ext cx="685800" cy="68580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69079"/>
            <a:ext cx="685800" cy="6858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050791"/>
            <a:ext cx="192024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BUMN Karya dan AI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Bab 11–12</a:t>
            </a:r>
          </a:p>
        </p:txBody>
      </p:sp>
      <p:sp>
        <p:nvSpPr>
          <p:cNvPr id="24" name="Oval 23"/>
          <p:cNvSpPr/>
          <p:nvPr/>
        </p:nvSpPr>
        <p:spPr>
          <a:xfrm>
            <a:off x="3291840" y="4069079"/>
            <a:ext cx="685800" cy="68580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4069079"/>
            <a:ext cx="685800" cy="6858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4050791"/>
            <a:ext cx="192024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Dampak makro dan inflasi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Bab 5.7, 8.9, 14.7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371600"/>
            <a:ext cx="54223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Tangga bukti: makin ke bawah makin tidak boleh dibaca sebagai hasil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45936" y="1636776"/>
            <a:ext cx="53858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6309360" y="1783080"/>
            <a:ext cx="4572000" cy="530352"/>
          </a:xfrm>
          <a:prstGeom prst="rect">
            <a:avLst/>
          </a:prstGeom>
          <a:solidFill>
            <a:srgbClr val="051C5C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783080"/>
            <a:ext cx="4526280" cy="53035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A 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Teraudit / dijamin independen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404872"/>
            <a:ext cx="3840480" cy="530352"/>
          </a:xfrm>
          <a:prstGeom prst="rect">
            <a:avLst/>
          </a:prstGeom>
          <a:solidFill>
            <a:srgbClr val="2251FF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404872"/>
            <a:ext cx="3794760" cy="53035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B 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Observasi resmi dilaporkan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026664"/>
            <a:ext cx="3108960" cy="530352"/>
          </a:xfrm>
          <a:prstGeom prst="rect">
            <a:avLst/>
          </a:prstGeom>
          <a:solidFill>
            <a:srgbClr val="8FA8F5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026664"/>
            <a:ext cx="3063240" cy="53035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C 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Pengumuman, proyeksi, estimasi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648456"/>
            <a:ext cx="2377440" cy="530352"/>
          </a:xfrm>
          <a:prstGeom prst="rect">
            <a:avLst/>
          </a:prstGeom>
          <a:solidFill>
            <a:srgbClr val="E6ECFD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648456"/>
            <a:ext cx="2331720" cy="53035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D 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Ilustrasi atau asumsi analis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270248"/>
            <a:ext cx="16459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270248"/>
            <a:ext cx="1600200" cy="53035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NR 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Tidak dapat dinilai ≠ nol ≠ gagal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4632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Tiga batas kajian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3776" y="511149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1" name="Rectangle 40"/>
          <p:cNvSpPr/>
          <p:nvPr/>
        </p:nvSpPr>
        <p:spPr>
          <a:xfrm>
            <a:off x="457200" y="5257800"/>
            <a:ext cx="3657600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257800"/>
            <a:ext cx="36576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✕  Bukan audit atau asurans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9392" y="5257800"/>
            <a:ext cx="3657600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9392" y="5257800"/>
            <a:ext cx="36576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✕  Bukan valuasi atau opini hukum/pajak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01583" y="5257800"/>
            <a:ext cx="3657600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01583" y="5257800"/>
            <a:ext cx="36576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✕  Bukan keputusan Danantara atau Pemerintah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03 · DANANTARA SAAT 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Sepanjang 2026 yang terlihat adalah rangkaian tonggak pembiayaan dan aktivasi; seri imbal hasil seperti yang dipublikasikan peer belum 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Linimasa tonggak publik, Des 2025 – Okt 2026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914400" y="2880360"/>
            <a:ext cx="10149840" cy="0"/>
          </a:xfrm>
          <a:prstGeom prst="line">
            <a:avLst/>
          </a:prstGeom>
          <a:ln w="31750">
            <a:solidFill>
              <a:srgbClr val="000000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822960" y="2788920"/>
            <a:ext cx="182880" cy="1828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8308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Des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5740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RKAP 2026 dipublikasikan</a:t>
            </a:r>
          </a:p>
        </p:txBody>
      </p:sp>
      <p:sp>
        <p:nvSpPr>
          <p:cNvPr id="13" name="Oval 12"/>
          <p:cNvSpPr/>
          <p:nvPr/>
        </p:nvSpPr>
        <p:spPr>
          <a:xfrm>
            <a:off x="2091690" y="2788920"/>
            <a:ext cx="182880" cy="1828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43050" y="301752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6 Feb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3050" y="329184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6 peletakan batu pertama hilirisasi (≤ US$7 M)</a:t>
            </a:r>
          </a:p>
        </p:txBody>
      </p:sp>
      <p:sp>
        <p:nvSpPr>
          <p:cNvPr id="16" name="Oval 15"/>
          <p:cNvSpPr/>
          <p:nvPr/>
        </p:nvSpPr>
        <p:spPr>
          <a:xfrm>
            <a:off x="3360420" y="2788920"/>
            <a:ext cx="182880" cy="1828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1780" y="178308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1780" y="205740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CA–EDC US$200 juta; kajian tata kelola</a:t>
            </a:r>
          </a:p>
        </p:txBody>
      </p:sp>
      <p:sp>
        <p:nvSpPr>
          <p:cNvPr id="19" name="Oval 18"/>
          <p:cNvSpPr/>
          <p:nvPr/>
        </p:nvSpPr>
        <p:spPr>
          <a:xfrm>
            <a:off x="4629150" y="2788920"/>
            <a:ext cx="182880" cy="1828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80509" y="301752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12 Mei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0509" y="329184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Pernyataan konsolidasi dan audit</a:t>
            </a:r>
          </a:p>
        </p:txBody>
      </p:sp>
      <p:sp>
        <p:nvSpPr>
          <p:cNvPr id="22" name="Oval 21"/>
          <p:cNvSpPr/>
          <p:nvPr/>
        </p:nvSpPr>
        <p:spPr>
          <a:xfrm>
            <a:off x="5897880" y="2788920"/>
            <a:ext cx="182880" cy="18288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178308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12 Jun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05740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Surat utang DIM US$1,5 M</a:t>
            </a:r>
          </a:p>
        </p:txBody>
      </p:sp>
      <p:sp>
        <p:nvSpPr>
          <p:cNvPr id="25" name="Oval 24"/>
          <p:cNvSpPr/>
          <p:nvPr/>
        </p:nvSpPr>
        <p:spPr>
          <a:xfrm>
            <a:off x="7166610" y="2788920"/>
            <a:ext cx="182880" cy="1828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7970" y="301752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2 Jul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7970" y="329184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Laporan TB2025 BUMN selesai</a:t>
            </a:r>
          </a:p>
        </p:txBody>
      </p:sp>
      <p:sp>
        <p:nvSpPr>
          <p:cNvPr id="28" name="Oval 27"/>
          <p:cNvSpPr/>
          <p:nvPr/>
        </p:nvSpPr>
        <p:spPr>
          <a:xfrm>
            <a:off x="8435340" y="2788920"/>
            <a:ext cx="182880" cy="1828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6700" y="178308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21 Jul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6700" y="205740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8 penetapan bersyarat WtE Batch II</a:t>
            </a:r>
          </a:p>
        </p:txBody>
      </p:sp>
      <p:sp>
        <p:nvSpPr>
          <p:cNvPr id="31" name="Oval 30"/>
          <p:cNvSpPr/>
          <p:nvPr/>
        </p:nvSpPr>
        <p:spPr>
          <a:xfrm>
            <a:off x="9704070" y="2788920"/>
            <a:ext cx="182880" cy="1828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55430" y="301752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17 Sep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5430" y="329184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PSEL Bogor Raya 1 dimulai</a:t>
            </a:r>
          </a:p>
        </p:txBody>
      </p:sp>
      <p:sp>
        <p:nvSpPr>
          <p:cNvPr id="34" name="Oval 33"/>
          <p:cNvSpPr/>
          <p:nvPr/>
        </p:nvSpPr>
        <p:spPr>
          <a:xfrm>
            <a:off x="10972800" y="2788920"/>
            <a:ext cx="182880" cy="18288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0" y="178308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Okt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205740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Laporan situs: "Coming Soon"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16052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Praktik pelaporan peer: imbal hasil, 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3776" y="4425696"/>
            <a:ext cx="54498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457200" y="4526280"/>
            <a:ext cx="146304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Temasek 5 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0240" y="4572000"/>
            <a:ext cx="1880436" cy="21945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37252" y="4526280"/>
            <a:ext cx="91440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4,6%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873752"/>
            <a:ext cx="146304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Temasek 10 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20240" y="4919472"/>
            <a:ext cx="2902413" cy="21945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59229" y="4873752"/>
            <a:ext cx="91440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7,1%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221224"/>
            <a:ext cx="146304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Temasek 20 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20240" y="5266944"/>
            <a:ext cx="2779776" cy="21945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36592" y="5221224"/>
            <a:ext cx="91440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6,8%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568696"/>
            <a:ext cx="146304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Khazanah TB2025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5614416"/>
            <a:ext cx="2125711" cy="21945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82527" y="5568696"/>
            <a:ext cx="91440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5,2%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943600"/>
            <a:ext cx="5486400" cy="365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943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Danantara: belum ada seri imbal hasil yang dipublikasikan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4160520"/>
            <a:ext cx="54223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Angka surat utang DIM, Juni 2026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345936" y="4425696"/>
            <a:ext cx="53858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55" name="Rectangle 54"/>
          <p:cNvSpPr/>
          <p:nvPr/>
        </p:nvSpPr>
        <p:spPr>
          <a:xfrm>
            <a:off x="6309360" y="4526280"/>
            <a:ext cx="1737360" cy="12344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4526280"/>
            <a:ext cx="64008" cy="12344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562856"/>
            <a:ext cx="1554480" cy="37719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5,65%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4926076"/>
            <a:ext cx="1554480" cy="81635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imbal hasil tertimbang (5,35% / 5,95%)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83879" y="4526280"/>
            <a:ext cx="1737360" cy="12344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83879" y="4526280"/>
            <a:ext cx="64008" cy="12344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4562856"/>
            <a:ext cx="1554480" cy="37719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33 bps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4926076"/>
            <a:ext cx="1554480" cy="81635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rata-rata spread (32 / 34)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58400" y="4526280"/>
            <a:ext cx="1673352" cy="12344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58400" y="4526280"/>
            <a:ext cx="64008" cy="12344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95560" y="4562856"/>
            <a:ext cx="1490472" cy="37719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3,07×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95560" y="4926076"/>
            <a:ext cx="1490472" cy="81635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pesanan US$4,6 M vs US$1,5 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04 · EVALUASI KINERJA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Hasil BUMN beragam, sektor industri baru terlayani di hilir, dan setiap kelompok modal harus diukur dengan penggaris berbeda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Perubahan laba BUMN sebanding (kelas B)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83080"/>
            <a:ext cx="1143000" cy="6858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14300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▼ 5,26%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83080"/>
            <a:ext cx="242316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BRI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Rp60,31 → 57,13 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1143000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14300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▲ 0,93%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560320"/>
            <a:ext cx="242316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Mandiri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Rp55,78 → 56,30 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43000" cy="6858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37560"/>
            <a:ext cx="114300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▼ 9,5%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337560"/>
            <a:ext cx="242316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Telkom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laba dilaporkan; normalisasi Rp22,7 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1143000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14300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▲ 16,05%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114800"/>
            <a:ext cx="242316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PLN (pendapatan)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Rp281,9 → 327,2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3716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Sembilan sektor: seberapa terlayani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25696" y="16367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4389120" y="1783080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Imbal hasil keuangan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1819656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1819656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1819656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2130552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Optimalisasi BUMN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167128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49440" y="2167128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2167128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2478024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Hilirisasi industri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2514600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49440" y="2514600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60" y="2514600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2825496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Transisi energi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2862072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49440" y="2862072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52360" y="2862072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3172968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Industri digital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3209544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49440" y="3209544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52360" y="3209544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3520439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Ketahanan pangan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3557015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49440" y="3557015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52360" y="3557015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3867912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Manufaktur maju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3904488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49440" y="3904488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52360" y="3904488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0" y="4215384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Pengembangan pemasok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46520" y="4251960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49440" y="4251960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52360" y="4251960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0" y="4562856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Kepemilikan teknologi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4599432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49440" y="4599432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52360" y="4599432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0" y="4919472"/>
            <a:ext cx="35661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51C5C"/>
                </a:solidFill>
                <a:latin typeface="Arial"/>
              </a:rPr>
              <a:t>bar penuh = aktif/matang · kosong = kesenjangan besar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137160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kelompok modal, empat ukuran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357615" y="163677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62" name="Rectangle 61"/>
          <p:cNvSpPr/>
          <p:nvPr/>
        </p:nvSpPr>
        <p:spPr>
          <a:xfrm>
            <a:off x="8321040" y="1783080"/>
            <a:ext cx="109728" cy="7132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430768" y="1783080"/>
            <a:ext cx="3300984" cy="71323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30768" y="1783080"/>
            <a:ext cx="3300984" cy="71323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20" y="1783080"/>
            <a:ext cx="3200400" cy="71323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BUMN warisan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ROIC, laba ekonomi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1040" y="2587752"/>
            <a:ext cx="109728" cy="7132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30768" y="2587752"/>
            <a:ext cx="3300984" cy="71323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30768" y="2587752"/>
            <a:ext cx="3300984" cy="71323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20" y="2587752"/>
            <a:ext cx="3200400" cy="71323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Investasi likuid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Imbal hasil tertimbang waktu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21040" y="3392424"/>
            <a:ext cx="109728" cy="7132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430768" y="3392424"/>
            <a:ext cx="3300984" cy="71323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30768" y="3392424"/>
            <a:ext cx="3300984" cy="71323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03920" y="3392424"/>
            <a:ext cx="3200400" cy="71323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Privat/strategis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IRR neto, DPI/TVPI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4197096"/>
            <a:ext cx="109728" cy="7132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430768" y="4197096"/>
            <a:ext cx="3300984" cy="71323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30768" y="4197096"/>
            <a:ext cx="3300984" cy="71323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03920" y="4197096"/>
            <a:ext cx="3200400" cy="71323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Untuk pembangunan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ENPV, EIRR, hasil tambahan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5120640"/>
            <a:ext cx="758952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uji pembangunan industri yang sesungguhnya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93776" y="5385816"/>
            <a:ext cx="755294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80" name="Rectangle 79"/>
          <p:cNvSpPr/>
          <p:nvPr/>
        </p:nvSpPr>
        <p:spPr>
          <a:xfrm>
            <a:off x="457200" y="5486400"/>
            <a:ext cx="1828800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5486400"/>
            <a:ext cx="1828800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Uji 1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Adisionalitas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tanpa Danantara?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377440" y="5486400"/>
            <a:ext cx="1828800" cy="7772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377440" y="5486400"/>
            <a:ext cx="1828800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Uji 2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Daya saing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tanpa proteksi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5486400"/>
            <a:ext cx="1828800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97680" y="5486400"/>
            <a:ext cx="1828800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Uji 3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Kapabilitas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tim lokal menguasai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17920" y="5486400"/>
            <a:ext cx="1828800" cy="7772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17920" y="5486400"/>
            <a:ext cx="1828800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Uji 4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Distribusi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kerja dan pemasok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21040" y="5120640"/>
            <a:ext cx="3410712" cy="11430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21040" y="5120640"/>
            <a:ext cx="64008" cy="11430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58200" y="5157216"/>
            <a:ext cx="3227832" cy="3429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251FF"/>
                </a:solidFill>
                <a:latin typeface="Arial"/>
              </a:rPr>
              <a:t>5,11%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58200" y="5487416"/>
            <a:ext cx="3227832" cy="7579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PDB 2025 (5,03% pada 2024): tidak dapat diatribusikan ke Danantara tanpa kontrafaktual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05 · APA YANG DIHARAPKAN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Infrastruktur menyumbang porsi terbesar dampak PDB (≈ 69%) dan pekerjaan (≈ 61%), tetapi 8% pertumbuhan menuntut efisiensi investasi di luar kendali Danantara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Puncak dampak level PDB per klaster, 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640080" y="3102864"/>
            <a:ext cx="640080" cy="73761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83408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0,44%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SDA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2046732"/>
            <a:ext cx="640080" cy="1793748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19" y="1827276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1,07%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Infra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39" y="3672840"/>
            <a:ext cx="640080" cy="16764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5999" y="3453383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0,1%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7711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Pertahanan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3723132"/>
            <a:ext cx="640080" cy="117348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79" y="3503676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0,07%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1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Lainnya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3716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Tahun-kerja didukung, juta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25696" y="16367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4572000" y="2975457"/>
            <a:ext cx="640080" cy="86502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2756001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3,01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SDA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1834547"/>
            <a:ext cx="640080" cy="2005932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1615091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6,98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952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Infra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604826"/>
            <a:ext cx="640080" cy="235653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385370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0,82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Pertahanan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3668050"/>
            <a:ext cx="640080" cy="172429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3448594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0,6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Lainnya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137160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Investasi untuk tumbuh 8%, % PDB, per ICOR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357615" y="163677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8321040" y="1783080"/>
            <a:ext cx="82296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ICOR 3,9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1828800"/>
            <a:ext cx="1386523" cy="210311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67099" y="1783080"/>
            <a:ext cx="73152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31,2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121408"/>
            <a:ext cx="82296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ICOR 4,2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167127"/>
            <a:ext cx="1493178" cy="210311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73754" y="2121408"/>
            <a:ext cx="73152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33,6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2459736"/>
            <a:ext cx="82296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ICOR 4,5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2505456"/>
            <a:ext cx="1599834" cy="210311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80410" y="2459736"/>
            <a:ext cx="73152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798063"/>
            <a:ext cx="82296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ICOR 5,0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2843783"/>
            <a:ext cx="1777593" cy="210311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58169" y="2798063"/>
            <a:ext cx="73152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136391"/>
            <a:ext cx="82296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ICOR 5,6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3182111"/>
            <a:ext cx="1990904" cy="210311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71480" y="3136391"/>
            <a:ext cx="73152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44,8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3474720"/>
            <a:ext cx="82296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ICOR 6,0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3520439"/>
            <a:ext cx="2133112" cy="210311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313688" y="3474720"/>
            <a:ext cx="73152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52628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Tiga skenario 8% pada 2029: investasi (% PDB) dan ICOR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93776" y="479145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57" name="Rectangle 56"/>
          <p:cNvSpPr/>
          <p:nvPr/>
        </p:nvSpPr>
        <p:spPr>
          <a:xfrm>
            <a:off x="457200" y="4892040"/>
            <a:ext cx="3657600" cy="13716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892040"/>
            <a:ext cx="3657600" cy="6400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983480"/>
            <a:ext cx="347472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S1 Efisiensi lebih dulu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285232"/>
            <a:ext cx="173736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31,5%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86000" y="5349240"/>
            <a:ext cx="173736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ICOR 3,95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investasi/PDB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897880"/>
            <a:ext cx="3474720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Risiko: politik reformasi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79392" y="4892040"/>
            <a:ext cx="3657600" cy="13716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79392" y="4892040"/>
            <a:ext cx="3657600" cy="6400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70831" y="4983480"/>
            <a:ext cx="347472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S2 Dorongan besar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0831" y="5285232"/>
            <a:ext cx="173736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38,5%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08192" y="5349240"/>
            <a:ext cx="173736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ICOR 4,8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investasi/PDB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0831" y="5897880"/>
            <a:ext cx="3474720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Risiko: neraca pembayaran (CA −3,8%)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01583" y="4892040"/>
            <a:ext cx="3657600" cy="13716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01583" y="4892040"/>
            <a:ext cx="3657600" cy="6400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93023" y="4983480"/>
            <a:ext cx="347472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S3 Lompatan industri/ekspor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93023" y="5285232"/>
            <a:ext cx="173736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34,5%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30384" y="5349240"/>
            <a:ext cx="173736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ICOR 4,3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investasi/PDB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93023" y="5897880"/>
            <a:ext cx="3474720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Risiko: pasar global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20" y="4069080"/>
            <a:ext cx="365760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Jalur D11: investasi ≈ 33,5% PDB, ICOR ≈ 4,2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06 · DOCK-UP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UKM naik tangga TRL/MRL lewat dua jalur, dan kurva belajar 85% membuat harga lokal mencapai paritas impor pada sekitar 4× volume awal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8404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profil pemasok (TRL × MRL)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8039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83080"/>
            <a:ext cx="1874519" cy="12801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874519" cy="12801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Kaya prototipe, lemah produksi</a:t>
            </a:r>
          </a:p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TRL 6–8 · MRL 3–5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783080"/>
            <a:ext cx="1874519" cy="12801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783080"/>
            <a:ext cx="1874519" cy="12801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Pemasok terkualifikasi</a:t>
            </a:r>
          </a:p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TRL 8–9 · MRL 8–10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1874519" cy="128016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1874519" cy="12801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Penjelajah</a:t>
            </a:r>
          </a:p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TRL 1–4 · MRL 1–3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3108960"/>
            <a:ext cx="1874519" cy="12801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108960"/>
            <a:ext cx="1874519" cy="12801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Siap produksi, teknologi dangkal</a:t>
            </a:r>
          </a:p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TRL 4–5 · MRL 6–8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38404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↑ kesiapan manufaktur (MRL)    → kesiapan teknologi (TRL)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371600"/>
            <a:ext cx="71597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Dua jalur melalui gerbang (ilustrasi D4)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08576" y="1636776"/>
            <a:ext cx="71231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4572000" y="1783080"/>
            <a:ext cx="7159752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Jalur MRL · katup dan bantalan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148840"/>
            <a:ext cx="161848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1488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Baseline MRL kapal 4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227064" y="244144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19088" y="2148840"/>
            <a:ext cx="1618488" cy="7315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1488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Bln 7 · G1 · pesanan 20 katup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074151" y="244144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66175" y="2148840"/>
            <a:ext cx="161848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5" y="21488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Bln 8–14 · G2 · satu set kapal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921239" y="244144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13264" y="2148840"/>
            <a:ext cx="1618488" cy="7315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13264" y="21488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Bln 15–24 · G3 · satu kelas fregat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154680"/>
            <a:ext cx="7159752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Jalur TRL · sensor inframerah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520440"/>
            <a:ext cx="1618488" cy="7315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5204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Pijakan sipil TRL 8–9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227064" y="381304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19088" y="3520440"/>
            <a:ext cx="161848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35204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TRL 5 → 7 uji kejut/getaran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074151" y="381304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66175" y="3520440"/>
            <a:ext cx="1618488" cy="7315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6175" y="35204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G4 · uji laut di kapal perang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921239" y="381304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13264" y="3520440"/>
            <a:ext cx="161848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13264" y="35204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Subpemasok rudal pencari panas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846320"/>
            <a:ext cx="5943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Biaya unit relatif, kurva belajar 85%; garis = paritas impor (≈ 4,2×)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93776" y="5111496"/>
            <a:ext cx="5907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6" name="Rectangle 45"/>
          <p:cNvSpPr/>
          <p:nvPr/>
        </p:nvSpPr>
        <p:spPr>
          <a:xfrm>
            <a:off x="731520" y="5349240"/>
            <a:ext cx="640080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129783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6016752"/>
            <a:ext cx="859536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1×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0" y="5445252"/>
            <a:ext cx="640080" cy="5440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37360" y="5225796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85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19072" y="6016752"/>
            <a:ext cx="859536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2×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0" y="5528462"/>
            <a:ext cx="640080" cy="460857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0" y="5309006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72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16352" y="6016752"/>
            <a:ext cx="859536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4×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23359" y="5598871"/>
            <a:ext cx="640080" cy="390448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0" y="5379415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61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1" y="6016752"/>
            <a:ext cx="859536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8×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5656478"/>
            <a:ext cx="640080" cy="332841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0" y="5437022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10912" y="6016752"/>
            <a:ext cx="859536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16×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48640" y="5532302"/>
            <a:ext cx="5760720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62" name="Rectangle 61"/>
          <p:cNvSpPr/>
          <p:nvPr/>
        </p:nvSpPr>
        <p:spPr>
          <a:xfrm>
            <a:off x="6675120" y="5029200"/>
            <a:ext cx="1645920" cy="11887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675120" y="5029200"/>
            <a:ext cx="64008" cy="11887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12280" y="5065776"/>
            <a:ext cx="1463040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85% / 35%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12280" y="5296916"/>
            <a:ext cx="1463040" cy="9027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ofset / kandungan lokal minimum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12480" y="5029200"/>
            <a:ext cx="1645920" cy="11887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0" y="5029200"/>
            <a:ext cx="64008" cy="11887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49640" y="5065776"/>
            <a:ext cx="1463040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20–30 UKM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9640" y="5296916"/>
            <a:ext cx="1463040" cy="9027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uji coba, 1 integrator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49840" y="5029200"/>
            <a:ext cx="1645920" cy="11887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149840" y="5029200"/>
            <a:ext cx="64008" cy="11887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287000" y="5065776"/>
            <a:ext cx="1463040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≥ 80% pada G1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87000" y="5296916"/>
            <a:ext cx="1463040" cy="9027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target bulan ke-24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07 · PROYEK JANGKAR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Gerbang proyek P0–P6 dan gerbang industri M0–M9 saling dipetakan, sehingga paket lokal dilepas hanya pada tahap kesiapan yang sama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Sepuluh gerbang industri M0–M9 dipetakan ke tujuh gerbang proyek P0–P6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75488" y="1783080"/>
            <a:ext cx="1090879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M0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Mandat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4351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2943" y="1783080"/>
            <a:ext cx="1090879" cy="9144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2943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M1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FEL 1 konsep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11806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84655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30398" y="1783080"/>
            <a:ext cx="1090879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30398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M2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FEL 2 pra-kelayakan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9262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2110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57853" y="1783080"/>
            <a:ext cx="1090879" cy="9144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7853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M3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FEL 3 FEED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6717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39565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P2–P3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5308" y="1783080"/>
            <a:ext cx="1090879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5308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M4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FID, financial close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94172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67020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P3–P4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12764" y="1783080"/>
            <a:ext cx="1090879" cy="9144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2764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M5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EPC, industrialisasi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1627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4476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40219" y="1783080"/>
            <a:ext cx="1090879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40219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M6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Penyelesaian mekanis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49082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1931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P4–P5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7674" y="1783080"/>
            <a:ext cx="1090879" cy="9144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7674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M7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Commissioning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76538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9386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95129" y="1783080"/>
            <a:ext cx="1090879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95129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M8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Rilis komersial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03993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76841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P5–P6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22584" y="1783080"/>
            <a:ext cx="1090879" cy="9144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22584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M9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Ramp-up manfaat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131448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04296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42900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Enam proyek jangkar dan permintaan yang diciptakan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93776" y="3694176"/>
            <a:ext cx="54498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51" name="Rectangle 50"/>
          <p:cNvSpPr/>
          <p:nvPr/>
        </p:nvSpPr>
        <p:spPr>
          <a:xfrm>
            <a:off x="457200" y="3794760"/>
            <a:ext cx="2697480" cy="7315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3794760"/>
            <a:ext cx="6400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379476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Giant Sea Wall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beton, baja, pompa, pintu air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46120" y="3794760"/>
            <a:ext cx="2697480" cy="7315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46120" y="3794760"/>
            <a:ext cx="6400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83279" y="379476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3 Juta Rumah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komponen modular, HVAC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617720"/>
            <a:ext cx="2697480" cy="7315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617720"/>
            <a:ext cx="6400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461772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Maritim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kapal, propulsi, MRO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46120" y="4617720"/>
            <a:ext cx="2697480" cy="7315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46120" y="4617720"/>
            <a:ext cx="6400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83279" y="461772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Pertahanan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sensor, radar, mesin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440680"/>
            <a:ext cx="2697480" cy="7315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5440680"/>
            <a:ext cx="6400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544068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Hilirisasi mineral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suku cadang, refraktori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46120" y="5440680"/>
            <a:ext cx="2697480" cy="7315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46120" y="5440680"/>
            <a:ext cx="6400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83279" y="544068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Lainnya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kimia, WtE, digital, pangan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0" y="3429000"/>
            <a:ext cx="54223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Backlog maritim PT PAL (US$ miliar)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345936" y="3694176"/>
            <a:ext cx="53858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6309360" y="3794760"/>
            <a:ext cx="1828800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2 kapal selam Scorpène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38160" y="3840480"/>
            <a:ext cx="2822752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97488" y="3794760"/>
            <a:ext cx="822960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2,16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9360" y="4251960"/>
            <a:ext cx="1828800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2 fregat Merah Putih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4297680"/>
            <a:ext cx="1568195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42932" y="4251960"/>
            <a:ext cx="822960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1,2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09360" y="4892040"/>
            <a:ext cx="1218438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9360" y="4892040"/>
            <a:ext cx="121843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Permintaan Kemhan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7564373" y="50703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710678" y="4892040"/>
            <a:ext cx="1218438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710678" y="4892040"/>
            <a:ext cx="121843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Paket DOCK-UP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8965692" y="50703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111996" y="4892040"/>
            <a:ext cx="1218438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11996" y="4892040"/>
            <a:ext cx="121843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Tokenisasi biayai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10367009" y="50703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513314" y="4892040"/>
            <a:ext cx="1218438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13314" y="4892040"/>
            <a:ext cx="121843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Pemasok dibayar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9360" y="5486400"/>
            <a:ext cx="5422392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Titik integrasi seluruh kajian: permintaan dari program pertahanan, DOCK-UP mengkualifikasi pemasok, tokenisasi membiayai modal kerja.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08 · NATURAL RESOURCE FUND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Delapan jalur transmisi inflasi dan batas valuasi sama pentingnya dengan niat NRF: pantau dan batasi sebelum rupiah pertama disalurkan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76072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Delapan jalur transmisi inflasi (↑ naik · ↓ turun · ↕ dua arah)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572414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83080"/>
            <a:ext cx="2834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0352" y="1892807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892807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83080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Permintaan agregat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83080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783080"/>
            <a:ext cx="2834640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56432" y="1892807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892807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783080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Pembiayaan moneter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783080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↑↑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96312"/>
            <a:ext cx="2834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0352" y="2606040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606040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496312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Nilai tukar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496312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496312"/>
            <a:ext cx="2834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56432" y="2606040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2606040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496312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Harga diatur, batu bara/DMO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496312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09544"/>
            <a:ext cx="2834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30352" y="3319272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319272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209544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Gangguan pasokan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209544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3209544"/>
            <a:ext cx="2834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56432" y="3319272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56432" y="3319272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3209544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Pemanasan daerah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209544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922776"/>
            <a:ext cx="2834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0352" y="4032504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4032504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3922776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Ekspektasi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3922776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80" y="3922776"/>
            <a:ext cx="2834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456432" y="4032504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56432" y="4032504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3922776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Kapasitas pasokan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3922776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1371600"/>
            <a:ext cx="52395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Ambang lampu lalu lintas: inflasi IHK tahunan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528816" y="1636776"/>
            <a:ext cx="520293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51" name="Rectangle 50"/>
          <p:cNvSpPr/>
          <p:nvPr/>
        </p:nvSpPr>
        <p:spPr>
          <a:xfrm>
            <a:off x="6492240" y="1783080"/>
            <a:ext cx="1691640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1783080"/>
            <a:ext cx="1691640" cy="8686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Hijau</a:t>
            </a:r>
          </a:p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Arial"/>
              </a:rPr>
              <a:t>1,5–3,5%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66175" y="1783080"/>
            <a:ext cx="1691640" cy="86868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66175" y="1783080"/>
            <a:ext cx="1691640" cy="8686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Kuning</a:t>
            </a:r>
          </a:p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Arial"/>
              </a:rPr>
              <a:t>3,5–4,0%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40112" y="1783080"/>
            <a:ext cx="1691640" cy="8686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40112" y="1783080"/>
            <a:ext cx="1691640" cy="8686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Merah</a:t>
            </a:r>
          </a:p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&gt; 4,0%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743200"/>
            <a:ext cx="5239512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Merah juga: setiap pembelian BI di pasar perdana di luar kerangka krisis sah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3246120"/>
            <a:ext cx="52395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Beban inflasi bila NRF membiayai pipeline (poin)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528816" y="3511296"/>
            <a:ext cx="520293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492240" y="3611880"/>
            <a:ext cx="2103120" cy="34747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Ekuitas DDMF saja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95359" y="3657600"/>
            <a:ext cx="362285" cy="256031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94221" y="3611880"/>
            <a:ext cx="914400" cy="34747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≤ 0,07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3995928"/>
            <a:ext cx="2103120" cy="34747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Seluruh pipeline rata-rata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95359" y="4041648"/>
            <a:ext cx="1811426" cy="256031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43362" y="3995928"/>
            <a:ext cx="914400" cy="34747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≤ 0,35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0" y="4379976"/>
            <a:ext cx="2103120" cy="34747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Seluruh pipeline puncak 2029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95359" y="4425696"/>
            <a:ext cx="2535996" cy="256031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167932" y="4379976"/>
            <a:ext cx="914400" cy="34747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≤ 0,49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4709160"/>
            <a:ext cx="576072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Valuasi: mengapa nilai yang dapat dibiayai jauh di bawah nilai in-situ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93776" y="4974336"/>
            <a:ext cx="572414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71" name="Rectangle 70"/>
          <p:cNvSpPr/>
          <p:nvPr/>
        </p:nvSpPr>
        <p:spPr>
          <a:xfrm>
            <a:off x="457200" y="5074920"/>
            <a:ext cx="1035100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074920"/>
            <a:ext cx="1035100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Tonase terbukti + terkira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1528876" y="534466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638604" y="5074920"/>
            <a:ext cx="1035100" cy="6858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38604" y="5074920"/>
            <a:ext cx="1035100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Rencana produksi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2710281" y="534466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820009" y="5074920"/>
            <a:ext cx="1035100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20009" y="5074920"/>
            <a:ext cx="1035100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Harga konservatif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3891686" y="534466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001414" y="5074920"/>
            <a:ext cx="1035100" cy="6858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01414" y="5074920"/>
            <a:ext cx="1035100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Porsi negara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5073091" y="534466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182819" y="5074920"/>
            <a:ext cx="1035100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82819" y="5074920"/>
            <a:ext cx="1035100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Nilai kini ÷ cakupan 1,5×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5852160"/>
            <a:ext cx="5760720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Contoh: US$80 M in-situ → ≈ US$3,9 M dapat diterbitkan (4,9%)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92240" y="4709160"/>
            <a:ext cx="52395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Aset dana 2050 (Rp T): menabung vs agresif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528816" y="4974336"/>
            <a:ext cx="520293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88" name="Rectangle 87"/>
          <p:cNvSpPr/>
          <p:nvPr/>
        </p:nvSpPr>
        <p:spPr>
          <a:xfrm>
            <a:off x="6766560" y="5436926"/>
            <a:ext cx="914400" cy="415233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75120" y="5217470"/>
            <a:ext cx="1097280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1,438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56832" y="5879592"/>
            <a:ext cx="113385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Hanya menabung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21040" y="5319401"/>
            <a:ext cx="914400" cy="532758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29600" y="5099945"/>
            <a:ext cx="1097280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1,845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11312" y="5879592"/>
            <a:ext cx="113385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Agresif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875520" y="5417001"/>
            <a:ext cx="914400" cy="43515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784080" y="5197545"/>
            <a:ext cx="1097280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1,507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65792" y="5879592"/>
            <a:ext cx="113385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Uji tekanan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09 · TOKENISASI PROYEK BERDAULAT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Dana PAL-SUB-1 mengalir dalam enam langkah terkendali; instrumen ini utang dan baru sah dilanjutkan setelah enam prasyarat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Siklus dana dan pihak yang bertanggung jawab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Oval 8"/>
          <p:cNvSpPr/>
          <p:nvPr/>
        </p:nvSpPr>
        <p:spPr>
          <a:xfrm>
            <a:off x="1168146" y="1783080"/>
            <a:ext cx="457200" cy="45720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8146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71066" y="2011680"/>
            <a:ext cx="1330452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02920" y="2286000"/>
            <a:ext cx="1787652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Kontrak Kemhan di-hash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17876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2251FF"/>
                </a:solidFill>
                <a:latin typeface="Arial"/>
              </a:rPr>
              <a:t>PAL · Kemhan</a:t>
            </a:r>
          </a:p>
        </p:txBody>
      </p:sp>
      <p:sp>
        <p:nvSpPr>
          <p:cNvPr id="14" name="Oval 13"/>
          <p:cNvSpPr/>
          <p:nvPr/>
        </p:nvSpPr>
        <p:spPr>
          <a:xfrm>
            <a:off x="3047238" y="1783080"/>
            <a:ext cx="457200" cy="45720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7238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50158" y="2011680"/>
            <a:ext cx="1330452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2382012" y="2286000"/>
            <a:ext cx="1787652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Bukti ZK nilai 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2012" y="2788920"/>
            <a:ext cx="17876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2251FF"/>
                </a:solidFill>
                <a:latin typeface="Arial"/>
              </a:rPr>
              <a:t>Kemenkeu</a:t>
            </a:r>
          </a:p>
        </p:txBody>
      </p:sp>
      <p:sp>
        <p:nvSpPr>
          <p:cNvPr id="19" name="Oval 18"/>
          <p:cNvSpPr/>
          <p:nvPr/>
        </p:nvSpPr>
        <p:spPr>
          <a:xfrm>
            <a:off x="4926330" y="1783080"/>
            <a:ext cx="457200" cy="45720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26330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29250" y="2011680"/>
            <a:ext cx="1330452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4261104" y="2286000"/>
            <a:ext cx="1787652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Onboarding 100 dompet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104" y="2788920"/>
            <a:ext cx="17876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2251FF"/>
                </a:solidFill>
                <a:latin typeface="Arial"/>
              </a:rPr>
              <a:t>Danantara · co-investor</a:t>
            </a:r>
          </a:p>
        </p:txBody>
      </p:sp>
      <p:sp>
        <p:nvSpPr>
          <p:cNvPr id="24" name="Oval 23"/>
          <p:cNvSpPr/>
          <p:nvPr/>
        </p:nvSpPr>
        <p:spPr>
          <a:xfrm>
            <a:off x="6805422" y="1783080"/>
            <a:ext cx="457200" cy="45720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5422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08342" y="2011680"/>
            <a:ext cx="1330452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140196" y="2286000"/>
            <a:ext cx="1787652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Dana di escrow fiat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0196" y="2788920"/>
            <a:ext cx="17876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2251FF"/>
                </a:solidFill>
                <a:latin typeface="Arial"/>
              </a:rPr>
              <a:t>Bank Mandiri Custody</a:t>
            </a:r>
          </a:p>
        </p:txBody>
      </p:sp>
      <p:sp>
        <p:nvSpPr>
          <p:cNvPr id="29" name="Oval 28"/>
          <p:cNvSpPr/>
          <p:nvPr/>
        </p:nvSpPr>
        <p:spPr>
          <a:xfrm>
            <a:off x="8684514" y="1783080"/>
            <a:ext cx="457200" cy="45720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4514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87434" y="2011680"/>
            <a:ext cx="1330452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8019288" y="2286000"/>
            <a:ext cx="1787652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Pencairan per tonggak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288" y="2788920"/>
            <a:ext cx="17876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2251FF"/>
                </a:solidFill>
                <a:latin typeface="Arial"/>
              </a:rPr>
              <a:t>BKI + TNI AL 2-dari-2</a:t>
            </a:r>
          </a:p>
        </p:txBody>
      </p:sp>
      <p:sp>
        <p:nvSpPr>
          <p:cNvPr id="34" name="Oval 33"/>
          <p:cNvSpPr/>
          <p:nvPr/>
        </p:nvSpPr>
        <p:spPr>
          <a:xfrm>
            <a:off x="10563606" y="1783080"/>
            <a:ext cx="457200" cy="45720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63606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8380" y="2286000"/>
            <a:ext cx="1787652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Pelunasan waterfall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8380" y="2788920"/>
            <a:ext cx="17876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2251FF"/>
                </a:solidFill>
                <a:latin typeface="Arial"/>
              </a:rPr>
              <a:t>Collection account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29184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Tranche tonggak, US$ juta (total 150)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93776" y="355701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0" name="Rectangle 39"/>
          <p:cNvSpPr/>
          <p:nvPr/>
        </p:nvSpPr>
        <p:spPr>
          <a:xfrm>
            <a:off x="457200" y="3703320"/>
            <a:ext cx="97536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703320"/>
            <a:ext cx="97536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T1 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32560" y="3703320"/>
            <a:ext cx="109728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32560" y="3703320"/>
            <a:ext cx="109728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T2 45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29840" y="3703320"/>
            <a:ext cx="97536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29840" y="3703320"/>
            <a:ext cx="97536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T3 40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05199" y="3703320"/>
            <a:ext cx="60960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05199" y="3703320"/>
            <a:ext cx="60960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T4 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434840"/>
            <a:ext cx="178308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443484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4471416"/>
            <a:ext cx="1600200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US$20,7 juta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4702555"/>
            <a:ext cx="1600200" cy="62839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imbal hasil 700 bps × 720 hari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31720" y="4434840"/>
            <a:ext cx="178308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331720" y="443484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68879" y="4471416"/>
            <a:ext cx="1600200" cy="3429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251FF"/>
                </a:solidFill>
                <a:latin typeface="Arial"/>
              </a:rPr>
              <a:t>75%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8879" y="4801616"/>
            <a:ext cx="1600200" cy="5293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material PAL diimpor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329184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Sepuluh isu penilaian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425696" y="355701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58" name="Rectangle 57"/>
          <p:cNvSpPr/>
          <p:nvPr/>
        </p:nvSpPr>
        <p:spPr>
          <a:xfrm>
            <a:off x="4389120" y="370332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0" y="370332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1  Utang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45352" y="370332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5352" y="370332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2  Alih tagihan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89120" y="406908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0" y="406908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3  Alokasi anggaran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45352" y="406908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45352" y="406908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4  Biaya tak setara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0" y="443484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9120" y="443484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5  Investor negara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45352" y="443484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5352" y="443484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6  Perlu blockchain?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89120" y="480060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20" y="480060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7  Konsentrasi peran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45352" y="480060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45352" y="480060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8  Klaim belum terbukti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89120" y="516636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89120" y="516636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9  Term sheet tak konsisten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45352" y="516636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45352" y="516636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10  Kebocoran impor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329184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Enam prasyarat uji coba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357615" y="355701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80" name="Rectangle 79"/>
          <p:cNvSpPr/>
          <p:nvPr/>
        </p:nvSpPr>
        <p:spPr>
          <a:xfrm>
            <a:off x="8321040" y="3703320"/>
            <a:ext cx="1664208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21040" y="3703320"/>
            <a:ext cx="166420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Hukum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058400" y="3703320"/>
            <a:ext cx="1664208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058400" y="3703320"/>
            <a:ext cx="166420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Risiko fiskal/grup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1040" y="4270248"/>
            <a:ext cx="1664208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21040" y="4270248"/>
            <a:ext cx="166420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Keekonomian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58400" y="4270248"/>
            <a:ext cx="1664208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58400" y="4270248"/>
            <a:ext cx="166420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Tata kelola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21040" y="4837176"/>
            <a:ext cx="1664208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21040" y="4837176"/>
            <a:ext cx="166420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Teknologi/keamanan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58400" y="4837176"/>
            <a:ext cx="1664208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58400" y="4837176"/>
            <a:ext cx="166420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Keterkaitan industri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Perluasan: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keluarga Surat Tagihan Proyek Berdaulat dalam rupiah untuk pertahanan, KPBU, WtE, hilirisasi, dan perumahan; dicatat sebagai utang penerbit.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10 · ARSITEKTUR PEMBIAYAAN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Rp2.091 T tidak dapat didanai dua kanal baru: sisa Rp1.371 T harus dimobilisasi dari utang proyek, ko-investor, dan APBN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667512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Air terjun sumber dana, Rp triliun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663854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640080" y="1920240"/>
            <a:ext cx="1005840" cy="2651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73352"/>
            <a:ext cx="1005840" cy="24688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2.091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118872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Portofolio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39" y="1920240"/>
            <a:ext cx="1005840" cy="73300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39" y="1673352"/>
            <a:ext cx="1005840" cy="24688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578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799" y="4608576"/>
            <a:ext cx="118872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Alokasi Danantara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653246"/>
            <a:ext cx="1005840" cy="1496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406358"/>
            <a:ext cx="1005840" cy="24688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118872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NRF Tahap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2802891"/>
            <a:ext cx="1005840" cy="3043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2556003"/>
            <a:ext cx="1005840" cy="24688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08576"/>
            <a:ext cx="118872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Surat tagihan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833328"/>
            <a:ext cx="1005840" cy="1738671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586440"/>
            <a:ext cx="1005840" cy="24688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1.371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608576"/>
            <a:ext cx="118872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Sisa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371600"/>
            <a:ext cx="43251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Struktur modal ilustratif 30 : 70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43215" y="1636776"/>
            <a:ext cx="42885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7406640" y="1783080"/>
            <a:ext cx="1297533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04173" y="1783080"/>
            <a:ext cx="3027578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1783080"/>
            <a:ext cx="1297533" cy="64008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Ekuitas Rp627 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4173" y="1783080"/>
            <a:ext cx="3027578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Utang Rp1.464 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606040"/>
            <a:ext cx="43251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Defisit pembiayaan proyek (D9), Rp T per tahun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43215" y="2871216"/>
            <a:ext cx="42885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7406640" y="2971800"/>
            <a:ext cx="1417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Kebutuhan capex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23960" y="3017520"/>
            <a:ext cx="2246376" cy="23774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06912" y="2971800"/>
            <a:ext cx="82296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337560"/>
            <a:ext cx="1417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Retensi dividen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3383279"/>
            <a:ext cx="694334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4870" y="3337560"/>
            <a:ext cx="82296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85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703320"/>
            <a:ext cx="1417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Arus kas internal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23960" y="3749039"/>
            <a:ext cx="612648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73184" y="3703320"/>
            <a:ext cx="82296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4069080"/>
            <a:ext cx="1417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Defisit neto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23960" y="4114800"/>
            <a:ext cx="898550" cy="237744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59086" y="4069080"/>
            <a:ext cx="82296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480560"/>
            <a:ext cx="432511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51C5C"/>
                </a:solidFill>
                <a:latin typeface="Arial"/>
              </a:rPr>
              <a:t>titik tengah rentang: 250–300 · 80–90 · 70–80 · 95–125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93776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Pembiayaan mengikuti gerbang: dari persiapan sampai daur ulang aset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93776" y="520293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7" name="Rectangle 46"/>
          <p:cNvSpPr/>
          <p:nvPr/>
        </p:nvSpPr>
        <p:spPr>
          <a:xfrm>
            <a:off x="457200" y="5303520"/>
            <a:ext cx="207203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303520"/>
            <a:ext cx="2072030" cy="54864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P0–P2 hibah penyiapan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565806" y="550468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57830" y="5303520"/>
            <a:ext cx="207203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57830" y="5303520"/>
            <a:ext cx="2072030" cy="54864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P3 ekuitas Danantara + NRF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4866436" y="550468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58460" y="5303520"/>
            <a:ext cx="207203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58460" y="5303520"/>
            <a:ext cx="2072030" cy="54864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P4 surat tagihan, bank, kredit ekspor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7167067" y="550468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59091" y="5303520"/>
            <a:ext cx="207203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59091" y="5303520"/>
            <a:ext cx="2072030" cy="54864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P5 refinancing obligasi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9467697" y="550468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59721" y="5303520"/>
            <a:ext cx="207203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59721" y="5303520"/>
            <a:ext cx="2072030" cy="54864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P6 daur ulang aset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Portofolio Alpha (komersial) dan Impact (SPV ring-fenced, ekuitas kedaulatan ≤ 30%) tidak boleh subsidi silang.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11 · BUMN KARYA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Dari konglomerasi infrastruktur ke kontraktor disiplin: perubahan model, siklus kas yang melindungi, dan metrik pemulihan yang jujur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64008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Dari → Ke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63642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83080"/>
            <a:ext cx="2834640" cy="6217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283464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Kontraktor + pengembang + investor tol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37560" y="1965960"/>
            <a:ext cx="50292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1783080"/>
            <a:ext cx="2971800" cy="6217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783080"/>
            <a:ext cx="297180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Fokus pada bisnis inti konstruksi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96312"/>
            <a:ext cx="2834640" cy="6217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96312"/>
            <a:ext cx="283464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Mengambil proyek apa saja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337560" y="2679192"/>
            <a:ext cx="50292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86200" y="2496312"/>
            <a:ext cx="2971800" cy="6217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2496312"/>
            <a:ext cx="297180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Selektif: hanya margin sehat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09544"/>
            <a:ext cx="2834640" cy="6217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09544"/>
            <a:ext cx="283464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Pemilik aset jangka panjang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337560" y="3392424"/>
            <a:ext cx="50292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86200" y="3209544"/>
            <a:ext cx="2971800" cy="6217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3209544"/>
            <a:ext cx="297180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Tidak menahan aset berlebih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22776"/>
            <a:ext cx="2834640" cy="6217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922776"/>
            <a:ext cx="283464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Pendanaan dari utang perusahaan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337560" y="4105656"/>
            <a:ext cx="50292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86200" y="3922776"/>
            <a:ext cx="2971800" cy="6217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3922776"/>
            <a:ext cx="297180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Pendanaan dari pemilik proyek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36008"/>
            <a:ext cx="2834640" cy="6217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36008"/>
            <a:ext cx="283464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Sukses = proyek selesai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337560" y="4818888"/>
            <a:ext cx="50292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86200" y="4636008"/>
            <a:ext cx="2971800" cy="6217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4636008"/>
            <a:ext cx="297180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Sukses = laba dan kas berkelanjutan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1371600"/>
            <a:ext cx="45079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Siklus kas kontraktor sehat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260336" y="1636776"/>
            <a:ext cx="44714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7223760" y="1783080"/>
            <a:ext cx="411480" cy="4114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1783080"/>
            <a:ext cx="411480" cy="4114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1783080"/>
            <a:ext cx="2194560" cy="4114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Terima uang muka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24927" y="2194560"/>
            <a:ext cx="0" cy="155448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7223760" y="2350008"/>
            <a:ext cx="411480" cy="41148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2350008"/>
            <a:ext cx="411480" cy="4114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2350008"/>
            <a:ext cx="2194560" cy="4114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Laksanakan pekerjaan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424927" y="2761488"/>
            <a:ext cx="0" cy="155448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7223760" y="2916936"/>
            <a:ext cx="411480" cy="4114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2916936"/>
            <a:ext cx="411480" cy="4114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2916936"/>
            <a:ext cx="2194560" cy="4114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Sertifikasi kemajuan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424927" y="3328416"/>
            <a:ext cx="0" cy="155448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48" name="Oval 47"/>
          <p:cNvSpPr/>
          <p:nvPr/>
        </p:nvSpPr>
        <p:spPr>
          <a:xfrm>
            <a:off x="7223760" y="3483863"/>
            <a:ext cx="411480" cy="41148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0" y="3483863"/>
            <a:ext cx="411480" cy="4114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3483863"/>
            <a:ext cx="2194560" cy="4114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Tagih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424927" y="3895344"/>
            <a:ext cx="0" cy="155447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52" name="Oval 51"/>
          <p:cNvSpPr/>
          <p:nvPr/>
        </p:nvSpPr>
        <p:spPr>
          <a:xfrm>
            <a:off x="7223760" y="4050791"/>
            <a:ext cx="411480" cy="4114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60" y="4050791"/>
            <a:ext cx="411480" cy="4114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4050791"/>
            <a:ext cx="2194560" cy="4114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Kumpulkan piutang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12680" y="1783080"/>
            <a:ext cx="1719072" cy="12801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12680" y="1783080"/>
            <a:ext cx="64008" cy="12801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49840" y="1819656"/>
            <a:ext cx="1536192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≈ Rp28 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49840" y="2100326"/>
            <a:ext cx="1536192" cy="94462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estimasi rugi 2025 (kelas C)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12680" y="3154680"/>
            <a:ext cx="1719072" cy="12801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012680" y="3154680"/>
            <a:ext cx="64008" cy="12801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49840" y="3191256"/>
            <a:ext cx="153619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−45%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40" y="3587496"/>
            <a:ext cx="1536192" cy="82905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anggaran infra: Rp110,95 → 61,38 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39496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Tujuh metrik pemulihan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93776" y="566013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65" name="Rectangle 64"/>
          <p:cNvSpPr/>
          <p:nvPr/>
        </p:nvSpPr>
        <p:spPr>
          <a:xfrm>
            <a:off x="475488" y="5760720"/>
            <a:ext cx="1574074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5488" y="5760720"/>
            <a:ext cx="1574074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Laba ekonomi inkremental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86138" y="5760720"/>
            <a:ext cx="1574074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86138" y="5760720"/>
            <a:ext cx="1574074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Konversi kas, DSO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96788" y="5760720"/>
            <a:ext cx="1574074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96788" y="5760720"/>
            <a:ext cx="1574074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Utang bersih / EBITDA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07438" y="5760720"/>
            <a:ext cx="1574074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07438" y="5760720"/>
            <a:ext cx="1574074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Margin backlog tawar vs selesai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18089" y="5760720"/>
            <a:ext cx="1574074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18089" y="5760720"/>
            <a:ext cx="1574074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CPI dan SPI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28739" y="5760720"/>
            <a:ext cx="1574074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28739" y="5760720"/>
            <a:ext cx="1574074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Klaim dipulihkan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39389" y="5760720"/>
            <a:ext cx="1574074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39389" y="5760720"/>
            <a:ext cx="1574074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Manfaat transformasi bersih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12 · AI MULTI-AGEN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Agen AI menjaga rantai kendali biaya dari estimasi sampai pembayaran, dengan otonomi bertingkat dan MVP tiga bulan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Rantai pengendalian yang ditegakkan agen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83080"/>
            <a:ext cx="1453895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453895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Estimasi biaya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47672" y="205282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93976" y="1783080"/>
            <a:ext cx="1453895" cy="6858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3976" y="1783080"/>
            <a:ext cx="1453895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Anggaran WBS × PBS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84448" y="205282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30752" y="1783080"/>
            <a:ext cx="1453895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1783080"/>
            <a:ext cx="1453895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Komitmen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21224" y="205282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67527" y="1783080"/>
            <a:ext cx="1453895" cy="6858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7" y="1783080"/>
            <a:ext cx="1453895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PR: cek anggaran, kuantitas, waktu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57999" y="205282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4303" y="1783080"/>
            <a:ext cx="1453895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4303" y="1783080"/>
            <a:ext cx="1453895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PO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494776" y="205282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41080" y="1783080"/>
            <a:ext cx="1453895" cy="6858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1783080"/>
            <a:ext cx="1453895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Three-way match PO = GR = faktur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131551" y="205282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77855" y="1783080"/>
            <a:ext cx="1453895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77855" y="1783080"/>
            <a:ext cx="1453895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Bayar dan tagih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743200"/>
            <a:ext cx="38404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Tangga otonomi agen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93776" y="3008376"/>
            <a:ext cx="38039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1" name="Rectangle 30"/>
          <p:cNvSpPr/>
          <p:nvPr/>
        </p:nvSpPr>
        <p:spPr>
          <a:xfrm>
            <a:off x="457200" y="4114800"/>
            <a:ext cx="914400" cy="45720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14800"/>
            <a:ext cx="914400" cy="4572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L0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590288"/>
            <a:ext cx="100584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Informasikan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17320" y="3840480"/>
            <a:ext cx="914400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17320" y="3840480"/>
            <a:ext cx="914400" cy="7315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L1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590288"/>
            <a:ext cx="100584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Rekomendasikan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3566160"/>
            <a:ext cx="914400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0" y="3566160"/>
            <a:ext cx="914400" cy="10058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L2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4590288"/>
            <a:ext cx="100584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Siapkan draf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37560" y="3291840"/>
            <a:ext cx="914400" cy="12801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37560" y="3291840"/>
            <a:ext cx="914400" cy="12801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L3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4590288"/>
            <a:ext cx="100584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Laksanakan dalam batas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074920"/>
            <a:ext cx="384048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Keputusan material tetap disetujui manusia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27432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MVP tiga bulan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608576" y="30083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6" name="Rectangle 45"/>
          <p:cNvSpPr/>
          <p:nvPr/>
        </p:nvSpPr>
        <p:spPr>
          <a:xfrm>
            <a:off x="4572000" y="3154680"/>
            <a:ext cx="1170432" cy="3657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3154680"/>
            <a:ext cx="1170432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Bln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3566160"/>
            <a:ext cx="1170432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Fondasi data, ERP baca-saja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6440" y="3154680"/>
            <a:ext cx="1170432" cy="365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06440" y="3154680"/>
            <a:ext cx="1170432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Bln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6440" y="3566160"/>
            <a:ext cx="1170432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Enam agen prioritas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0" y="3154680"/>
            <a:ext cx="1170432" cy="3657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40880" y="3154680"/>
            <a:ext cx="1170432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Bln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3566160"/>
            <a:ext cx="1170432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Integrasi, percontohan, go-live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0" y="4343400"/>
            <a:ext cx="1783080" cy="10515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0" y="4343400"/>
            <a:ext cx="64008" cy="10515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09160" y="4379976"/>
            <a:ext cx="16002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14 + 6–8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09160" y="4644136"/>
            <a:ext cx="1600200" cy="73253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tim teknis + pakar bisnis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4343400"/>
            <a:ext cx="1783080" cy="10515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46520" y="4343400"/>
            <a:ext cx="64008" cy="10515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4379976"/>
            <a:ext cx="16002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≈ Hari 120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4644136"/>
            <a:ext cx="1600200" cy="73253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percontohan beroperasi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2743200"/>
            <a:ext cx="322783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GPU per fase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540496" y="3008376"/>
            <a:ext cx="319125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65" name="Rectangle 64"/>
          <p:cNvSpPr/>
          <p:nvPr/>
        </p:nvSpPr>
        <p:spPr>
          <a:xfrm>
            <a:off x="8686800" y="4229100"/>
            <a:ext cx="640080" cy="34290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95360" y="4009644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77072" y="459943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F1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46920" y="3886200"/>
            <a:ext cx="640080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55480" y="3666744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37192" y="459943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F2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607040" y="3200400"/>
            <a:ext cx="640080" cy="13716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515600" y="2980944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97312" y="459943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F3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03920" y="4983480"/>
            <a:ext cx="3227832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 BUMN → 2–3 BUMN → seluruh Karya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5486400"/>
            <a:ext cx="3840480" cy="7772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7200" y="5486400"/>
            <a:ext cx="64008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4360" y="5522976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Rp0,55 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360" y="5787136"/>
            <a:ext cx="3657600" cy="45821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piutang dilepas bila DSO turun 10 hari (Rp20 T × 10/365 × 10%)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0" y="5532120"/>
            <a:ext cx="7159752" cy="7315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0" y="5532120"/>
            <a:ext cx="7159752" cy="7315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Enam agen: risiko portofolio · bid/no-bid · estimasi biaya · piutang dan pembayaran · jadwal dan kemajuan · pengadaan dan pemasok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13 · TATA KELOLA DAN ORGANISASI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Semakin formal posisinya, semakin besar perubahan hukum yang dibutuhkan; karena itu mulai dari unit dan putuskan berdasarkan bukti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852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desain, makin besar beban hukum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5815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3657599"/>
            <a:ext cx="137160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657599"/>
            <a:ext cx="137160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51960"/>
            <a:ext cx="1463040" cy="8229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Unit dengan pimpinan profesional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Peraturan Kepala, piagam unit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3200399"/>
            <a:ext cx="1371600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200399"/>
            <a:ext cx="1371600" cy="10058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4251960"/>
            <a:ext cx="1463040" cy="8229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Anggota Badan Pelaksana bidang industri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Pasal 14, pengangkatan Presiden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743199"/>
            <a:ext cx="1371600" cy="146304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743199"/>
            <a:ext cx="1371600" cy="14630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251960"/>
            <a:ext cx="1463040" cy="8229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Wakil Kepala formal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Harmonisasi Pasal 12–18; 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285999"/>
            <a:ext cx="1371600" cy="19202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285999"/>
            <a:ext cx="1371600" cy="1920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251960"/>
            <a:ext cx="1463040" cy="8229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Holding baru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Persetujuan Presiden; Pasal 29B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20640"/>
            <a:ext cx="5852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Langkah pertama: desain 1, diuji 90 hari; tinjau jabatan formal bulan ke-12+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371600"/>
            <a:ext cx="51480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Penyelesaian hambatan (target internal)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20256" y="1636776"/>
            <a:ext cx="51114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4" name="Rectangle 23"/>
          <p:cNvSpPr/>
          <p:nvPr/>
        </p:nvSpPr>
        <p:spPr>
          <a:xfrm>
            <a:off x="6583680" y="1783080"/>
            <a:ext cx="82296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783080"/>
            <a:ext cx="82296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1783080"/>
            <a:ext cx="301752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hari kerja · triase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423160"/>
            <a:ext cx="114300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423160"/>
            <a:ext cx="114300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19" y="2423160"/>
            <a:ext cx="301752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hari · rencana penanganan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063239"/>
            <a:ext cx="146304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063239"/>
            <a:ext cx="146304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3063239"/>
            <a:ext cx="301752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hari · kajian lengkap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703320"/>
            <a:ext cx="1783079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703320"/>
            <a:ext cx="1783079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3703320"/>
            <a:ext cx="301752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hari · eskalasi bila lintas lini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434840"/>
            <a:ext cx="51480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Independensi yang dijaga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620256" y="4700016"/>
            <a:ext cx="51114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8" name="Rectangle 37"/>
          <p:cNvSpPr/>
          <p:nvPr/>
        </p:nvSpPr>
        <p:spPr>
          <a:xfrm>
            <a:off x="6583680" y="4800600"/>
            <a:ext cx="1673352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800600"/>
            <a:ext cx="1673352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Risiko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4800600"/>
            <a:ext cx="1673352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4800600"/>
            <a:ext cx="1673352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Hukum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4800600"/>
            <a:ext cx="1673352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0" y="4800600"/>
            <a:ext cx="1673352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Audit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394960"/>
            <a:ext cx="5148072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tidak melapor secara substantif kepada pengusul proyek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486400"/>
            <a:ext cx="5852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Pelajaran negara lain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93776" y="5751576"/>
            <a:ext cx="5815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7" name="Rectangle 46"/>
          <p:cNvSpPr/>
          <p:nvPr/>
        </p:nvSpPr>
        <p:spPr>
          <a:xfrm>
            <a:off x="457200" y="5852160"/>
            <a:ext cx="1417320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852160"/>
            <a:ext cx="1417320" cy="45720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Tiongkok: SASAC/SDIC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5852160"/>
            <a:ext cx="1417320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0240" y="5852160"/>
            <a:ext cx="1417320" cy="45720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Vietnam: CMSC bubar 2025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80" y="5852160"/>
            <a:ext cx="1417320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83280" y="5852160"/>
            <a:ext cx="1417320" cy="45720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India: PRAGATI, NIIF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46320" y="5852160"/>
            <a:ext cx="1417320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0" y="5852160"/>
            <a:ext cx="1417320" cy="45720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Malaysia: Khazanah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14 · MANAJEMEN KINERJA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Skor dihitung dari jangkar buruk, target, dan stretch; gerbang tata kelola dan 15 KPI memastikan angka yang dilaporkan dapat dipercaya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8404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Skala skor setiap metrik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8039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822959" y="2560320"/>
            <a:ext cx="1280161" cy="1280160"/>
          </a:xfrm>
          <a:prstGeom prst="line">
            <a:avLst/>
          </a:prstGeom>
          <a:ln w="38100">
            <a:solidFill>
              <a:srgbClr val="2251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103120" y="2103120"/>
            <a:ext cx="1371600" cy="457200"/>
          </a:xfrm>
          <a:prstGeom prst="line">
            <a:avLst/>
          </a:prstGeom>
          <a:ln w="38100">
            <a:solidFill>
              <a:srgbClr val="2251FF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640080" y="3657600"/>
            <a:ext cx="365760" cy="36576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" y="4160520"/>
            <a:ext cx="914400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jangkar buruk</a:t>
            </a:r>
          </a:p>
        </p:txBody>
      </p:sp>
      <p:sp>
        <p:nvSpPr>
          <p:cNvPr id="14" name="Oval 13"/>
          <p:cNvSpPr/>
          <p:nvPr/>
        </p:nvSpPr>
        <p:spPr>
          <a:xfrm>
            <a:off x="1920240" y="2377439"/>
            <a:ext cx="365760" cy="36576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377439"/>
            <a:ext cx="36576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60520"/>
            <a:ext cx="914400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target</a:t>
            </a:r>
          </a:p>
        </p:txBody>
      </p:sp>
      <p:sp>
        <p:nvSpPr>
          <p:cNvPr id="17" name="Oval 16"/>
          <p:cNvSpPr/>
          <p:nvPr/>
        </p:nvSpPr>
        <p:spPr>
          <a:xfrm>
            <a:off x="3291840" y="1920239"/>
            <a:ext cx="365760" cy="36576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920239"/>
            <a:ext cx="36576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160520"/>
            <a:ext cx="914400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stretch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26280"/>
            <a:ext cx="384048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Interpolasi linear dibatasi 0–100; NR bukan nol; cakupan ≥ 80% sebelum skor komposit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371600"/>
            <a:ext cx="347472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Pemicu inflasi dan makro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08576" y="1636776"/>
            <a:ext cx="343814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4572000" y="1783080"/>
            <a:ext cx="109728" cy="49377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1783080"/>
            <a:ext cx="3291840" cy="49377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PDB riil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251FF"/>
                </a:solidFill>
                <a:latin typeface="Arial"/>
              </a:rPr>
              <a:t>&lt; 6% setelah 2027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350008"/>
            <a:ext cx="109728" cy="49377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2350008"/>
            <a:ext cx="3291840" cy="49377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ICOR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251FF"/>
                </a:solidFill>
                <a:latin typeface="Arial"/>
              </a:rPr>
              <a:t>&gt; 5,0 pada 2028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916936"/>
            <a:ext cx="109728" cy="49377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916936"/>
            <a:ext cx="3291840" cy="49377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Transaksi berjalan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251FF"/>
                </a:solidFill>
                <a:latin typeface="Arial"/>
              </a:rPr>
              <a:t>&gt; 2,5% PDB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483863"/>
            <a:ext cx="109728" cy="49377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483863"/>
            <a:ext cx="3291840" cy="49377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Inflasi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251FF"/>
                </a:solidFill>
                <a:latin typeface="Arial"/>
              </a:rPr>
              <a:t>&gt; 3,5% bertahan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050791"/>
            <a:ext cx="109728" cy="49377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4050791"/>
            <a:ext cx="3291840" cy="49377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Pipeline penerus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251FF"/>
                </a:solidFill>
                <a:latin typeface="Arial"/>
              </a:rPr>
              <a:t>belum ada 2030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137160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Lima tahap modal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57615" y="163677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8321040" y="1783080"/>
            <a:ext cx="1364284" cy="475488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1783080"/>
            <a:ext cx="1364284" cy="475488"/>
          </a:xfrm>
          <a:prstGeom prst="rect">
            <a:avLst/>
          </a:prstGeom>
          <a:noFill/>
        </p:spPr>
        <p:txBody>
          <a:bodyPr wrap="square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Dihimpun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2331720"/>
            <a:ext cx="1875891" cy="475488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2331720"/>
            <a:ext cx="1875891" cy="475488"/>
          </a:xfrm>
          <a:prstGeom prst="rect">
            <a:avLst/>
          </a:prstGeom>
          <a:noFill/>
        </p:spPr>
        <p:txBody>
          <a:bodyPr wrap="square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Dikomitmenkan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2880360"/>
            <a:ext cx="2387498" cy="47548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2880360"/>
            <a:ext cx="2387498" cy="475488"/>
          </a:xfrm>
          <a:prstGeom prst="rect">
            <a:avLst/>
          </a:prstGeom>
          <a:noFill/>
        </p:spPr>
        <p:txBody>
          <a:bodyPr wrap="square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Dicairkan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3429000"/>
            <a:ext cx="2899105" cy="47548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3429000"/>
            <a:ext cx="2899105" cy="475488"/>
          </a:xfrm>
          <a:prstGeom prst="rect">
            <a:avLst/>
          </a:prstGeom>
          <a:noFill/>
        </p:spPr>
        <p:txBody>
          <a:bodyPr wrap="square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Terbangun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977639"/>
            <a:ext cx="3410712" cy="475488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3977639"/>
            <a:ext cx="3410712" cy="475488"/>
          </a:xfrm>
          <a:prstGeom prst="rect">
            <a:avLst/>
          </a:prstGeom>
          <a:noFill/>
        </p:spPr>
        <p:txBody>
          <a:bodyPr wrap="square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Beroperasi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12064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Lima belas KPI kepemimpinan, dikelompokkan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93776" y="538581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7" name="Rectangle 46"/>
          <p:cNvSpPr/>
          <p:nvPr/>
        </p:nvSpPr>
        <p:spPr>
          <a:xfrm>
            <a:off x="475488" y="5486400"/>
            <a:ext cx="2969971" cy="7772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" y="5486400"/>
            <a:ext cx="2969971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Data dan keputusan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KPI 1–4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82035" y="5486400"/>
            <a:ext cx="2218334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82035" y="5486400"/>
            <a:ext cx="2218334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Investasi dan BUMN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KPI 5–7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36945" y="5486400"/>
            <a:ext cx="4473244" cy="7772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36945" y="5486400"/>
            <a:ext cx="4473244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Pembangunan dan industri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KPI 8–13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46766" y="5486400"/>
            <a:ext cx="1466697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46766" y="5486400"/>
            <a:ext cx="1466697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Pembiayaan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KPI 14–15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15 · RISIKO UTAMA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Kedua puluh empat risiko dikelompokkan menurut sumbernya; risiko tertinggi bertumpu pada data, fiskal, dan penularan BUMN Karya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377440" cy="65836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73152" cy="6583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2194560" cy="65836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Tata kelola dan kelembagaan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1472184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47218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730752" y="147218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47218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4443983" y="147218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147218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6" name="Oval 15"/>
          <p:cNvSpPr/>
          <p:nvPr/>
        </p:nvSpPr>
        <p:spPr>
          <a:xfrm>
            <a:off x="5157216" y="147218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147218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18" name="Oval 17"/>
          <p:cNvSpPr/>
          <p:nvPr/>
        </p:nvSpPr>
        <p:spPr>
          <a:xfrm>
            <a:off x="5870448" y="1472184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147218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47218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47218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94560"/>
            <a:ext cx="2377440" cy="65836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194560"/>
            <a:ext cx="73152" cy="6583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194560"/>
            <a:ext cx="2194560" cy="65836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Fiskal dan hukum</a:t>
            </a:r>
          </a:p>
        </p:txBody>
      </p:sp>
      <p:sp>
        <p:nvSpPr>
          <p:cNvPr id="25" name="Oval 24"/>
          <p:cNvSpPr/>
          <p:nvPr/>
        </p:nvSpPr>
        <p:spPr>
          <a:xfrm>
            <a:off x="3017520" y="224942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24942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3730752" y="224942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30752" y="224942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Oval 28"/>
          <p:cNvSpPr/>
          <p:nvPr/>
        </p:nvSpPr>
        <p:spPr>
          <a:xfrm>
            <a:off x="4443983" y="2249424"/>
            <a:ext cx="548640" cy="54864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3983" y="224942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Oval 30"/>
          <p:cNvSpPr/>
          <p:nvPr/>
        </p:nvSpPr>
        <p:spPr>
          <a:xfrm>
            <a:off x="5157216" y="2249424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57216" y="224942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33" name="Oval 32"/>
          <p:cNvSpPr/>
          <p:nvPr/>
        </p:nvSpPr>
        <p:spPr>
          <a:xfrm>
            <a:off x="5870448" y="224942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0448" y="224942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971800"/>
            <a:ext cx="2377440" cy="65836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2971800"/>
            <a:ext cx="73152" cy="6583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2971800"/>
            <a:ext cx="2194560" cy="65836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Teknologi dan data</a:t>
            </a:r>
          </a:p>
        </p:txBody>
      </p:sp>
      <p:sp>
        <p:nvSpPr>
          <p:cNvPr id="38" name="Oval 37"/>
          <p:cNvSpPr/>
          <p:nvPr/>
        </p:nvSpPr>
        <p:spPr>
          <a:xfrm>
            <a:off x="3017520" y="302666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302666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40" name="Oval 39"/>
          <p:cNvSpPr/>
          <p:nvPr/>
        </p:nvSpPr>
        <p:spPr>
          <a:xfrm>
            <a:off x="3017520" y="3026664"/>
            <a:ext cx="548640" cy="548640"/>
          </a:xfrm>
          <a:prstGeom prst="ellipse">
            <a:avLst/>
          </a:prstGeom>
          <a:noFill/>
          <a:ln w="19050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30752" y="3026664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30752" y="302666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3" name="Oval 42"/>
          <p:cNvSpPr/>
          <p:nvPr/>
        </p:nvSpPr>
        <p:spPr>
          <a:xfrm>
            <a:off x="4443983" y="3026664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43983" y="302666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sp>
        <p:nvSpPr>
          <p:cNvPr id="45" name="Oval 44"/>
          <p:cNvSpPr/>
          <p:nvPr/>
        </p:nvSpPr>
        <p:spPr>
          <a:xfrm>
            <a:off x="5157216" y="3026664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57216" y="302666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47" name="Oval 46"/>
          <p:cNvSpPr/>
          <p:nvPr/>
        </p:nvSpPr>
        <p:spPr>
          <a:xfrm>
            <a:off x="5870448" y="3026664"/>
            <a:ext cx="548640" cy="54864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70448" y="302666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749039"/>
            <a:ext cx="2377440" cy="65836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3749039"/>
            <a:ext cx="73152" cy="6583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3749039"/>
            <a:ext cx="2194560" cy="65836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Pelaksanaan dan sistemik</a:t>
            </a:r>
          </a:p>
        </p:txBody>
      </p:sp>
      <p:sp>
        <p:nvSpPr>
          <p:cNvPr id="52" name="Oval 51"/>
          <p:cNvSpPr/>
          <p:nvPr/>
        </p:nvSpPr>
        <p:spPr>
          <a:xfrm>
            <a:off x="3017520" y="3803903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17520" y="3803903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4" name="Oval 53"/>
          <p:cNvSpPr/>
          <p:nvPr/>
        </p:nvSpPr>
        <p:spPr>
          <a:xfrm>
            <a:off x="3730752" y="3803903"/>
            <a:ext cx="548640" cy="54864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30752" y="3803903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6" name="Oval 55"/>
          <p:cNvSpPr/>
          <p:nvPr/>
        </p:nvSpPr>
        <p:spPr>
          <a:xfrm>
            <a:off x="4443983" y="3803903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43983" y="3803903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58" name="Oval 57"/>
          <p:cNvSpPr/>
          <p:nvPr/>
        </p:nvSpPr>
        <p:spPr>
          <a:xfrm>
            <a:off x="5157216" y="3803903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57216" y="3803903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60" name="Oval 59"/>
          <p:cNvSpPr/>
          <p:nvPr/>
        </p:nvSpPr>
        <p:spPr>
          <a:xfrm>
            <a:off x="5870448" y="3803903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70448" y="3803903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526280"/>
            <a:ext cx="2377440" cy="65836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" y="4526280"/>
            <a:ext cx="73152" cy="6583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4526280"/>
            <a:ext cx="2194560" cy="65836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Makro dan pembiayaan</a:t>
            </a:r>
          </a:p>
        </p:txBody>
      </p:sp>
      <p:sp>
        <p:nvSpPr>
          <p:cNvPr id="65" name="Oval 64"/>
          <p:cNvSpPr/>
          <p:nvPr/>
        </p:nvSpPr>
        <p:spPr>
          <a:xfrm>
            <a:off x="3017520" y="458114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17520" y="458114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67" name="Oval 66"/>
          <p:cNvSpPr/>
          <p:nvPr/>
        </p:nvSpPr>
        <p:spPr>
          <a:xfrm>
            <a:off x="3730752" y="458114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30752" y="458114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21</a:t>
            </a:r>
          </a:p>
        </p:txBody>
      </p:sp>
      <p:sp>
        <p:nvSpPr>
          <p:cNvPr id="69" name="Oval 68"/>
          <p:cNvSpPr/>
          <p:nvPr/>
        </p:nvSpPr>
        <p:spPr>
          <a:xfrm>
            <a:off x="4443983" y="458114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43983" y="458114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17520" y="534924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Legenda peringkat kemungkinan / dampak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054096" y="5614416"/>
            <a:ext cx="54498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3017520" y="5760720"/>
            <a:ext cx="365760" cy="36576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17520" y="5760720"/>
            <a:ext cx="36576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29000" y="5760720"/>
            <a:ext cx="9144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T/T</a:t>
            </a:r>
          </a:p>
        </p:txBody>
      </p:sp>
      <p:sp>
        <p:nvSpPr>
          <p:cNvPr id="76" name="Oval 75"/>
          <p:cNvSpPr/>
          <p:nvPr/>
        </p:nvSpPr>
        <p:spPr>
          <a:xfrm>
            <a:off x="4389120" y="5760720"/>
            <a:ext cx="365760" cy="36576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89120" y="5760720"/>
            <a:ext cx="36576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00600" y="5760720"/>
            <a:ext cx="9144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S/T</a:t>
            </a:r>
          </a:p>
        </p:txBody>
      </p:sp>
      <p:sp>
        <p:nvSpPr>
          <p:cNvPr id="79" name="Oval 78"/>
          <p:cNvSpPr/>
          <p:nvPr/>
        </p:nvSpPr>
        <p:spPr>
          <a:xfrm>
            <a:off x="5760720" y="5760720"/>
            <a:ext cx="365760" cy="36576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760720" y="5760720"/>
            <a:ext cx="36576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72200" y="5760720"/>
            <a:ext cx="9144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S/S atau T/S</a:t>
            </a:r>
          </a:p>
        </p:txBody>
      </p:sp>
      <p:sp>
        <p:nvSpPr>
          <p:cNvPr id="82" name="Oval 81"/>
          <p:cNvSpPr/>
          <p:nvPr/>
        </p:nvSpPr>
        <p:spPr>
          <a:xfrm>
            <a:off x="7132320" y="57607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2320" y="5760720"/>
            <a:ext cx="36576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84" name="Oval 83"/>
          <p:cNvSpPr/>
          <p:nvPr/>
        </p:nvSpPr>
        <p:spPr>
          <a:xfrm>
            <a:off x="7132320" y="5760720"/>
            <a:ext cx="365760" cy="365760"/>
          </a:xfrm>
          <a:prstGeom prst="ellipse">
            <a:avLst/>
          </a:prstGeom>
          <a:noFill/>
          <a:ln w="19050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43800" y="5760720"/>
            <a:ext cx="9144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R/T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69680" y="1371600"/>
            <a:ext cx="28620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Tiga risiko paling mendesak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8906255" y="1636776"/>
            <a:ext cx="28254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88" name="Oval 87"/>
          <p:cNvSpPr/>
          <p:nvPr/>
        </p:nvSpPr>
        <p:spPr>
          <a:xfrm>
            <a:off x="8869680" y="1783080"/>
            <a:ext cx="640080" cy="64008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869680" y="1783080"/>
            <a:ext cx="640080" cy="6400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01200" y="1783080"/>
            <a:ext cx="2130552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Valuasi dilebih-lebihkan</a:t>
            </a:r>
          </a:p>
        </p:txBody>
      </p:sp>
      <p:sp>
        <p:nvSpPr>
          <p:cNvPr id="91" name="Oval 90"/>
          <p:cNvSpPr/>
          <p:nvPr/>
        </p:nvSpPr>
        <p:spPr>
          <a:xfrm>
            <a:off x="8869680" y="2697480"/>
            <a:ext cx="640080" cy="64008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69680" y="2697480"/>
            <a:ext cx="640080" cy="6400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01200" y="2697480"/>
            <a:ext cx="2130552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Penularan BUMN Karya ke bank BUMN</a:t>
            </a:r>
          </a:p>
        </p:txBody>
      </p:sp>
      <p:sp>
        <p:nvSpPr>
          <p:cNvPr id="94" name="Oval 93"/>
          <p:cNvSpPr/>
          <p:nvPr/>
        </p:nvSpPr>
        <p:spPr>
          <a:xfrm>
            <a:off x="8869680" y="3611880"/>
            <a:ext cx="640080" cy="64008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869680" y="3611880"/>
            <a:ext cx="640080" cy="6400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01200" y="3611880"/>
            <a:ext cx="2130552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Register 40 proyek tak teruji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869680" y="4572000"/>
            <a:ext cx="1371600" cy="10972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869680" y="4572000"/>
            <a:ext cx="64008" cy="10972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06840" y="4608576"/>
            <a:ext cx="1188720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06840" y="5004816"/>
            <a:ext cx="1188720" cy="6461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berdampak tinggi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360152" y="4572000"/>
            <a:ext cx="1371600" cy="10972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360152" y="4572000"/>
            <a:ext cx="64008" cy="10972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497312" y="4608576"/>
            <a:ext cx="1188720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24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497312" y="5004816"/>
            <a:ext cx="1188720" cy="6461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risiko dalam register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16 · PETA JALAN TERINTEGRASI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Delapan alur kerja berjalan paralel dalam empat fase, dan setiap perluasan menunggu titik keputusan berbasis bukti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371600"/>
            <a:ext cx="2370582" cy="365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21408" y="1371600"/>
            <a:ext cx="2370582" cy="36576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0–90 hari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8566" y="1371600"/>
            <a:ext cx="2370582" cy="365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8566" y="1371600"/>
            <a:ext cx="2370582" cy="36576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4–12 bulan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35724" y="1371600"/>
            <a:ext cx="2370582" cy="365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5724" y="1371600"/>
            <a:ext cx="2370582" cy="36576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12–24 bulan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42882" y="1371600"/>
            <a:ext cx="2370582" cy="365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2882" y="1371600"/>
            <a:ext cx="2370582" cy="36576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&gt; 24 bulan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8288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Tata kelola, unit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9696" y="1865376"/>
            <a:ext cx="9555480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39696" y="1865376"/>
            <a:ext cx="9555480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Unit → asurans → struktur permanen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Register, scorecard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39696" y="2322576"/>
            <a:ext cx="7148322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39696" y="2322576"/>
            <a:ext cx="7148322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Register → dasbor → laporan tahunan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432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DOCK-UP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39696" y="2779776"/>
            <a:ext cx="9555480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39696" y="2779776"/>
            <a:ext cx="9555480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Desain → uji coba (bln 4) → integrator 2 → standar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Proyek jangkar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39696" y="3236976"/>
            <a:ext cx="9555480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39696" y="3236976"/>
            <a:ext cx="9555480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Daftar → rencana lokal → kontrak → nilai tambah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6576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NRF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39696" y="3694176"/>
            <a:ext cx="9555480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39696" y="3694176"/>
            <a:ext cx="9555480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Usulan → Tahap 0 → Tahap 1–2 → dana matang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148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Tokenisasi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39696" y="4151376"/>
            <a:ext cx="9555480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39696" y="4151376"/>
            <a:ext cx="9555480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Prasyarat → Fase 1 (≥ Tw I 2027) → Fase 2–3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720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BUMN Karya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39696" y="4608576"/>
            <a:ext cx="7148322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39696" y="4608576"/>
            <a:ext cx="7148322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Diagnostik → pisah aset → struktur → laba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0292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Platform 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39696" y="5065776"/>
            <a:ext cx="9555480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5065776"/>
            <a:ext cx="9555480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MVP → Fase 2 → Fase 3 → nasional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57784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Rencana bukti 90 hari untuk register 40 proyek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3776" y="584301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1" name="Rectangle 40"/>
          <p:cNvSpPr/>
          <p:nvPr/>
        </p:nvSpPr>
        <p:spPr>
          <a:xfrm>
            <a:off x="457200" y="5943600"/>
            <a:ext cx="3657600" cy="3840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943600"/>
            <a:ext cx="3657600" cy="384048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2251FF"/>
                </a:solidFill>
                <a:latin typeface="Arial"/>
              </a:rPr>
              <a:t>Hari 1–30  </a:t>
            </a:r>
            <a:r>
              <a:rPr sz="850" b="0" i="0">
                <a:solidFill>
                  <a:srgbClr val="000000"/>
                </a:solidFill>
                <a:latin typeface="Arial"/>
              </a:rPr>
              <a:t>Register resmi, crosswalk SPV, pemilik 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9392" y="5943600"/>
            <a:ext cx="3657600" cy="3840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9392" y="5943600"/>
            <a:ext cx="3657600" cy="384048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2251FF"/>
                </a:solidFill>
                <a:latin typeface="Arial"/>
              </a:rPr>
              <a:t>Hari 31–60  </a:t>
            </a:r>
            <a:r>
              <a:rPr sz="850" b="0" i="0">
                <a:solidFill>
                  <a:srgbClr val="000000"/>
                </a:solidFill>
                <a:latin typeface="Arial"/>
              </a:rPr>
              <a:t>FNPV, ENPV, EIRR enam label terbesar; baseline inflasi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01583" y="5943600"/>
            <a:ext cx="3657600" cy="3840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01583" y="5943600"/>
            <a:ext cx="3657600" cy="384048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2251FF"/>
                </a:solidFill>
                <a:latin typeface="Arial"/>
              </a:rPr>
              <a:t>Hari 61–90  </a:t>
            </a:r>
            <a:r>
              <a:rPr sz="850" b="0" i="0">
                <a:solidFill>
                  <a:srgbClr val="000000"/>
                </a:solidFill>
                <a:latin typeface="Arial"/>
              </a:rPr>
              <a:t>Ledger mobilisasi, audit DVA, kebijakan Alpha/Impact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17 · REKOMENDASI PER PEMANGKU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Empat belas pemangku kepentingan mengelilingi satu platform: organ Danantara memutuskan, regulator menimbang, ekosistem melaksanakan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20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099048" y="1828800"/>
            <a:ext cx="0" cy="2240280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6099048" y="2023491"/>
            <a:ext cx="2023390" cy="2045589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6099048" y="2569003"/>
            <a:ext cx="3646024" cy="1500077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9048" y="3357292"/>
            <a:ext cx="4546517" cy="711788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6099048" y="4069080"/>
            <a:ext cx="4546517" cy="163147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099048" y="4069080"/>
            <a:ext cx="3646024" cy="951436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099048" y="4069080"/>
            <a:ext cx="2023390" cy="1496948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6099048" y="4069080"/>
            <a:ext cx="0" cy="1691640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4075657" y="4069080"/>
            <a:ext cx="2023391" cy="1496948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H="1">
            <a:off x="2453023" y="4069080"/>
            <a:ext cx="3646025" cy="951436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H="1">
            <a:off x="1552530" y="4069080"/>
            <a:ext cx="4546518" cy="163147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H="1" flipV="1">
            <a:off x="1552530" y="3357292"/>
            <a:ext cx="4546518" cy="711788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9" name="Connector 18"/>
          <p:cNvCxnSpPr/>
          <p:nvPr/>
        </p:nvCxnSpPr>
        <p:spPr>
          <a:xfrm flipH="1" flipV="1">
            <a:off x="2453023" y="2569003"/>
            <a:ext cx="3646025" cy="1500077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20" name="Connector 19"/>
          <p:cNvCxnSpPr/>
          <p:nvPr/>
        </p:nvCxnSpPr>
        <p:spPr>
          <a:xfrm flipH="1" flipV="1">
            <a:off x="4075657" y="2023491"/>
            <a:ext cx="2023391" cy="2045589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5230368" y="1554480"/>
            <a:ext cx="173736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8" y="1554480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Dewan Pengawas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setujui kerangka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53758" y="1749171"/>
            <a:ext cx="173736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53758" y="1749171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Kepala BP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bentuk unit, sahkan register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76392" y="2294683"/>
            <a:ext cx="173736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76392" y="2294683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DAM / COO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diagnostik Karya, MVP 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76885" y="3082972"/>
            <a:ext cx="173736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6885" y="3082972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DIM / CIO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metodologi, PALCapital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6885" y="3957907"/>
            <a:ext cx="173736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6885" y="3957907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DDMF / CTO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business case, crosswalk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76392" y="4746196"/>
            <a:ext cx="173736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76392" y="4746196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Pemerintah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kaji NRF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53758" y="5291708"/>
            <a:ext cx="173736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53758" y="5291708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Kemenkeu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klasifikasi substansi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30368" y="5486400"/>
            <a:ext cx="173736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0368" y="5486400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Kemhan / KKIP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DOCK-UP dalam kontrak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6977" y="5291708"/>
            <a:ext cx="173736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6977" y="5291708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OJK / BI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sandbox, pantau inflasi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84343" y="4746196"/>
            <a:ext cx="1737360" cy="54864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84343" y="4746196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PT PAL / integrator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Arial"/>
              </a:rPr>
              <a:t>pesan per gerbang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3850" y="3957907"/>
            <a:ext cx="1737360" cy="54864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850" y="3957907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BUMN Karya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Arial"/>
              </a:rPr>
              <a:t>disiplin tawar, AI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3850" y="3082972"/>
            <a:ext cx="1737360" cy="54864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3850" y="3082972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Bank / LPEI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Arial"/>
              </a:rPr>
              <a:t>kredit per gerbang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84343" y="2294683"/>
            <a:ext cx="1737360" cy="54864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84343" y="2294683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UKM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Arial"/>
              </a:rPr>
              <a:t>masuk register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6977" y="1749171"/>
            <a:ext cx="1737360" cy="54864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6977" y="1749171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BKI / BRIN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Arial"/>
              </a:rPr>
              <a:t>asesor independen</a:t>
            </a:r>
          </a:p>
        </p:txBody>
      </p:sp>
      <p:sp>
        <p:nvSpPr>
          <p:cNvPr id="49" name="Oval 48"/>
          <p:cNvSpPr/>
          <p:nvPr/>
        </p:nvSpPr>
        <p:spPr>
          <a:xfrm>
            <a:off x="5184648" y="3154680"/>
            <a:ext cx="1828800" cy="182880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84648" y="3154680"/>
            <a:ext cx="1828800" cy="18288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DANANTARA PLATFORM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806440"/>
            <a:ext cx="274320" cy="12801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760720"/>
            <a:ext cx="3017520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Organ Danantara: putuskan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989320"/>
            <a:ext cx="274320" cy="12801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3017520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Pemerintah dan regulator: pertimbangkan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172200"/>
            <a:ext cx="274320" cy="128016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6126480"/>
            <a:ext cx="3017520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Ekosistem: laksanakan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A–E · LAMPIRAN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Lampiran menjadikan kajian dapat diaudit: setiap metrik terdefinisi, setiap ketidaksesuaian dicatat, setiap perhitungan dapat diulang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 · 39 metrik dalam tiga scorecard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83080"/>
            <a:ext cx="1125415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125415" cy="64008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Investasi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82615" y="1783080"/>
            <a:ext cx="1406769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2615" y="1783080"/>
            <a:ext cx="1406769" cy="64008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BUMN 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89384" y="1783080"/>
            <a:ext cx="1125415" cy="64008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9384" y="1783080"/>
            <a:ext cx="1125415" cy="64008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Pembangunan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14600"/>
            <a:ext cx="365760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I01–I12 · O01–O15 · D01–D12: definisi, bukti, batasan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371600"/>
            <a:ext cx="3566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B · 31 ketidaksesuaian sumber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25696" y="1636776"/>
            <a:ext cx="3529583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4389120" y="1783080"/>
            <a:ext cx="274320" cy="2743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18304" y="1783080"/>
            <a:ext cx="274320" cy="2743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7488" y="1783080"/>
            <a:ext cx="274320" cy="2743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76672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05856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64224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93408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22592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59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18304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47488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76672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05856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64224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93408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22592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51775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59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0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18304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47488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76672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05856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64224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93408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22592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2834640"/>
            <a:ext cx="3566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Tidak ada yang diselesaikan dengan asumsi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1371600"/>
            <a:ext cx="35021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 · rujukan web WEB01–WEB32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266175" y="1636776"/>
            <a:ext cx="346557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52" name="Rectangle 51"/>
          <p:cNvSpPr/>
          <p:nvPr/>
        </p:nvSpPr>
        <p:spPr>
          <a:xfrm>
            <a:off x="8229600" y="1783080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40496" y="1783080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51392" y="1783080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62288" y="1783080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73184" y="1783080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784080" y="1783080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094976" y="1783080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405872" y="1783080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716768" y="1783080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027664" y="1783080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338560" y="1783080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600" y="2093976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40496" y="2093976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851392" y="2093976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62288" y="2093976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473184" y="2093976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784080" y="2093976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094976" y="2093976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405872" y="2093976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716768" y="2093976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027664" y="2093976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338560" y="2093976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29600" y="2404872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540496" y="2404872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851392" y="2404872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62288" y="2404872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473184" y="2404872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784080" y="2404872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94976" y="2404872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405872" y="2404872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16768" y="2404872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027664" y="2404872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29600" y="2834640"/>
            <a:ext cx="35021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dikutip melalui D1, D2, D7, D11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347472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C · perhitungan yang dapat diulang (contoh)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493776" y="373989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87" name="Rectangle 86"/>
          <p:cNvSpPr/>
          <p:nvPr/>
        </p:nvSpPr>
        <p:spPr>
          <a:xfrm>
            <a:off x="457200" y="3840480"/>
            <a:ext cx="2145182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57200" y="3840480"/>
            <a:ext cx="64008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4360" y="3877056"/>
            <a:ext cx="1962302" cy="30861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2251FF"/>
                </a:solidFill>
                <a:latin typeface="Arial"/>
              </a:rPr>
              <a:t>5,65%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4360" y="4174236"/>
            <a:ext cx="1962302" cy="65379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(750×5,35% + 750×5,95%) / 1.500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12110" y="3840480"/>
            <a:ext cx="2145182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12110" y="3840480"/>
            <a:ext cx="64008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849270" y="3877056"/>
            <a:ext cx="1962302" cy="30861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2251FF"/>
                </a:solidFill>
                <a:latin typeface="Arial"/>
              </a:rPr>
              <a:t>3,07×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49270" y="4174236"/>
            <a:ext cx="1962302" cy="65379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4,6 / 1,5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67020" y="3840480"/>
            <a:ext cx="2145182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967020" y="3840480"/>
            <a:ext cx="64008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04180" y="3877056"/>
            <a:ext cx="1962302" cy="30861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2251FF"/>
                </a:solidFill>
                <a:latin typeface="Arial"/>
              </a:rPr>
              <a:t>Rp18,93 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04180" y="4174236"/>
            <a:ext cx="1962302" cy="65379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2.091,46 − 2.072,53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221931" y="3840480"/>
            <a:ext cx="2145182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221931" y="3840480"/>
            <a:ext cx="64008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59091" y="3877056"/>
            <a:ext cx="1962302" cy="30861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2251FF"/>
                </a:solidFill>
                <a:latin typeface="Arial"/>
              </a:rPr>
              <a:t>28,9%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59091" y="4174236"/>
            <a:ext cx="1962302" cy="65379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604,97 / 2.091,46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476841" y="3840480"/>
            <a:ext cx="2145182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476841" y="3840480"/>
            <a:ext cx="64008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14001" y="3877056"/>
            <a:ext cx="1962302" cy="30861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2251FF"/>
                </a:solidFill>
                <a:latin typeface="Arial"/>
              </a:rPr>
              <a:t>Rp578 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614001" y="4174236"/>
            <a:ext cx="1962302" cy="65379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7 × 5 × 16.500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200" y="507492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 · glosarium istilah kunci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493776" y="534009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09" name="Rectangle 108"/>
          <p:cNvSpPr/>
          <p:nvPr/>
        </p:nvSpPr>
        <p:spPr>
          <a:xfrm>
            <a:off x="475488" y="5440680"/>
            <a:ext cx="1372743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5488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TRL / MRL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884806" y="5440680"/>
            <a:ext cx="1372743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884806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DOCK-UP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94126" y="5440680"/>
            <a:ext cx="1372743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294126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NITO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703445" y="5440680"/>
            <a:ext cx="1372743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703445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NRF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12764" y="5440680"/>
            <a:ext cx="1372743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112764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SPV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22083" y="5440680"/>
            <a:ext cx="1372743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522083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ICOR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931402" y="5440680"/>
            <a:ext cx="1372743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931402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TPDM / PPDM / PIM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340721" y="5440680"/>
            <a:ext cx="1372743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340721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NR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