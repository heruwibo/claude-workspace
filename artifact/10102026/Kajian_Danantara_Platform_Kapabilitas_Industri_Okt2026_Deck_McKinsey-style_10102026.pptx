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Nilai</c:v>
                </c:pt>
              </c:strCache>
            </c:strRef>
          </c:tx>
          <c:spPr>
            <a:solidFill>
              <a:srgbClr val="8FA8F5"/>
            </a:solidFill>
          </c:spPr>
          <c:dPt>
            <c:idx val="0"/>
            <c:spPr>
              <a:solidFill>
                <a:srgbClr val="2251FF"/>
              </a:solidFill>
            </c:spPr>
          </c:dPt>
          <c:dPt>
            <c:idx val="1"/>
            <c:spPr>
              <a:solidFill>
                <a:srgbClr val="2251FF"/>
              </a:solidFill>
            </c:spPr>
          </c:dPt>
          <c:dPt>
            <c:idx val="2"/>
            <c:spPr>
              <a:solidFill>
                <a:srgbClr val="2251FF"/>
              </a:solidFill>
            </c:spPr>
          </c:dPt>
          <c:dPt>
            <c:idx val="3"/>
            <c:spPr>
              <a:solidFill>
                <a:srgbClr val="051C5C"/>
              </a:solidFill>
            </c:spPr>
          </c:dPt>
          <c:cat>
            <c:strRef>
              <c:f>Sheet1!$A$2:$A$5</c:f>
              <c:strCache>
                <c:ptCount val="4"/>
                <c:pt idx="0">
                  <c:v>Alokasi strategis
Danantara</c:v>
                </c:pt>
                <c:pt idx="1">
                  <c:v>NRF Tahap 1</c:v>
                </c:pt>
                <c:pt idx="2">
                  <c:v>Surat tagihan
proyek</c:v>
                </c:pt>
                <c:pt idx="3">
                  <c:v>Sisa: utang proyek,
ko-investor, APBN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578</c:v>
                </c:pt>
                <c:pt idx="1">
                  <c:v>118</c:v>
                </c:pt>
                <c:pt idx="2">
                  <c:v>24</c:v>
                </c:pt>
                <c:pt idx="3">
                  <c:v>1371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Nilai</c:v>
                </c:pt>
              </c:strCache>
            </c:strRef>
          </c:tx>
          <c:spPr>
            <a:solidFill>
              <a:srgbClr val="8FA8F5"/>
            </a:solidFill>
          </c:spPr>
          <c:dPt>
            <c:idx val="0"/>
            <c:spPr>
              <a:solidFill>
                <a:srgbClr val="8FA8F5"/>
              </a:solidFill>
            </c:spPr>
          </c:dPt>
          <c:dPt>
            <c:idx val="1"/>
            <c:spPr>
              <a:solidFill>
                <a:srgbClr val="2251FF"/>
              </a:solidFill>
            </c:spPr>
          </c:dPt>
          <c:dPt>
            <c:idx val="2"/>
            <c:spPr>
              <a:solidFill>
                <a:srgbClr val="2251FF"/>
              </a:solidFill>
            </c:spPr>
          </c:dPt>
          <c:dPt>
            <c:idx val="3"/>
            <c:spPr>
              <a:solidFill>
                <a:srgbClr val="051C5C"/>
              </a:solidFill>
            </c:spPr>
          </c:dPt>
          <c:cat>
            <c:strRef>
              <c:f>Sheet1!$A$2:$A$5</c:f>
              <c:strCache>
                <c:ptCount val="4"/>
                <c:pt idx="0">
                  <c:v>Dasar
(5,1%)</c:v>
                </c:pt>
                <c:pt idx="1">
                  <c:v>SDA saja</c:v>
                </c:pt>
                <c:pt idx="2">
                  <c:v>SDA + efisiensi
(dapat dicapai)</c:v>
                </c:pt>
                <c:pt idx="3">
                  <c:v>Target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5.1</c:v>
                </c:pt>
                <c:pt idx="1">
                  <c:v>6.25</c:v>
                </c:pt>
                <c:pt idx="2">
                  <c:v>6.78</c:v>
                </c:pt>
                <c:pt idx="3">
                  <c:v>8.0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5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Nilai</c:v>
                </c:pt>
              </c:strCache>
            </c:strRef>
          </c:tx>
          <c:spPr>
            <a:solidFill>
              <a:srgbClr val="8FA8F5"/>
            </a:solidFill>
          </c:spPr>
          <c:dPt>
            <c:idx val="0"/>
            <c:spPr>
              <a:solidFill>
                <a:srgbClr val="2251FF"/>
              </a:solidFill>
            </c:spPr>
          </c:dPt>
          <c:dPt>
            <c:idx val="1"/>
            <c:spPr>
              <a:solidFill>
                <a:srgbClr val="051C5C"/>
              </a:solidFill>
            </c:spPr>
          </c:dPt>
          <c:cat>
            <c:strRef>
              <c:f>Sheet1!$A$2:$A$3</c:f>
              <c:strCache>
                <c:ptCount val="2"/>
                <c:pt idx="0">
                  <c:v>Bernama
(Rp604,97 T)</c:v>
                </c:pt>
                <c:pt idx="1">
                  <c:v>Tanpa identitas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</c:v>
                </c:pt>
                <c:pt idx="1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8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Nilai</c:v>
                </c:pt>
              </c:strCache>
            </c:strRef>
          </c:tx>
          <c:spPr>
            <a:solidFill>
              <a:srgbClr val="8FA8F5"/>
            </a:solidFill>
          </c:spPr>
          <c:dPt>
            <c:idx val="0"/>
            <c:spPr>
              <a:solidFill>
                <a:srgbClr val="2251FF"/>
              </a:solidFill>
            </c:spPr>
          </c:dPt>
          <c:dPt>
            <c:idx val="1"/>
            <c:spPr>
              <a:solidFill>
                <a:srgbClr val="2251FF"/>
              </a:solidFill>
            </c:spPr>
          </c:dPt>
          <c:dPt>
            <c:idx val="2"/>
            <c:spPr>
              <a:solidFill>
                <a:srgbClr val="2251FF"/>
              </a:solidFill>
            </c:spPr>
          </c:dPt>
          <c:cat>
            <c:strRef>
              <c:f>Sheet1!$A$2:$A$4</c:f>
              <c:strCache>
                <c:ptCount val="3"/>
                <c:pt idx="0">
                  <c:v>10% dialihkan</c:v>
                </c:pt>
                <c:pt idx="1">
                  <c:v>20% dialihkan</c:v>
                </c:pt>
                <c:pt idx="2">
                  <c:v>30% dialihkan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</c:v>
                </c:pt>
                <c:pt idx="1">
                  <c:v>45</c:v>
                </c:pt>
                <c:pt idx="2">
                  <c:v>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Nilai</c:v>
                </c:pt>
              </c:strCache>
            </c:strRef>
          </c:tx>
          <c:spPr>
            <a:solidFill>
              <a:srgbClr val="8FA8F5"/>
            </a:solidFill>
          </c:spPr>
          <c:dPt>
            <c:idx val="0"/>
            <c:spPr>
              <a:solidFill>
                <a:srgbClr val="2251FF"/>
              </a:solidFill>
            </c:spPr>
          </c:dPt>
          <c:dPt>
            <c:idx val="1"/>
            <c:spPr>
              <a:solidFill>
                <a:srgbClr val="2251FF"/>
              </a:solidFill>
            </c:spPr>
          </c:dPt>
          <c:dPt>
            <c:idx val="2"/>
            <c:spPr>
              <a:solidFill>
                <a:srgbClr val="2251FF"/>
              </a:solidFill>
            </c:spPr>
          </c:dPt>
          <c:dPt>
            <c:idx val="3"/>
            <c:spPr>
              <a:solidFill>
                <a:srgbClr val="2251FF"/>
              </a:solidFill>
            </c:spPr>
          </c:dPt>
          <c:cat>
            <c:strRef>
              <c:f>Sheet1!$A$2:$A$5</c:f>
              <c:strCache>
                <c:ptCount val="4"/>
                <c:pt idx="0">
                  <c:v>Mineral &amp;
material</c:v>
                </c:pt>
                <c:pt idx="1">
                  <c:v>Energi &amp; infra
industri</c:v>
                </c:pt>
                <c:pt idx="2">
                  <c:v>Pertahanan
&amp; maritim</c:v>
                </c:pt>
                <c:pt idx="3">
                  <c:v>Manufaktur
lainnya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283.85</c:v>
                </c:pt>
                <c:pt idx="1">
                  <c:v>1274.57</c:v>
                </c:pt>
                <c:pt idx="2">
                  <c:v>81.1</c:v>
                </c:pt>
                <c:pt idx="3">
                  <c:v>451.94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5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9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50"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Nilai</c:v>
                </c:pt>
              </c:strCache>
            </c:strRef>
          </c:tx>
          <c:spPr>
            <a:solidFill>
              <a:srgbClr val="8FA8F5"/>
            </a:solidFill>
          </c:spPr>
          <c:dPt>
            <c:idx val="0"/>
            <c:spPr>
              <a:solidFill>
                <a:srgbClr val="051C5C"/>
              </a:solidFill>
            </c:spPr>
          </c:dPt>
          <c:dPt>
            <c:idx val="1"/>
            <c:spPr>
              <a:solidFill>
                <a:srgbClr val="2251FF"/>
              </a:solidFill>
            </c:spPr>
          </c:dPt>
          <c:dPt>
            <c:idx val="2"/>
            <c:spPr>
              <a:solidFill>
                <a:srgbClr val="8FA8F5"/>
              </a:solidFill>
            </c:spPr>
          </c:dPt>
          <c:cat>
            <c:strRef>
              <c:f>Sheet1!$A$2:$A$4</c:f>
              <c:strCache>
                <c:ptCount val="3"/>
                <c:pt idx="0">
                  <c:v>2004–14</c:v>
                </c:pt>
                <c:pt idx="1">
                  <c:v>2015–24</c:v>
                </c:pt>
                <c:pt idx="2">
                  <c:v>2026 (proy.)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19.3</c:v>
                </c:pt>
                <c:pt idx="1">
                  <c:v>7.7</c:v>
                </c:pt>
                <c:pt idx="2">
                  <c:v>10.68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4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Nilai</c:v>
                </c:pt>
              </c:strCache>
            </c:strRef>
          </c:tx>
          <c:spPr>
            <a:solidFill>
              <a:srgbClr val="8FA8F5"/>
            </a:solidFill>
          </c:spPr>
          <c:dPt>
            <c:idx val="0"/>
            <c:spPr>
              <a:solidFill>
                <a:srgbClr val="2251FF"/>
              </a:solidFill>
            </c:spPr>
          </c:dPt>
          <c:dPt>
            <c:idx val="1"/>
            <c:spPr>
              <a:solidFill>
                <a:srgbClr val="2251FF"/>
              </a:solidFill>
            </c:spPr>
          </c:dPt>
          <c:dPt>
            <c:idx val="2"/>
            <c:spPr>
              <a:solidFill>
                <a:srgbClr val="2251FF"/>
              </a:solidFill>
            </c:spPr>
          </c:dPt>
          <c:dPt>
            <c:idx val="3"/>
            <c:spPr>
              <a:solidFill>
                <a:srgbClr val="2251FF"/>
              </a:solidFill>
            </c:spPr>
          </c:dPt>
          <c:cat>
            <c:strRef>
              <c:f>Sheet1!$A$2:$A$5</c:f>
              <c:strCache>
                <c:ptCount val="4"/>
                <c:pt idx="0">
                  <c:v>WIKA</c:v>
                </c:pt>
                <c:pt idx="1">
                  <c:v>PP</c:v>
                </c:pt>
                <c:pt idx="2">
                  <c:v>Adhi Karya</c:v>
                </c:pt>
                <c:pt idx="3">
                  <c:v>Waskita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10.14</c:v>
                </c:pt>
                <c:pt idx="1">
                  <c:v>8.0</c:v>
                </c:pt>
                <c:pt idx="2">
                  <c:v>5.4</c:v>
                </c:pt>
                <c:pt idx="3">
                  <c:v>4.48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.5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Nilai</c:v>
                </c:pt>
              </c:strCache>
            </c:strRef>
          </c:tx>
          <c:spPr>
            <a:solidFill>
              <a:srgbClr val="8FA8F5"/>
            </a:solidFill>
          </c:spPr>
          <c:dPt>
            <c:idx val="0"/>
            <c:spPr>
              <a:solidFill>
                <a:srgbClr val="051C5C"/>
              </a:solidFill>
            </c:spPr>
          </c:dPt>
          <c:dPt>
            <c:idx val="1"/>
            <c:spPr>
              <a:solidFill>
                <a:srgbClr val="2251FF"/>
              </a:solidFill>
            </c:spPr>
          </c:dPt>
          <c:cat>
            <c:strRef>
              <c:f>Sheet1!$A$2:$A$3</c:f>
              <c:strCache>
                <c:ptCount val="2"/>
                <c:pt idx="0">
                  <c:v>Sebelum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110.95</c:v>
                </c:pt>
                <c:pt idx="1">
                  <c:v>61.38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Nilai</c:v>
                </c:pt>
              </c:strCache>
            </c:strRef>
          </c:tx>
          <c:spPr>
            <a:solidFill>
              <a:srgbClr val="8FA8F5"/>
            </a:solidFill>
          </c:spPr>
          <c:dPt>
            <c:idx val="0"/>
            <c:spPr>
              <a:solidFill>
                <a:srgbClr val="2251FF"/>
              </a:solidFill>
            </c:spPr>
          </c:dPt>
          <c:dPt>
            <c:idx val="1"/>
            <c:spPr>
              <a:solidFill>
                <a:srgbClr val="2251FF"/>
              </a:solidFill>
            </c:spPr>
          </c:dPt>
          <c:dPt>
            <c:idx val="2"/>
            <c:spPr>
              <a:solidFill>
                <a:srgbClr val="2251FF"/>
              </a:solidFill>
            </c:spPr>
          </c:dPt>
          <c:cat>
            <c:strRef>
              <c:f>Sheet1!$A$2:$A$4</c:f>
              <c:strCache>
                <c:ptCount val="3"/>
                <c:pt idx="0">
                  <c:v>Fase 1
1 BUMN</c:v>
                </c:pt>
                <c:pt idx="1">
                  <c:v>Fase 2
2–3 BUMN</c:v>
                </c:pt>
                <c:pt idx="2">
                  <c:v>Fase 3
semua Karya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8</c:v>
                </c:pt>
                <c:pt idx="2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Nilai</c:v>
                </c:pt>
              </c:strCache>
            </c:strRef>
          </c:tx>
          <c:spPr>
            <a:solidFill>
              <a:srgbClr val="8FA8F5"/>
            </a:solidFill>
          </c:spPr>
          <c:dPt>
            <c:idx val="0"/>
            <c:spPr>
              <a:solidFill>
                <a:srgbClr val="2251FF"/>
              </a:solidFill>
            </c:spPr>
          </c:dPt>
          <c:dPt>
            <c:idx val="1"/>
            <c:spPr>
              <a:solidFill>
                <a:srgbClr val="2251FF"/>
              </a:solidFill>
            </c:spPr>
          </c:dPt>
          <c:dPt>
            <c:idx val="2"/>
            <c:spPr>
              <a:solidFill>
                <a:srgbClr val="2251FF"/>
              </a:solidFill>
            </c:spPr>
          </c:dPt>
          <c:cat>
            <c:strRef>
              <c:f>Sheet1!$A$2:$A$4</c:f>
              <c:strCache>
                <c:ptCount val="3"/>
                <c:pt idx="0">
                  <c:v>Investasi
I01–I12</c:v>
                </c:pt>
                <c:pt idx="1">
                  <c:v>Operasi BUMN
O01–O15</c:v>
                </c:pt>
                <c:pt idx="2">
                  <c:v>Pembangunan
D01–D12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35</c:v>
                </c:pt>
                <c:pt idx="2">
                  <c:v>25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5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9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5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0" y="0"/>
            <a:ext cx="109728" cy="68580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338328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KAJIAN KOMITE PENGARAH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338328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Draf untuk diskusi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Rahasia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694944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251FF"/>
                </a:solidFill>
                <a:latin typeface="Arial"/>
              </a:rPr>
              <a:t>DANANTARA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83080"/>
            <a:ext cx="6949440" cy="20116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3400" b="1" i="0">
                <a:solidFill>
                  <a:srgbClr val="051C5C"/>
                </a:solidFill>
                <a:latin typeface="Arial"/>
              </a:rPr>
              <a:t>Dari pengonsolidasi aset menjadi platform kapabilitas industri nasional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00600" y="3931920"/>
            <a:ext cx="6903720" cy="0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754880" y="4069080"/>
            <a:ext cx="6949440" cy="10058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Tinjauan kinerja, kerangka kapabilitas industri DOCK-UP, pembiayaan melalui Natural Resource Fund dan tokenisasi proyek berdaulat, reformasi BUMN Karya, dan AI multi-agen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5394960"/>
            <a:ext cx="694944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51C5C"/>
                </a:solidFill>
                <a:latin typeface="Arial"/>
              </a:rPr>
              <a:t>Oktober 2026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00000"/>
                </a:solidFill>
                <a:latin typeface="Arial"/>
              </a:rPr>
              <a:t>Disusun oleh anggota Komite Pengarah Danantara untuk organ tata kelola dan manajemen Danantara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6400800"/>
            <a:ext cx="694944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Ringkasan dalam bentuk dek dari kajian lengkap; bukan keputusan atau posisi Danantara maupun Pemerintah.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1 DARI 3 · DIAGNOSIS (BAB 2–5)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Danantara sudah membuktikan akses pasar, tetapi belum hasil; harapan menuntut modal diubah menjadi kapabilitas yang terukur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merangkum seluruh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389888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389888"/>
            <a:ext cx="2258568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Pendekatan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1810512"/>
            <a:ext cx="2697480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1" name="Oval 10"/>
          <p:cNvSpPr/>
          <p:nvPr/>
        </p:nvSpPr>
        <p:spPr>
          <a:xfrm>
            <a:off x="3316528" y="1389888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6528" y="1389888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5440" y="1389888"/>
            <a:ext cx="2258568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Kondisi saat ini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16528" y="1810512"/>
            <a:ext cx="2697480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5" name="Oval 14"/>
          <p:cNvSpPr/>
          <p:nvPr/>
        </p:nvSpPr>
        <p:spPr>
          <a:xfrm>
            <a:off x="6175857" y="1389888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5857" y="1389888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4769" y="1389888"/>
            <a:ext cx="2258568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Evaluasi kinerja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75857" y="1810512"/>
            <a:ext cx="2697480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9035186" y="1389888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35186" y="1389888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4098" y="1389888"/>
            <a:ext cx="2258568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Harapan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35186" y="1810512"/>
            <a:ext cx="2697480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3" name="Rectangle 22"/>
          <p:cNvSpPr/>
          <p:nvPr/>
        </p:nvSpPr>
        <p:spPr>
          <a:xfrm>
            <a:off x="457200" y="1920240"/>
            <a:ext cx="1298448" cy="8686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1920240"/>
            <a:ext cx="64008" cy="8686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1956816"/>
            <a:ext cx="1115568" cy="37719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2251FF"/>
                </a:solidFill>
                <a:latin typeface="Arial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2320036"/>
            <a:ext cx="1115568" cy="45059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pertanyaan kerangka acuan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56232" y="1920240"/>
            <a:ext cx="1298448" cy="8686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856232" y="1920240"/>
            <a:ext cx="64008" cy="8686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93392" y="1956816"/>
            <a:ext cx="1115568" cy="29146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251FF"/>
                </a:solidFill>
                <a:latin typeface="Arial"/>
              </a:rPr>
              <a:t>D1–D13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93392" y="2237486"/>
            <a:ext cx="1115568" cy="53314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13 dokumen sumber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2926080"/>
            <a:ext cx="269748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Lima kelas bukti pada setiap angka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246120"/>
            <a:ext cx="457200" cy="365760"/>
          </a:xfrm>
          <a:prstGeom prst="rect">
            <a:avLst/>
          </a:prstGeom>
          <a:solidFill>
            <a:srgbClr val="051C5C"/>
          </a:solidFill>
          <a:ln w="9525">
            <a:solidFill>
              <a:srgbClr val="051C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246120"/>
            <a:ext cx="457200" cy="36576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" y="3246120"/>
            <a:ext cx="2167128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Teraudit / dijamin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703320"/>
            <a:ext cx="457200" cy="365760"/>
          </a:xfrm>
          <a:prstGeom prst="rect">
            <a:avLst/>
          </a:prstGeom>
          <a:solidFill>
            <a:srgbClr val="2251FF"/>
          </a:solidFill>
          <a:ln w="9525">
            <a:solidFill>
              <a:srgbClr val="051C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703320"/>
            <a:ext cx="457200" cy="36576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" y="3703320"/>
            <a:ext cx="2167128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Resmi dilaporkan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160520"/>
            <a:ext cx="457200" cy="365760"/>
          </a:xfrm>
          <a:prstGeom prst="rect">
            <a:avLst/>
          </a:prstGeom>
          <a:solidFill>
            <a:srgbClr val="8FA8F5"/>
          </a:solidFill>
          <a:ln w="9525">
            <a:solidFill>
              <a:srgbClr val="051C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160520"/>
            <a:ext cx="457200" cy="36576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" y="4160520"/>
            <a:ext cx="2167128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Pengumuman, proyeksi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617720"/>
            <a:ext cx="457200" cy="365760"/>
          </a:xfrm>
          <a:prstGeom prst="rect">
            <a:avLst/>
          </a:prstGeom>
          <a:solidFill>
            <a:srgbClr val="E6ECFD"/>
          </a:solidFill>
          <a:ln w="9525">
            <a:solidFill>
              <a:srgbClr val="051C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617720"/>
            <a:ext cx="457200" cy="36576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" y="4617720"/>
            <a:ext cx="2167128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Ilustrasi / asumsi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074920"/>
            <a:ext cx="457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051C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074920"/>
            <a:ext cx="457200" cy="36576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NR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" y="5074920"/>
            <a:ext cx="2167128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Tidak dapat dinilai ≠ nol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16528" y="1920240"/>
            <a:ext cx="2697480" cy="4572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16528" y="1920240"/>
            <a:ext cx="2697480" cy="4572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BPI · Badan Pelaksana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665268" y="2377440"/>
            <a:ext cx="0" cy="16459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50" name="Connector 49"/>
          <p:cNvCxnSpPr/>
          <p:nvPr/>
        </p:nvCxnSpPr>
        <p:spPr>
          <a:xfrm>
            <a:off x="3746296" y="2542032"/>
            <a:ext cx="1837944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51" name="Connector 50"/>
          <p:cNvCxnSpPr/>
          <p:nvPr/>
        </p:nvCxnSpPr>
        <p:spPr>
          <a:xfrm>
            <a:off x="3741724" y="2542032"/>
            <a:ext cx="0" cy="109728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52" name="Rectangle 51"/>
          <p:cNvSpPr/>
          <p:nvPr/>
        </p:nvSpPr>
        <p:spPr>
          <a:xfrm>
            <a:off x="3316528" y="2651760"/>
            <a:ext cx="850392" cy="4572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16528" y="2651760"/>
            <a:ext cx="850392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51C5C"/>
                </a:solidFill>
                <a:latin typeface="Arial"/>
              </a:rPr>
              <a:t>DAM · COO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665268" y="2542032"/>
            <a:ext cx="0" cy="109728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55" name="Rectangle 54"/>
          <p:cNvSpPr/>
          <p:nvPr/>
        </p:nvSpPr>
        <p:spPr>
          <a:xfrm>
            <a:off x="4240072" y="2651760"/>
            <a:ext cx="850392" cy="4572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40072" y="2651760"/>
            <a:ext cx="850392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51C5C"/>
                </a:solidFill>
                <a:latin typeface="Arial"/>
              </a:rPr>
              <a:t>DIM · CIO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588812" y="2542032"/>
            <a:ext cx="0" cy="109728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58" name="Rectangle 57"/>
          <p:cNvSpPr/>
          <p:nvPr/>
        </p:nvSpPr>
        <p:spPr>
          <a:xfrm>
            <a:off x="5163616" y="2651760"/>
            <a:ext cx="850392" cy="4572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63616" y="2651760"/>
            <a:ext cx="850392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51C5C"/>
                </a:solidFill>
                <a:latin typeface="Arial"/>
              </a:rPr>
              <a:t>DDMF · CTO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316528" y="3291840"/>
            <a:ext cx="2697480" cy="77724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316528" y="3291840"/>
            <a:ext cx="64008" cy="7772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53688" y="3328416"/>
            <a:ext cx="2514600" cy="29146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251FF"/>
                </a:solidFill>
                <a:latin typeface="Arial"/>
              </a:rPr>
              <a:t>US$1,5 M · 5,65%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53688" y="3609086"/>
            <a:ext cx="2514600" cy="44170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surat utang DIM, Jun 2026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316528" y="4160520"/>
            <a:ext cx="2697480" cy="77724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316528" y="4160520"/>
            <a:ext cx="64008" cy="7772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53688" y="4197096"/>
            <a:ext cx="2514600" cy="32575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900" b="1" i="0">
                <a:solidFill>
                  <a:srgbClr val="2251FF"/>
                </a:solidFill>
                <a:latin typeface="Arial"/>
              </a:rPr>
              <a:t>≈ 3,07×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53688" y="4510786"/>
            <a:ext cx="2514600" cy="40868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kelebihan permintaan surat utang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316528" y="5029200"/>
            <a:ext cx="2697480" cy="6858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316528" y="5029200"/>
            <a:ext cx="64008" cy="6858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53688" y="5065776"/>
            <a:ext cx="2514600" cy="25717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2251FF"/>
                </a:solidFill>
                <a:latin typeface="Arial"/>
              </a:rPr>
              <a:t>US$14 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53688" y="5313426"/>
            <a:ext cx="2514600" cy="38328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rencana 2026: 50% pasar publik · 50% proyek riil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90841" y="1920240"/>
            <a:ext cx="484632" cy="27432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051C5C"/>
                </a:solidFill>
                <a:latin typeface="Arial"/>
              </a:rPr>
              <a:t>Terbukti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02321" y="1920240"/>
            <a:ext cx="484632" cy="27432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051C5C"/>
                </a:solidFill>
                <a:latin typeface="Arial"/>
              </a:rPr>
              <a:t>Sebagian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13801" y="1920240"/>
            <a:ext cx="484632" cy="27432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051C5C"/>
                </a:solidFill>
                <a:latin typeface="Arial"/>
              </a:rPr>
              <a:t>Belum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25281" y="1920240"/>
            <a:ext cx="484632" cy="27432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051C5C"/>
                </a:solidFill>
                <a:latin typeface="Arial"/>
              </a:rPr>
              <a:t>NR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75857" y="2240280"/>
            <a:ext cx="1051560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Investasi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245705" y="2258568"/>
            <a:ext cx="374904" cy="34747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657185" y="2258568"/>
            <a:ext cx="374904" cy="34747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068665" y="2258568"/>
            <a:ext cx="374904" cy="34747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480145" y="2258568"/>
            <a:ext cx="374904" cy="34747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75857" y="2697480"/>
            <a:ext cx="1051560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Operasi BUMN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245705" y="2715768"/>
            <a:ext cx="374904" cy="34747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57185" y="2715768"/>
            <a:ext cx="374904" cy="34747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068665" y="2715768"/>
            <a:ext cx="374904" cy="34747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480145" y="2715768"/>
            <a:ext cx="374904" cy="34747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75857" y="3154680"/>
            <a:ext cx="1051560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Industrialisasi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245705" y="3172968"/>
            <a:ext cx="374904" cy="34747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57185" y="3172968"/>
            <a:ext cx="374904" cy="34747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68665" y="3172968"/>
            <a:ext cx="374904" cy="34747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480145" y="3172968"/>
            <a:ext cx="374904" cy="34747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75857" y="3611880"/>
            <a:ext cx="1051560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Tata kelola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245705" y="3630168"/>
            <a:ext cx="374904" cy="34747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657185" y="3630168"/>
            <a:ext cx="374904" cy="34747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68665" y="3630168"/>
            <a:ext cx="374904" cy="34747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80145" y="3630168"/>
            <a:ext cx="374904" cy="34747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75857" y="4114800"/>
            <a:ext cx="2697480" cy="4572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Akses terbukti; imbal hasil NR · kontribusi BUMN belum terverifikasi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175857" y="4572000"/>
            <a:ext cx="2697480" cy="237744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Register 40 proyek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75857" y="4846320"/>
            <a:ext cx="1213866" cy="4572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75857" y="4846320"/>
            <a:ext cx="1213866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18 bernama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389723" y="4846320"/>
            <a:ext cx="1483614" cy="4572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389723" y="4846320"/>
            <a:ext cx="1483614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22 tanpa identitas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175857" y="5349240"/>
            <a:ext cx="269748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Rp604,97 T = 28,9% dari Rp2.091 T · skor 0/100 = penalti data</a:t>
            </a:r>
          </a:p>
        </p:txBody>
      </p:sp>
      <p:sp>
        <p:nvSpPr>
          <p:cNvPr id="103" name="Oval 102"/>
          <p:cNvSpPr/>
          <p:nvPr/>
        </p:nvSpPr>
        <p:spPr>
          <a:xfrm>
            <a:off x="9035186" y="1920240"/>
            <a:ext cx="841248" cy="8412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035186" y="1920240"/>
            <a:ext cx="841248" cy="8412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Kapabilitas</a:t>
            </a:r>
          </a:p>
        </p:txBody>
      </p:sp>
      <p:sp>
        <p:nvSpPr>
          <p:cNvPr id="105" name="Oval 104"/>
          <p:cNvSpPr/>
          <p:nvPr/>
        </p:nvSpPr>
        <p:spPr>
          <a:xfrm>
            <a:off x="9949586" y="1920240"/>
            <a:ext cx="841248" cy="841248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949586" y="1920240"/>
            <a:ext cx="841248" cy="8412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Ekonomi</a:t>
            </a:r>
          </a:p>
        </p:txBody>
      </p:sp>
      <p:sp>
        <p:nvSpPr>
          <p:cNvPr id="107" name="Oval 106"/>
          <p:cNvSpPr/>
          <p:nvPr/>
        </p:nvSpPr>
        <p:spPr>
          <a:xfrm>
            <a:off x="10863986" y="1920240"/>
            <a:ext cx="841248" cy="841248"/>
          </a:xfrm>
          <a:prstGeom prst="ellipse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863986" y="1920240"/>
            <a:ext cx="841248" cy="8412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00000"/>
                </a:solidFill>
                <a:latin typeface="Arial"/>
              </a:rPr>
              <a:t>Sosial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035186" y="2926080"/>
            <a:ext cx="1298448" cy="8686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035186" y="2926080"/>
            <a:ext cx="64008" cy="8686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172346" y="2962656"/>
            <a:ext cx="1115568" cy="24003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251FF"/>
                </a:solidFill>
                <a:latin typeface="Arial"/>
              </a:rPr>
              <a:t>Rp23–68 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172346" y="3193796"/>
            <a:ext cx="1115568" cy="58267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000000"/>
                </a:solidFill>
                <a:latin typeface="Arial"/>
              </a:rPr>
              <a:t>nilai tambah dari lokalisasi 10–30%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434218" y="2926080"/>
            <a:ext cx="1298448" cy="8686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434218" y="2926080"/>
            <a:ext cx="64008" cy="8686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571378" y="2962656"/>
            <a:ext cx="1115568" cy="32575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900" b="1" i="0">
                <a:solidFill>
                  <a:srgbClr val="2251FF"/>
                </a:solidFill>
                <a:latin typeface="Arial"/>
              </a:rPr>
              <a:t>+1,5%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571378" y="3276346"/>
            <a:ext cx="1115568" cy="50012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level PDB puncak 2030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035186" y="3886200"/>
            <a:ext cx="1298448" cy="8686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035186" y="3886200"/>
            <a:ext cx="64008" cy="8686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172346" y="3922776"/>
            <a:ext cx="1115568" cy="25717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2251FF"/>
                </a:solidFill>
                <a:latin typeface="Arial"/>
              </a:rPr>
              <a:t>11,4 juta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172346" y="4170425"/>
            <a:ext cx="1115568" cy="56616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tahun-kerja didukung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0434218" y="3886200"/>
            <a:ext cx="1298448" cy="8686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434218" y="3886200"/>
            <a:ext cx="64008" cy="8686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0571378" y="3922776"/>
            <a:ext cx="1115568" cy="32575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900" b="1" i="0">
                <a:solidFill>
                  <a:srgbClr val="2251FF"/>
                </a:solidFill>
                <a:latin typeface="Arial"/>
              </a:rPr>
              <a:t>≠ 8%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571378" y="4236466"/>
            <a:ext cx="1115568" cy="50012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dari SDA saja: 6,2–6,8%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035186" y="4846320"/>
            <a:ext cx="2697480" cy="8686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Lima portofolio, ukuran berbeda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Pelestarian kekayaan · Infrastruktur · Platform industri · Inovasi · Pemasok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57200" y="5833872"/>
            <a:ext cx="11274552" cy="457200"/>
          </a:xfrm>
          <a:prstGeom prst="rect">
            <a:avLst/>
          </a:prstGeom>
          <a:solidFill>
            <a:srgbClr val="051C5C"/>
          </a:solidFill>
        </p:spPr>
        <p:txBody>
          <a:bodyPr wrap="square" lIns="164592" rIns="164592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Kesimpulan: </a:t>
            </a:r>
            <a:r>
              <a:rPr sz="1150" b="0" i="0">
                <a:solidFill>
                  <a:srgbClr val="FFFFFF"/>
                </a:solidFill>
                <a:latin typeface="Arial"/>
              </a:rPr>
              <a:t>akses pasar terbukti; imbal hasil, nilai BUMN, dan dampak industri belum dapat dinilai.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2 DARI 3 · MEKANISME DAN PEMBIAYAAN (BAB 6–10)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Permintaan jangkar diubah menjadi pemasok terkualifikasi lewat DOCK-UP, dibiayai dua kanal yang hanya menutup 6,8% portofolio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merangkum seluruh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389888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389888"/>
            <a:ext cx="2258568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DOCK-UP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1810512"/>
            <a:ext cx="2697480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1" name="Oval 10"/>
          <p:cNvSpPr/>
          <p:nvPr/>
        </p:nvSpPr>
        <p:spPr>
          <a:xfrm>
            <a:off x="3316528" y="1389888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6528" y="1389888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5440" y="1389888"/>
            <a:ext cx="2258568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Proyek jangkar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16528" y="1810512"/>
            <a:ext cx="2697480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5" name="Oval 14"/>
          <p:cNvSpPr/>
          <p:nvPr/>
        </p:nvSpPr>
        <p:spPr>
          <a:xfrm>
            <a:off x="6175857" y="1389888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5857" y="1389888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4769" y="1389888"/>
            <a:ext cx="2258568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Natural Resource Fund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75857" y="1810512"/>
            <a:ext cx="2697480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9035186" y="1389888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35186" y="1389888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4098" y="1389888"/>
            <a:ext cx="2258568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Tokenisasi proyek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35186" y="1810512"/>
            <a:ext cx="2697480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3" name="Rectangle 22"/>
          <p:cNvSpPr/>
          <p:nvPr/>
        </p:nvSpPr>
        <p:spPr>
          <a:xfrm>
            <a:off x="457200" y="1920240"/>
            <a:ext cx="603504" cy="4572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1920240"/>
            <a:ext cx="603504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33856" y="1920240"/>
            <a:ext cx="603504" cy="4572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33856" y="1920240"/>
            <a:ext cx="603504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10512" y="1920240"/>
            <a:ext cx="603504" cy="4572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10512" y="1920240"/>
            <a:ext cx="603504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7168" y="1920240"/>
            <a:ext cx="603504" cy="4572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87168" y="1920240"/>
            <a:ext cx="603504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2395728"/>
            <a:ext cx="269748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Develop · Off-taker · Certification · Upgrading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611880"/>
            <a:ext cx="493776" cy="274320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" y="3904487"/>
            <a:ext cx="54864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Masuk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840" y="3383280"/>
            <a:ext cx="493776" cy="5029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" y="3904487"/>
            <a:ext cx="54864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G1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554480" y="3154680"/>
            <a:ext cx="493776" cy="7315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27048" y="3904487"/>
            <a:ext cx="54864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G2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03120" y="2926080"/>
            <a:ext cx="493776" cy="9601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75688" y="3904487"/>
            <a:ext cx="54864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G3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51760" y="2697480"/>
            <a:ext cx="493776" cy="11887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24328" y="3904487"/>
            <a:ext cx="54864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G4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206240"/>
            <a:ext cx="2697480" cy="5486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TRL/MRL: volume pesanan dilepas hanya pada kesiapan terverifikasi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6528" y="1920240"/>
            <a:ext cx="96012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Mineral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6648" y="1956816"/>
            <a:ext cx="274965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9046" y="1920240"/>
            <a:ext cx="54864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0000"/>
                </a:solidFill>
                <a:latin typeface="Arial"/>
              </a:rPr>
              <a:t>284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16528" y="2340864"/>
            <a:ext cx="96012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Energi/infra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6648" y="2377440"/>
            <a:ext cx="1234440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38520" y="2340864"/>
            <a:ext cx="54864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0000"/>
                </a:solidFill>
                <a:latin typeface="Arial"/>
              </a:rPr>
              <a:t>1.275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16528" y="2761488"/>
            <a:ext cx="96012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Pertahanan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76648" y="2798064"/>
            <a:ext cx="78423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2504" y="2761488"/>
            <a:ext cx="54864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0000"/>
                </a:solidFill>
                <a:latin typeface="Arial"/>
              </a:rPr>
              <a:t>81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6528" y="3182112"/>
            <a:ext cx="96012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Lainnya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76648" y="3218688"/>
            <a:ext cx="437621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41701" y="3182112"/>
            <a:ext cx="54864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0000"/>
                </a:solidFill>
                <a:latin typeface="Arial"/>
              </a:rPr>
              <a:t>452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16528" y="3639312"/>
            <a:ext cx="2697480" cy="237744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051C5C"/>
                </a:solidFill>
                <a:latin typeface="Arial"/>
              </a:rPr>
              <a:t>Rp T, belum direkonsiliasi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453688" y="4224528"/>
            <a:ext cx="2423160" cy="0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sp>
        <p:nvSpPr>
          <p:cNvPr id="57" name="Oval 56"/>
          <p:cNvSpPr/>
          <p:nvPr/>
        </p:nvSpPr>
        <p:spPr>
          <a:xfrm>
            <a:off x="3380536" y="4151376"/>
            <a:ext cx="146304" cy="146304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70808" y="4334256"/>
            <a:ext cx="365760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51C5C"/>
                </a:solidFill>
                <a:latin typeface="Arial"/>
              </a:rPr>
              <a:t>P0</a:t>
            </a:r>
          </a:p>
        </p:txBody>
      </p:sp>
      <p:sp>
        <p:nvSpPr>
          <p:cNvPr id="59" name="Oval 58"/>
          <p:cNvSpPr/>
          <p:nvPr/>
        </p:nvSpPr>
        <p:spPr>
          <a:xfrm>
            <a:off x="3784396" y="4151376"/>
            <a:ext cx="146304" cy="146304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74668" y="4334256"/>
            <a:ext cx="365760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51C5C"/>
                </a:solidFill>
                <a:latin typeface="Arial"/>
              </a:rPr>
              <a:t>P1</a:t>
            </a:r>
          </a:p>
        </p:txBody>
      </p:sp>
      <p:sp>
        <p:nvSpPr>
          <p:cNvPr id="61" name="Oval 60"/>
          <p:cNvSpPr/>
          <p:nvPr/>
        </p:nvSpPr>
        <p:spPr>
          <a:xfrm>
            <a:off x="4188256" y="4151376"/>
            <a:ext cx="146304" cy="146304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078528" y="4334256"/>
            <a:ext cx="365760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51C5C"/>
                </a:solidFill>
                <a:latin typeface="Arial"/>
              </a:rPr>
              <a:t>P2</a:t>
            </a:r>
          </a:p>
        </p:txBody>
      </p:sp>
      <p:sp>
        <p:nvSpPr>
          <p:cNvPr id="63" name="Oval 62"/>
          <p:cNvSpPr/>
          <p:nvPr/>
        </p:nvSpPr>
        <p:spPr>
          <a:xfrm>
            <a:off x="4592116" y="4151376"/>
            <a:ext cx="146304" cy="146304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82388" y="4334256"/>
            <a:ext cx="365760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51C5C"/>
                </a:solidFill>
                <a:latin typeface="Arial"/>
              </a:rPr>
              <a:t>P3</a:t>
            </a:r>
          </a:p>
        </p:txBody>
      </p:sp>
      <p:sp>
        <p:nvSpPr>
          <p:cNvPr id="65" name="Oval 64"/>
          <p:cNvSpPr/>
          <p:nvPr/>
        </p:nvSpPr>
        <p:spPr>
          <a:xfrm>
            <a:off x="4995976" y="4151376"/>
            <a:ext cx="146304" cy="146304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86248" y="4334256"/>
            <a:ext cx="365760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51C5C"/>
                </a:solidFill>
                <a:latin typeface="Arial"/>
              </a:rPr>
              <a:t>P4</a:t>
            </a:r>
          </a:p>
        </p:txBody>
      </p:sp>
      <p:sp>
        <p:nvSpPr>
          <p:cNvPr id="67" name="Oval 66"/>
          <p:cNvSpPr/>
          <p:nvPr/>
        </p:nvSpPr>
        <p:spPr>
          <a:xfrm>
            <a:off x="5399836" y="4151376"/>
            <a:ext cx="146304" cy="146304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290108" y="4334256"/>
            <a:ext cx="365760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51C5C"/>
                </a:solidFill>
                <a:latin typeface="Arial"/>
              </a:rPr>
              <a:t>P5</a:t>
            </a:r>
          </a:p>
        </p:txBody>
      </p:sp>
      <p:sp>
        <p:nvSpPr>
          <p:cNvPr id="69" name="Oval 68"/>
          <p:cNvSpPr/>
          <p:nvPr/>
        </p:nvSpPr>
        <p:spPr>
          <a:xfrm>
            <a:off x="5803696" y="4151376"/>
            <a:ext cx="146304" cy="146304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93968" y="4334256"/>
            <a:ext cx="365760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51C5C"/>
                </a:solidFill>
                <a:latin typeface="Arial"/>
              </a:rPr>
              <a:t>P6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16528" y="3886200"/>
            <a:ext cx="2697480" cy="237744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2251FF"/>
                </a:solidFill>
                <a:latin typeface="Arial"/>
              </a:rPr>
              <a:t>Gerbang proyek mengunci gerbang pemasok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8737" y="2057400"/>
            <a:ext cx="822960" cy="11887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730337" y="3187598"/>
            <a:ext cx="822960" cy="58521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58737" y="2057400"/>
            <a:ext cx="822960" cy="11887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US$80 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593177" y="2788920"/>
            <a:ext cx="109728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US$3,9 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75857" y="3264408"/>
            <a:ext cx="118872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Nilai in-situ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47457" y="3264408"/>
            <a:ext cx="1280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Dapat diterbitkan (4,9%)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75857" y="3794760"/>
            <a:ext cx="2697480" cy="82296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175857" y="3794760"/>
            <a:ext cx="64008" cy="82296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13017" y="3831336"/>
            <a:ext cx="2514600" cy="29146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251FF"/>
                </a:solidFill>
                <a:latin typeface="Arial"/>
              </a:rPr>
              <a:t>19,3% → 7,7%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13017" y="4112006"/>
            <a:ext cx="2514600" cy="48742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porsi SDA dalam penerimaan negara; 8 isu hukum, valuasi, fiskal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126626" y="2479040"/>
            <a:ext cx="502920" cy="8128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126626" y="2250440"/>
            <a:ext cx="50292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26626" y="3310128"/>
            <a:ext cx="50292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T1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766706" y="2377440"/>
            <a:ext cx="502920" cy="9144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766706" y="2148840"/>
            <a:ext cx="50292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45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766706" y="3310128"/>
            <a:ext cx="50292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T2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406786" y="2479040"/>
            <a:ext cx="502920" cy="8128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406786" y="2250440"/>
            <a:ext cx="50292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406786" y="3310128"/>
            <a:ext cx="50292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T3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1046866" y="2783840"/>
            <a:ext cx="502920" cy="5080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1046866" y="2555240"/>
            <a:ext cx="50292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046866" y="3310128"/>
            <a:ext cx="50292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T4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035186" y="1901952"/>
            <a:ext cx="269748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Tranche tonggak PAL-SUB-1, US$ juta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035186" y="3657600"/>
            <a:ext cx="2697480" cy="8686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035186" y="3657600"/>
            <a:ext cx="64008" cy="8686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172346" y="3694176"/>
            <a:ext cx="2514600" cy="29146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251FF"/>
                </a:solidFill>
                <a:latin typeface="Arial"/>
              </a:rPr>
              <a:t>US$150 juta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172346" y="3974846"/>
            <a:ext cx="2514600" cy="53314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700 bps · 720 hari · escrow · pencairan 2-dari-2; instrumen = utang, enam prasyarat</a:t>
            </a:r>
          </a:p>
        </p:txBody>
      </p:sp>
      <p:sp>
        <p:nvSpPr>
          <p:cNvPr id="99" name="Oval 98"/>
          <p:cNvSpPr/>
          <p:nvPr/>
        </p:nvSpPr>
        <p:spPr>
          <a:xfrm>
            <a:off x="457200" y="4754880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57200" y="4754880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6112" y="4754880"/>
            <a:ext cx="10835640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Arsitektur pembiayaan: sumber dana ilustratif untuk portofolio Rp2.091 T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457200" y="5175504"/>
            <a:ext cx="11274552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03" name="Rectangle 102"/>
          <p:cNvSpPr/>
          <p:nvPr/>
        </p:nvSpPr>
        <p:spPr>
          <a:xfrm>
            <a:off x="457200" y="5303520"/>
            <a:ext cx="3116542" cy="4572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57200" y="5303520"/>
            <a:ext cx="3116542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Alokasi Danantara 27,6%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573742" y="5303520"/>
            <a:ext cx="636249" cy="4572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573742" y="5303520"/>
            <a:ext cx="636249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NRF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209992" y="5303520"/>
            <a:ext cx="129406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339398" y="5303520"/>
            <a:ext cx="7392353" cy="457200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339398" y="5303520"/>
            <a:ext cx="7392353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Sisa 65,6%: utang proyek, ko-investor, APBN, neraca BUMN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573742" y="5779008"/>
            <a:ext cx="411480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NRF 5,6% + surat tagihan 1,1% = dua kanal baru 6,8%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7200" y="6053328"/>
            <a:ext cx="11274552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Pembiayaan mengikuti gerbang · portofolio Alpha/Impact tanpa subsidi silang · SPV ring-fenced · 11 uji stres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3 DARI 3 · PELAKSANAAN (BAB 11–17 DAN LAMPIRAN)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Pelaksanaan bertumpu pada kontraktor yang disiplin, AI, unit tata kelola, tiga scorecard, pengendalian risiko, dan peta jalan bersyarat bukti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merangkum seluruh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371600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371600"/>
            <a:ext cx="3197352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BUMN Karya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1792224"/>
            <a:ext cx="363626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1" name="Oval 10"/>
          <p:cNvSpPr/>
          <p:nvPr/>
        </p:nvSpPr>
        <p:spPr>
          <a:xfrm>
            <a:off x="4276344" y="1371600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6344" y="1371600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5256" y="1371600"/>
            <a:ext cx="3197352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AI multi-agen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76344" y="1792224"/>
            <a:ext cx="3636263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5" name="Oval 14"/>
          <p:cNvSpPr/>
          <p:nvPr/>
        </p:nvSpPr>
        <p:spPr>
          <a:xfrm>
            <a:off x="8095488" y="1371600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5488" y="1371600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4400" y="1371600"/>
            <a:ext cx="3197352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Tata kelola dan unit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095488" y="1792224"/>
            <a:ext cx="363626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457200" y="3383280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383280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383280"/>
            <a:ext cx="3197352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Pengukuran: tiga scorecard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" y="3803904"/>
            <a:ext cx="363626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3" name="Oval 22"/>
          <p:cNvSpPr/>
          <p:nvPr/>
        </p:nvSpPr>
        <p:spPr>
          <a:xfrm>
            <a:off x="4276344" y="3383280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76344" y="3383280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5256" y="3383280"/>
            <a:ext cx="3197352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Risiko: 24 risiko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276344" y="3803904"/>
            <a:ext cx="3636263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7" name="Oval 26"/>
          <p:cNvSpPr/>
          <p:nvPr/>
        </p:nvSpPr>
        <p:spPr>
          <a:xfrm>
            <a:off x="8095488" y="3383280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5488" y="3383280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4400" y="3383280"/>
            <a:ext cx="3197352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Pemangku kepentingan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095488" y="3803904"/>
            <a:ext cx="363626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31" name="Rectangle 30"/>
          <p:cNvSpPr/>
          <p:nvPr/>
        </p:nvSpPr>
        <p:spPr>
          <a:xfrm>
            <a:off x="548640" y="2084832"/>
            <a:ext cx="384048" cy="65836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1883664"/>
            <a:ext cx="475488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00000"/>
                </a:solidFill>
                <a:latin typeface="Arial"/>
              </a:rPr>
              <a:t>10,14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761488"/>
            <a:ext cx="502920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051C5C"/>
                </a:solidFill>
                <a:latin typeface="Arial"/>
              </a:rPr>
              <a:t>WIKA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840" y="2223777"/>
            <a:ext cx="384048" cy="51942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2022609"/>
            <a:ext cx="475488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2761488"/>
            <a:ext cx="502920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051C5C"/>
                </a:solidFill>
                <a:latin typeface="Arial"/>
              </a:rPr>
              <a:t>PP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63040" y="2392589"/>
            <a:ext cx="384048" cy="35061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17320" y="2191421"/>
            <a:ext cx="475488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00000"/>
                </a:solidFill>
                <a:latin typeface="Arial"/>
              </a:rPr>
              <a:t>5,4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2761488"/>
            <a:ext cx="502920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051C5C"/>
                </a:solidFill>
                <a:latin typeface="Arial"/>
              </a:rPr>
              <a:t>Adhi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20240" y="2452323"/>
            <a:ext cx="384048" cy="290876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74519" y="2251155"/>
            <a:ext cx="475488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00000"/>
                </a:solidFill>
                <a:latin typeface="Arial"/>
              </a:rPr>
              <a:t>4,48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2761488"/>
            <a:ext cx="502920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051C5C"/>
                </a:solidFill>
                <a:latin typeface="Arial"/>
              </a:rPr>
              <a:t>Waskita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68880" y="1874519"/>
            <a:ext cx="1624583" cy="73152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468880" y="1874519"/>
            <a:ext cx="64008" cy="7315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06040" y="1911095"/>
            <a:ext cx="1441703" cy="25717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2251FF"/>
                </a:solidFill>
                <a:latin typeface="Arial"/>
              </a:rPr>
              <a:t>≈ Rp28 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06040" y="2158746"/>
            <a:ext cx="1441703" cy="42900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rugi 2025 (est.)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8880" y="2651760"/>
            <a:ext cx="1624583" cy="56692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468880" y="2651760"/>
            <a:ext cx="64008" cy="56692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06040" y="2688336"/>
            <a:ext cx="1441703" cy="22288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251FF"/>
                </a:solidFill>
                <a:latin typeface="Arial"/>
              </a:rPr>
              <a:t>−45%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06040" y="2902966"/>
            <a:ext cx="1441703" cy="297434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000000"/>
                </a:solidFill>
                <a:latin typeface="Arial"/>
              </a:rPr>
              <a:t>anggaran infra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76344" y="1874519"/>
            <a:ext cx="2286000" cy="30175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76344" y="1874519"/>
            <a:ext cx="2286000" cy="30175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Portfolio Control Tower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76344" y="2212848"/>
            <a:ext cx="2286000" cy="30175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76344" y="2212848"/>
            <a:ext cx="2286000" cy="30175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Orchestrator + agen korporat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76344" y="2551176"/>
            <a:ext cx="2286000" cy="301752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76344" y="2551176"/>
            <a:ext cx="2286000" cy="30175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Project Control Tower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76344" y="2889503"/>
            <a:ext cx="2286000" cy="301752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76344" y="2889503"/>
            <a:ext cx="2286000" cy="30175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Platform data + master data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53784" y="1874519"/>
            <a:ext cx="1258823" cy="6400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653784" y="1874519"/>
            <a:ext cx="64008" cy="6400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90944" y="1911095"/>
            <a:ext cx="1075943" cy="24003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251FF"/>
                </a:solidFill>
                <a:latin typeface="Arial"/>
              </a:rPr>
              <a:t>6 agen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90944" y="2142236"/>
            <a:ext cx="1075943" cy="35407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000000"/>
                </a:solidFill>
                <a:latin typeface="Arial"/>
              </a:rPr>
              <a:t>prioritas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53784" y="2560320"/>
            <a:ext cx="1258823" cy="6400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653784" y="2560320"/>
            <a:ext cx="64008" cy="6400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90944" y="2596896"/>
            <a:ext cx="1075943" cy="24003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251FF"/>
                </a:solidFill>
                <a:latin typeface="Arial"/>
              </a:rPr>
              <a:t>3 bulan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90944" y="2828036"/>
            <a:ext cx="1075943" cy="35407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000000"/>
                </a:solidFill>
                <a:latin typeface="Arial"/>
              </a:rPr>
              <a:t>MVP, baca-saja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76344" y="3200400"/>
            <a:ext cx="3636264" cy="1828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0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68" name="Rectangle 67"/>
          <p:cNvSpPr/>
          <p:nvPr/>
        </p:nvSpPr>
        <p:spPr>
          <a:xfrm>
            <a:off x="8095488" y="1874519"/>
            <a:ext cx="3636264" cy="32918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95488" y="1874519"/>
            <a:ext cx="3636264" cy="32918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Kepala Industri Strategis (NITO)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95488" y="2286000"/>
            <a:ext cx="1163320" cy="32918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95488" y="2286000"/>
            <a:ext cx="116332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MD Portofolio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331960" y="2286000"/>
            <a:ext cx="1163320" cy="32918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331960" y="2286000"/>
            <a:ext cx="116332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MD Industri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568432" y="2286000"/>
            <a:ext cx="1163320" cy="32918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568432" y="2286000"/>
            <a:ext cx="116332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MD Rekayasa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95488" y="2697480"/>
            <a:ext cx="3636264" cy="310896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095488" y="2697480"/>
            <a:ext cx="3636264" cy="310896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4 pimpinan klaster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95488" y="3044952"/>
            <a:ext cx="3636264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Opsi B didahulukan · formal ditinjau bulan 12+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3886200"/>
            <a:ext cx="1454505" cy="4572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7200" y="3886200"/>
            <a:ext cx="1454505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Investasi 40%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911705" y="3886200"/>
            <a:ext cx="1272692" cy="4572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911705" y="3886200"/>
            <a:ext cx="1272692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BUMN 35%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184398" y="3886200"/>
            <a:ext cx="909065" cy="457200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184398" y="3886200"/>
            <a:ext cx="909065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00000"/>
                </a:solidFill>
                <a:latin typeface="Arial"/>
              </a:rPr>
              <a:t>Bangun 25%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4389120"/>
            <a:ext cx="3636264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57200" y="4389120"/>
            <a:ext cx="3636264" cy="29260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00000"/>
                </a:solidFill>
                <a:latin typeface="Arial"/>
              </a:rPr>
              <a:t>Gerbang tata kelola: lulus/gagal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4754880"/>
            <a:ext cx="624840" cy="32918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7200" y="4754880"/>
            <a:ext cx="624840" cy="32918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Dihimpun</a:t>
            </a:r>
          </a:p>
        </p:txBody>
      </p:sp>
      <p:sp>
        <p:nvSpPr>
          <p:cNvPr id="89" name="Right Arrow 88"/>
          <p:cNvSpPr/>
          <p:nvPr/>
        </p:nvSpPr>
        <p:spPr>
          <a:xfrm>
            <a:off x="1118616" y="4846320"/>
            <a:ext cx="54864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210056" y="4754880"/>
            <a:ext cx="624840" cy="329184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210056" y="4754880"/>
            <a:ext cx="624840" cy="32918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Komit</a:t>
            </a:r>
          </a:p>
        </p:txBody>
      </p:sp>
      <p:sp>
        <p:nvSpPr>
          <p:cNvPr id="92" name="Right Arrow 91"/>
          <p:cNvSpPr/>
          <p:nvPr/>
        </p:nvSpPr>
        <p:spPr>
          <a:xfrm>
            <a:off x="1871472" y="4846320"/>
            <a:ext cx="54864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962911" y="4754880"/>
            <a:ext cx="624840" cy="32918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962911" y="4754880"/>
            <a:ext cx="624840" cy="32918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Cair</a:t>
            </a:r>
          </a:p>
        </p:txBody>
      </p:sp>
      <p:sp>
        <p:nvSpPr>
          <p:cNvPr id="95" name="Right Arrow 94"/>
          <p:cNvSpPr/>
          <p:nvPr/>
        </p:nvSpPr>
        <p:spPr>
          <a:xfrm>
            <a:off x="2624328" y="4846320"/>
            <a:ext cx="54864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715768" y="4754880"/>
            <a:ext cx="624840" cy="329184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715768" y="4754880"/>
            <a:ext cx="624840" cy="32918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Bangun</a:t>
            </a:r>
          </a:p>
        </p:txBody>
      </p:sp>
      <p:sp>
        <p:nvSpPr>
          <p:cNvPr id="98" name="Right Arrow 97"/>
          <p:cNvSpPr/>
          <p:nvPr/>
        </p:nvSpPr>
        <p:spPr>
          <a:xfrm>
            <a:off x="3377184" y="4846320"/>
            <a:ext cx="54864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468624" y="4754880"/>
            <a:ext cx="624840" cy="32918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468624" y="4754880"/>
            <a:ext cx="624840" cy="32918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Operasi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779264" y="3886200"/>
            <a:ext cx="832103" cy="356616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647944" y="3886200"/>
            <a:ext cx="832103" cy="356616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647944" y="3886200"/>
            <a:ext cx="832103" cy="35661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516624" y="3886200"/>
            <a:ext cx="832103" cy="356616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516624" y="3886200"/>
            <a:ext cx="832103" cy="35661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779264" y="4279392"/>
            <a:ext cx="832103" cy="356616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647944" y="4279392"/>
            <a:ext cx="832103" cy="356616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647944" y="4279392"/>
            <a:ext cx="832103" cy="35661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516624" y="4279392"/>
            <a:ext cx="832103" cy="356616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516624" y="4279392"/>
            <a:ext cx="832103" cy="35661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779264" y="4672584"/>
            <a:ext cx="832103" cy="356616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5647944" y="4672584"/>
            <a:ext cx="832103" cy="356616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516624" y="4672584"/>
            <a:ext cx="832103" cy="356616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516624" y="4672584"/>
            <a:ext cx="832103" cy="35661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276344" y="3886200"/>
            <a:ext cx="502920" cy="39319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750" b="1" i="0">
                <a:solidFill>
                  <a:srgbClr val="051C5C"/>
                </a:solidFill>
                <a:latin typeface="Arial"/>
              </a:rPr>
              <a:t>Tinggi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276344" y="4279392"/>
            <a:ext cx="502920" cy="39319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750" b="1" i="0">
                <a:solidFill>
                  <a:srgbClr val="051C5C"/>
                </a:solidFill>
                <a:latin typeface="Arial"/>
              </a:rPr>
              <a:t>Sedang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276344" y="4672584"/>
            <a:ext cx="502920" cy="39319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750" b="1" i="0">
                <a:solidFill>
                  <a:srgbClr val="051C5C"/>
                </a:solidFill>
                <a:latin typeface="Arial"/>
              </a:rPr>
              <a:t>Rendah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779264" y="5074920"/>
            <a:ext cx="2651760" cy="18288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l">
              <a:spcAft>
                <a:spcPts val="300"/>
              </a:spcAft>
            </a:pPr>
            <a:r>
              <a:rPr sz="700" b="0" i="0">
                <a:solidFill>
                  <a:srgbClr val="051C5C"/>
                </a:solidFill>
                <a:latin typeface="Arial"/>
              </a:rPr>
              <a:t>Dampak: rendah · sedang · tinggi (baris = kemungkinan)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8095488" y="3886200"/>
            <a:ext cx="1181608" cy="228600"/>
          </a:xfrm>
          <a:prstGeom prst="round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095488" y="3886200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Pemerintah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9322816" y="3886200"/>
            <a:ext cx="1181608" cy="228600"/>
          </a:xfrm>
          <a:prstGeom prst="round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322816" y="3886200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Kemenkeu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10550144" y="3886200"/>
            <a:ext cx="1181608" cy="228600"/>
          </a:xfrm>
          <a:prstGeom prst="round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550144" y="3886200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Dewan Pengawas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8095488" y="4142232"/>
            <a:ext cx="1181608" cy="228600"/>
          </a:xfrm>
          <a:prstGeom prst="round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095488" y="4142232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Kepala BP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9322816" y="4142232"/>
            <a:ext cx="1181608" cy="228600"/>
          </a:xfrm>
          <a:prstGeom prst="round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322816" y="4142232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DAM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0550144" y="4142232"/>
            <a:ext cx="1181608" cy="228600"/>
          </a:xfrm>
          <a:prstGeom prst="round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550144" y="4142232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DIM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8095488" y="4398264"/>
            <a:ext cx="1181608" cy="228600"/>
          </a:xfrm>
          <a:prstGeom prst="round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095488" y="4398264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DDMF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9322816" y="4398264"/>
            <a:ext cx="1181608" cy="228600"/>
          </a:xfrm>
          <a:prstGeom prst="round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322816" y="4398264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Kemhan/KKIP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10550144" y="4398264"/>
            <a:ext cx="1181608" cy="228600"/>
          </a:xfrm>
          <a:prstGeom prst="round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0550144" y="4398264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OJK/BI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8095488" y="4654296"/>
            <a:ext cx="1181608" cy="228600"/>
          </a:xfrm>
          <a:prstGeom prst="round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095488" y="4654296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PT PAL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9322816" y="4654296"/>
            <a:ext cx="1181608" cy="228600"/>
          </a:xfrm>
          <a:prstGeom prst="round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322816" y="4654296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BUMN Karya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10550144" y="4654296"/>
            <a:ext cx="1181608" cy="228600"/>
          </a:xfrm>
          <a:prstGeom prst="round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0550144" y="4654296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Bank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8095488" y="4910328"/>
            <a:ext cx="1181608" cy="228600"/>
          </a:xfrm>
          <a:prstGeom prst="round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095488" y="4910328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UKM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9322816" y="4910328"/>
            <a:ext cx="1181608" cy="228600"/>
          </a:xfrm>
          <a:prstGeom prst="round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322816" y="4910328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BKI/BRIN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095488" y="5166360"/>
            <a:ext cx="3636264" cy="1828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0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148" name="Oval 147"/>
          <p:cNvSpPr/>
          <p:nvPr/>
        </p:nvSpPr>
        <p:spPr>
          <a:xfrm>
            <a:off x="457200" y="5212080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57200" y="5212080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96112" y="5212080"/>
            <a:ext cx="10835640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Peta jalan: delapan alur kerja, empat fase, titik keputusan bersyarat bukti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457200" y="5632704"/>
            <a:ext cx="11274552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52" name="Pentagon 151"/>
          <p:cNvSpPr/>
          <p:nvPr/>
        </p:nvSpPr>
        <p:spPr>
          <a:xfrm>
            <a:off x="457200" y="5715000"/>
            <a:ext cx="2921508" cy="347472"/>
          </a:xfrm>
          <a:prstGeom prst="homePlat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 wrap="square" lIns="73152" rIns="137160" tIns="18288" bIns="18288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0–90 hari · tata kelola, register, MVP</a:t>
            </a:r>
          </a:p>
        </p:txBody>
      </p:sp>
      <p:sp>
        <p:nvSpPr>
          <p:cNvPr id="153" name="Chevron 152"/>
          <p:cNvSpPr/>
          <p:nvPr/>
        </p:nvSpPr>
        <p:spPr>
          <a:xfrm>
            <a:off x="3287268" y="5715000"/>
            <a:ext cx="2921508" cy="347472"/>
          </a:xfrm>
          <a:prstGeom prst="chevron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 wrap="square" lIns="201168" rIns="137160" tIns="18288" bIns="18288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4–12 bulan · uji coba DOCK-UP, Fase 1</a:t>
            </a:r>
          </a:p>
        </p:txBody>
      </p:sp>
      <p:sp>
        <p:nvSpPr>
          <p:cNvPr id="154" name="Chevron 153"/>
          <p:cNvSpPr/>
          <p:nvPr/>
        </p:nvSpPr>
        <p:spPr>
          <a:xfrm>
            <a:off x="6117336" y="5715000"/>
            <a:ext cx="2921508" cy="347472"/>
          </a:xfrm>
          <a:prstGeom prst="chevron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 wrap="square" lIns="201168" rIns="137160" tIns="18288" bIns="18288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12–24 bulan · skala, scorecard penuh</a:t>
            </a:r>
          </a:p>
        </p:txBody>
      </p:sp>
      <p:sp>
        <p:nvSpPr>
          <p:cNvPr id="155" name="Chevron 154"/>
          <p:cNvSpPr/>
          <p:nvPr/>
        </p:nvSpPr>
        <p:spPr>
          <a:xfrm>
            <a:off x="8947404" y="5715000"/>
            <a:ext cx="2784348" cy="347472"/>
          </a:xfrm>
          <a:prstGeom prst="chevron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 wrap="square" lIns="201168" rIns="137160" tIns="18288" bIns="18288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&gt; 24 bulan · model standar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57200" y="6080760"/>
            <a:ext cx="112745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Keputusan: Hari 0 · 45 · 60 · 90 · Bulan 6 · 12 · 24   |   Lampiran A–E: 39 metrik · 31 ketidaksesuaian · perhitungan · glosarium · referensi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RINGKASAN EKSEKUTIF · 1 DARI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Danantara punya mandat dan modal, tetapi belum punya mekanisme yang mengubah modal menjadi kapabilitas industri; kajian ini mengusulkannya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 diperkaya 8 Okt 2026), Bab 1. Angka kelas C/D adalah pengumuman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3611880" cy="274320"/>
          </a:xfrm>
          <a:prstGeom prst="rect">
            <a:avLst/>
          </a:prstGeom>
          <a:solidFill>
            <a:srgbClr val="2251FF"/>
          </a:solidFill>
        </p:spPr>
        <p:txBody>
          <a:bodyPr wrap="square" lIns="73152" rIns="73152" tIns="27432" bIns="27432" anchor="ctr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  Apa yang kami temukan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88536" y="1417320"/>
            <a:ext cx="3611880" cy="274320"/>
          </a:xfrm>
          <a:prstGeom prst="rect">
            <a:avLst/>
          </a:prstGeom>
          <a:solidFill>
            <a:srgbClr val="2251FF"/>
          </a:solidFill>
        </p:spPr>
        <p:txBody>
          <a:bodyPr wrap="square" lIns="73152" rIns="73152" tIns="27432" bIns="27432" anchor="ctr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  Apa yang kami rekomendasikan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9872" y="1417320"/>
            <a:ext cx="3611880" cy="274320"/>
          </a:xfrm>
          <a:prstGeom prst="rect">
            <a:avLst/>
          </a:prstGeom>
          <a:solidFill>
            <a:srgbClr val="2251FF"/>
          </a:solidFill>
        </p:spPr>
        <p:txBody>
          <a:bodyPr wrap="square" lIns="73152" rIns="73152" tIns="27432" bIns="27432" anchor="ctr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  Apa yang diminta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55648"/>
            <a:ext cx="3611880" cy="36576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500"/>
              </a:spcAft>
              <a:buClr>
                <a:srgbClr val="2251FF"/>
              </a:buClr>
              <a:buChar char="•"/>
            </a:pPr>
            <a:r>
              <a:rPr sz="1150" b="1" i="0">
                <a:solidFill>
                  <a:srgbClr val="000000"/>
                </a:solidFill>
                <a:latin typeface="Arial"/>
              </a:rPr>
              <a:t>Akses pasar terbukti, hasil belum terukur. </a:t>
            </a:r>
            <a:r>
              <a:rPr sz="1150" b="0" i="0">
                <a:solidFill>
                  <a:srgbClr val="000000"/>
                </a:solidFill>
                <a:latin typeface="Arial"/>
              </a:rPr>
              <a:t>Surat utang DIM US$1,5 miliar, imbal hasil 5,65%, kelebihan permintaan ~3,07×; imbal hasil portofolio berstatus NR.</a:t>
            </a:r>
          </a:p>
          <a:p>
            <a:pPr algn="l" marL="146304" indent="-146304">
              <a:spcAft>
                <a:spcPts val="500"/>
              </a:spcAft>
              <a:buClr>
                <a:srgbClr val="2251FF"/>
              </a:buClr>
              <a:buChar char="•"/>
            </a:pPr>
            <a:r>
              <a:rPr sz="1150" b="1" i="0">
                <a:solidFill>
                  <a:srgbClr val="000000"/>
                </a:solidFill>
                <a:latin typeface="Arial"/>
              </a:rPr>
              <a:t>Pelaksanaan berat di konsolidasi aset </a:t>
            </a:r>
            <a:r>
              <a:rPr sz="1150" b="0" i="0">
                <a:solidFill>
                  <a:srgbClr val="000000"/>
                </a:solidFill>
                <a:latin typeface="Arial"/>
              </a:rPr>
              <a:t>dan investasi keuangan; manufaktur maju, pemasok, dan kepemilikan teknologi masih celah besar.</a:t>
            </a:r>
          </a:p>
          <a:p>
            <a:pPr algn="l" marL="146304" indent="-146304">
              <a:spcAft>
                <a:spcPts val="500"/>
              </a:spcAft>
              <a:buClr>
                <a:srgbClr val="2251FF"/>
              </a:buClr>
              <a:buChar char="•"/>
            </a:pPr>
            <a:r>
              <a:rPr sz="1150" b="1" i="0">
                <a:solidFill>
                  <a:srgbClr val="000000"/>
                </a:solidFill>
                <a:latin typeface="Arial"/>
              </a:rPr>
              <a:t>Register 40 proyek belum bisa jadi dasar keputusan: </a:t>
            </a:r>
            <a:r>
              <a:rPr sz="1150" b="0" i="0">
                <a:solidFill>
                  <a:srgbClr val="000000"/>
                </a:solidFill>
                <a:latin typeface="Arial"/>
              </a:rPr>
              <a:t>hanya 18 slot bernama (Rp604,97 T, 28,9%); skor tiga pilar 0/100 karena data.</a:t>
            </a:r>
          </a:p>
          <a:p>
            <a:pPr algn="l" marL="146304" indent="-146304">
              <a:spcAft>
                <a:spcPts val="500"/>
              </a:spcAft>
              <a:buClr>
                <a:srgbClr val="2251FF"/>
              </a:buClr>
              <a:buChar char="•"/>
            </a:pPr>
            <a:r>
              <a:rPr sz="1150" b="1" i="0">
                <a:solidFill>
                  <a:srgbClr val="000000"/>
                </a:solidFill>
                <a:latin typeface="Arial"/>
              </a:rPr>
              <a:t>Permintaan ada di undang-undang, pemasok belum siap: </a:t>
            </a:r>
            <a:r>
              <a:rPr sz="1150" b="0" i="0">
                <a:solidFill>
                  <a:srgbClr val="000000"/>
                </a:solidFill>
                <a:latin typeface="Arial"/>
              </a:rPr>
              <a:t>UU 16/2012 mewajibkan kandungan lokal/ofset hingga 85%; banyak UKM di TRL 6–8 / MRL 3–5.</a:t>
            </a:r>
          </a:p>
          <a:p>
            <a:pPr algn="l" marL="146304" indent="-146304">
              <a:spcAft>
                <a:spcPts val="500"/>
              </a:spcAft>
              <a:buClr>
                <a:srgbClr val="2251FF"/>
              </a:buClr>
              <a:buChar char="•"/>
            </a:pPr>
            <a:r>
              <a:rPr sz="1150" b="1" i="0">
                <a:solidFill>
                  <a:srgbClr val="000000"/>
                </a:solidFill>
                <a:latin typeface="Arial"/>
              </a:rPr>
              <a:t>BUMN Karya tertekan: </a:t>
            </a:r>
            <a:r>
              <a:rPr sz="1150" b="0" i="0">
                <a:solidFill>
                  <a:srgbClr val="000000"/>
                </a:solidFill>
                <a:latin typeface="Arial"/>
              </a:rPr>
              <a:t>estimasi rugi 2025 ≈ Rp28 T; anggaran infrastruktur turun ≈ 45%.</a:t>
            </a:r>
          </a:p>
          <a:p>
            <a:pPr algn="l" marL="146304" indent="-146304">
              <a:spcAft>
                <a:spcPts val="500"/>
              </a:spcAft>
              <a:buClr>
                <a:srgbClr val="2251FF"/>
              </a:buClr>
              <a:buChar char="•"/>
            </a:pPr>
            <a:r>
              <a:rPr sz="1150" b="1" i="0">
                <a:solidFill>
                  <a:srgbClr val="000000"/>
                </a:solidFill>
                <a:latin typeface="Arial"/>
              </a:rPr>
              <a:t>Risiko baru: </a:t>
            </a:r>
            <a:r>
              <a:rPr sz="1150" b="0" i="0">
                <a:solidFill>
                  <a:srgbClr val="000000"/>
                </a:solidFill>
                <a:latin typeface="Arial"/>
              </a:rPr>
              <a:t>pembiayaan NRF berisiko inflasi; proyek greenfield berisiko menyeret tiga bank BUMN (Rp5.226 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8536" y="1755648"/>
            <a:ext cx="3611880" cy="36576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500"/>
              </a:spcAft>
              <a:buClr>
                <a:srgbClr val="2251FF"/>
              </a:buClr>
              <a:buChar char="▪"/>
            </a:pPr>
            <a:r>
              <a:rPr sz="1150" b="1" i="0">
                <a:solidFill>
                  <a:srgbClr val="000000"/>
                </a:solidFill>
                <a:latin typeface="Arial"/>
              </a:rPr>
              <a:t>Reposisi </a:t>
            </a:r>
            <a:r>
              <a:rPr sz="1150" b="0" i="0">
                <a:solidFill>
                  <a:srgbClr val="000000"/>
                </a:solidFill>
                <a:latin typeface="Arial"/>
              </a:rPr>
              <a:t>menjadi Platform Kapabilitas Industri Nasional: modal → permintaan → pemasok → kapabilitas.</a:t>
            </a:r>
          </a:p>
          <a:p>
            <a:pPr algn="l" marL="146304" indent="-146304">
              <a:spcAft>
                <a:spcPts val="500"/>
              </a:spcAft>
              <a:buClr>
                <a:srgbClr val="2251FF"/>
              </a:buClr>
              <a:buChar char="▪"/>
            </a:pPr>
            <a:r>
              <a:rPr sz="1150" b="1" i="0">
                <a:solidFill>
                  <a:srgbClr val="000000"/>
                </a:solidFill>
                <a:latin typeface="Arial"/>
              </a:rPr>
              <a:t>Bangun </a:t>
            </a:r>
            <a:r>
              <a:rPr sz="1150" b="0" i="0">
                <a:solidFill>
                  <a:srgbClr val="000000"/>
                </a:solidFill>
                <a:latin typeface="Arial"/>
              </a:rPr>
              <a:t>DOCK-UP sebagai satu skema untuk semua proyek jangkar; gerbang G1–G4 berbasis TRL/MRL.</a:t>
            </a:r>
          </a:p>
          <a:p>
            <a:pPr algn="l" marL="146304" indent="-146304">
              <a:spcAft>
                <a:spcPts val="500"/>
              </a:spcAft>
              <a:buClr>
                <a:srgbClr val="2251FF"/>
              </a:buClr>
              <a:buChar char="▪"/>
            </a:pPr>
            <a:r>
              <a:rPr sz="1150" b="1" i="0">
                <a:solidFill>
                  <a:srgbClr val="000000"/>
                </a:solidFill>
                <a:latin typeface="Arial"/>
              </a:rPr>
              <a:t>Biayai </a:t>
            </a:r>
            <a:r>
              <a:rPr sz="1150" b="0" i="0">
                <a:solidFill>
                  <a:srgbClr val="000000"/>
                </a:solidFill>
                <a:latin typeface="Arial"/>
              </a:rPr>
              <a:t>lewat dua kanal: NRF (tingkat dana) dan tokenisasi proyek berdaulat (tingkat proyek); keduanya liabilitas, hanya menutup 6,8% dari Rp2.091 T.</a:t>
            </a:r>
          </a:p>
          <a:p>
            <a:pPr algn="l" marL="146304" indent="-146304">
              <a:spcAft>
                <a:spcPts val="500"/>
              </a:spcAft>
              <a:buClr>
                <a:srgbClr val="2251FF"/>
              </a:buClr>
              <a:buChar char="▪"/>
            </a:pPr>
            <a:r>
              <a:rPr sz="1150" b="1" i="0">
                <a:solidFill>
                  <a:srgbClr val="000000"/>
                </a:solidFill>
                <a:latin typeface="Arial"/>
              </a:rPr>
              <a:t>Reformasi </a:t>
            </a:r>
            <a:r>
              <a:rPr sz="1150" b="0" i="0">
                <a:solidFill>
                  <a:srgbClr val="000000"/>
                </a:solidFill>
                <a:latin typeface="Arial"/>
              </a:rPr>
              <a:t>BUMN Karya menjadi kontraktor yang disiplin; pisahkan aset warisan.</a:t>
            </a:r>
          </a:p>
          <a:p>
            <a:pPr algn="l" marL="146304" indent="-146304">
              <a:spcAft>
                <a:spcPts val="500"/>
              </a:spcAft>
              <a:buClr>
                <a:srgbClr val="2251FF"/>
              </a:buClr>
              <a:buChar char="▪"/>
            </a:pPr>
            <a:r>
              <a:rPr sz="1150" b="1" i="0">
                <a:solidFill>
                  <a:srgbClr val="000000"/>
                </a:solidFill>
                <a:latin typeface="Arial"/>
              </a:rPr>
              <a:t>Digitalisasi </a:t>
            </a:r>
            <a:r>
              <a:rPr sz="1150" b="0" i="0">
                <a:solidFill>
                  <a:srgbClr val="000000"/>
                </a:solidFill>
                <a:latin typeface="Arial"/>
              </a:rPr>
              <a:t>dengan AI multi-agen: MVP 3 bulan, 6 agen, manusia tetap memutuskan.</a:t>
            </a:r>
          </a:p>
          <a:p>
            <a:pPr algn="l" marL="146304" indent="-146304">
              <a:spcAft>
                <a:spcPts val="500"/>
              </a:spcAft>
              <a:buClr>
                <a:srgbClr val="2251FF"/>
              </a:buClr>
              <a:buChar char="▪"/>
            </a:pPr>
            <a:r>
              <a:rPr sz="1150" b="1" i="0">
                <a:solidFill>
                  <a:srgbClr val="000000"/>
                </a:solidFill>
                <a:latin typeface="Arial"/>
              </a:rPr>
              <a:t>Tata kelola: </a:t>
            </a:r>
            <a:r>
              <a:rPr sz="1150" b="0" i="0">
                <a:solidFill>
                  <a:srgbClr val="000000"/>
                </a:solidFill>
                <a:latin typeface="Arial"/>
              </a:rPr>
              <a:t>unit Industri Strategis (NITO), tiga scorecard 40/35/25, pantau inflasi NRF.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9872" y="1783080"/>
            <a:ext cx="1051560" cy="6400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Hari ke-0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1432" y="1783080"/>
            <a:ext cx="2560320" cy="6400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Setujui model platform dan unit (piagam terbatas)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9872" y="2386584"/>
            <a:ext cx="1051560" cy="6400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Hari ke-30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71432" y="2386584"/>
            <a:ext cx="2560320" cy="6400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Mulai diagnostik BUMN Karya, MVP AI, dan Pemantau Inflasi NRF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2" y="2990088"/>
            <a:ext cx="1051560" cy="6400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Hari ke-45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1432" y="2990088"/>
            <a:ext cx="2560320" cy="6400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Sahkan register 40 proyek sebagai penyebut tunggal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9872" y="3593592"/>
            <a:ext cx="1051560" cy="6400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Hari ke-60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3593592"/>
            <a:ext cx="2560320" cy="6400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Tetapkan gerbang G1–G4 dan desain uji coba DOCK-UP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9872" y="4197096"/>
            <a:ext cx="1051560" cy="6400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Hari ke-90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4197096"/>
            <a:ext cx="2560320" cy="6400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Tetapkan tiga scorecard; usulan NRF ke Pemerintah; konfirmasi desain unit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2" y="4800600"/>
            <a:ext cx="1051560" cy="6400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Sesudah 6 prasyarat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4800600"/>
            <a:ext cx="2560320" cy="6400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Uji coba PALCapital US$150 juta; paling cepat Triwulan I 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532120"/>
            <a:ext cx="11274552" cy="713232"/>
          </a:xfrm>
          <a:prstGeom prst="rect">
            <a:avLst/>
          </a:prstGeom>
          <a:solidFill>
            <a:srgbClr val="051C5C"/>
          </a:solidFill>
        </p:spPr>
        <p:txBody>
          <a:bodyPr wrap="square" lIns="182880" rIns="182880" tIns="27432" bIns="27432" anchor="ctr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Biaya jika tidak bertindak: </a:t>
            </a:r>
            <a:r>
              <a:rPr sz="1200" b="0" i="0">
                <a:solidFill>
                  <a:srgbClr val="FFFFFF"/>
                </a:solidFill>
                <a:latin typeface="Arial"/>
              </a:rPr>
              <a:t>modal strategis sebagian besar dipakai membeli peralatan dan teknologi impor, mandat industri tetap menjadi pengumuman, dan kinerja tetap tidak dapat diukur.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RINGKASAN EKSEKUTIF · 2 DARI 3 · INFOGRAFIK ANGKA KUNCI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Skala yang dipertaruhkan besar, tetapi dua kanal pembiayaan baru hanya menutup 6,8% portofolio dan 8% pertumbuhan tidak tercapai dari sumber daya alam saja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 diperkaya 8 Okt 2026). Portofolio: kelas C, belum direkonsiliasi. Dampak makro dan sumber dana: kelas D (model/ilustrasi), bruto.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2679192" cy="107899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64008" cy="107899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53896"/>
            <a:ext cx="2496312" cy="4114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2251FF"/>
                </a:solidFill>
                <a:latin typeface="Arial"/>
              </a:rPr>
              <a:t>Rp2.091 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50136"/>
            <a:ext cx="2496312" cy="627887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nilai dinyatakan portofolio 40 proyek (rincian Rp2.073 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9272" y="1417320"/>
            <a:ext cx="2679192" cy="107899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9272" y="1417320"/>
            <a:ext cx="64008" cy="107899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1453896"/>
            <a:ext cx="2496312" cy="4114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2251FF"/>
                </a:solidFill>
                <a:latin typeface="Arial"/>
              </a:rPr>
              <a:t>18 / 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1850136"/>
            <a:ext cx="2496312" cy="627887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slot bernama: Rp604,97 T = 28,9% dari headline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1417320"/>
            <a:ext cx="2679192" cy="107899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417320"/>
            <a:ext cx="64008" cy="107899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8504" y="1453896"/>
            <a:ext cx="2496312" cy="4114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2251FF"/>
                </a:solidFill>
                <a:latin typeface="Arial"/>
              </a:rPr>
              <a:t>≈ Rp28 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1850136"/>
            <a:ext cx="2496312" cy="627887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estimasi rugi 2025 empat BUMN Karya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43416" y="1417320"/>
            <a:ext cx="2679192" cy="107899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43416" y="1417320"/>
            <a:ext cx="64008" cy="107899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0576" y="1453896"/>
            <a:ext cx="2496312" cy="4114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2251FF"/>
                </a:solidFill>
                <a:latin typeface="Arial"/>
              </a:rPr>
              <a:t>7,7%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576" y="1850136"/>
            <a:ext cx="2496312" cy="627887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porsi SDA dalam penerimaan negara 2015–24 (19,3% pada 2004–14)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633472"/>
            <a:ext cx="2679192" cy="107899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633472"/>
            <a:ext cx="64008" cy="107899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670048"/>
            <a:ext cx="2496312" cy="4114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2251FF"/>
                </a:solidFill>
                <a:latin typeface="Arial"/>
              </a:rPr>
              <a:t>+1,5%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066288"/>
            <a:ext cx="2496312" cy="627887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puncak level PDB 2030; +0,74% permanen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19272" y="2633472"/>
            <a:ext cx="2679192" cy="107899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19272" y="2633472"/>
            <a:ext cx="64008" cy="107899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56432" y="2670048"/>
            <a:ext cx="2496312" cy="4114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2251FF"/>
                </a:solidFill>
                <a:latin typeface="Arial"/>
              </a:rPr>
              <a:t>11,4 juta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6432" y="3066288"/>
            <a:ext cx="2496312" cy="627887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tahun-kerja didukung; ≈ 976 ribu pekerjaan tetap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81344" y="2633472"/>
            <a:ext cx="2679192" cy="107899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81344" y="2633472"/>
            <a:ext cx="64008" cy="107899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18504" y="2670048"/>
            <a:ext cx="2496312" cy="4114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2251FF"/>
                </a:solidFill>
                <a:latin typeface="Arial"/>
              </a:rPr>
              <a:t>US$39 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18504" y="3066288"/>
            <a:ext cx="2496312" cy="627887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impor terkandung belanja modal 2027–32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43416" y="2633472"/>
            <a:ext cx="2679192" cy="107899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43416" y="2633472"/>
            <a:ext cx="64008" cy="107899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0576" y="2670048"/>
            <a:ext cx="2496312" cy="4114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2251FF"/>
                </a:solidFill>
                <a:latin typeface="Arial"/>
              </a:rPr>
              <a:t>US$150 juta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0576" y="3066288"/>
            <a:ext cx="2496312" cy="627887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uji coba PALCapital, empat tahap tonggak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840480"/>
            <a:ext cx="54864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Sumber dana ilustratif lima tahun, Rp triliun (total portofolio Rp2.091 T)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93776" y="4105656"/>
            <a:ext cx="54498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365760" y="4160520"/>
          <a:ext cx="5669280" cy="2194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1737360" y="4206240"/>
            <a:ext cx="265176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NRF + surat tagihan = Rp142 T (6,8%)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Sisa Rp1.371 T (65,6%) harus dimobilisasi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3840480"/>
            <a:ext cx="542239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Pertumbuhan PDB riil 2029, % (model D11)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345936" y="4105656"/>
            <a:ext cx="538581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6217920" y="4160520"/>
          <a:ext cx="5577840" cy="2194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RINGKASAN EKSEKUTIF · 3 DARI 3 · INFOGRAFIK MODEL DAN JALUR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Satu logika menyatukan rekomendasi: modal menjadi kapabilitas lewat tahap terverifikasi, dengan disiplin utang dan pengukuran tiga scorecard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 diperkaya 8 Okt 2026), Bab 5, 6, 10, 14, 16. Jadwal dihitung dari Hari ke-0 (persetujuan prinsip) dan merupakan usulan.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745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Logika perubahan: setiap tahap diverifikasi sebelum tahap berikutnya didanai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1123797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9" name="Pentagon 8"/>
          <p:cNvSpPr/>
          <p:nvPr/>
        </p:nvSpPr>
        <p:spPr>
          <a:xfrm>
            <a:off x="457200" y="1755648"/>
            <a:ext cx="2355494" cy="640080"/>
          </a:xfrm>
          <a:prstGeom prst="homePlat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 wrap="square" lIns="73152" rIns="137160" tIns="18288" bIns="1828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Modal</a:t>
            </a:r>
          </a:p>
        </p:txBody>
      </p:sp>
      <p:sp>
        <p:nvSpPr>
          <p:cNvPr id="10" name="Chevron 9"/>
          <p:cNvSpPr/>
          <p:nvPr/>
        </p:nvSpPr>
        <p:spPr>
          <a:xfrm>
            <a:off x="2721254" y="1755648"/>
            <a:ext cx="2355494" cy="640080"/>
          </a:xfrm>
          <a:prstGeom prst="chevron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 wrap="square" lIns="201168" rIns="137160" tIns="18288" bIns="1828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Permintaan jangkar</a:t>
            </a:r>
          </a:p>
        </p:txBody>
      </p:sp>
      <p:sp>
        <p:nvSpPr>
          <p:cNvPr id="11" name="Chevron 10"/>
          <p:cNvSpPr/>
          <p:nvPr/>
        </p:nvSpPr>
        <p:spPr>
          <a:xfrm>
            <a:off x="4985308" y="1755648"/>
            <a:ext cx="2355494" cy="640080"/>
          </a:xfrm>
          <a:prstGeom prst="chevron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 wrap="square" lIns="201168" rIns="137160" tIns="18288" bIns="1828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Pesanan bergerbang</a:t>
            </a:r>
          </a:p>
        </p:txBody>
      </p:sp>
      <p:sp>
        <p:nvSpPr>
          <p:cNvPr id="12" name="Chevron 11"/>
          <p:cNvSpPr/>
          <p:nvPr/>
        </p:nvSpPr>
        <p:spPr>
          <a:xfrm>
            <a:off x="7249363" y="1755648"/>
            <a:ext cx="2355494" cy="640080"/>
          </a:xfrm>
          <a:prstGeom prst="chevron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 wrap="square" lIns="201168" rIns="137160" tIns="18288" bIns="1828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Peningkatan DOCK-UP</a:t>
            </a:r>
          </a:p>
        </p:txBody>
      </p:sp>
      <p:sp>
        <p:nvSpPr>
          <p:cNvPr id="13" name="Chevron 12"/>
          <p:cNvSpPr/>
          <p:nvPr/>
        </p:nvSpPr>
        <p:spPr>
          <a:xfrm>
            <a:off x="9513417" y="1755648"/>
            <a:ext cx="2218334" cy="640080"/>
          </a:xfrm>
          <a:prstGeom prst="chevron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 wrap="square" lIns="201168" rIns="137160" tIns="18288" bIns="1828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Kapabilitas industri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32304"/>
            <a:ext cx="2163470" cy="5486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Ekuitas Danantara, NRF, surat proyek tokenisasi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2110" y="2432304"/>
            <a:ext cx="2163470" cy="5486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Proyek strategis: mineral, infrastruktur, maritim, pertahanan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67020" y="2432304"/>
            <a:ext cx="2163470" cy="5486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Kontrak payung dilepas pada gerbang G1–G4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1931" y="2432304"/>
            <a:ext cx="2163470" cy="5486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UKM naik dari build-to-print ke design-and-build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6841" y="2432304"/>
            <a:ext cx="2163470" cy="5486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Pemasok terkualifikasi, nilai tambah dalam negeri, teknologi dikuasai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08960"/>
            <a:ext cx="54864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Pembiayaan: dua kanal, satu disiplin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3776" y="3374136"/>
            <a:ext cx="54498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1" name="Rectangle 20"/>
          <p:cNvSpPr/>
          <p:nvPr/>
        </p:nvSpPr>
        <p:spPr>
          <a:xfrm>
            <a:off x="457200" y="3493008"/>
            <a:ext cx="2651760" cy="105156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520440"/>
            <a:ext cx="256032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NRF · tingkat dana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794760"/>
            <a:ext cx="2560320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Ekuitas sabar, modal rugi pertama, stabilisasi. Hanya cadangan terbukti + terkira.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3493008"/>
            <a:ext cx="2651760" cy="105156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39" y="3520440"/>
            <a:ext cx="256032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Tokenisasi · tingkat proyek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39" y="3794760"/>
            <a:ext cx="2560320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Modal kerja per tonggak, dibayar langsung ke pemasok. Uji coba PALCapital.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90288"/>
            <a:ext cx="5440680" cy="438912"/>
          </a:xfrm>
          <a:prstGeom prst="rect">
            <a:avLst/>
          </a:prstGeom>
          <a:solidFill>
            <a:srgbClr val="051C5C"/>
          </a:solidFill>
        </p:spPr>
        <p:txBody>
          <a:bodyPr wrap="square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Aturan bersama: </a:t>
            </a:r>
            <a:r>
              <a:rPr sz="950" b="0" i="0">
                <a:solidFill>
                  <a:srgbClr val="FFFFFF"/>
                </a:solidFill>
                <a:latin typeface="Arial"/>
              </a:rPr>
              <a:t>instrumen beragun arus kas negara = liabilitas; diungkap dan diuji stres. Proyek Impact dalam SPV ring-fenced.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108960"/>
            <a:ext cx="542239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Pengukuran: tiga scorecard + gerbang tata kelola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345936" y="3374136"/>
            <a:ext cx="538581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30" name="Rectangle 29"/>
          <p:cNvSpPr/>
          <p:nvPr/>
        </p:nvSpPr>
        <p:spPr>
          <a:xfrm>
            <a:off x="6309360" y="3520440"/>
            <a:ext cx="2168956" cy="5029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520440"/>
            <a:ext cx="2168956" cy="5029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Investasi 40%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78316" y="3520440"/>
            <a:ext cx="1897837" cy="5029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78316" y="3520440"/>
            <a:ext cx="1897837" cy="5029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Operasi BUMN 35%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376154" y="3520440"/>
            <a:ext cx="1355598" cy="502920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76154" y="3520440"/>
            <a:ext cx="1355598" cy="5029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Pembangunan 25%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069080"/>
            <a:ext cx="5422392" cy="9601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Gerbang tata kelola: lulus/gagal, bukan poin bonus</a:t>
            </a:r>
          </a:p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Metrik tidak tersedia = NR, bukan nol; cakupan ≥ 80%</a:t>
            </a:r>
          </a:p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Lima tahap modal dilaporkan terpisah: dihimpun → dikomitmenkan → dicairkan → terbangun → beroperasi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074920"/>
            <a:ext cx="112745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Jalur keputusan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93776" y="5340096"/>
            <a:ext cx="1123797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cxnSp>
        <p:nvCxnSpPr>
          <p:cNvPr id="39" name="Connector 38"/>
          <p:cNvCxnSpPr/>
          <p:nvPr/>
        </p:nvCxnSpPr>
        <p:spPr>
          <a:xfrm>
            <a:off x="1097280" y="5669280"/>
            <a:ext cx="9966960" cy="0"/>
          </a:xfrm>
          <a:prstGeom prst="line">
            <a:avLst/>
          </a:prstGeom>
          <a:ln w="25400">
            <a:solidFill>
              <a:srgbClr val="000000"/>
            </a:solidFill>
          </a:ln>
        </p:spPr>
      </p:cxnSp>
      <p:sp>
        <p:nvSpPr>
          <p:cNvPr id="40" name="Oval 39"/>
          <p:cNvSpPr/>
          <p:nvPr/>
        </p:nvSpPr>
        <p:spPr>
          <a:xfrm>
            <a:off x="1014983" y="5586984"/>
            <a:ext cx="164592" cy="164592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5349240"/>
            <a:ext cx="1554480" cy="2286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Hari 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5788152"/>
            <a:ext cx="1554480" cy="4572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Setujui model</a:t>
            </a:r>
          </a:p>
        </p:txBody>
      </p:sp>
      <p:sp>
        <p:nvSpPr>
          <p:cNvPr id="43" name="Oval 42"/>
          <p:cNvSpPr/>
          <p:nvPr/>
        </p:nvSpPr>
        <p:spPr>
          <a:xfrm>
            <a:off x="2676144" y="5586984"/>
            <a:ext cx="164592" cy="164592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81199" y="5349240"/>
            <a:ext cx="1554480" cy="2286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Hari 45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81199" y="5788152"/>
            <a:ext cx="1554480" cy="4572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Register disahkan</a:t>
            </a:r>
          </a:p>
        </p:txBody>
      </p:sp>
      <p:sp>
        <p:nvSpPr>
          <p:cNvPr id="46" name="Oval 45"/>
          <p:cNvSpPr/>
          <p:nvPr/>
        </p:nvSpPr>
        <p:spPr>
          <a:xfrm>
            <a:off x="4337304" y="5586984"/>
            <a:ext cx="164592" cy="164592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42359" y="5349240"/>
            <a:ext cx="1554480" cy="2286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Hari 60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42359" y="5788152"/>
            <a:ext cx="1554480" cy="4572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Gerbang G1–G4</a:t>
            </a:r>
          </a:p>
        </p:txBody>
      </p:sp>
      <p:sp>
        <p:nvSpPr>
          <p:cNvPr id="49" name="Oval 48"/>
          <p:cNvSpPr/>
          <p:nvPr/>
        </p:nvSpPr>
        <p:spPr>
          <a:xfrm>
            <a:off x="5998464" y="5586984"/>
            <a:ext cx="164592" cy="164592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0" y="5349240"/>
            <a:ext cx="1554480" cy="2286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Hari 90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03520" y="5788152"/>
            <a:ext cx="1554480" cy="4572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Scorecard, desain unit</a:t>
            </a:r>
          </a:p>
        </p:txBody>
      </p:sp>
      <p:sp>
        <p:nvSpPr>
          <p:cNvPr id="52" name="Oval 51"/>
          <p:cNvSpPr/>
          <p:nvPr/>
        </p:nvSpPr>
        <p:spPr>
          <a:xfrm>
            <a:off x="7659624" y="5586984"/>
            <a:ext cx="164592" cy="164592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64680" y="5349240"/>
            <a:ext cx="1554480" cy="2286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Bulan 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64680" y="5788152"/>
            <a:ext cx="1554480" cy="4572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Uji coba DOCK-UP</a:t>
            </a:r>
          </a:p>
        </p:txBody>
      </p:sp>
      <p:sp>
        <p:nvSpPr>
          <p:cNvPr id="55" name="Oval 54"/>
          <p:cNvSpPr/>
          <p:nvPr/>
        </p:nvSpPr>
        <p:spPr>
          <a:xfrm>
            <a:off x="9320784" y="5586984"/>
            <a:ext cx="164592" cy="164592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25840" y="5349240"/>
            <a:ext cx="1554480" cy="2286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Bulan 12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25840" y="5788152"/>
            <a:ext cx="1554480" cy="4572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Scorecard cakupan ≥ 80%</a:t>
            </a:r>
          </a:p>
        </p:txBody>
      </p:sp>
      <p:sp>
        <p:nvSpPr>
          <p:cNvPr id="58" name="Oval 57"/>
          <p:cNvSpPr/>
          <p:nvPr/>
        </p:nvSpPr>
        <p:spPr>
          <a:xfrm>
            <a:off x="10981944" y="5586984"/>
            <a:ext cx="164592" cy="164592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287000" y="5349240"/>
            <a:ext cx="1554480" cy="2286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Bulan 24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87000" y="5788152"/>
            <a:ext cx="1554480" cy="4572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Laporan portofolio tahunan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BAB 02 · PENDAHULUAN, RUANG LINGKUP, DAN PENDEKATAN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Kajian bersifat konsultatif: menjawab enam pertanyaan dengan disiplin bukti lima kelas, dan tidak menyelesaikan pertentangan sumber dengan asumsi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(v2), Bab 2. D1–D13 adalah dokumen sumber; Lampiran B memuat setiap ketidaksesuaian.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76072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Enam pertanyaan dari kerangka acuan dan tempat jawabannya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572414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19072"/>
          <a:ext cx="5760717" cy="3657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5759"/>
                <a:gridCol w="4023359"/>
                <a:gridCol w="1371599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Pertanyaan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Bab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Bagaimana kondisi dan kinerja Danantara saat ini?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3–4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Apa yang diharapkan bagi industri, ekonomi, masyarakat, dan bagaimana mengukurnya?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5, 14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Bagaimana DOCK-UP meningkatkan industri nasional melalui proyek jangkar?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6–7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Bagaimana proyek didanai lewat NRF dan tokenisasi proyek berdaulat?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8–10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Bagaimana kondisi BUMN Karya dan peran AI multi-agen?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11–12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Apa dampak pipeline dan NRF terhadap PDB, pekerjaan, impor, inflasi, dan pemantauannya?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5.7, 8.9–8.10, 10.7, 14.7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Organisasi, tata kelola, risiko, dan peta jalan apa yang diperlukan?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13, 15–17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92240" y="1371600"/>
            <a:ext cx="523951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Lima kelas bukti pada setiap angka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28816" y="1636776"/>
            <a:ext cx="520293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92240" y="1719072"/>
          <a:ext cx="5239510" cy="230428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43448"/>
                <a:gridCol w="2389952"/>
                <a:gridCol w="220611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Kelas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Makna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Penggunaan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Teraudit / dijamin independen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Keyakinan tertinggi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Observasi resmi dilaporkan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Dengan batas penjaminan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Pengumuman, proyeksi, estimasi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Niat, bukan hasil terealisasi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D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Ilustrasi atau asumsi analis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Hanya desain dan sensitivitas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NR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Tidak dapat dinilai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Berbeda dari nol atau gagal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92240" y="4206240"/>
            <a:ext cx="523951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Keterbatasan utama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28816" y="4471416"/>
            <a:ext cx="520293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6492240" y="4526280"/>
            <a:ext cx="5239512" cy="17373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400"/>
              </a:spcAft>
              <a:buClr>
                <a:srgbClr val="2251FF"/>
              </a:buClr>
              <a:buChar char="•"/>
            </a:pPr>
            <a:r>
              <a:rPr sz="1050" b="0" i="0">
                <a:solidFill>
                  <a:srgbClr val="000000"/>
                </a:solidFill>
                <a:latin typeface="Arial"/>
              </a:rPr>
              <a:t>Bukan audit, valuasi, opini hukum, atau pemeringkatan; rekomendasi baru berlaku melalui keputusan organ berwenang</a:t>
            </a:r>
          </a:p>
          <a:p>
            <a:pPr algn="l" marL="146304" indent="-146304">
              <a:spcAft>
                <a:spcPts val="400"/>
              </a:spcAft>
              <a:buClr>
                <a:srgbClr val="2251FF"/>
              </a:buClr>
              <a:buChar char="•"/>
            </a:pPr>
            <a:r>
              <a:rPr sz="1050" b="0" i="0">
                <a:solidFill>
                  <a:srgbClr val="000000"/>
                </a:solidFill>
                <a:latin typeface="Arial"/>
              </a:rPr>
              <a:t>Bukti publik per awal Oktober 2026; register 40 proyek bukan daftar PSN yang ditetapkan hukum</a:t>
            </a:r>
          </a:p>
          <a:p>
            <a:pPr algn="l" marL="146304" indent="-146304">
              <a:spcAft>
                <a:spcPts val="400"/>
              </a:spcAft>
              <a:buClr>
                <a:srgbClr val="2251FF"/>
              </a:buClr>
              <a:buChar char="•"/>
            </a:pPr>
            <a:r>
              <a:rPr sz="1050" b="0" i="0">
                <a:solidFill>
                  <a:srgbClr val="000000"/>
                </a:solidFill>
                <a:latin typeface="Arial"/>
              </a:rPr>
              <a:t>D7–D13 internal/terbatas; angka PDB, pekerjaan, dan impor adalah kelas D, bukan proyeksi Danantara</a:t>
            </a:r>
          </a:p>
          <a:p>
            <a:pPr algn="l" marL="146304" indent="-146304">
              <a:spcAft>
                <a:spcPts val="400"/>
              </a:spcAft>
              <a:buClr>
                <a:srgbClr val="2251FF"/>
              </a:buClr>
              <a:buChar char="•"/>
            </a:pPr>
            <a:r>
              <a:rPr sz="1050" b="0" i="0">
                <a:solidFill>
                  <a:srgbClr val="000000"/>
                </a:solidFill>
                <a:latin typeface="Arial"/>
              </a:rPr>
              <a:t>Ambang, bobot, dan jadwal adalah usulan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577840"/>
            <a:ext cx="5760720" cy="640080"/>
          </a:xfrm>
          <a:prstGeom prst="rect">
            <a:avLst/>
          </a:prstGeom>
          <a:solidFill>
            <a:srgbClr val="051C5C"/>
          </a:solidFill>
        </p:spPr>
        <p:txBody>
          <a:bodyPr wrap="square" lIns="109728" rIns="109728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Tujuan: </a:t>
            </a:r>
            <a:r>
              <a:rPr sz="1050" b="0" i="0">
                <a:solidFill>
                  <a:srgbClr val="FFFFFF"/>
                </a:solidFill>
                <a:latin typeface="Arial"/>
              </a:rPr>
              <a:t>pandangan independen tentang kondisi Danantara dan cara memenuhi harapan meningkatkan kapabilitas industri serta kontribusi terukur.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BAB 03 · DANANTARA SAAT INI: MANDAT, STRUKTUR, DAN KEGIATAN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Kegiatan yang terlihat hingga kini menunjukkan akses pasar dan aktivasi proyek, tetapi belum seri imbal hasil maupun hasil industri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(v2), Bab 3 (D1, D2, D9). Pengumuman bukan hasil; peer hanya pembanding praktik pelaporan, bukan target imbal hasil.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749039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Struktur: BPI dan tiga lini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371246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9" name="Rectangle 8"/>
          <p:cNvSpPr/>
          <p:nvPr/>
        </p:nvSpPr>
        <p:spPr>
          <a:xfrm>
            <a:off x="457200" y="1737360"/>
            <a:ext cx="3749039" cy="84124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773936"/>
            <a:ext cx="361188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BPI (Badan Pelaksana)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048255"/>
            <a:ext cx="3611880" cy="5029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Strategi, portofolio, risiko, keuangan, teknologi; Kepala memutuskan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3749039" cy="84124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688336"/>
            <a:ext cx="361188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DAM · dipimpin COO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962656"/>
            <a:ext cx="3611880" cy="5029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Kepemilikan dan transformasi BUMN operasional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66160"/>
            <a:ext cx="3749039" cy="84124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602736"/>
            <a:ext cx="361188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DIM · dipimpin CIO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877056"/>
            <a:ext cx="3611880" cy="5029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Investasi komersial, alokasi modal; surat utang US$1,5 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80560"/>
            <a:ext cx="3749039" cy="84124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4517136"/>
            <a:ext cx="361188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DDMF · dipimpin CTO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4791456"/>
            <a:ext cx="3611880" cy="5029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Penyiapan, penstrukturan, dan pelaksanaan proyek pembangunan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440680"/>
            <a:ext cx="3749039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Dasar hukum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93776" y="5705856"/>
            <a:ext cx="371246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457200" y="5715000"/>
            <a:ext cx="3749039" cy="5943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UU 1/2025, UU 16/2025; PP 10/2025 jo. PP 19/2026; Pasal 14: portofolio risiko di Badan Pelaksana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1371600"/>
            <a:ext cx="41148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Yang ditunjukkan bukti publik, 2026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17136" y="1636776"/>
            <a:ext cx="40782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480560" y="1719072"/>
          <a:ext cx="4114799" cy="358444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90713"/>
                <a:gridCol w="551468"/>
                <a:gridCol w="1272618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Bukti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Kelas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Yang ditunjukkan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Surat utang DIM US$1,5 M (Jun): 5,65%, ~3,07× pesanan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Akses pasar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Pemesanan US$200 juta CA–EDC (25% dari US$800 juta)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Komitmen bersyarat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PSEL Bogor Raya 1: Rp2,8 T, 1.500 ton/hari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Tonggak konstruksi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Enam peletakan batu pertama hilirisasi, ≤ US$7 M diumumkan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Aktivasi program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Delapan penetapan bersyarat PSEL Batch II (Jul)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Pipeline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Halaman laporan situs resmi: "Coming Soon"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Belum ada seri imbal hasil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4480560" y="5440680"/>
            <a:ext cx="4114800" cy="82296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5458968"/>
            <a:ext cx="4023360" cy="78638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Membaca pengumuman dengan benar: </a:t>
            </a:r>
            <a:r>
              <a:rPr sz="950" b="0" i="0">
                <a:solidFill>
                  <a:srgbClr val="FFFFFF"/>
                </a:solidFill>
                <a:latin typeface="Arial"/>
              </a:rPr>
              <a:t>PPA bukan financial close; peletakan batu pertama bukan kemajuan; pengalihan aset bukan kenaikan nilai.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1371600"/>
            <a:ext cx="286207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Rencana 2026 dan konteks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906255" y="1636776"/>
            <a:ext cx="282549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31" name="Rectangle 30"/>
          <p:cNvSpPr/>
          <p:nvPr/>
        </p:nvSpPr>
        <p:spPr>
          <a:xfrm>
            <a:off x="8869680" y="1737360"/>
            <a:ext cx="2862072" cy="9144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69680" y="1737360"/>
            <a:ext cx="64008" cy="9144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06840" y="1773936"/>
            <a:ext cx="2679191" cy="37719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2251FF"/>
                </a:solidFill>
                <a:latin typeface="Arial"/>
              </a:rPr>
              <a:t>US$14 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2137156"/>
            <a:ext cx="2679191" cy="49631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investasi 2026: ±50% pasar publik, 50% proyek riil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69680" y="2743200"/>
            <a:ext cx="2862072" cy="9144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69680" y="2743200"/>
            <a:ext cx="64008" cy="9144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06840" y="2779776"/>
            <a:ext cx="2679191" cy="37719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2251FF"/>
                </a:solidFill>
                <a:latin typeface="Arial"/>
              </a:rPr>
              <a:t>US$600 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3142996"/>
            <a:ext cx="2679191" cy="49631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AUM awal (D9, kelas C); target ≈ US$982 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69680" y="3749039"/>
            <a:ext cx="2862072" cy="9144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869680" y="3749039"/>
            <a:ext cx="64008" cy="9144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06840" y="3785615"/>
            <a:ext cx="2679191" cy="37719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2251FF"/>
                </a:solidFill>
                <a:latin typeface="Arial"/>
              </a:rPr>
              <a:t>Rp5.226 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4148835"/>
            <a:ext cx="2679191" cy="49631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aset tiga bank BUMN: &gt;55% AUM awal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4754880"/>
            <a:ext cx="286207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Praktik pelaporan peer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906255" y="5020056"/>
            <a:ext cx="282549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8869680" y="5047488"/>
            <a:ext cx="2862072" cy="12344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Temasek: TSR 5/10/20 th = 4,6% / 7,1% / 6,8% (SGD)</a:t>
            </a:r>
          </a:p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Khazanah: 5,2% (TB2025); 7 th 6,1%</a:t>
            </a:r>
          </a:p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50" b="1" i="0">
                <a:solidFill>
                  <a:srgbClr val="000000"/>
                </a:solidFill>
                <a:latin typeface="Arial"/>
              </a:rPr>
              <a:t>Danantara: belum ada seri imbal hasil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BAB 04 · EVALUASI KINERJA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Akses pembiayaan terbukti, tetapi imbal hasil, nilai tambah BUMN, dan dampak industri belum dapat dinilai; register 40 proyek adalah celah terpenting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(v2), Bab 4 (D1, D2, D7, D8, D13). Peringkat adalah penilaian kualitatif atas bukti publik.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68580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Penilaian menyeluruh menurut empat aliran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68214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19072"/>
          <a:ext cx="6858000" cy="28346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188720"/>
                <a:gridCol w="2194560"/>
                <a:gridCol w="347472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Aliran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Peringkat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Yang dapat menaikkan peringkat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Investasi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Akses terbukti; imbal hasil NR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Jembatan aset bersih teraudit; seri imbal hasil per kelompok modal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Operasi BUMN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Beragam; kontribusi belum terverifikasi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Laba ekonomi inkremental terhadap jalur tanpa intervensi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Industrialisasi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Belum terbukti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Kapasitas beroperasi, nilai tambah dalam negeri terverifikasi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Tata kelola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Fondasi ada; efektivitas belum terverifikasi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Hak keputusan terdokumentasi, lini risiko independen, register benturan kepentingan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4663440"/>
            <a:ext cx="68580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Empat uji pembangunan industri yang sesungguhnya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3776" y="4928616"/>
            <a:ext cx="68214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2" name="Rectangle 11"/>
          <p:cNvSpPr/>
          <p:nvPr/>
        </p:nvSpPr>
        <p:spPr>
          <a:xfrm>
            <a:off x="457200" y="5029200"/>
            <a:ext cx="1664208" cy="100584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5056632"/>
            <a:ext cx="160020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Uji 1 · Adisionalitas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5394960"/>
            <a:ext cx="1600200" cy="6400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tanpa Danantara?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0" y="5029200"/>
            <a:ext cx="1664208" cy="100584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31136" y="5056632"/>
            <a:ext cx="160020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Uji 2 · Daya saing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31136" y="5394960"/>
            <a:ext cx="1600200" cy="6400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biaya, mutu, keandalan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5029200"/>
            <a:ext cx="1664208" cy="100584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68496" y="5056632"/>
            <a:ext cx="160020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Uji 3 · Kapabilitas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5394960"/>
            <a:ext cx="1600200" cy="6400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operasikan, sempurnakan, replikasi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79" y="5029200"/>
            <a:ext cx="1664208" cy="100584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05855" y="5056632"/>
            <a:ext cx="160020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Uji 4 · Distribusi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05855" y="5394960"/>
            <a:ext cx="1600200" cy="6400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kerja dan pemasok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1371600"/>
            <a:ext cx="414223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Register 40 proyek: slot bernama vs tanpa identitas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626096" y="1636776"/>
            <a:ext cx="410565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7498079" y="1691640"/>
          <a:ext cx="420624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589520" y="3520440"/>
            <a:ext cx="4142232" cy="6858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Skor tiga pilar 0/100 = penalti data, bukan bukti proyek gagal</a:t>
            </a:r>
          </a:p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Dua total berbeda Rp18,93 T (Rp2.091,46 T vs Rp2.072,53 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4343400"/>
            <a:ext cx="414223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Empat akar masalah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626096" y="4608576"/>
            <a:ext cx="410565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7589520" y="4645152"/>
            <a:ext cx="4142232" cy="16459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1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Modal tanpa mekanisme konversi</a:t>
            </a:r>
          </a:p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2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Proyek padat impor, alih teknologi minim</a:t>
            </a:r>
          </a:p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3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BUMN bekerja dalam silo; tanpa register terintegrasi</a:t>
            </a:r>
          </a:p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4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Kesenjangan pemasok dalam negeri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BAB 05 · APA YANG DIHARAPKAN DARI DANANTARA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Harapan harus menjadi hasil tambahan terukur: lokalisasi 10–30% impor setara Rp23–68 T nilai tambah; target 8% tidak tercapai dari SDA saja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(v2), Bab 5 (D3, D11–D13). Seluruh angka kelas D (model), bruto sebelum efek pengalihan.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657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Tiga harapan, lima portofolio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36210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57200" y="1691640"/>
            <a:ext cx="3657600" cy="20116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400"/>
              </a:spcAft>
              <a:buClr>
                <a:srgbClr val="2251FF"/>
              </a:buClr>
              <a:buChar char="•"/>
            </a:pPr>
            <a:r>
              <a:rPr sz="1050" b="1" i="0">
                <a:solidFill>
                  <a:srgbClr val="000000"/>
                </a:solidFill>
                <a:latin typeface="Arial"/>
              </a:rPr>
              <a:t>Kapabilitas industri: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desain, buat, sertifikasi, pelihara, sempurnakan</a:t>
            </a:r>
          </a:p>
          <a:p>
            <a:pPr algn="l" marL="146304" indent="-146304">
              <a:spcAft>
                <a:spcPts val="400"/>
              </a:spcAft>
              <a:buClr>
                <a:srgbClr val="2251FF"/>
              </a:buClr>
              <a:buChar char="•"/>
            </a:pPr>
            <a:r>
              <a:rPr sz="1050" b="1" i="0">
                <a:solidFill>
                  <a:srgbClr val="000000"/>
                </a:solidFill>
                <a:latin typeface="Arial"/>
              </a:rPr>
              <a:t>Indikator ekonomi: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nilai tambah riil, devisa neto, modal swasta</a:t>
            </a:r>
          </a:p>
          <a:p>
            <a:pPr algn="l" marL="146304" indent="-146304">
              <a:spcAft>
                <a:spcPts val="400"/>
              </a:spcAft>
              <a:buClr>
                <a:srgbClr val="2251FF"/>
              </a:buClr>
              <a:buChar char="•"/>
            </a:pPr>
            <a:r>
              <a:rPr sz="1050" b="1" i="0">
                <a:solidFill>
                  <a:srgbClr val="000000"/>
                </a:solidFill>
                <a:latin typeface="Arial"/>
              </a:rPr>
              <a:t>Dampak sosial: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kerja berkualitas, UKM, layanan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926080"/>
          <a:ext cx="3657600" cy="181051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54480"/>
                <a:gridCol w="2103120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Portofolio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Ukuran utama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Pelestarian kekayaan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Imbal hasil neto vs tolok ukur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Infrastruktur strategis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NPV finansial dan ENPV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Platform industri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Lokalisasi via DOCK-UP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Inovasi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Tonggak teknologi berbasis gerbang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Pengembangan pemasok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Pemasok lolos G1–G4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892040"/>
            <a:ext cx="3657600" cy="13258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Prinsip desain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Permintaan sebelum subsidi · kesiapan sebelum volume · satu register · pembiayaan mengikuti gerbang · substansi di atas label · proteksi sementara · ukur yang tambahan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371600"/>
            <a:ext cx="3657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Tambahan nilai tambah dalam negeri, Rp 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25696" y="1636776"/>
            <a:ext cx="36210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297680" y="1691640"/>
          <a:ext cx="3840480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389120" y="4114800"/>
            <a:ext cx="3657600" cy="10972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Pembelian dalam negeri: Rp56 / 113 / 169 T</a:t>
            </a:r>
          </a:p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Penghematan devisa: US$2,4 / 4,8 / 7,2 M</a:t>
            </a:r>
          </a:p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Tahun-kerja: ≈ 90 / 181 / 271 ribu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5257800"/>
            <a:ext cx="3657600" cy="9601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Asumsi: barang 45% capex; impor 60%; nilai tambah 40% per rupiah; Rp16.500/US$. Akumulasi selama pembangunan, bukan per tahun.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371600"/>
            <a:ext cx="341071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Dampak makro pipeline Rp2.091 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357615" y="1636776"/>
            <a:ext cx="3374137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8321040" y="1737360"/>
            <a:ext cx="1645920" cy="9144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1737360"/>
            <a:ext cx="64008" cy="9144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1773936"/>
            <a:ext cx="1463040" cy="3429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2251FF"/>
                </a:solidFill>
                <a:latin typeface="Arial"/>
              </a:rPr>
              <a:t>+1,5%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104136"/>
            <a:ext cx="1463040" cy="52933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level PDB puncak 2030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85832" y="1737360"/>
            <a:ext cx="1645920" cy="9144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85832" y="1737360"/>
            <a:ext cx="64008" cy="9144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22992" y="1773936"/>
            <a:ext cx="1463040" cy="3429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2251FF"/>
                </a:solidFill>
                <a:latin typeface="Arial"/>
              </a:rPr>
              <a:t>+0,74%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2992" y="2104136"/>
            <a:ext cx="1463040" cy="52933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PDB permanen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2743200"/>
            <a:ext cx="1645920" cy="9144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21040" y="2743200"/>
            <a:ext cx="64008" cy="9144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2779776"/>
            <a:ext cx="1463040" cy="3429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2251FF"/>
                </a:solidFill>
                <a:latin typeface="Arial"/>
              </a:rPr>
              <a:t>11,4 juta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3109976"/>
            <a:ext cx="1463040" cy="52933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tahun-kerja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85832" y="2743200"/>
            <a:ext cx="1645920" cy="9144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85832" y="2743200"/>
            <a:ext cx="64008" cy="9144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22992" y="2779776"/>
            <a:ext cx="1463040" cy="3429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2251FF"/>
                </a:solidFill>
                <a:latin typeface="Arial"/>
              </a:rPr>
              <a:t>≈ 976 rb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22992" y="3109976"/>
            <a:ext cx="1463040" cy="52933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pekerjaan tetap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8321040" y="3840480"/>
          <a:ext cx="3410710" cy="1371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15600"/>
                <a:gridCol w="897555"/>
                <a:gridCol w="897555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Klaster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Puncak PDB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Impor US$ M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Sumber daya alam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0,44%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16,4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Infrastruktur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1,07%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12,5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Pertahanan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0,10%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Lainnya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0,07%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8321040" y="5303520"/>
            <a:ext cx="3410712" cy="9144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Implikasi: </a:t>
            </a:r>
            <a:r>
              <a:rPr sz="950" b="0" i="0">
                <a:solidFill>
                  <a:srgbClr val="000000"/>
                </a:solidFill>
                <a:latin typeface="Arial"/>
              </a:rPr>
              <a:t>8% bergantung pada reformasi di luar kendali Danantara; yang dikendalikan: ICOR proyek, biaya per kapasitas, kandungan domestik. Jalur D11: investasi ≈ 33,5% PDB, ICOR ≈ 4,2.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BAB 06 · DOCK-UP: MEMBANGUN KAPABILITAS INDUSTRI NASIONAL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DOCK-UP mengubah permintaan wajib menjadi pemasok terkualifikasi: volume dilepas hanya pada kesiapan terverifikasi lewat gerbang berbasis TRL dan MRL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(v2), Bab 6 (D4, D3). Kasus UKM adalah ilustrasi D4, bukan perusahaan nyata; target keluar adalah usulan.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828800" cy="8686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64008" cy="8686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53896"/>
            <a:ext cx="1645920" cy="30861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2251FF"/>
                </a:solidFill>
                <a:latin typeface="Arial"/>
              </a:rPr>
              <a:t>85% / 35%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51076"/>
            <a:ext cx="1645920" cy="51663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minimum ofset / kandungan lokal (UU 16/2012)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1417320"/>
            <a:ext cx="1828800" cy="8686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77440" y="1417320"/>
            <a:ext cx="64008" cy="8686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1453896"/>
            <a:ext cx="1645920" cy="30861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2251FF"/>
                </a:solidFill>
                <a:latin typeface="Arial"/>
              </a:rPr>
              <a:t>64,2 juta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751076"/>
            <a:ext cx="1645920" cy="51663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UMKM: ~62% PDB, ~97% kerja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417320"/>
            <a:ext cx="1828800" cy="8686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417320"/>
            <a:ext cx="64008" cy="8686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453896"/>
            <a:ext cx="1645920" cy="2057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251FF"/>
                </a:solidFill>
                <a:latin typeface="Arial"/>
              </a:rPr>
              <a:t>TRL 6–8 / MRL 3–5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1652016"/>
            <a:ext cx="1645920" cy="61569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profil banyak UKM: kaya prototipe, lemah produksi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468880"/>
            <a:ext cx="566928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Empat elemen DOCK-UP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3776" y="2734056"/>
            <a:ext cx="563270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1" name="Rectangle 20"/>
          <p:cNvSpPr/>
          <p:nvPr/>
        </p:nvSpPr>
        <p:spPr>
          <a:xfrm>
            <a:off x="457200" y="2816352"/>
            <a:ext cx="640080" cy="56692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816352"/>
            <a:ext cx="640080" cy="56692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2816352"/>
            <a:ext cx="5029200" cy="56692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432" y="2834640"/>
            <a:ext cx="4937760" cy="5486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Develop: </a:t>
            </a:r>
            <a:r>
              <a:rPr sz="1000" b="0" i="0">
                <a:solidFill>
                  <a:srgbClr val="000000"/>
                </a:solidFill>
                <a:latin typeface="Arial"/>
              </a:rPr>
              <a:t>Baseline TRL/MRL; pendampingan pada MRL terlemah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456432"/>
            <a:ext cx="640080" cy="56692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456432"/>
            <a:ext cx="640080" cy="56692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3456432"/>
            <a:ext cx="5029200" cy="56692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70432" y="3474720"/>
            <a:ext cx="4937760" cy="5486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Off-taker: </a:t>
            </a:r>
            <a:r>
              <a:rPr sz="1000" b="0" i="0">
                <a:solidFill>
                  <a:srgbClr val="000000"/>
                </a:solidFill>
                <a:latin typeface="Arial"/>
              </a:rPr>
              <a:t>Kontrak payung 3–5 tahun; volume dilepas bertahap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096512"/>
            <a:ext cx="640080" cy="56692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096512"/>
            <a:ext cx="640080" cy="56692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7280" y="4096512"/>
            <a:ext cx="5029200" cy="56692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70432" y="4114800"/>
            <a:ext cx="4937760" cy="5486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Certification: </a:t>
            </a:r>
            <a:r>
              <a:rPr sz="1000" b="0" i="0">
                <a:solidFill>
                  <a:srgbClr val="000000"/>
                </a:solidFill>
                <a:latin typeface="Arial"/>
              </a:rPr>
              <a:t>C1 ISO 9001 · C2 klas/ISO 3834 · C3 mutu pertahanan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736592"/>
            <a:ext cx="640080" cy="56692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736592"/>
            <a:ext cx="640080" cy="56692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UP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7280" y="4736592"/>
            <a:ext cx="5029200" cy="56692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70432" y="4754880"/>
            <a:ext cx="4937760" cy="5486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Upgrading: </a:t>
            </a:r>
            <a:r>
              <a:rPr sz="1000" b="0" i="0">
                <a:solidFill>
                  <a:srgbClr val="000000"/>
                </a:solidFill>
                <a:latin typeface="Arial"/>
              </a:rPr>
              <a:t>Build-to-print → build-to-spec → design-and-build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440680"/>
            <a:ext cx="5669280" cy="804672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458968"/>
            <a:ext cx="5577840" cy="768096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Aturan pokok: </a:t>
            </a:r>
            <a:r>
              <a:rPr sz="1000" b="0" i="0">
                <a:solidFill>
                  <a:srgbClr val="FFFFFF"/>
                </a:solidFill>
                <a:latin typeface="Arial"/>
              </a:rPr>
              <a:t>kesiapan, bukan janji, yang membuka langkah berikutnya. Asesor independen memverifikasi; integrator tidak memesan melebihi kemampuan terbukti.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1371600"/>
            <a:ext cx="53309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Gerbang terpadu: satu sinyal untuk UKM, pembeli, dan bank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437376" y="1636776"/>
            <a:ext cx="529437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6400800" y="1719072"/>
          <a:ext cx="5330950" cy="235915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22840"/>
                <a:gridCol w="1355326"/>
                <a:gridCol w="1716747"/>
                <a:gridCol w="1536037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Gerbang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Kesiapan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Yang dibuka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Dukungan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Masuk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Baseline TRL/MRL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Rencana pengembangan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Insinyur pendamping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G1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MRL 6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Tahap 1: pesanan percontohan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Hibah pendamping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G2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MRL 7 + C1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Tahap 2: laju rendah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Pembiayaan rantai pasok, KUR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G3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MRL 8 + C2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Tahap 3: serial dan suku cadang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Kredit investasi, first-loss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G4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Produk sendiri TRL 7+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Design-and-build, ekspor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Venture korporasi, LPEI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6400800" y="4206240"/>
            <a:ext cx="53309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Uji coba: 1 integrator, 20–30 UKM, 3–5 kelompok komponen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437376" y="4471416"/>
            <a:ext cx="529437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6400800" y="4553712"/>
          <a:ext cx="5330949" cy="93268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475084"/>
                <a:gridCol w="951955"/>
                <a:gridCol w="951955"/>
                <a:gridCol w="951955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Target keluar (usulan)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Bln 12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Bln 18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Bln 24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UKM pada G1 atau lebih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≥ 60%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≥ 75%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≥ 80%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UKM pada G2 atau lebih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≥ 25%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≥ 40%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</a:tbl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6400800" y="5577840"/>
            <a:ext cx="5330952" cy="6858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Kurva belajar 85%: paritas biaya impor sekitar 4,2× volume awal (ilustrasi kelas D)</a:t>
            </a:r>
          </a:p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Dua jalur: MRL untuk build-to-print, TRL untuk pemilik produk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BAB 07 · PROYEK JANGKAR SEBAGAI MESIN PERMINTAAN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Proyek jangkar menyalurkan permintaan ke pemasok lokal lewat dua sistem gerbang yang saling mengunci: gerbang proyek (P0–P6) dan gerbang pemasok (G1–G4)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(v2), Bab 7 (D2, D3, D8). Nilai klaster dari tabel ringkasan belum direkonsiliasi; mitra global adalah shortlist analis, bukan penunjukan.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420624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Empat klaster awal, nilai tabel ringkasan (Rp T)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416966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691640"/>
          <a:ext cx="4389120" cy="2240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4069080"/>
            <a:ext cx="420624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Contoh terintegrasi: proyek jangkar maritim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3776" y="4334256"/>
            <a:ext cx="416966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457200" y="4389120"/>
            <a:ext cx="4206240" cy="18288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400"/>
              </a:spcAft>
              <a:buClr>
                <a:srgbClr val="2251FF"/>
              </a:buClr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Backlog PT PAL: 2 kapal selam Scorpène (US$2,16 M), 2 fregat Merah Putih (US$1,2 M), LPD, kapal rumah sakit</a:t>
            </a:r>
          </a:p>
          <a:p>
            <a:pPr algn="l" marL="146304" indent="-146304">
              <a:spcAft>
                <a:spcPts val="400"/>
              </a:spcAft>
              <a:buClr>
                <a:srgbClr val="2251FF"/>
              </a:buClr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Paket DOCK-UP: katup, bantalan, perpipaan, kabel, sensor, MRO</a:t>
            </a:r>
          </a:p>
          <a:p>
            <a:pPr algn="l" marL="146304" indent="-146304">
              <a:spcAft>
                <a:spcPts val="400"/>
              </a:spcAft>
              <a:buClr>
                <a:srgbClr val="2251FF"/>
              </a:buClr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Tokenisasi membiayai modal kerja dan membayar pemasok terkualifikasi langsung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371600"/>
            <a:ext cx="679399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Gerbang proyek mengunci gerbang pemasok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74336" y="1636776"/>
            <a:ext cx="675741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937760" y="1719072"/>
          <a:ext cx="6793991" cy="270662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77160"/>
                <a:gridCol w="2754321"/>
                <a:gridCol w="2662510"/>
              </a:tblGrid>
              <a:tr h="33832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Gerbang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Bukti untuk melanjutkan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Persyaratan lokalisasi (usulan)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P0 Mandat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Identitas, sponsor, lingkup, biaya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Tandai proyek jangkar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P1 Opsi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Kajian finansial dan dampak nasional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Daftar panjang paket lokal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P2 Kesiapan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Kajian teknis, offtake, risiko, sumber modal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Rencana lokalisasi + baseline TRL/MRL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P3 Modal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Rekomendasi komite, persetujuan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Kontrak payung dan ofset dalam kontrak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P4 Close/konstruksi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Pendanaan mengikat, jadwal baseline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Tahap pesanan dilepas per gerbang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P5 Operasi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Uji kinerja, penerimaan aset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Kinerja pemasok, suku cadang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P6 Evaluasi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Biaya final, manfaat aktual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Nilai tambah dan kapabilitas terverifikasi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937760" y="4526280"/>
            <a:ext cx="679399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D8: 18 slot bernama menjadi daftar kerja; gerbang industri M0–M9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74336" y="4791456"/>
            <a:ext cx="675741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4937760" y="4892040"/>
            <a:ext cx="1197864" cy="4572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4892040"/>
            <a:ext cx="1197864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M0–M1 Konsep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172200" y="5047488"/>
            <a:ext cx="128016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36792" y="4892040"/>
            <a:ext cx="1197864" cy="4572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4892040"/>
            <a:ext cx="1197864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M2–M3 FEL, FEED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571231" y="5047488"/>
            <a:ext cx="128016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35824" y="4892040"/>
            <a:ext cx="1197864" cy="4572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35824" y="4892040"/>
            <a:ext cx="1197864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M4 FID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970264" y="5047488"/>
            <a:ext cx="128016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34856" y="4892040"/>
            <a:ext cx="1197864" cy="4572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34856" y="4892040"/>
            <a:ext cx="1197864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M5–M7 EPC, commissioning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0369296" y="5047488"/>
            <a:ext cx="128016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533888" y="4892040"/>
            <a:ext cx="1197864" cy="4572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33888" y="4892040"/>
            <a:ext cx="1197864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M8–M9 Ramp-up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5440680"/>
            <a:ext cx="6793992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Mitra potensial per slot (mis. Sibelco, Lynas, Masdar, Veolia, Naval Group, Thales) memerlukan konfirmasi; risiko per slot terpetakan di register D8</a:t>
            </a:r>
          </a:p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Paket dengan pekerjaan terbesar tidak selalu bernilai terbesar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BAB 08 · KANAL PEMBIAYAAN 1: NATURAL RESOURCE FUND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NRF menjawab turunnya penerimaan sumber daya alam (19,3% → 7,7%), tetapi delapan isu valuasi, hukum, dan fiskal harus selesai sebelum desain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(v2), Bab 8 (D5, D10, D11). Ilustrasi valuasi: deposit hipotetis, kelas D. Ambang inflasi adalah usulan awal.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29184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Porsi SDA dalam penerimaan negara, %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3255263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691640"/>
          <a:ext cx="3474720" cy="2103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4023360"/>
            <a:ext cx="3291840" cy="100584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023360"/>
            <a:ext cx="64008" cy="10058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059936"/>
            <a:ext cx="31089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2251FF"/>
                </a:solidFill>
                <a:latin typeface="Arial"/>
              </a:rPr>
              <a:t>US$80 M → US$3,9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324096"/>
            <a:ext cx="3108960" cy="68681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nilai in-situ vs nilai yang dapat diterbitkan (4,9%): hanya cadangan terbukti + terkira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166360"/>
            <a:ext cx="3291840" cy="100584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5166360"/>
            <a:ext cx="64008" cy="10058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202936"/>
            <a:ext cx="31089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2251FF"/>
                </a:solidFill>
                <a:latin typeface="Arial"/>
              </a:rPr>
              <a:t>Rp1.000 T ≈ 4% PDB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467096"/>
            <a:ext cx="3108960" cy="68681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penyaluran dapat menghabiskan sebagian besar toleransi inflasi ±1 poin; pantau sebelum rupiah pertama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1371600"/>
            <a:ext cx="402336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Delapan isu yang harus diselesaikan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59936" y="1636776"/>
            <a:ext cx="398678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4023360" y="1719072"/>
            <a:ext cx="4023360" cy="32004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1 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Dasar valuasi Rp10.000 T tanpa metode</a:t>
            </a:r>
          </a:p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2 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Target Rp100 T / Rp1.000 T ambigu</a:t>
            </a:r>
          </a:p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3 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Hak hukum atas cadangan belum ditambang</a:t>
            </a:r>
          </a:p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4 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Sekuritisasi 50% = pinjaman beragun penerimaan</a:t>
            </a:r>
          </a:p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5 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Reprofiling utang menukar liabilitas</a:t>
            </a:r>
          </a:p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6 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NRF di bawah Presiden vs Danantara: tumpang tindih</a:t>
            </a:r>
          </a:p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7 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Proses hukum atas peninjauan IUP/HGU</a:t>
            </a:r>
          </a:p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8 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Distribusi via koperasi mencampur kanal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4572000"/>
            <a:ext cx="402336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Lima jendela penggunaan dana hasil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059936" y="4837176"/>
            <a:ext cx="398678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4023360" y="4892040"/>
            <a:ext cx="4023360" cy="13716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Stabilisasi · Tabungan generasi · Pengembangan industri · Kapabilitas pemasok (DOCK-UP) · Distribusi sosial; tiap jendela punya aturan sendiri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371600"/>
            <a:ext cx="341071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Empat opsi monetisasi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357615" y="1636776"/>
            <a:ext cx="3374137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8321040" y="1719072"/>
          <a:ext cx="3410712" cy="21945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05356"/>
                <a:gridCol w="1705356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Opsi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Catatan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Efek beragun aset berdaulat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Dikenal investor; perlu true sale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Surat utang berbasis mineral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Paling sederhana; jelas utang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Pembiayaan berbasis royalti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Menarik maju penerimaan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Mineral Reserve Trust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Paling sulit secara hukum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8321040" y="4023360"/>
            <a:ext cx="341071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Pemantau inflasi NRF: 8 jalur transmisi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357615" y="4288536"/>
            <a:ext cx="3374137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8321040" y="4343400"/>
            <a:ext cx="3410712" cy="19202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Jalur terpenting: pembiayaan moneter (C2), harga diatur (C4), ekspektasi (C7)</a:t>
            </a:r>
          </a:p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Ambang merah: IHK &gt; 4,0%; setiap pembelian BI di pasar perdana di luar krisis</a:t>
            </a:r>
          </a:p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MVP 6–8 minggu, tim 7 orang; syarat pencairan: baseline pra-NRF ada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BAB 09 · KANAL PEMBIAYAAN 2: TOKENISASI PROYEK BERDAULAT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PALCapital menguji pencairan per tonggak capaian, tetapi instrumennya adalah utang dan enam prasyarat harus terpenuhi sebelum uji coba US$150 juta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(v2), Bab 9 (D6). Istilah instrumen dan angka dari D6; penilaian dan prasyarat adalah rekomendasi kajian.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402336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Instrumen PAL-SUB-1 (usulan D6)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398678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19072"/>
          <a:ext cx="4023360" cy="3657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97280"/>
                <a:gridCol w="29260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Fitur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Isi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Ukuran / tenor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US$150 juta; 700 bps tetap; 720 hari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Teknologi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ERC-3643 pada Hyperledger Besu; bukti ZK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Escrow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Fiat di Bank Mandiri Custody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Pencairan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Per tonggak ke vendor; persetujuan 2-dari-2 BKI + TNI AL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Pelunasan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Pembayaran Kemhan ke collection account; waterfall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Investor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Danantara jangkar; Mandiri, BRI, SWF; tanpa ritel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Regulasi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Sandbox IKD OJK; sovereign cloud; ISO 27001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54880" y="1371600"/>
            <a:ext cx="697687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Siklus dana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91456" y="1636776"/>
            <a:ext cx="694029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2" name="Rectangle 11"/>
          <p:cNvSpPr/>
          <p:nvPr/>
        </p:nvSpPr>
        <p:spPr>
          <a:xfrm>
            <a:off x="4754880" y="1737360"/>
            <a:ext cx="1010412" cy="6400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737360"/>
            <a:ext cx="1010412" cy="64008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Kontrak Kemhan di-hash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01868" y="1984248"/>
            <a:ext cx="10972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8172" y="1737360"/>
            <a:ext cx="1010412" cy="64008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8172" y="1737360"/>
            <a:ext cx="1010412" cy="64008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Bukti ZK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995159" y="1984248"/>
            <a:ext cx="10972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41464" y="1737360"/>
            <a:ext cx="1010412" cy="6400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41464" y="1737360"/>
            <a:ext cx="1010412" cy="64008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Onboarding investor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188452" y="1984248"/>
            <a:ext cx="10972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34756" y="1737360"/>
            <a:ext cx="1010412" cy="64008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4756" y="1737360"/>
            <a:ext cx="1010412" cy="64008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Dana di escrow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381744" y="1984248"/>
            <a:ext cx="10972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28048" y="1737360"/>
            <a:ext cx="1010412" cy="6400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28048" y="1737360"/>
            <a:ext cx="1010412" cy="64008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Pencairan per tonggak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0575036" y="1984248"/>
            <a:ext cx="10972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21340" y="1737360"/>
            <a:ext cx="1010412" cy="64008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21340" y="1737360"/>
            <a:ext cx="1010412" cy="64008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Pelunasan waterfall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2606040"/>
            <a:ext cx="2194560" cy="9144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54880" y="2606040"/>
            <a:ext cx="64008" cy="9144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92040" y="2642616"/>
            <a:ext cx="2011679" cy="29146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251FF"/>
                </a:solidFill>
                <a:latin typeface="Arial"/>
              </a:rPr>
              <a:t>US$20,7 juta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2923286"/>
            <a:ext cx="2011679" cy="57886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imbal hasil atas US$150 juta, 700 bps, 720 hari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59168" y="2606040"/>
            <a:ext cx="2194560" cy="9144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59168" y="2606040"/>
            <a:ext cx="64008" cy="9144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96328" y="2642616"/>
            <a:ext cx="2011679" cy="29146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251FF"/>
                </a:solidFill>
                <a:latin typeface="Arial"/>
              </a:rPr>
              <a:t>4 tahap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96328" y="2923286"/>
            <a:ext cx="2011679" cy="57886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tranche tonggak: 40 + 45 + 40 + 25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63456" y="2606040"/>
            <a:ext cx="2368296" cy="9144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363456" y="2606040"/>
            <a:ext cx="64008" cy="9144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0616" y="2642616"/>
            <a:ext cx="2185415" cy="29146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251FF"/>
                </a:solidFill>
                <a:latin typeface="Arial"/>
              </a:rPr>
              <a:t>75%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0616" y="2923286"/>
            <a:ext cx="2185415" cy="57886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material PAL diimpor: kebocoran pencairan ke vendor asing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3703320"/>
            <a:ext cx="697687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Isu utama penilaian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791456" y="3968496"/>
            <a:ext cx="694029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4754880" y="4023360"/>
            <a:ext cx="3429000" cy="17373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Ini utang: dicatat sebagai liabilitas</a:t>
            </a:r>
          </a:p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Pengalihan tagihan negara perlu persetujuan Kemhan dan Kemenkeu</a:t>
            </a:r>
          </a:p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Perbandingan biaya 7% vs bank 9–11% tidak setara</a:t>
            </a:r>
          </a:p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Investor = uang negara berputar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4023360"/>
            <a:ext cx="3456432" cy="17373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Blockchain perlu dibuktikan; escrow konvensional bisa</a:t>
            </a:r>
          </a:p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Konsentrasi peran Danantara (investor, validator, kunci)</a:t>
            </a:r>
          </a:p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Klaim belum terverifikasi: AUM US$900 M+, persetujuan awal BSSN/OJK</a:t>
            </a:r>
          </a:p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Inkonsistensi term sheet (45 vs 90 hari, 6–7% vs 700 bps)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486400"/>
            <a:ext cx="402336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Perluasan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93776" y="5751576"/>
            <a:ext cx="398678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457200" y="5779008"/>
            <a:ext cx="4023360" cy="5486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Keluarga Surat Tagihan Proyek Berdaulat dalam rupiah: pertahanan, KPBU, WtE, hilirisasi, perumahan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54880" y="5779008"/>
            <a:ext cx="6976872" cy="5029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00600" y="5779008"/>
            <a:ext cx="6885432" cy="5029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Enam prasyarat: </a:t>
            </a:r>
            <a:r>
              <a:rPr sz="1000" b="0" i="0">
                <a:solidFill>
                  <a:srgbClr val="FFFFFF"/>
                </a:solidFill>
                <a:latin typeface="Arial"/>
              </a:rPr>
              <a:t>hukum · risiko fiskal/grup · keekonomian · tata kelola · teknologi/keamanan · keterkaitan industri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BAB 10 · ARSITEKTUR PEMBIAYAAN TERINTEGRASI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Dua kanal baru saling melengkapi tetapi hanya menutup 6,8% portofolio; pengungkit penentu adalah mobilisasi, pembiayaan per gerbang, dan isolasi risiko sistemik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(v2), Bab 10 (D1, D5, D6, D9, D11). Sumber dan penggunaan dana: ilustrasi kelas D; defisit pembiayaan D9: kelas 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41148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Kedua kanal saling melengkapi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40782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19072"/>
          <a:ext cx="4114800" cy="2743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14400"/>
                <a:gridCol w="1600200"/>
                <a:gridCol w="16002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NRF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Tokenisasi proyek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Tingkat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Dana (hulu)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Proyek dan pemasok (hilir)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Sumber nilai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Porsi negara atas rente SDA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Kewajiban bayar negara terkontrak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Penggunaan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Ekuitas sabar, first-loss, tabungan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Modal kerja per tonggak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Horizon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Puluhan tahun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1–5 tahun per instrumen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Risiko utama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Harga, hak hukum, substansi fiskal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Penyelesaian, alokasi anggaran, tata kelola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4617720"/>
            <a:ext cx="41148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Portofolio ganda (D9): tanpa subsidi silang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3776" y="4882896"/>
            <a:ext cx="40782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457200" y="4937760"/>
            <a:ext cx="4114800" cy="13716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1" i="0">
                <a:solidFill>
                  <a:srgbClr val="000000"/>
                </a:solidFill>
                <a:latin typeface="Arial"/>
              </a:rPr>
              <a:t>Alpha (komersial): </a:t>
            </a:r>
            <a:r>
              <a:rPr sz="950" b="0" i="0">
                <a:solidFill>
                  <a:srgbClr val="000000"/>
                </a:solidFill>
                <a:latin typeface="Arial"/>
              </a:rPr>
              <a:t>Mandiri, BRI, BNI, Telkom; ROE &gt; 15%; tanpa pinjaman paksa</a:t>
            </a:r>
          </a:p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1" i="0">
                <a:solidFill>
                  <a:srgbClr val="000000"/>
                </a:solidFill>
                <a:latin typeface="Arial"/>
              </a:rPr>
              <a:t>Impact (proyek): </a:t>
            </a:r>
            <a:r>
              <a:rPr sz="950" b="0" i="0">
                <a:solidFill>
                  <a:srgbClr val="000000"/>
                </a:solidFill>
                <a:latin typeface="Arial"/>
              </a:rPr>
              <a:t>utang non-recourse; SPV ring-fenced, ekuitas kedaulatan ≤ 30%</a:t>
            </a:r>
          </a:p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1" i="0">
                <a:solidFill>
                  <a:srgbClr val="000000"/>
                </a:solidFill>
                <a:latin typeface="Arial"/>
              </a:rPr>
              <a:t>Defisit pembiayaan: </a:t>
            </a:r>
            <a:r>
              <a:rPr sz="950" b="0" i="0">
                <a:solidFill>
                  <a:srgbClr val="000000"/>
                </a:solidFill>
                <a:latin typeface="Arial"/>
              </a:rPr>
              <a:t>Rp95–125 T per tahun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371600"/>
            <a:ext cx="338328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Sumber dana ilustratif, Rp triliun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82896" y="1636776"/>
            <a:ext cx="334670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846320" y="1719072"/>
          <a:ext cx="3383280" cy="21945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94560"/>
                <a:gridCol w="11887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Sumber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Rp 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Alokasi strategis Danantara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≈ 578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Surat utang terkait NRF Tahap 1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≈ 118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Surat tagihan proyek berdaulat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≈ 24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251FF"/>
                          </a:solidFill>
                          <a:latin typeface="Arial"/>
                        </a:rPr>
                        <a:t>Subtotal dua kanal baru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251FF"/>
                          </a:solidFill>
                          <a:latin typeface="Arial"/>
                        </a:rPr>
                        <a:t>≈ 142 (6,8%)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Sisa harus didanai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≈ 1.371 (65,6%)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846320" y="4023360"/>
            <a:ext cx="3383280" cy="7772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Sisa: utang tingkat proyek, neraca BUMN, ko-investor swasta dan asing, APBN. Ekuitas 30% = Rp627 T; utang 70% = Rp1.464 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754880"/>
            <a:ext cx="338328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Uji stres (11 guncangan)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82896" y="5020056"/>
            <a:ext cx="334670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4846320" y="5047488"/>
            <a:ext cx="3383280" cy="12801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IDR −15%; spread +200 bps</a:t>
            </a:r>
          </a:p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Capex +20%, terlambat 12 bulan</a:t>
            </a:r>
          </a:p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Batu bara −30% tiga tahun</a:t>
            </a:r>
          </a:p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Bayar negara terlambat 180 hari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1371600"/>
            <a:ext cx="322783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Pembiayaan mengikuti gerbang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540496" y="1636776"/>
            <a:ext cx="319125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8503920" y="1719072"/>
          <a:ext cx="3227831" cy="230428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291132"/>
                <a:gridCol w="1936699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Gerbang proyek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Instrumen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P0–P2 persiapan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Dana penyiapan DDMF, hibah kajian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P3 keputusan modal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Ekuitas Danantara, jendela industri NRF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P4 konstruksi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Surat tagihan, bank, kredit ekspor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P5 commissioning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Refinancing obligasi jangka panjang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P6 operasi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Daur ulang aset ke investor swasta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8503920" y="4160520"/>
          <a:ext cx="3227831" cy="197510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291132"/>
                <a:gridCol w="1936699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Gerbang pemasok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Instrumen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Masuk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Insinyur pendamping, pelatihan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G1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Hibah pendamping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G2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Pembiayaan rantai pasok, KUR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G3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Kredit investasi + first-loss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G4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Venture korporasi, LPEI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BAB 11 · KAJIAN BUMN KARYA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BUMN Karya harus kembali menjadi kontraktor yang disiplin: rugi 2025 ≈ Rp28 T dan anggaran infrastruktur turun ≈ 45%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(v2), Bab 11 (D3, D1). Angka kerugian adalah estimasi kelas C; harus digantikan angka teraudit TB2025.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56616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Estimasi rugi 2025, Rp triliun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352958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691640"/>
          <a:ext cx="3749039" cy="2011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840480"/>
            <a:ext cx="356616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Anggaran infrastruktur, Rp triliun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3776" y="4105656"/>
            <a:ext cx="352958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365760" y="4114800"/>
          <a:ext cx="3749039" cy="2148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297680" y="1371600"/>
            <a:ext cx="356616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Akar masalah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34256" y="1636776"/>
            <a:ext cx="352958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4297680" y="1719072"/>
            <a:ext cx="3566160" cy="21945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400"/>
              </a:spcAft>
              <a:buClr>
                <a:srgbClr val="2251FF"/>
              </a:buClr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Ekspansi infrastruktur agresif dalam waktu singkat</a:t>
            </a:r>
          </a:p>
          <a:p>
            <a:pPr algn="l" marL="146304" indent="-146304">
              <a:spcAft>
                <a:spcPts val="400"/>
              </a:spcAft>
              <a:buClr>
                <a:srgbClr val="2251FF"/>
              </a:buClr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Margin konstruksi rendah; penugasan tanpa kompensasi penuh</a:t>
            </a:r>
          </a:p>
          <a:p>
            <a:pPr algn="l" marL="146304" indent="-146304">
              <a:spcAft>
                <a:spcPts val="400"/>
              </a:spcAft>
              <a:buClr>
                <a:srgbClr val="2251FF"/>
              </a:buClr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Pembayaran terlambat dari Pemerintah dan BUMN pemilik proyek</a:t>
            </a:r>
          </a:p>
          <a:p>
            <a:pPr algn="l" marL="146304" indent="-146304">
              <a:spcAft>
                <a:spcPts val="400"/>
              </a:spcAft>
              <a:buClr>
                <a:srgbClr val="2251FF"/>
              </a:buClr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Risiko turnkey/EPC ditanggung kontraktor</a:t>
            </a:r>
          </a:p>
          <a:p>
            <a:pPr algn="l" marL="146304" indent="-146304">
              <a:spcAft>
                <a:spcPts val="400"/>
              </a:spcAft>
              <a:buClr>
                <a:srgbClr val="2251FF"/>
              </a:buClr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Insentif mengukur penyelesaian proyek, bukan profitabilitas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840480"/>
            <a:ext cx="356616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Dari konglomerasi ke kontraktor disiplin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334256" y="4105656"/>
            <a:ext cx="352958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4297680" y="4206240"/>
            <a:ext cx="768096" cy="6400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4206240"/>
            <a:ext cx="768096" cy="64008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Fokus inti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102352" y="4453127"/>
            <a:ext cx="91439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30368" y="4206240"/>
            <a:ext cx="768096" cy="64008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30368" y="4206240"/>
            <a:ext cx="768096" cy="64008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Seleksi margin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035040" y="4453127"/>
            <a:ext cx="91439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63056" y="4206240"/>
            <a:ext cx="768096" cy="6400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63056" y="4206240"/>
            <a:ext cx="768096" cy="64008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Kendali risiko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967728" y="4453127"/>
            <a:ext cx="91439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95744" y="4206240"/>
            <a:ext cx="768096" cy="64008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95744" y="4206240"/>
            <a:ext cx="768096" cy="64008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Tata kelola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937760"/>
            <a:ext cx="3566160" cy="12801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Siklus kas sehat: </a:t>
            </a:r>
            <a:r>
              <a:rPr sz="950" b="0" i="0">
                <a:solidFill>
                  <a:srgbClr val="000000"/>
                </a:solidFill>
                <a:latin typeface="Arial"/>
              </a:rPr>
              <a:t>terima uang muka → laksanakan → sertifikasi → tagih dan kumpulkan piutang.</a:t>
            </a:r>
          </a:p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Aset warisan </a:t>
            </a:r>
            <a:r>
              <a:rPr sz="950" b="0" i="0">
                <a:solidFill>
                  <a:srgbClr val="000000"/>
                </a:solidFill>
                <a:latin typeface="Arial"/>
              </a:rPr>
              <a:t>(tol, properti, bandara, tambang) dipisah ke wahana aset setelah diagnostik.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1371600"/>
            <a:ext cx="359359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Tujuh rekomendasi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174736" y="1636776"/>
            <a:ext cx="355701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32" name="Rectangle 31"/>
          <p:cNvSpPr/>
          <p:nvPr/>
        </p:nvSpPr>
        <p:spPr>
          <a:xfrm>
            <a:off x="8138160" y="1737360"/>
            <a:ext cx="365760" cy="42062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1737360"/>
            <a:ext cx="365760" cy="4206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03920" y="1737360"/>
            <a:ext cx="3227832" cy="42062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0496" y="1737360"/>
            <a:ext cx="3172968" cy="4206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Diagnostik per perusahaan, Hari 30–90, data teraudit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2212848"/>
            <a:ext cx="365760" cy="42062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2212848"/>
            <a:ext cx="365760" cy="4206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03920" y="2212848"/>
            <a:ext cx="3227832" cy="42062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0496" y="2212848"/>
            <a:ext cx="3172968" cy="4206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Pisahkan aset warisan setelah diagnostik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38160" y="2688336"/>
            <a:ext cx="365760" cy="42062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8160" y="2688336"/>
            <a:ext cx="365760" cy="4206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03920" y="2688336"/>
            <a:ext cx="3227832" cy="42062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40496" y="2688336"/>
            <a:ext cx="3172968" cy="4206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Disiplin penawaran: gerbang bid/no-bid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38160" y="3163824"/>
            <a:ext cx="365760" cy="42062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38160" y="3163824"/>
            <a:ext cx="365760" cy="4206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03920" y="3163824"/>
            <a:ext cx="3227832" cy="42062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40496" y="3163824"/>
            <a:ext cx="3172968" cy="4206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Perlindungan kas dan eskalasi piutang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38160" y="3639312"/>
            <a:ext cx="365760" cy="42062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38160" y="3639312"/>
            <a:ext cx="365760" cy="4206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03920" y="3639312"/>
            <a:ext cx="3227832" cy="42062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40496" y="3639312"/>
            <a:ext cx="3172968" cy="4206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Tulang punggung pengendalian proyek: WBS, kode biaya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38160" y="4114800"/>
            <a:ext cx="365760" cy="42062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38160" y="4114800"/>
            <a:ext cx="365760" cy="4206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03920" y="4114800"/>
            <a:ext cx="3227832" cy="42062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40496" y="4114800"/>
            <a:ext cx="3172968" cy="4206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Peran sebagai EPC dan integrator proyek jangkar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38160" y="4590288"/>
            <a:ext cx="365760" cy="42062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38160" y="4590288"/>
            <a:ext cx="365760" cy="4206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503920" y="4590288"/>
            <a:ext cx="3227832" cy="42062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40496" y="4590288"/>
            <a:ext cx="3172968" cy="4206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Struktur diputuskan berdasarkan bukti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38160" y="5120640"/>
            <a:ext cx="3593592" cy="11430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Ukur pemulihan: </a:t>
            </a:r>
            <a:r>
              <a:rPr sz="950" b="0" i="0">
                <a:solidFill>
                  <a:srgbClr val="000000"/>
                </a:solidFill>
                <a:latin typeface="Arial"/>
              </a:rPr>
              <a:t>laba ekonomi inkremental, konversi kas operasional dan DSO, utang bersih/EBITDA, margin backlog saat tawar vs selesai, CPI/SPI, manfaat transformasi bersih terverifikasi.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BAB 12 · MENINGKATKAN MANAJEMEN BISNIS DENGAN AI MULTI-AGEN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Sistem operasi proyek berbasis AI multi-agen: MVP tiga bulan, enam agen prioritas, integrasi baca-saja, dan manusia tetap memutuskan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(v2), Bab 12 (D3). Spesifikasi komputasi dan jalur peningkatan skala adalah usulan; business case disusun sebelum Fase 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749039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Arsitektur berlapis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371246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9" name="Rectangle 8"/>
          <p:cNvSpPr/>
          <p:nvPr/>
        </p:nvSpPr>
        <p:spPr>
          <a:xfrm>
            <a:off x="457200" y="1737360"/>
            <a:ext cx="3749039" cy="5029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3749039" cy="5029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Danantara Portfolio Control Tower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04288"/>
            <a:ext cx="3749039" cy="5029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04288"/>
            <a:ext cx="3749039" cy="5029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SOE Enterprise Orchestrator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71216"/>
            <a:ext cx="3749039" cy="5029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871216"/>
            <a:ext cx="3749039" cy="5029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Kelompok agen AI korporat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38144"/>
            <a:ext cx="3749039" cy="5029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438144"/>
            <a:ext cx="3749039" cy="5029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Project Control Tower (per proyek)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05072"/>
            <a:ext cx="3749039" cy="5029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005072"/>
            <a:ext cx="3749039" cy="5029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Intelijen lapangan: drone, IoT, BIM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72000"/>
            <a:ext cx="3749039" cy="5029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572000"/>
            <a:ext cx="3749039" cy="5029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Platform data + master data (ERP, BIM, kontrak)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12080"/>
            <a:ext cx="3749039" cy="10515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Satu set pengenal untuk semua agen: ID proyek, WBS, kode biaya, kontrak, pemasok, perubahan</a:t>
            </a:r>
          </a:p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Pola akhir: hub-and-spoke di platform AI Danantara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1371600"/>
            <a:ext cx="356616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Enam agen prioritas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17136" y="1636776"/>
            <a:ext cx="352958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4480560" y="1737360"/>
            <a:ext cx="3566160" cy="457200"/>
          </a:xfrm>
          <a:prstGeom prst="rect">
            <a:avLst/>
          </a:prstGeom>
          <a:solidFill>
            <a:srgbClr val="E6ECFD"/>
          </a:solidFill>
        </p:spPr>
        <p:txBody>
          <a:bodyPr wrap="square" lIns="73152" rIns="73152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Risiko portofolio: </a:t>
            </a:r>
            <a:r>
              <a:rPr sz="950" b="0" i="0">
                <a:solidFill>
                  <a:srgbClr val="000000"/>
                </a:solidFill>
                <a:latin typeface="Arial"/>
              </a:rPr>
              <a:t>peringkat risiko, deteksi dini rugi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2240280"/>
            <a:ext cx="3566160" cy="457200"/>
          </a:xfrm>
          <a:prstGeom prst="rect">
            <a:avLst/>
          </a:prstGeom>
          <a:solidFill>
            <a:srgbClr val="E6ECFD"/>
          </a:solidFill>
        </p:spPr>
        <p:txBody>
          <a:bodyPr wrap="square" lIns="73152" rIns="73152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Bid / no-bid: </a:t>
            </a:r>
            <a:r>
              <a:rPr sz="950" b="0" i="0">
                <a:solidFill>
                  <a:srgbClr val="000000"/>
                </a:solidFill>
                <a:latin typeface="Arial"/>
              </a:rPr>
              <a:t>margin, risiko kontrak, modal kerja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2743200"/>
            <a:ext cx="3566160" cy="457200"/>
          </a:xfrm>
          <a:prstGeom prst="rect">
            <a:avLst/>
          </a:prstGeom>
          <a:solidFill>
            <a:srgbClr val="E6ECFD"/>
          </a:solidFill>
        </p:spPr>
        <p:txBody>
          <a:bodyPr wrap="square" lIns="73152" rIns="73152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Estimasi biaya: </a:t>
            </a:r>
            <a:r>
              <a:rPr sz="950" b="0" i="0">
                <a:solidFill>
                  <a:srgbClr val="000000"/>
                </a:solidFill>
                <a:latin typeface="Arial"/>
              </a:rPr>
              <a:t>estimasi independen dari data historis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246120"/>
            <a:ext cx="3566160" cy="457200"/>
          </a:xfrm>
          <a:prstGeom prst="rect">
            <a:avLst/>
          </a:prstGeom>
          <a:solidFill>
            <a:srgbClr val="E6ECFD"/>
          </a:solidFill>
        </p:spPr>
        <p:txBody>
          <a:bodyPr wrap="square" lIns="73152" rIns="73152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Piutang dan pembayaran: </a:t>
            </a:r>
            <a:r>
              <a:rPr sz="950" b="0" i="0">
                <a:solidFill>
                  <a:srgbClr val="000000"/>
                </a:solidFill>
                <a:latin typeface="Arial"/>
              </a:rPr>
              <a:t>faktur, keterlambatan, rekonsiliasi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749039"/>
            <a:ext cx="3566160" cy="457200"/>
          </a:xfrm>
          <a:prstGeom prst="rect">
            <a:avLst/>
          </a:prstGeom>
          <a:solidFill>
            <a:srgbClr val="E6ECFD"/>
          </a:solidFill>
        </p:spPr>
        <p:txBody>
          <a:bodyPr wrap="square" lIns="73152" rIns="73152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Jadwal dan kemajuan: </a:t>
            </a:r>
            <a:r>
              <a:rPr sz="950" b="0" i="0">
                <a:solidFill>
                  <a:srgbClr val="000000"/>
                </a:solidFill>
                <a:latin typeface="Arial"/>
              </a:rPr>
              <a:t>kemajuan fisik, dampak ke margin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251959"/>
            <a:ext cx="3566160" cy="457200"/>
          </a:xfrm>
          <a:prstGeom prst="rect">
            <a:avLst/>
          </a:prstGeom>
          <a:solidFill>
            <a:srgbClr val="E6ECFD"/>
          </a:solidFill>
        </p:spPr>
        <p:txBody>
          <a:bodyPr wrap="square" lIns="73152" rIns="73152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Pengadaan dan pemasok: </a:t>
            </a:r>
            <a:r>
              <a:rPr sz="950" b="0" i="0">
                <a:solidFill>
                  <a:srgbClr val="000000"/>
                </a:solidFill>
                <a:latin typeface="Arial"/>
              </a:rPr>
              <a:t>harga pasar, risiko pemasok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846320"/>
            <a:ext cx="356616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Human in the loop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17136" y="5111496"/>
            <a:ext cx="352958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4480560" y="5138928"/>
            <a:ext cx="3566160" cy="11887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L0 informasikan · L1 rekomendasikan · L2 siapkan draf · L3 laksanakan dalam batas</a:t>
            </a:r>
          </a:p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Keputusan material selalu disetujui manusia; setiap rekomendasi mengutip sumber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1371600"/>
            <a:ext cx="341071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MVP tiga bulan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357615" y="1636776"/>
            <a:ext cx="3374137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8321040" y="1719072"/>
          <a:ext cx="3410711" cy="153619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45269"/>
                <a:gridCol w="276544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Bulan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Fokus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Fondasi dan integrasi data baca-saja dengan ERP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Enam agen prioritas dibangun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Integrasi, percontohan 2–3 proyek, go-live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Rectangle 35"/>
          <p:cNvSpPr/>
          <p:nvPr/>
        </p:nvSpPr>
        <p:spPr>
          <a:xfrm>
            <a:off x="8321040" y="3429000"/>
            <a:ext cx="1645920" cy="8686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21040" y="3429000"/>
            <a:ext cx="64008" cy="8686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58200" y="3465576"/>
            <a:ext cx="146304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2251FF"/>
                </a:solidFill>
                <a:latin typeface="Arial"/>
              </a:rPr>
              <a:t>14 + 6–8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3729736"/>
            <a:ext cx="1463040" cy="54965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tim teknis + pakar bisnis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85832" y="3429000"/>
            <a:ext cx="1645920" cy="8686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085832" y="3429000"/>
            <a:ext cx="64008" cy="8686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22992" y="3465576"/>
            <a:ext cx="146304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2251FF"/>
                </a:solidFill>
                <a:latin typeface="Arial"/>
              </a:rPr>
              <a:t>≈ Hari 120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22992" y="3729736"/>
            <a:ext cx="1463040" cy="54965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percontohan beroperasi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4434840"/>
            <a:ext cx="341071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Peningkatan skala: GPU per fase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357615" y="4700016"/>
            <a:ext cx="3374137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46" name="Chart 45"/>
          <p:cNvGraphicFramePr>
            <a:graphicFrameLocks noGrp="1"/>
          </p:cNvGraphicFramePr>
          <p:nvPr/>
        </p:nvGraphicFramePr>
        <p:xfrm>
          <a:off x="8229600" y="4709160"/>
          <a:ext cx="3566160" cy="1600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BAB 13 · TATA KELOLA, ORGANISASI, DAN HAK KEPUTUSAN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Mulai dengan unit Industri Strategis (NITO) di tingkat BPI, dan putuskan posisi formal berdasarkan bukti terukur, bukan sebaliknya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(v2), Bab 13 (D2, D3). Waktu penyelesaian hambatan adalah target internal, bukan tenggat hukum; persetujuan tidak pernah otomatis.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85216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Empat opsi organisasi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581558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19072"/>
          <a:ext cx="5852160" cy="2514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7360"/>
                <a:gridCol w="2743200"/>
                <a:gridCol w="137160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Opsi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Inti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Penilaian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A  Perkuat CTO dan DDMF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Cepat; memakai fungsi ada; terbatas pada proyek pengembangan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Pelengkap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251FF"/>
                          </a:solidFill>
                          <a:latin typeface="Arial"/>
                        </a:rPr>
                        <a:t>B  Unit Industri Strategis di BPI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251FF"/>
                          </a:solidFill>
                          <a:latin typeface="Arial"/>
                        </a:rPr>
                        <a:t>Mengintegrasikan 40 proyek lintas lini; satu pemilik portofolio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251FF"/>
                          </a:solidFill>
                          <a:latin typeface="Arial"/>
                        </a:rPr>
                        <a:t>Didahulukan; uji 90 hari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C  Wakil Kepala formal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Koordinasi senior; perlu kepastian hukum jabatan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Tinjau bulan ke-12+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D  Holding/badan baru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Untuk kepemilikan platform khusus; pengalihan aset rumit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Hanya bila kriteria terpenuhi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4389120"/>
            <a:ext cx="585216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Struktur unit (penugasan awal)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3776" y="4654296"/>
            <a:ext cx="581558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2" name="Rectangle 11"/>
          <p:cNvSpPr/>
          <p:nvPr/>
        </p:nvSpPr>
        <p:spPr>
          <a:xfrm>
            <a:off x="457200" y="4709160"/>
            <a:ext cx="5852160" cy="4572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5852160" cy="4572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Kepala Industri Strategis dan Pelaksanaan Proyek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230368"/>
            <a:ext cx="1883664" cy="50292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230368"/>
            <a:ext cx="1883664" cy="5029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51C5C"/>
                </a:solidFill>
                <a:latin typeface="Arial"/>
              </a:rPr>
              <a:t>MD Portofolio dan Pelaksanaan Proyek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41448" y="5230368"/>
            <a:ext cx="1883664" cy="50292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41448" y="5230368"/>
            <a:ext cx="1883664" cy="5029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51C5C"/>
                </a:solidFill>
                <a:latin typeface="Arial"/>
              </a:rPr>
              <a:t>MD Pengembangan Industri Strategis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25696" y="5230368"/>
            <a:ext cx="1883664" cy="50292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5696" y="5230368"/>
            <a:ext cx="1883664" cy="5029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51C5C"/>
                </a:solidFill>
                <a:latin typeface="Arial"/>
              </a:rPr>
              <a:t>MD Rekayasa dan Pelaksanaan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97296"/>
            <a:ext cx="5852160" cy="36576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797296"/>
            <a:ext cx="5852160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Empat pimpinan klaster: mineral · energi/infra · pertahanan/maritim · manufaktur lain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371600"/>
            <a:ext cx="514807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Hak keputusan: unit menyiapkan, organ berwenang memutuskan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620256" y="1636776"/>
            <a:ext cx="511149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583680" y="1719072"/>
          <a:ext cx="5148071" cy="241401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70877"/>
                <a:gridCol w="1838597"/>
                <a:gridCol w="1838597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Keputusan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Pemutus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Peran unit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Prioritas portofolio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Kepala Badan Pelaksana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Integrasi, tunjukkan konflik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Investasi perusahaan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Direksi/RUPS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Uji kesiapan; bukan persetujuan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Pinjaman/agunan BPI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Presiden + Dewan Pengawas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Siapkan paket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Kontrak konstruksi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Organ perusahaan pelaksana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Kaji; direktur proyek mengendalikan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HKI dan standar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Perjanjian; otoritas negara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Rundingkan strategi HKI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583680" y="4297680"/>
            <a:ext cx="514807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Penyelesaian hambatan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620256" y="4562856"/>
            <a:ext cx="511149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6583680" y="4645152"/>
            <a:ext cx="1149857" cy="56692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645152"/>
            <a:ext cx="1149857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Triase 2 hari kerja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770113" y="4855464"/>
            <a:ext cx="10972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16418" y="4645152"/>
            <a:ext cx="1149857" cy="566928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16418" y="4645152"/>
            <a:ext cx="1149857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Rencana 5 hari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102852" y="4855464"/>
            <a:ext cx="10972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49156" y="4645152"/>
            <a:ext cx="1149857" cy="56692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49156" y="4645152"/>
            <a:ext cx="1149857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Kajian lengkap 15 hari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10435590" y="4855464"/>
            <a:ext cx="10972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581894" y="4645152"/>
            <a:ext cx="1149857" cy="566928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81894" y="4645152"/>
            <a:ext cx="1149857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Eskalasi ke Kepala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321808"/>
            <a:ext cx="5148072" cy="9601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PP 19/2026 tidak membentuk jabatan Wakil Kepala; pengangkatan anggota oleh Presiden</a:t>
            </a:r>
          </a:p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Risiko, Hukum, dan Audit tidak melapor kepada pengusul proyek</a:t>
            </a:r>
          </a:p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Pelajaran: SASAC/SDIC, Vietnam CMSC (dibubarkan 2025), India PRAGATI, Khazanah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BAB 14 · MANAJEMEN DAN PENGUKURAN KINERJA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Tiga scorecard (40/35/25) dengan gerbang tata kelola, ditambah indikator kapabilitas platform, pemisahan lima tahap modal, dan pengendalian penghitungan ganda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(v2), Bab 14 (D1, D7, D10–D13). Bobot 40/35/25 mencerminkan ketersediaan data awal; jalur transisi perlu diterbitkan.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41148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Tiga scorecard + gerbang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40782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645920"/>
          <a:ext cx="4297680" cy="1737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429000"/>
            <a:ext cx="4114800" cy="14630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Gerbang tata kelola (6 pengendalian): lulus/gagal</a:t>
            </a:r>
          </a:p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Skor 0/80/100 dengan interpolasi; cakupan ≥ 80% per aliran</a:t>
            </a:r>
          </a:p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Tidak tersedia = NR, bukan nol; hanya bukti kelas A/B dinilai</a:t>
            </a:r>
          </a:p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Belum ada skor agregat saat 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41148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Lima tahap modal, dilaporkan terpisah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3776" y="5111496"/>
            <a:ext cx="40782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457200" y="5212080"/>
            <a:ext cx="705916" cy="59436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212080"/>
            <a:ext cx="705916" cy="59436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Dihimpun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199692" y="5436108"/>
            <a:ext cx="73152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09420" y="5212080"/>
            <a:ext cx="705916" cy="59436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09420" y="5212080"/>
            <a:ext cx="705916" cy="59436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Komit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051913" y="5436108"/>
            <a:ext cx="73152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61641" y="5212080"/>
            <a:ext cx="705916" cy="59436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61641" y="5212080"/>
            <a:ext cx="705916" cy="59436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Cair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904134" y="5436108"/>
            <a:ext cx="73152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13862" y="5212080"/>
            <a:ext cx="705916" cy="59436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3862" y="5212080"/>
            <a:ext cx="705916" cy="59436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Bangun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756355" y="5436108"/>
            <a:ext cx="73152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66083" y="5212080"/>
            <a:ext cx="705916" cy="59436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66083" y="5212080"/>
            <a:ext cx="705916" cy="59436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Operasi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852160"/>
            <a:ext cx="4114800" cy="4572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Menghimpun dana dan belanja bukan laba; tahap lanjut tidak disimpulkan dari tahap awal.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1371600"/>
            <a:ext cx="338328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Indikator kapabilitas platform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882896" y="1636776"/>
            <a:ext cx="334670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4846320" y="1719072"/>
          <a:ext cx="3383280" cy="230428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54480"/>
                <a:gridCol w="1828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Indikator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Ukuran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Pemasok per gerbang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UKM Masuk–G4 dan perpindahan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Nilai tambah dalam negeri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Porsi pada paket jangkar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Produktivitas pemasok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Nilai tambah riil per FTE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Paritas biaya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Harga lokal / impor landed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Pesanan ulang dan ekspor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Di luar program asal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4846320" y="4114800"/>
            <a:ext cx="338328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Pengendalian penghitungan ganda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882896" y="4379976"/>
            <a:ext cx="334670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4846320" y="4434840"/>
            <a:ext cx="3383280" cy="18288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Jembatan NAV: awal + modal + hasil − distribusi = akhir</a:t>
            </a:r>
          </a:p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Eliminasi konsolidasi laba BUMN vs dividen</a:t>
            </a:r>
          </a:p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Pisahkan mobilisasi langsung (TPDM), berikutnya (PPDM), tidak langsung (PIM)</a:t>
            </a:r>
          </a:p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Pekerjaan: rentang bawah-atas vs turunan-PDB, tanpa pengalihan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1371600"/>
            <a:ext cx="322783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Pemicu makro (di luar skor)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540496" y="1636776"/>
            <a:ext cx="319125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8503920" y="1719072"/>
          <a:ext cx="3227831" cy="268833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83356"/>
                <a:gridCol w="1844475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Indikator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Pemicu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Pertumbuhan PDB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&lt; 6% setelah 2027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ICOR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&gt; 5,0 pada 2028 (jalur ≈ 4,2)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Transaksi berjalan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&gt; 2,5% PDB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Inflasi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&gt; 3,5% bertahan; merah &gt; 4,0%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Pipeline penerus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Belum ada pada 2030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Identitas register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100% pada Hari ke-45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8503920" y="4572000"/>
            <a:ext cx="322783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15 KPI kepemimpinan, ritme lapor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540496" y="4837176"/>
            <a:ext cx="319125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8503920" y="4892040"/>
            <a:ext cx="3227832" cy="13716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00" b="0" i="0">
                <a:solidFill>
                  <a:srgbClr val="000000"/>
                </a:solidFill>
                <a:latin typeface="Arial"/>
              </a:rPr>
              <a:t>Contoh: mutu register, waktu keputusan, cakupan bukti ≥ 80%, pemasok ≥ G2</a:t>
            </a:r>
          </a:p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00" b="0" i="0">
                <a:solidFill>
                  <a:srgbClr val="000000"/>
                </a:solidFill>
                <a:latin typeface="Arial"/>
              </a:rPr>
              <a:t>Bulanan: likuiditas, konstruksi</a:t>
            </a:r>
          </a:p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00" b="0" i="0">
                <a:solidFill>
                  <a:srgbClr val="000000"/>
                </a:solidFill>
                <a:latin typeface="Arial"/>
              </a:rPr>
              <a:t>Triwulanan: imbal hasil, gerbang DOCK-UP</a:t>
            </a:r>
          </a:p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00" b="0" i="0">
                <a:solidFill>
                  <a:srgbClr val="000000"/>
                </a:solidFill>
                <a:latin typeface="Arial"/>
              </a:rPr>
              <a:t>Tahunan: laporan teraudit dan portofolio publik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BAB 15 · RISIKO UTAMA DAN MITIGASINYA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Dari 24 risiko, 16 berdampak tinggi; tiga paling mendesak (kemungkinan dan dampak tinggi) adalah valuasi berlebih, penularan BUMN Karya, dan register tak teruji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(v2), Bab 15, Tabel 53–54. Peringkat kualitatif atas kemungkinan (K) dan dampak (D) dalam 24 bulan; nomor risiko merujuk Tabel 53.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448056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Peta risiko: nomor risiko per sel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444398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1325880" y="1691640"/>
            <a:ext cx="1188720" cy="2286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Dampak rendah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691640"/>
            <a:ext cx="1188720" cy="2286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Dampak sedang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691640"/>
            <a:ext cx="1188720" cy="2286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Dampak tinggi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57400"/>
            <a:ext cx="86868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Kemungk.
tinggi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86868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Kemungk.
sedang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43400"/>
            <a:ext cx="86868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Kemungk.
rendah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21607" y="2075688"/>
            <a:ext cx="1152144" cy="1106424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21607" y="2075688"/>
            <a:ext cx="1152144" cy="11064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6 · 9 · 23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32888" y="2075688"/>
            <a:ext cx="1152144" cy="110642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32888" y="2075688"/>
            <a:ext cx="1152144" cy="11064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13 · 14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44168" y="2075688"/>
            <a:ext cx="1152144" cy="110642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44168" y="2075688"/>
            <a:ext cx="1152144" cy="11064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21607" y="3218688"/>
            <a:ext cx="1152144" cy="110642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7" y="3218688"/>
            <a:ext cx="1152144" cy="11064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 · 3 · 4 · 5 · 12 · 15 · 16 · 18 · 20 · 21 · 22 · 24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32888" y="3218688"/>
            <a:ext cx="1152144" cy="1106424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32888" y="3218688"/>
            <a:ext cx="1152144" cy="11064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2 · 7 · 10 · 11 · 17 · 19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44168" y="3218688"/>
            <a:ext cx="1152144" cy="110642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4168" y="3218688"/>
            <a:ext cx="1152144" cy="11064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21607" y="4361688"/>
            <a:ext cx="1152144" cy="1106424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21607" y="4361688"/>
            <a:ext cx="1152144" cy="11064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32888" y="4361688"/>
            <a:ext cx="1152144" cy="110642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32888" y="4361688"/>
            <a:ext cx="1152144" cy="11064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44168" y="4361688"/>
            <a:ext cx="1152144" cy="110642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44168" y="4361688"/>
            <a:ext cx="1152144" cy="11064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577840"/>
            <a:ext cx="4480560" cy="6858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Isu lintas risiko: </a:t>
            </a:r>
            <a:r>
              <a:rPr sz="950" b="0" i="0">
                <a:solidFill>
                  <a:srgbClr val="000000"/>
                </a:solidFill>
                <a:latin typeface="Arial"/>
              </a:rPr>
              <a:t>risiko 1 (kuota alih-alih gerbang), 3 (dominasi pengusul), dan 18 (integritas DOCK-UP) dikendalikan oleh gerbang dan independensi fungsi risiko, hukum, audit.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1371600"/>
            <a:ext cx="651967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Risiko dengan dampak tinggi dan pengendalian utama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248656" y="1636776"/>
            <a:ext cx="648309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5212080" y="1719072"/>
          <a:ext cx="6519670" cy="450799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13218"/>
                <a:gridCol w="2387485"/>
                <a:gridCol w="3213922"/>
                <a:gridCol w="505045"/>
              </a:tblGrid>
              <a:tr h="26517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Risiko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Mitigasi utama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K/D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Valuasi dilebih-lebihkan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Hanya cadangan terbukti + terkira; penilai independen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T/T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Penularan BUMN Karya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Uji stres grup; pisahkan aset warisan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T/T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Register 40 proyek tak teruji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Rencana bukti 90 hari; identitas 100%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T/T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Kuota alih-alih gerbang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Gerbang dalam kontrak; asesor independen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S/T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Dominasi pengusul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Lini risiko/hukum independen; dissent dicatat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S/T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Kewajiban fiskal tersembunyi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Klasifikasi berbasis substansi; register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S/T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Gugatan hak SDA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Kajian hukum sebelum penerbitan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S/T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Penyalahgunaan label strategis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Kriteria masuk; disiplin exit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S/T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Peringkat negara dan ruang fiskal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Dialog dini dengan Kemenkeu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S/T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Tumpang tindih mandat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Surat mandat; pisahkan pemilik–pengelola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S/T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Integritas DOCK-UP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Asesor independen, rotasi, jejak audit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S/T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Penurunan investasi 2032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Pipeline penerus; perpanjang linimasa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S/T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Tekanan impor, transaksi berjalan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Pemicu 2,5% PDB; jadwal ulang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S/T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Inflasi dari NRF/puncak konstruksi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Pemantau; pengaman dalam piagam NRF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S/T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Paksa bank BUMN biayai greenfield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Portofolio ganda; SPV ring-fenced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S/T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Teknologi dan siber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Audit independen; HSM; ledger cadangan fiat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R/T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BAB 16 · PETA JALAN TERINTEGRASI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Delapan alur kerja dalam empat fase: setiap perluasan bersyarat pada bukti dari titik keputusan sebelumnya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(v2), Bab 16. Hari ke-0 = persetujuan prinsip model platform; seluruh jadwal usulan dan menunggu keputusan organ berwenang.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17320"/>
          <a:ext cx="11274549" cy="427939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66608"/>
                <a:gridCol w="2749890"/>
                <a:gridCol w="2658227"/>
                <a:gridCol w="2291575"/>
                <a:gridCol w="2108249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Alur kerja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0–90 hari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4–12 bulan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12–24 bulan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&gt; 24 bulan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1 Tata kelola, unit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Persetujuan Hari 0; piagam; desain dikonfirmasi Hari 90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Perluas unit; tinjau jabatan formal ≥ bulan 12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Putuskan struktur permanen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Opsi holding bila kriteria terpenuhi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2 Register, scorecard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Register terekonsiliasi; identitas 100% Hari 45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Dasbor pertama; scorecard triwulanan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Laporan portofolio tahunan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Evaluasi proyek selesai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3 DOCK-UP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Gerbang dan desain uji coba Hari 60; asesor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Uji coba bulan 4; pesanan G1 bulan 10–11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Integrator kedua; pemasok G2–G3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Model standar DEFEND ID, proyek jangkar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4 Proyek jangkar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Identifikasi; daftar panjang paket lokal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Rencana lokalisasi di P2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Kontrak kerangka P3/P4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Nilai tambah terverifikasi P6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5 NRF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Usulan ke Pemerintah Hari 90; MVP pemantau inflasi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Tahap 0 (hak, valuasi, fiskal) → percontohan Tahap 1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Tahap 2: mineral, jendela industri/DOCK-UP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Tahap 3: dana matang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6 Tokenisasi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Penuhi enam prasyarat; term sheet koreksi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Fase 1 US$150 juta di sandbox OJK (≥ Tw I 2027)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Keputusan Fase 2; surat tagihan rupiah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Fase 3 setelah izin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7 BUMN Karya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Diagnostik teraudit Hari 30–90; disiplin tawar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Pisahkan aset warisan; lindungi kas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Keputusan struktur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Laba ekonomi berkelanjutan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8 Platform AI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MVP mulai Hari 30; 6 agen; percontohan ~Hari 120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Fase 2: 2–3 BUMN, 20–50 proyek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Fase 3: semua BUMN Karya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Fase 4: nasional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806440"/>
            <a:ext cx="112745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Titik keputusan kunci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3776" y="6071616"/>
            <a:ext cx="1123797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457200" y="6053328"/>
            <a:ext cx="11274552" cy="3200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51C5C"/>
                </a:solidFill>
                <a:latin typeface="Arial"/>
              </a:rPr>
              <a:t>Hari 90: desain unit · Bulan 6: perluasan AI · Bulan 12: jabatan formal · Bulan 12–15: integrator kedua · Sebelum penyaluran NRF: baseline inflasi + ambang BI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BAB 17 · REKOMENDASI PER PEMANGKU KEPENTINGAN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Setiap pemangku kepentingan diminta tindakan spesifik: Danantara memutuskan yang berada dalam kewenangannya, regulator dimintai pertimbangan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(v2), Bab 17. Usulan untuk Pemerintah dan regulator adalah untuk pertimbangan, bukan keputusan Danantara.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23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17320"/>
          <a:ext cx="5532120" cy="409651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71600"/>
                <a:gridCol w="416052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Pemangku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Tindakan yang direkomendasikan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Pemerintah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Kaji NRF (hukum, valuasi, fiskal) lebih dahulu; uji substitusi pembiayaan domestik; pengaman inflasi dalam piagam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Kementerian Keuangan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Klasifikasi instrumen berdasarkan substansi; proses persetujuan pengalihan tagihan ke escrow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Dewan Pengawas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Setujui tiga scorecard, NR, dan gerbang; pisahkan portofolio Alpha/Impact; pantau uji unit 90 hari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Kepala Badan Pelaksana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Bentuk unit (NITO); sahkan register 40 proyek; jaga independensi risiko, hukum, audit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DAM / COO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Luncurkan diagnostik BUMN Karya dan pisah aset warisan; sponsori MVP AI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DIM / CIO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Metodologi imbal hasil; PALCapital hanya setelah 6 prasyarat; SPV ring-fenced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DDMF / CTO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Business case finansial + ekonomi; crosswalk register; dampak PDB, kerja, impor, ICOR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99632" y="1417320"/>
          <a:ext cx="5532118" cy="409651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63039"/>
                <a:gridCol w="4069079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Pemangku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Tindakan yang direkomendasikan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Kemhan dan KKIP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Jadikan DOCK-UP model standar; gerbang dalam kontrak kerangka dan ofset; dukung escrow tonggak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OJK dan Bank Indonesia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Percontohan di sandbox IKD; perlakuan surat tagihan; kerangka pantau inflasi; larangan pembelian BI di pasar perdana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Integrator (PT PAL, DEFEND ID)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Terbitkan rencana lokalisasi; pesan hanya berdasarkan gerbang terverifikasi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BUMN Karya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Disiplin tawar dan perlindungan kas; kode biaya dan percontohan AI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Bank, LPEI, penjamin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Kaitkan KUR, kredit, ekspor dengan gerbang; rancang first-loss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UKM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Masuk register kesiapan; ikuti rencana menuju G1–G4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BKI, lab uji, kampus, BRIN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Bentuk kumpulan asesor independen; dukung TRL dan sertifikasi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852160"/>
            <a:ext cx="11274552" cy="457200"/>
          </a:xfrm>
          <a:prstGeom prst="rect">
            <a:avLst/>
          </a:prstGeom>
          <a:solidFill>
            <a:srgbClr val="051C5C"/>
          </a:solidFill>
        </p:spPr>
        <p:txBody>
          <a:bodyPr wrap="square" lIns="137160" rIns="137160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Penutup: </a:t>
            </a:r>
            <a:r>
              <a:rPr sz="1050" b="0" i="0">
                <a:solidFill>
                  <a:srgbClr val="FFFFFF"/>
                </a:solidFill>
                <a:latin typeface="Arial"/>
              </a:rPr>
              <a:t>Danantara tidak butuh lebih banyak pengumuman; Danantara butuh mekanisme yang mengubah modal menjadi kapabilitas, pembiayaan yang jujur pada substansi, dan bukti hasil.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LAMPIRAN A–E · KAMUS METRIK, KETIDAKSESUAIAN, PERHITUNGAN, GLOSARIUM, REFERENSI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Lampiran membuat kajian dapat diaudit: 39 metrik terdefinisi, 31 ketidaksesuaian sumber dicatat, dan setiap perhitungan dapat diulang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(v2), Lampiran A–E.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02920" cy="6400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50292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1417320"/>
            <a:ext cx="5120640" cy="6400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417320"/>
            <a:ext cx="502920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251FF"/>
                </a:solidFill>
                <a:latin typeface="Arial"/>
              </a:rPr>
              <a:t>Kamus metrik. </a:t>
            </a:r>
            <a:r>
              <a:rPr sz="900" b="0" i="0">
                <a:solidFill>
                  <a:srgbClr val="000000"/>
                </a:solidFill>
                <a:latin typeface="Arial"/>
              </a:rPr>
              <a:t>39 metrik hasil dalam tiga scorecard: I01–I12 investasi, O01–O15 operasi BUMN, D01–D12 pembangunan. Tiap metrik punya definisi, bukti, dan batasan; ambang perlu persetujuan.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30552"/>
            <a:ext cx="502920" cy="6400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130552"/>
            <a:ext cx="50292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2130552"/>
            <a:ext cx="5120640" cy="6400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130552"/>
            <a:ext cx="502920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251FF"/>
                </a:solidFill>
                <a:latin typeface="Arial"/>
              </a:rPr>
              <a:t>Ketidaksesuaian sumber. </a:t>
            </a:r>
            <a:r>
              <a:rPr sz="900" b="0" i="0">
                <a:solidFill>
                  <a:srgbClr val="000000"/>
                </a:solidFill>
                <a:latin typeface="Arial"/>
              </a:rPr>
              <a:t>31 temuan, tidak ada yang diselesaikan dengan asumsi. Contoh: total 40 proyek Rp2.091,46 T vs Rp2.072,53 T; label SDA 10,86% vs 10,68%; D6 "bukan utang" vs "surat utang".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43784"/>
            <a:ext cx="502920" cy="6400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843784"/>
            <a:ext cx="50292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2843784"/>
            <a:ext cx="5120640" cy="6400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843784"/>
            <a:ext cx="502920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251FF"/>
                </a:solidFill>
                <a:latin typeface="Arial"/>
              </a:rPr>
              <a:t>Perhitungan. </a:t>
            </a:r>
            <a:r>
              <a:rPr sz="900" b="0" i="0">
                <a:solidFill>
                  <a:srgbClr val="000000"/>
                </a:solidFill>
                <a:latin typeface="Arial"/>
              </a:rPr>
              <a:t>Setiap angka turunan dapat diulang dari input sumber; kelas D ditandai ilustratif.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57016"/>
            <a:ext cx="502920" cy="6400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557016"/>
            <a:ext cx="50292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3557016"/>
            <a:ext cx="5120640" cy="6400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557016"/>
            <a:ext cx="502920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251FF"/>
                </a:solidFill>
                <a:latin typeface="Arial"/>
              </a:rPr>
              <a:t>Glosarium. </a:t>
            </a:r>
            <a:r>
              <a:rPr sz="900" b="0" i="0">
                <a:solidFill>
                  <a:srgbClr val="000000"/>
                </a:solidFill>
                <a:latin typeface="Arial"/>
              </a:rPr>
              <a:t>Istilah: TRL/MRL, DOCK-UP, NITO, NRF, SPV, ICOR, TPDM/PPDM/PIM, NR, dan lainnya.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70248"/>
            <a:ext cx="502920" cy="6400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270248"/>
            <a:ext cx="50292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" y="4270248"/>
            <a:ext cx="5120640" cy="6400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270248"/>
            <a:ext cx="502920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251FF"/>
                </a:solidFill>
                <a:latin typeface="Arial"/>
              </a:rPr>
              <a:t>Referensi. </a:t>
            </a:r>
            <a:r>
              <a:rPr sz="900" b="0" i="0">
                <a:solidFill>
                  <a:srgbClr val="000000"/>
                </a:solidFill>
                <a:latin typeface="Arial"/>
              </a:rPr>
              <a:t>Dikutip melalui D1 (kajian kinerja), D2 (tata kelola), D7 (rujukan web WEB01–WEB32), dan D11.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371600"/>
            <a:ext cx="53309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Contoh perhitungan yang direkonsiliasi (Lampiran C)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37376" y="1636776"/>
            <a:ext cx="529437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400800" y="1719072"/>
          <a:ext cx="5330951" cy="378561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22085"/>
                <a:gridCol w="2113998"/>
                <a:gridCol w="1194868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Butir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Perhitungan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Hasil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Imbal hasil tertimbang surat utang DIM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(750×5,35% + 750×5,95%) / 1.500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5,65%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Kelebihan permintaan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4,6 / 1,5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≈ 3,07×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Porsi bersama CA–EDC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200 / 800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Selisih 40 proyek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2.091,46 − 2.072,53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Rp18,93 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Slot bernama vs headline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604,97 / 2.091,46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28,9%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Total tranche PAL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40 + 45 + 40 + 25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US$150 juta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Alokasi strategis 5 tahun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7 × 5 × 16.500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Rp578 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Ekuitas / utang 30:70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30% dan 70% × 2.091,46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Rp627 T / Rp1.464 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457200" y="5166360"/>
            <a:ext cx="5623560" cy="822960"/>
          </a:xfrm>
          <a:prstGeom prst="rect">
            <a:avLst/>
          </a:prstGeom>
          <a:solidFill>
            <a:srgbClr val="051C5C"/>
          </a:solidFill>
        </p:spPr>
        <p:txBody>
          <a:bodyPr wrap="square" lIns="137160" rIns="137160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Aturan: </a:t>
            </a:r>
            <a:r>
              <a:rPr sz="1050" b="0" i="0">
                <a:solidFill>
                  <a:srgbClr val="FFFFFF"/>
                </a:solidFill>
                <a:latin typeface="Arial"/>
              </a:rPr>
              <a:t>setiap ketidaksesuaian dikoreksi pemilik data sebelum angkanya dipakai untuk keputusan; tidak ada yang diselesaikan dengan asumsi.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