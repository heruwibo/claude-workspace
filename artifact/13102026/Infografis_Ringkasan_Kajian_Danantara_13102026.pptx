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130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PDB kumulatif</c:v>
                </c:pt>
              </c:strCache>
            </c:strRef>
          </c:tx>
          <c:spPr>
            <a:solidFill>
              <a:srgbClr val="0B57C2"/>
            </a:solidFill>
            <a:effectLst/>
          </c:spPr>
          <c:invertIfNegative val="0"/>
          <c:dLbls>
            <c:numFmt formatCode="[&gt;=1000]#&quot;.&quot;###;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A0A0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SDA/Mineral</c:v>
                </c:pt>
                <c:pt idx="1">
                  <c:v>Infrastruktur</c:v>
                </c:pt>
                <c:pt idx="2">
                  <c:v>Pertahanan</c:v>
                </c:pt>
                <c:pt idx="3">
                  <c:v>Lainnya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443</c:v>
                </c:pt>
                <c:pt idx="1">
                  <c:v>1169</c:v>
                </c:pt>
                <c:pt idx="2">
                  <c:v>137</c:v>
                </c:pt>
                <c:pt idx="3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CD-4334-AE49-DBCE5C3D34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A0A0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5103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20.png"/><Relationship Id="rId21" Type="http://schemas.openxmlformats.org/officeDocument/2006/relationships/image" Target="../media/image35.png"/><Relationship Id="rId7" Type="http://schemas.openxmlformats.org/officeDocument/2006/relationships/image" Target="../media/image1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5.png"/><Relationship Id="rId5" Type="http://schemas.openxmlformats.org/officeDocument/2006/relationships/image" Target="../media/image21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chart" Target="../charts/chart1.xml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56032"/>
            <a:ext cx="9317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Danantara</a:t>
            </a:r>
            <a:r>
              <a:rPr lang="en-US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:Dari </a:t>
            </a:r>
            <a:r>
              <a:rPr lang="en-US" b="1" dirty="0" err="1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Konsolidasi</a:t>
            </a:r>
            <a:r>
              <a:rPr lang="en-US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Aset </a:t>
            </a:r>
            <a:r>
              <a:rPr lang="en-US" b="1" dirty="0" err="1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Menjadi</a:t>
            </a:r>
            <a:r>
              <a:rPr lang="en-US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Platform </a:t>
            </a:r>
            <a:r>
              <a:rPr lang="en-US" b="1" dirty="0" err="1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Kapabilitas</a:t>
            </a:r>
            <a:r>
              <a:rPr lang="en-US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Industri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13232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Kondisi saat ini · 40 proyek strategis · NRF dan tokenisasi Sovereignty Project · DOCK-UP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02368" y="274320"/>
            <a:ext cx="566928" cy="5669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802368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E3EDFB"/>
          </a:solidFill>
          <a:ln w="9525">
            <a:solidFill>
              <a:srgbClr val="E3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9768" y="1207008"/>
            <a:ext cx="384048" cy="38404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59" y="1291499"/>
            <a:ext cx="215067" cy="215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05256" y="122529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Kondisi Danantara saat ini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" y="1682496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21208" y="173736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US$600 miliar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21208" y="20116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 awal; target kapasitas ~US$982 miliar (≈Rp15.000 T)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331720" y="1682496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2423160" y="173736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US$14 miliar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423160" y="20116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 investasi 2026: 50% pasar publik, 50% sektor riil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29768" y="246888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21208" y="252374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US$1,5 miliar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21208" y="2798064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Surat utang DIM Juni 2026; imbal hasil 5,65%, permintaan ~3,07×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2331720" y="246888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2423160" y="252374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Rp28 T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2423160" y="2798064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kerugian 2025 empat BUMN Karya; anggaran infra turun ~45%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429768" y="327355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A0A0A"/>
          </a:solidFill>
          <a:ln w="9525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429768" y="327355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BPI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Badan Pelaksana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1389888" y="3273552"/>
            <a:ext cx="85953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1389888" y="327355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 · COO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Kelola BUMN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2304288" y="3273552"/>
            <a:ext cx="85953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2304288" y="327355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 · CIO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Investasi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3218688" y="3273552"/>
            <a:ext cx="85953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3218688" y="327355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DDMF · CTO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pembangunan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429768" y="3803904"/>
            <a:ext cx="3712464" cy="347472"/>
          </a:xfrm>
          <a:prstGeom prst="roundRect">
            <a:avLst>
              <a:gd name="adj" fmla="val 13158"/>
            </a:avLst>
          </a:prstGeom>
          <a:solidFill>
            <a:srgbClr val="0A0A0A"/>
          </a:solidFill>
          <a:ln w="9525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502920" y="38039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Akses pasar terbukti, tetapi imbal hasil, nilai BUMN, dan dampak industri belum dapat diukur. Mandat industrialisasi belum tampak.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4434840" y="1115568"/>
            <a:ext cx="5934456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544568" y="1207008"/>
            <a:ext cx="384048" cy="38404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059" y="1291499"/>
            <a:ext cx="215067" cy="215067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5020056" y="1225296"/>
            <a:ext cx="5248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proyek strategis · Rp2.091 T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4572000" y="1682496"/>
            <a:ext cx="769778" cy="237744"/>
          </a:xfrm>
          <a:prstGeom prst="rect">
            <a:avLst/>
          </a:prstGeom>
          <a:solidFill>
            <a:srgbClr val="062A6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4617720" y="1682496"/>
            <a:ext cx="6783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Mineral 13,6%</a:t>
            </a:r>
            <a:endParaRPr lang="en-US" sz="750" dirty="0"/>
          </a:p>
        </p:txBody>
      </p:sp>
      <p:sp>
        <p:nvSpPr>
          <p:cNvPr id="38" name="Shape 34"/>
          <p:cNvSpPr/>
          <p:nvPr/>
        </p:nvSpPr>
        <p:spPr>
          <a:xfrm>
            <a:off x="5341778" y="1682496"/>
            <a:ext cx="3447023" cy="237744"/>
          </a:xfrm>
          <a:prstGeom prst="rect">
            <a:avLst/>
          </a:prstGeom>
          <a:solidFill>
            <a:srgbClr val="0B57C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 txBox="1"/>
          <p:nvPr/>
        </p:nvSpPr>
        <p:spPr>
          <a:xfrm>
            <a:off x="5387498" y="1682496"/>
            <a:ext cx="33555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Infrastruktur 60,9%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8788801" y="1682496"/>
            <a:ext cx="220745" cy="237744"/>
          </a:xfrm>
          <a:prstGeom prst="rect">
            <a:avLst/>
          </a:prstGeom>
          <a:solidFill>
            <a:srgbClr val="0A0A0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7"/>
          <p:cNvSpPr/>
          <p:nvPr/>
        </p:nvSpPr>
        <p:spPr>
          <a:xfrm>
            <a:off x="9009547" y="1682496"/>
            <a:ext cx="1222589" cy="237744"/>
          </a:xfrm>
          <a:prstGeom prst="rect">
            <a:avLst/>
          </a:prstGeom>
          <a:solidFill>
            <a:srgbClr val="9DBC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 txBox="1"/>
          <p:nvPr/>
        </p:nvSpPr>
        <p:spPr>
          <a:xfrm>
            <a:off x="9055267" y="1682496"/>
            <a:ext cx="113114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Lainnya 21,6%</a:t>
            </a:r>
            <a:endParaRPr lang="en-US" sz="750" dirty="0"/>
          </a:p>
        </p:txBody>
      </p:sp>
      <p:sp>
        <p:nvSpPr>
          <p:cNvPr id="43" name="Text 39"/>
          <p:cNvSpPr txBox="1"/>
          <p:nvPr/>
        </p:nvSpPr>
        <p:spPr>
          <a:xfrm>
            <a:off x="7920121" y="1938528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Pertahanan 3,9%</a:t>
            </a:r>
            <a:endParaRPr lang="en-US" sz="650" dirty="0"/>
          </a:p>
        </p:txBody>
      </p:sp>
      <p:sp>
        <p:nvSpPr>
          <p:cNvPr id="44" name="Shape 40"/>
          <p:cNvSpPr/>
          <p:nvPr/>
        </p:nvSpPr>
        <p:spPr>
          <a:xfrm>
            <a:off x="4572000" y="2139696"/>
            <a:ext cx="1261872" cy="1719072"/>
          </a:xfrm>
          <a:prstGeom prst="roundRect">
            <a:avLst>
              <a:gd name="adj" fmla="val 5797"/>
            </a:avLst>
          </a:prstGeom>
          <a:solidFill>
            <a:srgbClr val="E3EDFB"/>
          </a:solidFill>
          <a:ln w="9525">
            <a:solidFill>
              <a:srgbClr val="E3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1"/>
          <p:cNvSpPr/>
          <p:nvPr/>
        </p:nvSpPr>
        <p:spPr>
          <a:xfrm>
            <a:off x="4645152" y="2212848"/>
            <a:ext cx="365760" cy="365760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619" y="2293315"/>
            <a:ext cx="204826" cy="204826"/>
          </a:xfrm>
          <a:prstGeom prst="rect">
            <a:avLst/>
          </a:prstGeom>
        </p:spPr>
      </p:pic>
      <p:sp>
        <p:nvSpPr>
          <p:cNvPr id="47" name="Text 42"/>
          <p:cNvSpPr txBox="1"/>
          <p:nvPr/>
        </p:nvSpPr>
        <p:spPr>
          <a:xfrm>
            <a:off x="5056632" y="22128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Mineral &amp; hilirisasi</a:t>
            </a:r>
            <a:endParaRPr lang="en-US" sz="850" dirty="0"/>
          </a:p>
        </p:txBody>
      </p:sp>
      <p:sp>
        <p:nvSpPr>
          <p:cNvPr id="48" name="Text 43"/>
          <p:cNvSpPr txBox="1"/>
          <p:nvPr/>
        </p:nvSpPr>
        <p:spPr>
          <a:xfrm>
            <a:off x="4645152" y="263347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Rp283,9 T</a:t>
            </a:r>
            <a:endParaRPr lang="en-US" sz="1500" dirty="0"/>
          </a:p>
        </p:txBody>
      </p:sp>
      <p:sp>
        <p:nvSpPr>
          <p:cNvPr id="49" name="Text 44"/>
          <p:cNvSpPr txBox="1"/>
          <p:nvPr/>
        </p:nvSpPr>
        <p:spPr>
          <a:xfrm>
            <a:off x="4645152" y="290779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13,6% portofolio</a:t>
            </a:r>
            <a:endParaRPr lang="en-US" sz="750" dirty="0"/>
          </a:p>
        </p:txBody>
      </p:sp>
      <p:sp>
        <p:nvSpPr>
          <p:cNvPr id="50" name="Text 45"/>
          <p:cNvSpPr txBox="1"/>
          <p:nvPr/>
        </p:nvSpPr>
        <p:spPr>
          <a:xfrm>
            <a:off x="4645152" y="3099816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Nikel HPAL, bauksit–alumina, tembaga, material baterai</a:t>
            </a:r>
            <a:endParaRPr lang="en-US" sz="750" dirty="0"/>
          </a:p>
        </p:txBody>
      </p:sp>
      <p:sp>
        <p:nvSpPr>
          <p:cNvPr id="51" name="Shape 46"/>
          <p:cNvSpPr/>
          <p:nvPr/>
        </p:nvSpPr>
        <p:spPr>
          <a:xfrm>
            <a:off x="5925312" y="2139696"/>
            <a:ext cx="1645920" cy="1719072"/>
          </a:xfrm>
          <a:prstGeom prst="roundRect">
            <a:avLst>
              <a:gd name="adj" fmla="val 4444"/>
            </a:avLst>
          </a:prstGeom>
          <a:solidFill>
            <a:srgbClr val="E3EDFB"/>
          </a:solidFill>
          <a:ln w="9525">
            <a:solidFill>
              <a:srgbClr val="E3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7"/>
          <p:cNvSpPr/>
          <p:nvPr/>
        </p:nvSpPr>
        <p:spPr>
          <a:xfrm>
            <a:off x="5998464" y="2212848"/>
            <a:ext cx="365760" cy="365760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8931" y="2293315"/>
            <a:ext cx="204826" cy="204826"/>
          </a:xfrm>
          <a:prstGeom prst="rect">
            <a:avLst/>
          </a:prstGeom>
        </p:spPr>
      </p:pic>
      <p:sp>
        <p:nvSpPr>
          <p:cNvPr id="54" name="Text 48"/>
          <p:cNvSpPr txBox="1"/>
          <p:nvPr/>
        </p:nvSpPr>
        <p:spPr>
          <a:xfrm>
            <a:off x="6409944" y="2212848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Infrastruktur</a:t>
            </a:r>
            <a:endParaRPr lang="en-US" sz="850" dirty="0"/>
          </a:p>
        </p:txBody>
      </p:sp>
      <p:sp>
        <p:nvSpPr>
          <p:cNvPr id="55" name="Text 49"/>
          <p:cNvSpPr txBox="1"/>
          <p:nvPr/>
        </p:nvSpPr>
        <p:spPr>
          <a:xfrm>
            <a:off x="5998464" y="26334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Rp1.274,6 T</a:t>
            </a:r>
            <a:endParaRPr lang="en-US" sz="1500" dirty="0"/>
          </a:p>
        </p:txBody>
      </p:sp>
      <p:sp>
        <p:nvSpPr>
          <p:cNvPr id="56" name="Text 50"/>
          <p:cNvSpPr txBox="1"/>
          <p:nvPr/>
        </p:nvSpPr>
        <p:spPr>
          <a:xfrm>
            <a:off x="5998464" y="290779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60,9% portofolio</a:t>
            </a:r>
            <a:endParaRPr lang="en-US" sz="750" dirty="0"/>
          </a:p>
        </p:txBody>
      </p:sp>
      <p:sp>
        <p:nvSpPr>
          <p:cNvPr id="57" name="Text 51"/>
          <p:cNvSpPr txBox="1"/>
          <p:nvPr/>
        </p:nvSpPr>
        <p:spPr>
          <a:xfrm>
            <a:off x="5998464" y="308152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Giant Sea Wall, energi, WtE, kota cerdas, perumahan, air</a:t>
            </a:r>
            <a:endParaRPr lang="en-US" sz="700" dirty="0"/>
          </a:p>
        </p:txBody>
      </p:sp>
      <p:sp>
        <p:nvSpPr>
          <p:cNvPr id="58" name="Shape 52"/>
          <p:cNvSpPr/>
          <p:nvPr/>
        </p:nvSpPr>
        <p:spPr>
          <a:xfrm>
            <a:off x="5980176" y="3364992"/>
            <a:ext cx="1536192" cy="457200"/>
          </a:xfrm>
          <a:prstGeom prst="roundRect">
            <a:avLst>
              <a:gd name="adj" fmla="val 10000"/>
            </a:avLst>
          </a:prstGeom>
          <a:solidFill>
            <a:srgbClr val="0A0A0A"/>
          </a:solidFill>
          <a:ln w="9525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3"/>
          <p:cNvSpPr/>
          <p:nvPr/>
        </p:nvSpPr>
        <p:spPr>
          <a:xfrm>
            <a:off x="6025896" y="342900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4293" y="3497397"/>
            <a:ext cx="174102" cy="174102"/>
          </a:xfrm>
          <a:prstGeom prst="rect">
            <a:avLst/>
          </a:prstGeom>
        </p:spPr>
      </p:pic>
      <p:sp>
        <p:nvSpPr>
          <p:cNvPr id="61" name="Text 54"/>
          <p:cNvSpPr txBox="1"/>
          <p:nvPr/>
        </p:nvSpPr>
        <p:spPr>
          <a:xfrm>
            <a:off x="6382512" y="33832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9D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KDKMP: </a:t>
            </a: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80.000 koperasi desa; s.d. Rp3 miliar/unit (plafon ≈Rp240 T)</a:t>
            </a:r>
            <a:endParaRPr lang="en-US" sz="680" dirty="0"/>
          </a:p>
        </p:txBody>
      </p:sp>
      <p:sp>
        <p:nvSpPr>
          <p:cNvPr id="62" name="Shape 55"/>
          <p:cNvSpPr/>
          <p:nvPr/>
        </p:nvSpPr>
        <p:spPr>
          <a:xfrm>
            <a:off x="7662672" y="2139696"/>
            <a:ext cx="1261872" cy="1719072"/>
          </a:xfrm>
          <a:prstGeom prst="roundRect">
            <a:avLst>
              <a:gd name="adj" fmla="val 5797"/>
            </a:avLst>
          </a:prstGeom>
          <a:solidFill>
            <a:srgbClr val="E3EDFB"/>
          </a:solidFill>
          <a:ln w="9525">
            <a:solidFill>
              <a:srgbClr val="E3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6"/>
          <p:cNvSpPr/>
          <p:nvPr/>
        </p:nvSpPr>
        <p:spPr>
          <a:xfrm>
            <a:off x="7735824" y="2212848"/>
            <a:ext cx="365760" cy="365760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6291" y="2293315"/>
            <a:ext cx="204826" cy="204826"/>
          </a:xfrm>
          <a:prstGeom prst="rect">
            <a:avLst/>
          </a:prstGeom>
        </p:spPr>
      </p:pic>
      <p:sp>
        <p:nvSpPr>
          <p:cNvPr id="65" name="Text 57"/>
          <p:cNvSpPr txBox="1"/>
          <p:nvPr/>
        </p:nvSpPr>
        <p:spPr>
          <a:xfrm>
            <a:off x="8147304" y="22128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 pertahanan</a:t>
            </a:r>
            <a:endParaRPr lang="en-US" sz="850" dirty="0"/>
          </a:p>
        </p:txBody>
      </p:sp>
      <p:sp>
        <p:nvSpPr>
          <p:cNvPr id="66" name="Text 58"/>
          <p:cNvSpPr txBox="1"/>
          <p:nvPr/>
        </p:nvSpPr>
        <p:spPr>
          <a:xfrm>
            <a:off x="7735824" y="263347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Rp81,1 T</a:t>
            </a:r>
            <a:endParaRPr lang="en-US" sz="1500" dirty="0"/>
          </a:p>
        </p:txBody>
      </p:sp>
      <p:sp>
        <p:nvSpPr>
          <p:cNvPr id="67" name="Text 59"/>
          <p:cNvSpPr txBox="1"/>
          <p:nvPr/>
        </p:nvSpPr>
        <p:spPr>
          <a:xfrm>
            <a:off x="7735824" y="290779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3,9% portofolio</a:t>
            </a:r>
            <a:endParaRPr lang="en-US" sz="750" dirty="0"/>
          </a:p>
        </p:txBody>
      </p:sp>
      <p:sp>
        <p:nvSpPr>
          <p:cNvPr id="68" name="Text 60"/>
          <p:cNvSpPr txBox="1"/>
          <p:nvPr/>
        </p:nvSpPr>
        <p:spPr>
          <a:xfrm>
            <a:off x="7735824" y="3099816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Kapal selam, fregat, LPD, MRO, DEFEND ID</a:t>
            </a:r>
            <a:endParaRPr lang="en-US" sz="750" dirty="0"/>
          </a:p>
        </p:txBody>
      </p:sp>
      <p:sp>
        <p:nvSpPr>
          <p:cNvPr id="69" name="Shape 61"/>
          <p:cNvSpPr/>
          <p:nvPr/>
        </p:nvSpPr>
        <p:spPr>
          <a:xfrm>
            <a:off x="9015984" y="2139696"/>
            <a:ext cx="1261872" cy="1719072"/>
          </a:xfrm>
          <a:prstGeom prst="roundRect">
            <a:avLst>
              <a:gd name="adj" fmla="val 5797"/>
            </a:avLst>
          </a:prstGeom>
          <a:solidFill>
            <a:srgbClr val="E3EDFB"/>
          </a:solidFill>
          <a:ln w="9525">
            <a:solidFill>
              <a:srgbClr val="E3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2"/>
          <p:cNvSpPr/>
          <p:nvPr/>
        </p:nvSpPr>
        <p:spPr>
          <a:xfrm>
            <a:off x="9089136" y="2212848"/>
            <a:ext cx="365760" cy="365760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9603" y="2293315"/>
            <a:ext cx="204826" cy="204826"/>
          </a:xfrm>
          <a:prstGeom prst="rect">
            <a:avLst/>
          </a:prstGeom>
        </p:spPr>
      </p:pic>
      <p:sp>
        <p:nvSpPr>
          <p:cNvPr id="72" name="Text 63"/>
          <p:cNvSpPr txBox="1"/>
          <p:nvPr/>
        </p:nvSpPr>
        <p:spPr>
          <a:xfrm>
            <a:off x="9500616" y="22128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digital</a:t>
            </a:r>
            <a:endParaRPr lang="en-US" sz="850" dirty="0"/>
          </a:p>
        </p:txBody>
      </p:sp>
      <p:sp>
        <p:nvSpPr>
          <p:cNvPr id="73" name="Text 64"/>
          <p:cNvSpPr txBox="1"/>
          <p:nvPr/>
        </p:nvSpPr>
        <p:spPr>
          <a:xfrm>
            <a:off x="9089136" y="263347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Rp25,6 T</a:t>
            </a:r>
            <a:endParaRPr lang="en-US" sz="1500" dirty="0"/>
          </a:p>
        </p:txBody>
      </p:sp>
      <p:sp>
        <p:nvSpPr>
          <p:cNvPr id="74" name="Text 65"/>
          <p:cNvSpPr txBox="1"/>
          <p:nvPr/>
        </p:nvSpPr>
        <p:spPr>
          <a:xfrm>
            <a:off x="9089136" y="290779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berdaulat Rp13,8 T</a:t>
            </a:r>
            <a:endParaRPr lang="en-US" sz="750" dirty="0"/>
          </a:p>
        </p:txBody>
      </p:sp>
      <p:sp>
        <p:nvSpPr>
          <p:cNvPr id="75" name="Text 66"/>
          <p:cNvSpPr txBox="1"/>
          <p:nvPr/>
        </p:nvSpPr>
        <p:spPr>
          <a:xfrm>
            <a:off x="9089136" y="3099816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Semikonduktor Rp7,1 T, pusat data Rp4,1 T, kuantum Rp0,5 T</a:t>
            </a:r>
            <a:endParaRPr lang="en-US" sz="750" dirty="0"/>
          </a:p>
        </p:txBody>
      </p:sp>
      <p:sp>
        <p:nvSpPr>
          <p:cNvPr id="76" name="Text 67"/>
          <p:cNvSpPr txBox="1"/>
          <p:nvPr/>
        </p:nvSpPr>
        <p:spPr>
          <a:xfrm>
            <a:off x="4572000" y="3895344"/>
            <a:ext cx="5660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Lainnya (kimia, pangan, tekstil, kesehatan) Rp451,9 T. AI &amp; digital diambil dari daftar RKAP (bagian dari Infrastruktur/Lainnya). KDKMP adalah plafon pembiayaan di luar 40 proyek. Nilai kelas C, belum direkonsiliasi.</a:t>
            </a:r>
            <a:endParaRPr lang="en-US" sz="680" dirty="0"/>
          </a:p>
        </p:txBody>
      </p:sp>
      <p:sp>
        <p:nvSpPr>
          <p:cNvPr id="77" name="Shape 68"/>
          <p:cNvSpPr/>
          <p:nvPr/>
        </p:nvSpPr>
        <p:spPr>
          <a:xfrm>
            <a:off x="320040" y="4389120"/>
            <a:ext cx="49834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69"/>
          <p:cNvSpPr/>
          <p:nvPr/>
        </p:nvSpPr>
        <p:spPr>
          <a:xfrm>
            <a:off x="429768" y="4480560"/>
            <a:ext cx="384048" cy="38404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4259" y="4565051"/>
            <a:ext cx="215067" cy="215067"/>
          </a:xfrm>
          <a:prstGeom prst="rect">
            <a:avLst/>
          </a:prstGeom>
        </p:spPr>
      </p:pic>
      <p:sp>
        <p:nvSpPr>
          <p:cNvPr id="80" name="Text 70"/>
          <p:cNvSpPr txBox="1"/>
          <p:nvPr/>
        </p:nvSpPr>
        <p:spPr>
          <a:xfrm>
            <a:off x="905256" y="44988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Pembiayaan: NRF dan tokenisasi proyek</a:t>
            </a:r>
            <a:endParaRPr lang="en-US" sz="1300" dirty="0"/>
          </a:p>
        </p:txBody>
      </p:sp>
      <p:sp>
        <p:nvSpPr>
          <p:cNvPr id="81" name="Shape 71"/>
          <p:cNvSpPr/>
          <p:nvPr/>
        </p:nvSpPr>
        <p:spPr>
          <a:xfrm>
            <a:off x="429768" y="4956048"/>
            <a:ext cx="2327148" cy="1691640"/>
          </a:xfrm>
          <a:prstGeom prst="roundRect">
            <a:avLst>
              <a:gd name="adj" fmla="val 4324"/>
            </a:avLst>
          </a:prstGeom>
          <a:solidFill>
            <a:srgbClr val="E3EDFB"/>
          </a:solidFill>
          <a:ln w="9525">
            <a:solidFill>
              <a:srgbClr val="E3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72"/>
          <p:cNvSpPr/>
          <p:nvPr/>
        </p:nvSpPr>
        <p:spPr>
          <a:xfrm>
            <a:off x="502920" y="5029200"/>
            <a:ext cx="329184" cy="329184"/>
          </a:xfrm>
          <a:prstGeom prst="ellipse">
            <a:avLst/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5340" y="5101620"/>
            <a:ext cx="184343" cy="184343"/>
          </a:xfrm>
          <a:prstGeom prst="rect">
            <a:avLst/>
          </a:prstGeom>
        </p:spPr>
      </p:pic>
      <p:sp>
        <p:nvSpPr>
          <p:cNvPr id="84" name="Text 73"/>
          <p:cNvSpPr txBox="1"/>
          <p:nvPr/>
        </p:nvSpPr>
        <p:spPr>
          <a:xfrm>
            <a:off x="886968" y="5029200"/>
            <a:ext cx="18242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Resource Fund (NRF)</a:t>
            </a:r>
            <a:endParaRPr lang="en-US" sz="850" dirty="0"/>
          </a:p>
        </p:txBody>
      </p:sp>
      <p:sp>
        <p:nvSpPr>
          <p:cNvPr id="85" name="Text 74"/>
          <p:cNvSpPr txBox="1"/>
          <p:nvPr/>
        </p:nvSpPr>
        <p:spPr>
          <a:xfrm>
            <a:off x="502920" y="5413248"/>
            <a:ext cx="21991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Manfaat fiskal Rp100 T tahun ke-1; Rp1.000 T dalam 3 tahun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Aset dasar: cadangan mineral &amp; batu bara milik negara; valuasi min. Rp10.000 T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Sekuritisasi maks. 50% arus kas masa depan; di bawah Presiden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Porsi SDA dalam penerimaan negara turun: 19,3% → 7,7%</a:t>
            </a:r>
            <a:endParaRPr lang="en-US" sz="800" dirty="0"/>
          </a:p>
        </p:txBody>
      </p:sp>
      <p:sp>
        <p:nvSpPr>
          <p:cNvPr id="86" name="Shape 75"/>
          <p:cNvSpPr/>
          <p:nvPr/>
        </p:nvSpPr>
        <p:spPr>
          <a:xfrm>
            <a:off x="2866644" y="4956048"/>
            <a:ext cx="2327148" cy="1691640"/>
          </a:xfrm>
          <a:prstGeom prst="roundRect">
            <a:avLst>
              <a:gd name="adj" fmla="val 4324"/>
            </a:avLst>
          </a:prstGeom>
          <a:solidFill>
            <a:srgbClr val="E3EDFB"/>
          </a:solidFill>
          <a:ln w="9525">
            <a:solidFill>
              <a:srgbClr val="E3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76"/>
          <p:cNvSpPr/>
          <p:nvPr/>
        </p:nvSpPr>
        <p:spPr>
          <a:xfrm>
            <a:off x="2939796" y="5029200"/>
            <a:ext cx="329184" cy="329184"/>
          </a:xfrm>
          <a:prstGeom prst="ellipse">
            <a:avLst/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12216" y="5101620"/>
            <a:ext cx="184343" cy="184343"/>
          </a:xfrm>
          <a:prstGeom prst="rect">
            <a:avLst/>
          </a:prstGeom>
        </p:spPr>
      </p:pic>
      <p:sp>
        <p:nvSpPr>
          <p:cNvPr id="89" name="Text 77"/>
          <p:cNvSpPr txBox="1"/>
          <p:nvPr/>
        </p:nvSpPr>
        <p:spPr>
          <a:xfrm>
            <a:off x="3323844" y="5029200"/>
            <a:ext cx="18242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Tokenisasi PAL-SUB-1 (PALCapital)</a:t>
            </a:r>
            <a:endParaRPr lang="en-US" sz="850" dirty="0"/>
          </a:p>
        </p:txBody>
      </p:sp>
      <p:sp>
        <p:nvSpPr>
          <p:cNvPr id="90" name="Text 78"/>
          <p:cNvSpPr txBox="1"/>
          <p:nvPr/>
        </p:nvSpPr>
        <p:spPr>
          <a:xfrm>
            <a:off x="2939796" y="5413248"/>
            <a:ext cx="21991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Percontohan US$150 juta, kapal selam Scorpène unit 1; 700 bps, 720 hari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efek ERC-3643; dana cair per tonggak langsung ke vendor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US$300 juta → Fase 3 US$1 miliar+</a:t>
            </a:r>
            <a:endParaRPr lang="en-US" sz="8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Syarat: 6 prasyarat tersertifikasi, sandbox OJK</a:t>
            </a:r>
            <a:endParaRPr lang="en-US" sz="800" dirty="0"/>
          </a:p>
        </p:txBody>
      </p:sp>
      <p:sp>
        <p:nvSpPr>
          <p:cNvPr id="91" name="Shape 79"/>
          <p:cNvSpPr/>
          <p:nvPr/>
        </p:nvSpPr>
        <p:spPr>
          <a:xfrm>
            <a:off x="429768" y="6720840"/>
            <a:ext cx="4764024" cy="329184"/>
          </a:xfrm>
          <a:prstGeom prst="roundRect">
            <a:avLst>
              <a:gd name="adj" fmla="val 13889"/>
            </a:avLst>
          </a:prstGeom>
          <a:solidFill>
            <a:srgbClr val="0A0A0A"/>
          </a:solidFill>
          <a:ln w="9525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80"/>
          <p:cNvSpPr txBox="1"/>
          <p:nvPr/>
        </p:nvSpPr>
        <p:spPr>
          <a:xfrm>
            <a:off x="502920" y="6720840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Keduanya pelengkap: menutup jauh di bawah 1/10 dari Rp2.091 T. Instrumen berbasis arus kas negara = kewajiban → disiplin utang &amp; uji stres.</a:t>
            </a:r>
            <a:endParaRPr lang="en-US" sz="750" dirty="0"/>
          </a:p>
        </p:txBody>
      </p:sp>
      <p:sp>
        <p:nvSpPr>
          <p:cNvPr id="93" name="Shape 81"/>
          <p:cNvSpPr/>
          <p:nvPr/>
        </p:nvSpPr>
        <p:spPr>
          <a:xfrm>
            <a:off x="5440680" y="4389120"/>
            <a:ext cx="4928616" cy="2743200"/>
          </a:xfrm>
          <a:prstGeom prst="roundRect">
            <a:avLst>
              <a:gd name="adj" fmla="val 2667"/>
            </a:avLst>
          </a:prstGeom>
          <a:solidFill>
            <a:srgbClr val="E3EDFB"/>
          </a:solidFill>
          <a:ln w="9525">
            <a:solidFill>
              <a:srgbClr val="E3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82"/>
          <p:cNvSpPr/>
          <p:nvPr/>
        </p:nvSpPr>
        <p:spPr>
          <a:xfrm>
            <a:off x="5550408" y="4480560"/>
            <a:ext cx="384048" cy="38404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5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34899" y="4565051"/>
            <a:ext cx="215067" cy="215067"/>
          </a:xfrm>
          <a:prstGeom prst="rect">
            <a:avLst/>
          </a:prstGeom>
        </p:spPr>
      </p:pic>
      <p:sp>
        <p:nvSpPr>
          <p:cNvPr id="96" name="Text 83"/>
          <p:cNvSpPr txBox="1"/>
          <p:nvPr/>
        </p:nvSpPr>
        <p:spPr>
          <a:xfrm>
            <a:off x="6025896" y="4498848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DOCK-UP: membangun pemasok siap produksi</a:t>
            </a:r>
            <a:endParaRPr lang="en-US" sz="1300" dirty="0"/>
          </a:p>
        </p:txBody>
      </p:sp>
      <p:sp>
        <p:nvSpPr>
          <p:cNvPr id="97" name="Shape 84"/>
          <p:cNvSpPr/>
          <p:nvPr/>
        </p:nvSpPr>
        <p:spPr>
          <a:xfrm>
            <a:off x="5892165" y="4974336"/>
            <a:ext cx="493776" cy="493776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8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00796" y="5082967"/>
            <a:ext cx="276515" cy="276515"/>
          </a:xfrm>
          <a:prstGeom prst="rect">
            <a:avLst/>
          </a:prstGeom>
        </p:spPr>
      </p:pic>
      <p:sp>
        <p:nvSpPr>
          <p:cNvPr id="99" name="Shape 85"/>
          <p:cNvSpPr/>
          <p:nvPr/>
        </p:nvSpPr>
        <p:spPr>
          <a:xfrm>
            <a:off x="6440805" y="5148072"/>
            <a:ext cx="573786" cy="146304"/>
          </a:xfrm>
          <a:prstGeom prst="rightArrow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86"/>
          <p:cNvSpPr txBox="1"/>
          <p:nvPr/>
        </p:nvSpPr>
        <p:spPr>
          <a:xfrm>
            <a:off x="5577840" y="5522976"/>
            <a:ext cx="11224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Develop</a:t>
            </a:r>
            <a:endParaRPr lang="en-US" sz="800" dirty="0"/>
          </a:p>
        </p:txBody>
      </p:sp>
      <p:sp>
        <p:nvSpPr>
          <p:cNvPr id="101" name="Text 87"/>
          <p:cNvSpPr txBox="1"/>
          <p:nvPr/>
        </p:nvSpPr>
        <p:spPr>
          <a:xfrm>
            <a:off x="5596128" y="5705856"/>
            <a:ext cx="1085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TRL/MRL; perkuat MRL terlemah</a:t>
            </a:r>
            <a:endParaRPr lang="en-US" sz="700" dirty="0"/>
          </a:p>
        </p:txBody>
      </p:sp>
      <p:sp>
        <p:nvSpPr>
          <p:cNvPr id="102" name="Shape 88"/>
          <p:cNvSpPr/>
          <p:nvPr/>
        </p:nvSpPr>
        <p:spPr>
          <a:xfrm>
            <a:off x="7069455" y="4974336"/>
            <a:ext cx="493776" cy="493776"/>
          </a:xfrm>
          <a:prstGeom prst="ellipse">
            <a:avLst/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3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78086" y="5082967"/>
            <a:ext cx="276515" cy="276515"/>
          </a:xfrm>
          <a:prstGeom prst="rect">
            <a:avLst/>
          </a:prstGeom>
        </p:spPr>
      </p:pic>
      <p:sp>
        <p:nvSpPr>
          <p:cNvPr id="104" name="Shape 89"/>
          <p:cNvSpPr/>
          <p:nvPr/>
        </p:nvSpPr>
        <p:spPr>
          <a:xfrm>
            <a:off x="7618095" y="5148072"/>
            <a:ext cx="573786" cy="146304"/>
          </a:xfrm>
          <a:prstGeom prst="rightArrow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90"/>
          <p:cNvSpPr txBox="1"/>
          <p:nvPr/>
        </p:nvSpPr>
        <p:spPr>
          <a:xfrm>
            <a:off x="6755130" y="5522976"/>
            <a:ext cx="11224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· Off-taker</a:t>
            </a:r>
            <a:endParaRPr lang="en-US" sz="800" dirty="0"/>
          </a:p>
        </p:txBody>
      </p:sp>
      <p:sp>
        <p:nvSpPr>
          <p:cNvPr id="106" name="Text 91"/>
          <p:cNvSpPr txBox="1"/>
          <p:nvPr/>
        </p:nvSpPr>
        <p:spPr>
          <a:xfrm>
            <a:off x="6773418" y="5705856"/>
            <a:ext cx="1085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Kontrak payung 3–5 tahun; volume bertahap</a:t>
            </a:r>
            <a:endParaRPr lang="en-US" sz="700" dirty="0"/>
          </a:p>
        </p:txBody>
      </p:sp>
      <p:sp>
        <p:nvSpPr>
          <p:cNvPr id="107" name="Shape 92"/>
          <p:cNvSpPr/>
          <p:nvPr/>
        </p:nvSpPr>
        <p:spPr>
          <a:xfrm>
            <a:off x="8246745" y="4974336"/>
            <a:ext cx="493776" cy="493776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8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55376" y="5082967"/>
            <a:ext cx="276515" cy="276515"/>
          </a:xfrm>
          <a:prstGeom prst="rect">
            <a:avLst/>
          </a:prstGeom>
        </p:spPr>
      </p:pic>
      <p:sp>
        <p:nvSpPr>
          <p:cNvPr id="109" name="Shape 93"/>
          <p:cNvSpPr/>
          <p:nvPr/>
        </p:nvSpPr>
        <p:spPr>
          <a:xfrm>
            <a:off x="8795385" y="5148072"/>
            <a:ext cx="573786" cy="146304"/>
          </a:xfrm>
          <a:prstGeom prst="rightArrow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94"/>
          <p:cNvSpPr txBox="1"/>
          <p:nvPr/>
        </p:nvSpPr>
        <p:spPr>
          <a:xfrm>
            <a:off x="7932420" y="5522976"/>
            <a:ext cx="11224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Certification</a:t>
            </a:r>
            <a:endParaRPr lang="en-US" sz="800" dirty="0"/>
          </a:p>
        </p:txBody>
      </p:sp>
      <p:sp>
        <p:nvSpPr>
          <p:cNvPr id="111" name="Text 95"/>
          <p:cNvSpPr txBox="1"/>
          <p:nvPr/>
        </p:nvSpPr>
        <p:spPr>
          <a:xfrm>
            <a:off x="7950708" y="5705856"/>
            <a:ext cx="1085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9001, klas, mutu pertahanan</a:t>
            </a:r>
            <a:endParaRPr lang="en-US" sz="700" dirty="0"/>
          </a:p>
        </p:txBody>
      </p:sp>
      <p:sp>
        <p:nvSpPr>
          <p:cNvPr id="112" name="Shape 96"/>
          <p:cNvSpPr/>
          <p:nvPr/>
        </p:nvSpPr>
        <p:spPr>
          <a:xfrm>
            <a:off x="9424035" y="4974336"/>
            <a:ext cx="493776" cy="493776"/>
          </a:xfrm>
          <a:prstGeom prst="ellipse">
            <a:avLst/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3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32666" y="5082967"/>
            <a:ext cx="276515" cy="276515"/>
          </a:xfrm>
          <a:prstGeom prst="rect">
            <a:avLst/>
          </a:prstGeom>
        </p:spPr>
      </p:pic>
      <p:sp>
        <p:nvSpPr>
          <p:cNvPr id="114" name="Text 97"/>
          <p:cNvSpPr txBox="1"/>
          <p:nvPr/>
        </p:nvSpPr>
        <p:spPr>
          <a:xfrm>
            <a:off x="9109710" y="5522976"/>
            <a:ext cx="11224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· Upgrading</a:t>
            </a:r>
            <a:endParaRPr lang="en-US" sz="800" dirty="0"/>
          </a:p>
        </p:txBody>
      </p:sp>
      <p:sp>
        <p:nvSpPr>
          <p:cNvPr id="115" name="Text 98"/>
          <p:cNvSpPr txBox="1"/>
          <p:nvPr/>
        </p:nvSpPr>
        <p:spPr>
          <a:xfrm>
            <a:off x="9127998" y="5705856"/>
            <a:ext cx="10858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Build-to-print → design-and-build</a:t>
            </a:r>
            <a:endParaRPr lang="en-US" sz="700" dirty="0"/>
          </a:p>
        </p:txBody>
      </p:sp>
      <p:sp>
        <p:nvSpPr>
          <p:cNvPr id="116" name="Shape 99"/>
          <p:cNvSpPr/>
          <p:nvPr/>
        </p:nvSpPr>
        <p:spPr>
          <a:xfrm>
            <a:off x="5586984" y="6108192"/>
            <a:ext cx="1104138" cy="237744"/>
          </a:xfrm>
          <a:prstGeom prst="roundRect">
            <a:avLst>
              <a:gd name="adj" fmla="val 15385"/>
            </a:avLst>
          </a:prstGeom>
          <a:solidFill>
            <a:srgbClr val="0A0A0A"/>
          </a:solidFill>
          <a:ln w="9525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00"/>
          <p:cNvSpPr txBox="1"/>
          <p:nvPr/>
        </p:nvSpPr>
        <p:spPr>
          <a:xfrm>
            <a:off x="5586984" y="6108192"/>
            <a:ext cx="1104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 · MRL 6</a:t>
            </a:r>
            <a:endParaRPr lang="en-US" sz="750" dirty="0"/>
          </a:p>
        </p:txBody>
      </p:sp>
      <p:sp>
        <p:nvSpPr>
          <p:cNvPr id="118" name="Shape 101"/>
          <p:cNvSpPr/>
          <p:nvPr/>
        </p:nvSpPr>
        <p:spPr>
          <a:xfrm>
            <a:off x="6764274" y="6108192"/>
            <a:ext cx="1104138" cy="237744"/>
          </a:xfrm>
          <a:prstGeom prst="roundRect">
            <a:avLst>
              <a:gd name="adj" fmla="val 15385"/>
            </a:avLst>
          </a:prstGeom>
          <a:solidFill>
            <a:srgbClr val="0A0A0A"/>
          </a:solidFill>
          <a:ln w="9525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02"/>
          <p:cNvSpPr txBox="1"/>
          <p:nvPr/>
        </p:nvSpPr>
        <p:spPr>
          <a:xfrm>
            <a:off x="6764274" y="6108192"/>
            <a:ext cx="1104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 · MRL 7</a:t>
            </a:r>
            <a:endParaRPr lang="en-US" sz="750" dirty="0"/>
          </a:p>
        </p:txBody>
      </p:sp>
      <p:sp>
        <p:nvSpPr>
          <p:cNvPr id="120" name="Shape 103"/>
          <p:cNvSpPr/>
          <p:nvPr/>
        </p:nvSpPr>
        <p:spPr>
          <a:xfrm>
            <a:off x="7941564" y="6108192"/>
            <a:ext cx="1104138" cy="237744"/>
          </a:xfrm>
          <a:prstGeom prst="roundRect">
            <a:avLst>
              <a:gd name="adj" fmla="val 15385"/>
            </a:avLst>
          </a:prstGeom>
          <a:solidFill>
            <a:srgbClr val="0A0A0A"/>
          </a:solidFill>
          <a:ln w="9525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04"/>
          <p:cNvSpPr txBox="1"/>
          <p:nvPr/>
        </p:nvSpPr>
        <p:spPr>
          <a:xfrm>
            <a:off x="7941564" y="6108192"/>
            <a:ext cx="1104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 · MRL 8</a:t>
            </a:r>
            <a:endParaRPr lang="en-US" sz="750" dirty="0"/>
          </a:p>
        </p:txBody>
      </p:sp>
      <p:sp>
        <p:nvSpPr>
          <p:cNvPr id="122" name="Shape 105"/>
          <p:cNvSpPr/>
          <p:nvPr/>
        </p:nvSpPr>
        <p:spPr>
          <a:xfrm>
            <a:off x="9118854" y="6108192"/>
            <a:ext cx="1104138" cy="237744"/>
          </a:xfrm>
          <a:prstGeom prst="roundRect">
            <a:avLst>
              <a:gd name="adj" fmla="val 15385"/>
            </a:avLst>
          </a:prstGeom>
          <a:solidFill>
            <a:srgbClr val="0A0A0A"/>
          </a:solidFill>
          <a:ln w="9525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06"/>
          <p:cNvSpPr txBox="1"/>
          <p:nvPr/>
        </p:nvSpPr>
        <p:spPr>
          <a:xfrm>
            <a:off x="9118854" y="6108192"/>
            <a:ext cx="1104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 · TRL 7+, MRL 9</a:t>
            </a:r>
            <a:endParaRPr lang="en-US" sz="750" dirty="0"/>
          </a:p>
        </p:txBody>
      </p:sp>
      <p:sp>
        <p:nvSpPr>
          <p:cNvPr id="124" name="Shape 107"/>
          <p:cNvSpPr/>
          <p:nvPr/>
        </p:nvSpPr>
        <p:spPr>
          <a:xfrm>
            <a:off x="5550408" y="6437376"/>
            <a:ext cx="152095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08"/>
          <p:cNvSpPr txBox="1"/>
          <p:nvPr/>
        </p:nvSpPr>
        <p:spPr>
          <a:xfrm>
            <a:off x="5605272" y="6437376"/>
            <a:ext cx="1411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 16/2012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ofset ≥35% naik ke 85%</a:t>
            </a:r>
            <a:endParaRPr lang="en-US" sz="750" dirty="0"/>
          </a:p>
        </p:txBody>
      </p:sp>
      <p:sp>
        <p:nvSpPr>
          <p:cNvPr id="126" name="Shape 109"/>
          <p:cNvSpPr/>
          <p:nvPr/>
        </p:nvSpPr>
        <p:spPr>
          <a:xfrm>
            <a:off x="7144512" y="6437376"/>
            <a:ext cx="152095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10"/>
          <p:cNvSpPr txBox="1"/>
          <p:nvPr/>
        </p:nvSpPr>
        <p:spPr>
          <a:xfrm>
            <a:off x="7199376" y="6437376"/>
            <a:ext cx="1411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UKM saat ini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6–8 / MRL 3–5</a:t>
            </a:r>
            <a:endParaRPr lang="en-US" sz="750" dirty="0"/>
          </a:p>
        </p:txBody>
      </p:sp>
      <p:sp>
        <p:nvSpPr>
          <p:cNvPr id="128" name="Shape 111"/>
          <p:cNvSpPr/>
          <p:nvPr/>
        </p:nvSpPr>
        <p:spPr>
          <a:xfrm>
            <a:off x="8738616" y="6437376"/>
            <a:ext cx="152095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12"/>
          <p:cNvSpPr txBox="1"/>
          <p:nvPr/>
        </p:nvSpPr>
        <p:spPr>
          <a:xfrm>
            <a:off x="8793480" y="6437376"/>
            <a:ext cx="1411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Percontohan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integrator · 20–30 UKM · 3–5 komponen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56032"/>
            <a:ext cx="9317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pertanyaan </a:t>
            </a:r>
            <a:r>
              <a:rPr lang="en-US" sz="2200" b="1" dirty="0" err="1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kunci</a:t>
            </a: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13232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pertanyaan disertai arah jawaban dari kajian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02368" y="274320"/>
            <a:ext cx="566928" cy="5669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802368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3264408" cy="318211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48056" y="1243584"/>
            <a:ext cx="512064" cy="51206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48056" y="1243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17520" y="1243584"/>
            <a:ext cx="438912" cy="43891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081" y="1340145"/>
            <a:ext cx="245791" cy="245791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69848" y="122529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mentransformasi Danantara?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66344" y="1901952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66344" y="2139696"/>
            <a:ext cx="297180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Reposisi menjadi Platform Kapabilitas Industri Nasional: modal → permintaan → pemasok → kapabilitas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Industri Strategis &amp; Pelaksanaan Proyek (konsep NITO), diuji 90 hari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register 40 proyek tersahkan paling lambat Hari ke-45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scorecard: imbal hasil, BUMN lebih kuat, kapabilitas industri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Portofolio ganda Alpha &amp; Impact; proyek Impact lewat SPV ring-fenced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721608" y="1115568"/>
            <a:ext cx="3264408" cy="3182112"/>
          </a:xfrm>
          <a:prstGeom prst="roundRect">
            <a:avLst>
              <a:gd name="adj" fmla="val 2299"/>
            </a:avLst>
          </a:prstGeom>
          <a:solidFill>
            <a:srgbClr val="E3EDFB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849624" y="1243584"/>
            <a:ext cx="512064" cy="51206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3849624" y="1243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19088" y="1243584"/>
            <a:ext cx="438912" cy="43891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649" y="1340145"/>
            <a:ext cx="245791" cy="245791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471416" y="122529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mengelola BUMN dengan AI multi-agen?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3867912" y="1901952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3867912" y="2139696"/>
            <a:ext cx="297180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operasi proyek berbasis AI multi-agen di atas master data tunggal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3 bulan, 6 agen: risiko portofolio, bid/no-bid, estimasi biaya, piutang, jadwal, pengadaan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Terhubung baca-saja ke ERP; keputusan material tetap di tangan manusia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Uji 2–3 proyek BUMN Karya → perluas hub-and-spoke ke seluruh BUMN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7123176" y="1115568"/>
            <a:ext cx="3246120" cy="318211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7251192" y="1243584"/>
            <a:ext cx="512064" cy="51206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7251192" y="1243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9802368" y="1243584"/>
            <a:ext cx="438912" cy="43891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8929" y="1340145"/>
            <a:ext cx="245791" cy="245791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872984" y="122529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DOCK-UP mempercepat kapabilitas industri?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7269480" y="190195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7269480" y="2139696"/>
            <a:ext cx="295351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 wajib UU 16/2012 (ofset 35% → 85%) dijadikan pesanan bagi pemasok lokal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&amp; MRL sebagai bahasa bersama; volume dilepas hanya saat gerbang G1–G4 lolos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Kontrak payung 3–5 tahun dan pembiayaan mengikuti gerbang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nyata: PT Barata memasok V-Bracket kapal perang PT PAL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320040" y="4434840"/>
            <a:ext cx="4956048" cy="2697480"/>
          </a:xfrm>
          <a:prstGeom prst="roundRect">
            <a:avLst>
              <a:gd name="adj" fmla="val 2712"/>
            </a:avLst>
          </a:prstGeom>
          <a:solidFill>
            <a:srgbClr val="E3EDFB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448056" y="4562856"/>
            <a:ext cx="512064" cy="51206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448056" y="4562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4709160" y="4562856"/>
            <a:ext cx="438912" cy="43891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5721" y="4659417"/>
            <a:ext cx="245791" cy="245791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069848" y="4544568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dampak NRF dan tokenisasi terhadap inflasi, dan bagaimana mengawasinya?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466344" y="5221224"/>
            <a:ext cx="4681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950" dirty="0"/>
          </a:p>
        </p:txBody>
      </p:sp>
      <p:sp>
        <p:nvSpPr>
          <p:cNvPr id="37" name="Text 31"/>
          <p:cNvSpPr txBox="1"/>
          <p:nvPr/>
        </p:nvSpPr>
        <p:spPr>
          <a:xfrm>
            <a:off x="466344" y="5458968"/>
            <a:ext cx="466344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Rp1.000 T ≈ 4% PDB; bila dibelanjakan dalam satu tahun, tambahan inflasi ilustratif 0,1–1,0 poin (sasaran BI 2,5% ± 1%)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Delapan jalur transmisi, termasuk harga batu bara → tarif listrik PLN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Pemantau Inflasi NRF: indikator lima lapis, ambang hijau–kuning–merah, umpan balik ke laju penyaluran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Pemantau dibangun sebelum rupiah pertama; larang pembiayaan moneter. Tokenisasi US$150 juta kecil dampaknya, tetapi tetap kewajiban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5413248" y="4434840"/>
            <a:ext cx="4956048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5541264" y="4562856"/>
            <a:ext cx="512064" cy="51206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 txBox="1"/>
          <p:nvPr/>
        </p:nvSpPr>
        <p:spPr>
          <a:xfrm>
            <a:off x="5541264" y="4562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9802368" y="4562856"/>
            <a:ext cx="438912" cy="43891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8929" y="4659417"/>
            <a:ext cx="245791" cy="245791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6163056" y="4544568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Adakah cara mendanai proyek tanpa pinjaman?</a:t>
            </a:r>
            <a:endParaRPr lang="en-US" sz="1200" dirty="0"/>
          </a:p>
        </p:txBody>
      </p:sp>
      <p:sp>
        <p:nvSpPr>
          <p:cNvPr id="44" name="Text 37"/>
          <p:cNvSpPr txBox="1"/>
          <p:nvPr/>
        </p:nvSpPr>
        <p:spPr>
          <a:xfrm>
            <a:off x="5559552" y="5221224"/>
            <a:ext cx="4681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950" dirty="0"/>
          </a:p>
        </p:txBody>
      </p:sp>
      <p:sp>
        <p:nvSpPr>
          <p:cNvPr id="45" name="Text 38"/>
          <p:cNvSpPr txBox="1"/>
          <p:nvPr/>
        </p:nvSpPr>
        <p:spPr>
          <a:xfrm>
            <a:off x="5559552" y="5458968"/>
            <a:ext cx="466344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Ekuitas &amp; ko-investasi mitra global/swasta di tingkat proyek, dengan ekuitas Danantara sebagai jangkar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KPBU / pembayaran ketersediaan layanan dan daur ulang aset (asset recycling) melalui INA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Dividen BUMN dan penerimaan SDA yang ditahan di NRF (bukan sekuritisasi)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Ofset &amp; imbal dagang pertahanan; hibah dan blended finance lembaga multilateral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instrumen berbasis arus kas negara masa depan tetap dihitung sebagai utang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56032"/>
            <a:ext cx="9317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ekonomi, fokus AI, dan gagasan baru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13232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ilustratif (kelas D) atas pipeline Rp2.091 T, 2027–2032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02368" y="274320"/>
            <a:ext cx="566928" cy="5669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802368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806440" cy="6016752"/>
          </a:xfrm>
          <a:prstGeom prst="roundRect">
            <a:avLst>
              <a:gd name="adj" fmla="val 1260"/>
            </a:avLst>
          </a:prstGeom>
          <a:solidFill>
            <a:srgbClr val="FFFFFF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9768" y="1207008"/>
            <a:ext cx="384048" cy="38404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59" y="1291499"/>
            <a:ext cx="215067" cy="215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05256" y="122529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PDB dan efek pengganda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" y="1682496"/>
            <a:ext cx="1341882" cy="868680"/>
          </a:xfrm>
          <a:prstGeom prst="roundRect">
            <a:avLst>
              <a:gd name="adj" fmla="val 8421"/>
            </a:avLst>
          </a:prstGeom>
          <a:solidFill>
            <a:srgbClr val="0B57C2"/>
          </a:solidFill>
          <a:ln w="9525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02920" y="1737360"/>
            <a:ext cx="11955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+1,55%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2103120"/>
            <a:ext cx="11955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Puncak level PDB (2030)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1844802" y="1682496"/>
            <a:ext cx="1341882" cy="868680"/>
          </a:xfrm>
          <a:prstGeom prst="roundRect">
            <a:avLst>
              <a:gd name="adj" fmla="val 8421"/>
            </a:avLst>
          </a:prstGeom>
          <a:solidFill>
            <a:srgbClr val="E3EDFB"/>
          </a:solidFill>
          <a:ln w="9525">
            <a:solidFill>
              <a:srgbClr val="E3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917954" y="1737360"/>
            <a:ext cx="11955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+0,74%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917954" y="2103120"/>
            <a:ext cx="11955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PDB permanen ≈ Rp260 T/tahun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259836" y="1682496"/>
            <a:ext cx="1341882" cy="868680"/>
          </a:xfrm>
          <a:prstGeom prst="roundRect">
            <a:avLst>
              <a:gd name="adj" fmla="val 8421"/>
            </a:avLst>
          </a:prstGeom>
          <a:solidFill>
            <a:srgbClr val="E3EDFB"/>
          </a:solidFill>
          <a:ln w="9525">
            <a:solidFill>
              <a:srgbClr val="E3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3332988" y="1737360"/>
            <a:ext cx="11955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9,4–11,4 jt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3332988" y="2103120"/>
            <a:ext cx="11955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Tahun-kerja; 0,98–1,24 jt pekerjaan tetap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674870" y="1682496"/>
            <a:ext cx="1341882" cy="868680"/>
          </a:xfrm>
          <a:prstGeom prst="roundRect">
            <a:avLst>
              <a:gd name="adj" fmla="val 8421"/>
            </a:avLst>
          </a:prstGeom>
          <a:solidFill>
            <a:srgbClr val="E3EDFB"/>
          </a:solidFill>
          <a:ln w="9525">
            <a:solidFill>
              <a:srgbClr val="E3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4748022" y="1737360"/>
            <a:ext cx="11955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Rp169 T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748022" y="2103120"/>
            <a:ext cx="11955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Pajak tambahan selama pembangunan; +Rp24 T/tahun</a:t>
            </a:r>
            <a:endParaRPr lang="en-US" sz="7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268833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PDB kumulatif selama pembangunan per klaster (Rp T)</a:t>
            </a:r>
            <a:endParaRPr lang="en-US" sz="85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411480" y="2898648"/>
          <a:ext cx="288036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Text 20"/>
          <p:cNvSpPr txBox="1"/>
          <p:nvPr/>
        </p:nvSpPr>
        <p:spPr>
          <a:xfrm>
            <a:off x="457200" y="5001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Rp1.819 T. Infrastruktur ≈ 2/3 efek pembangunan; SDA ≈ 2/5 efek permanen.</a:t>
            </a:r>
            <a:endParaRPr lang="en-US" sz="700" dirty="0"/>
          </a:p>
        </p:txBody>
      </p:sp>
      <p:sp>
        <p:nvSpPr>
          <p:cNvPr id="25" name="Text 21"/>
          <p:cNvSpPr txBox="1"/>
          <p:nvPr/>
        </p:nvSpPr>
        <p:spPr>
          <a:xfrm>
            <a:off x="3429000" y="2688336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efek pengganda bekerja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3429000" y="2944368"/>
            <a:ext cx="402336" cy="402336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7514" y="3032882"/>
            <a:ext cx="225308" cy="225308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3904488" y="29260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Rp1 investasi publik</a:t>
            </a:r>
            <a:endParaRPr lang="en-US" sz="850" dirty="0"/>
          </a:p>
          <a:p>
            <a:pPr marL="0" indent="0">
              <a:buNone/>
            </a:pPr>
            <a:r>
              <a:rPr lang="en-US" sz="7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kandungan dalam negeri menentukan; impor tidak menambah PDB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3429000" y="3493008"/>
            <a:ext cx="402336" cy="402336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7514" y="3581522"/>
            <a:ext cx="225308" cy="225308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3904488" y="347472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Pengganda 0,5 → 1,2</a:t>
            </a:r>
            <a:endParaRPr lang="en-US" sz="850" dirty="0"/>
          </a:p>
          <a:p>
            <a:pPr marL="0" indent="0">
              <a:buNone/>
            </a:pPr>
            <a:r>
              <a:rPr lang="en-US" sz="7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tahun ke-1 → tahun ke-5 (IMF 2026)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3429000" y="4041648"/>
            <a:ext cx="402336" cy="402336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7514" y="4130162"/>
            <a:ext cx="225308" cy="225308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3904488" y="40233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1,6–2,9×</a:t>
            </a:r>
            <a:endParaRPr lang="en-US" sz="850" dirty="0"/>
          </a:p>
          <a:p>
            <a:pPr marL="0" indent="0">
              <a:buNone/>
            </a:pPr>
            <a:r>
              <a:rPr lang="en-US" sz="7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efek berantai antarsektor (Tabel I-O BPS)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3429000" y="4590288"/>
            <a:ext cx="402336" cy="402336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7514" y="4678802"/>
            <a:ext cx="225308" cy="225308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3904488" y="45720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Efisiensi naik → puncak 2,0% PDB</a:t>
            </a:r>
            <a:endParaRPr lang="en-US" sz="850" dirty="0"/>
          </a:p>
          <a:p>
            <a:pPr marL="0" indent="0">
              <a:buNone/>
            </a:pPr>
            <a:r>
              <a:rPr lang="en-US" sz="7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ICOR 6,5 → 5,0 setara tambahan investasi ~Rp600 T</a:t>
            </a:r>
            <a:endParaRPr lang="en-US" sz="850" dirty="0"/>
          </a:p>
        </p:txBody>
      </p:sp>
      <p:sp>
        <p:nvSpPr>
          <p:cNvPr id="38" name="Text 30"/>
          <p:cNvSpPr txBox="1"/>
          <p:nvPr/>
        </p:nvSpPr>
        <p:spPr>
          <a:xfrm>
            <a:off x="457200" y="5394960"/>
            <a:ext cx="5532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Jalan menuju pertumbuhan 8% (2029)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457200" y="6144768"/>
            <a:ext cx="1280160" cy="347472"/>
          </a:xfrm>
          <a:prstGeom prst="roundRect">
            <a:avLst>
              <a:gd name="adj" fmla="val 10526"/>
            </a:avLst>
          </a:prstGeom>
          <a:solidFill>
            <a:srgbClr val="9DBCEB"/>
          </a:solidFill>
          <a:ln w="9525">
            <a:solidFill>
              <a:srgbClr val="9DBC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2"/>
          <p:cNvSpPr txBox="1"/>
          <p:nvPr/>
        </p:nvSpPr>
        <p:spPr>
          <a:xfrm>
            <a:off x="457200" y="61447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5,1%</a:t>
            </a:r>
            <a:endParaRPr lang="en-US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457200" y="6528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Saat ini</a:t>
            </a:r>
            <a:endParaRPr lang="en-US" sz="700" dirty="0"/>
          </a:p>
        </p:txBody>
      </p:sp>
      <p:sp>
        <p:nvSpPr>
          <p:cNvPr id="42" name="Shape 34"/>
          <p:cNvSpPr/>
          <p:nvPr/>
        </p:nvSpPr>
        <p:spPr>
          <a:xfrm>
            <a:off x="1874520" y="5961888"/>
            <a:ext cx="1280160" cy="530352"/>
          </a:xfrm>
          <a:prstGeom prst="roundRect">
            <a:avLst>
              <a:gd name="adj" fmla="val 6897"/>
            </a:avLst>
          </a:prstGeom>
          <a:solidFill>
            <a:srgbClr val="0B57C2"/>
          </a:solidFill>
          <a:ln w="9525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5"/>
          <p:cNvSpPr txBox="1"/>
          <p:nvPr/>
        </p:nvSpPr>
        <p:spPr>
          <a:xfrm>
            <a:off x="1874520" y="5961888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6,2%</a:t>
            </a:r>
            <a:endParaRPr lang="en-US" sz="1500" dirty="0"/>
          </a:p>
        </p:txBody>
      </p:sp>
      <p:sp>
        <p:nvSpPr>
          <p:cNvPr id="44" name="Text 36"/>
          <p:cNvSpPr txBox="1"/>
          <p:nvPr/>
        </p:nvSpPr>
        <p:spPr>
          <a:xfrm>
            <a:off x="1874520" y="6528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pengungkit SDA &amp; pipeline</a:t>
            </a:r>
            <a:endParaRPr lang="en-US" sz="700" dirty="0"/>
          </a:p>
        </p:txBody>
      </p:sp>
      <p:sp>
        <p:nvSpPr>
          <p:cNvPr id="45" name="Shape 37"/>
          <p:cNvSpPr/>
          <p:nvPr/>
        </p:nvSpPr>
        <p:spPr>
          <a:xfrm>
            <a:off x="3291840" y="5779008"/>
            <a:ext cx="1280160" cy="713232"/>
          </a:xfrm>
          <a:prstGeom prst="roundRect">
            <a:avLst>
              <a:gd name="adj" fmla="val 5128"/>
            </a:avLst>
          </a:prstGeom>
          <a:solidFill>
            <a:srgbClr val="062A66"/>
          </a:solidFill>
          <a:ln w="9525">
            <a:solidFill>
              <a:srgbClr val="06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8"/>
          <p:cNvSpPr txBox="1"/>
          <p:nvPr/>
        </p:nvSpPr>
        <p:spPr>
          <a:xfrm>
            <a:off x="3291840" y="5779008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6,8%</a:t>
            </a:r>
            <a:endParaRPr lang="en-US" sz="1500" dirty="0"/>
          </a:p>
        </p:txBody>
      </p:sp>
      <p:sp>
        <p:nvSpPr>
          <p:cNvPr id="47" name="Text 39"/>
          <p:cNvSpPr txBox="1"/>
          <p:nvPr/>
        </p:nvSpPr>
        <p:spPr>
          <a:xfrm>
            <a:off x="3291840" y="6528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efisiensi investasi</a:t>
            </a:r>
            <a:endParaRPr lang="en-US" sz="700" dirty="0"/>
          </a:p>
        </p:txBody>
      </p:sp>
      <p:sp>
        <p:nvSpPr>
          <p:cNvPr id="48" name="Shape 40"/>
          <p:cNvSpPr/>
          <p:nvPr/>
        </p:nvSpPr>
        <p:spPr>
          <a:xfrm>
            <a:off x="4709160" y="5596128"/>
            <a:ext cx="1280160" cy="896112"/>
          </a:xfrm>
          <a:prstGeom prst="roundRect">
            <a:avLst>
              <a:gd name="adj" fmla="val 4082"/>
            </a:avLst>
          </a:prstGeom>
          <a:solidFill>
            <a:srgbClr val="0A0A0A"/>
          </a:solidFill>
          <a:ln w="9525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1"/>
          <p:cNvSpPr txBox="1"/>
          <p:nvPr/>
        </p:nvSpPr>
        <p:spPr>
          <a:xfrm>
            <a:off x="4709160" y="5596128"/>
            <a:ext cx="1280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500" dirty="0"/>
          </a:p>
        </p:txBody>
      </p:sp>
      <p:sp>
        <p:nvSpPr>
          <p:cNvPr id="50" name="Text 42"/>
          <p:cNvSpPr txBox="1"/>
          <p:nvPr/>
        </p:nvSpPr>
        <p:spPr>
          <a:xfrm>
            <a:off x="4709160" y="6528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investasi ~33,5% PDB, ICOR ~4,2</a:t>
            </a:r>
            <a:endParaRPr lang="en-US" sz="700" dirty="0"/>
          </a:p>
        </p:txBody>
      </p:sp>
      <p:sp>
        <p:nvSpPr>
          <p:cNvPr id="51" name="Text 43"/>
          <p:cNvSpPr txBox="1"/>
          <p:nvPr/>
        </p:nvSpPr>
        <p:spPr>
          <a:xfrm>
            <a:off x="457200" y="6839712"/>
            <a:ext cx="5532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impor terkandung US$38,8 miliar; investasi turun 2032 menekan pertumbuhan ~0,7 poin, jadi pipeline penerus perlu disiapkan sejak 2030.</a:t>
            </a:r>
            <a:endParaRPr lang="en-US" sz="680" dirty="0"/>
          </a:p>
        </p:txBody>
      </p:sp>
      <p:sp>
        <p:nvSpPr>
          <p:cNvPr id="52" name="Shape 44"/>
          <p:cNvSpPr/>
          <p:nvPr/>
        </p:nvSpPr>
        <p:spPr>
          <a:xfrm>
            <a:off x="6263640" y="1115568"/>
            <a:ext cx="4105656" cy="3611880"/>
          </a:xfrm>
          <a:prstGeom prst="roundRect">
            <a:avLst>
              <a:gd name="adj" fmla="val 2025"/>
            </a:avLst>
          </a:prstGeom>
          <a:solidFill>
            <a:srgbClr val="E3EDFB"/>
          </a:solidFill>
          <a:ln w="9525">
            <a:solidFill>
              <a:srgbClr val="E3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5"/>
          <p:cNvSpPr/>
          <p:nvPr/>
        </p:nvSpPr>
        <p:spPr>
          <a:xfrm>
            <a:off x="6373368" y="1207008"/>
            <a:ext cx="384048" cy="38404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7859" y="1291499"/>
            <a:ext cx="215067" cy="215067"/>
          </a:xfrm>
          <a:prstGeom prst="rect">
            <a:avLst/>
          </a:prstGeom>
        </p:spPr>
      </p:pic>
      <p:sp>
        <p:nvSpPr>
          <p:cNvPr id="55" name="Text 46"/>
          <p:cNvSpPr txBox="1"/>
          <p:nvPr/>
        </p:nvSpPr>
        <p:spPr>
          <a:xfrm>
            <a:off x="6848856" y="1225296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 AI: kelola BUMN dan KDKMP</a:t>
            </a:r>
            <a:endParaRPr lang="en-US" sz="1300" dirty="0"/>
          </a:p>
        </p:txBody>
      </p:sp>
      <p:sp>
        <p:nvSpPr>
          <p:cNvPr id="56" name="Text 47"/>
          <p:cNvSpPr txBox="1"/>
          <p:nvPr/>
        </p:nvSpPr>
        <p:spPr>
          <a:xfrm>
            <a:off x="6400800" y="1664208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Sistem operasi proyek BUMN (AI multi-agen)</a:t>
            </a:r>
            <a:endParaRPr lang="en-US" sz="850" dirty="0"/>
          </a:p>
        </p:txBody>
      </p:sp>
      <p:sp>
        <p:nvSpPr>
          <p:cNvPr id="57" name="Shape 48"/>
          <p:cNvSpPr/>
          <p:nvPr/>
        </p:nvSpPr>
        <p:spPr>
          <a:xfrm>
            <a:off x="6400800" y="1901952"/>
            <a:ext cx="329184" cy="329184"/>
          </a:xfrm>
          <a:prstGeom prst="ellipse">
            <a:avLst/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8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3220" y="1974372"/>
            <a:ext cx="184343" cy="184343"/>
          </a:xfrm>
          <a:prstGeom prst="rect">
            <a:avLst/>
          </a:prstGeom>
        </p:spPr>
      </p:pic>
      <p:sp>
        <p:nvSpPr>
          <p:cNvPr id="59" name="Text 49"/>
          <p:cNvSpPr txBox="1"/>
          <p:nvPr/>
        </p:nvSpPr>
        <p:spPr>
          <a:xfrm>
            <a:off x="6784848" y="1901952"/>
            <a:ext cx="865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portofolio</a:t>
            </a:r>
            <a:endParaRPr lang="en-US" sz="750" dirty="0"/>
          </a:p>
        </p:txBody>
      </p:sp>
      <p:sp>
        <p:nvSpPr>
          <p:cNvPr id="60" name="Shape 50"/>
          <p:cNvSpPr/>
          <p:nvPr/>
        </p:nvSpPr>
        <p:spPr>
          <a:xfrm>
            <a:off x="7677912" y="1901952"/>
            <a:ext cx="329184" cy="329184"/>
          </a:xfrm>
          <a:prstGeom prst="ellipse">
            <a:avLst/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1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50332" y="1974372"/>
            <a:ext cx="184343" cy="184343"/>
          </a:xfrm>
          <a:prstGeom prst="rect">
            <a:avLst/>
          </a:prstGeom>
        </p:spPr>
      </p:pic>
      <p:sp>
        <p:nvSpPr>
          <p:cNvPr id="62" name="Text 51"/>
          <p:cNvSpPr txBox="1"/>
          <p:nvPr/>
        </p:nvSpPr>
        <p:spPr>
          <a:xfrm>
            <a:off x="8061960" y="1901952"/>
            <a:ext cx="865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 / no-bid</a:t>
            </a:r>
            <a:endParaRPr lang="en-US" sz="750" dirty="0"/>
          </a:p>
        </p:txBody>
      </p:sp>
      <p:sp>
        <p:nvSpPr>
          <p:cNvPr id="63" name="Shape 52"/>
          <p:cNvSpPr/>
          <p:nvPr/>
        </p:nvSpPr>
        <p:spPr>
          <a:xfrm>
            <a:off x="8955024" y="1901952"/>
            <a:ext cx="329184" cy="329184"/>
          </a:xfrm>
          <a:prstGeom prst="ellipse">
            <a:avLst/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4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27444" y="1974372"/>
            <a:ext cx="184343" cy="184343"/>
          </a:xfrm>
          <a:prstGeom prst="rect">
            <a:avLst/>
          </a:prstGeom>
        </p:spPr>
      </p:pic>
      <p:sp>
        <p:nvSpPr>
          <p:cNvPr id="65" name="Text 53"/>
          <p:cNvSpPr txBox="1"/>
          <p:nvPr/>
        </p:nvSpPr>
        <p:spPr>
          <a:xfrm>
            <a:off x="9339072" y="1901952"/>
            <a:ext cx="865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biaya</a:t>
            </a:r>
            <a:endParaRPr lang="en-US" sz="750" dirty="0"/>
          </a:p>
        </p:txBody>
      </p:sp>
      <p:sp>
        <p:nvSpPr>
          <p:cNvPr id="66" name="Shape 54"/>
          <p:cNvSpPr/>
          <p:nvPr/>
        </p:nvSpPr>
        <p:spPr>
          <a:xfrm>
            <a:off x="6400800" y="2359152"/>
            <a:ext cx="329184" cy="329184"/>
          </a:xfrm>
          <a:prstGeom prst="ellipse">
            <a:avLst/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7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3220" y="2431572"/>
            <a:ext cx="184343" cy="184343"/>
          </a:xfrm>
          <a:prstGeom prst="rect">
            <a:avLst/>
          </a:prstGeom>
        </p:spPr>
      </p:pic>
      <p:sp>
        <p:nvSpPr>
          <p:cNvPr id="68" name="Text 55"/>
          <p:cNvSpPr txBox="1"/>
          <p:nvPr/>
        </p:nvSpPr>
        <p:spPr>
          <a:xfrm>
            <a:off x="6784848" y="2359152"/>
            <a:ext cx="865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Piutang &amp; kas</a:t>
            </a:r>
            <a:endParaRPr lang="en-US" sz="750" dirty="0"/>
          </a:p>
        </p:txBody>
      </p:sp>
      <p:sp>
        <p:nvSpPr>
          <p:cNvPr id="69" name="Shape 56"/>
          <p:cNvSpPr/>
          <p:nvPr/>
        </p:nvSpPr>
        <p:spPr>
          <a:xfrm>
            <a:off x="7677912" y="2359152"/>
            <a:ext cx="329184" cy="329184"/>
          </a:xfrm>
          <a:prstGeom prst="ellipse">
            <a:avLst/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0" name="Image 1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50332" y="2431572"/>
            <a:ext cx="184343" cy="184343"/>
          </a:xfrm>
          <a:prstGeom prst="rect">
            <a:avLst/>
          </a:prstGeom>
        </p:spPr>
      </p:pic>
      <p:sp>
        <p:nvSpPr>
          <p:cNvPr id="71" name="Text 57"/>
          <p:cNvSpPr txBox="1"/>
          <p:nvPr/>
        </p:nvSpPr>
        <p:spPr>
          <a:xfrm>
            <a:off x="8061960" y="2359152"/>
            <a:ext cx="865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Jadwal &amp; kemajuan</a:t>
            </a:r>
            <a:endParaRPr lang="en-US" sz="750" dirty="0"/>
          </a:p>
        </p:txBody>
      </p:sp>
      <p:sp>
        <p:nvSpPr>
          <p:cNvPr id="72" name="Shape 58"/>
          <p:cNvSpPr/>
          <p:nvPr/>
        </p:nvSpPr>
        <p:spPr>
          <a:xfrm>
            <a:off x="8955024" y="2359152"/>
            <a:ext cx="329184" cy="329184"/>
          </a:xfrm>
          <a:prstGeom prst="ellipse">
            <a:avLst/>
          </a:prstGeom>
          <a:solidFill>
            <a:srgbClr val="062A66"/>
          </a:solidFill>
          <a:ln w="12700">
            <a:solidFill>
              <a:srgbClr val="06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3" name="Image 1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27444" y="2431572"/>
            <a:ext cx="184343" cy="184343"/>
          </a:xfrm>
          <a:prstGeom prst="rect">
            <a:avLst/>
          </a:prstGeom>
        </p:spPr>
      </p:pic>
      <p:sp>
        <p:nvSpPr>
          <p:cNvPr id="74" name="Text 59"/>
          <p:cNvSpPr txBox="1"/>
          <p:nvPr/>
        </p:nvSpPr>
        <p:spPr>
          <a:xfrm>
            <a:off x="9339072" y="2359152"/>
            <a:ext cx="865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Pengadaan &amp; pemasok</a:t>
            </a:r>
            <a:endParaRPr lang="en-US" sz="750" dirty="0"/>
          </a:p>
        </p:txBody>
      </p:sp>
      <p:sp>
        <p:nvSpPr>
          <p:cNvPr id="75" name="Text 60"/>
          <p:cNvSpPr txBox="1"/>
          <p:nvPr/>
        </p:nvSpPr>
        <p:spPr>
          <a:xfrm>
            <a:off x="6400800" y="283464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3 bulan · terhubung baca-saja ke ERP · manusia memutuskan · BUMN Karya dulu, lalu seluruh BUMN</a:t>
            </a:r>
            <a:endParaRPr lang="en-US" sz="700" dirty="0"/>
          </a:p>
        </p:txBody>
      </p:sp>
      <p:sp>
        <p:nvSpPr>
          <p:cNvPr id="76" name="Text 61"/>
          <p:cNvSpPr txBox="1"/>
          <p:nvPr/>
        </p:nvSpPr>
        <p:spPr>
          <a:xfrm>
            <a:off x="6400800" y="3127248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Platform modern KDKMP (80.000 koperasi desa)</a:t>
            </a:r>
            <a:endParaRPr lang="en-US" sz="850" dirty="0"/>
          </a:p>
        </p:txBody>
      </p:sp>
      <p:sp>
        <p:nvSpPr>
          <p:cNvPr id="77" name="Shape 62"/>
          <p:cNvSpPr/>
          <p:nvPr/>
        </p:nvSpPr>
        <p:spPr>
          <a:xfrm>
            <a:off x="6400800" y="3364992"/>
            <a:ext cx="916686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63"/>
          <p:cNvSpPr/>
          <p:nvPr/>
        </p:nvSpPr>
        <p:spPr>
          <a:xfrm>
            <a:off x="6685407" y="3419856"/>
            <a:ext cx="347472" cy="34747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9" name="Image 1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1851" y="3496300"/>
            <a:ext cx="194584" cy="194584"/>
          </a:xfrm>
          <a:prstGeom prst="rect">
            <a:avLst/>
          </a:prstGeom>
        </p:spPr>
      </p:pic>
      <p:sp>
        <p:nvSpPr>
          <p:cNvPr id="80" name="Text 64"/>
          <p:cNvSpPr txBox="1"/>
          <p:nvPr/>
        </p:nvSpPr>
        <p:spPr>
          <a:xfrm>
            <a:off x="6437376" y="3803904"/>
            <a:ext cx="8435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ERP &amp; kantor pusat</a:t>
            </a:r>
            <a:endParaRPr lang="en-US" sz="700" dirty="0"/>
          </a:p>
        </p:txBody>
      </p:sp>
      <p:sp>
        <p:nvSpPr>
          <p:cNvPr id="81" name="Shape 65"/>
          <p:cNvSpPr/>
          <p:nvPr/>
        </p:nvSpPr>
        <p:spPr>
          <a:xfrm>
            <a:off x="7372350" y="3364992"/>
            <a:ext cx="916686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66"/>
          <p:cNvSpPr/>
          <p:nvPr/>
        </p:nvSpPr>
        <p:spPr>
          <a:xfrm>
            <a:off x="7656957" y="3419856"/>
            <a:ext cx="347472" cy="34747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3" name="Image 1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33401" y="3496300"/>
            <a:ext cx="194584" cy="194584"/>
          </a:xfrm>
          <a:prstGeom prst="rect">
            <a:avLst/>
          </a:prstGeom>
        </p:spPr>
      </p:pic>
      <p:sp>
        <p:nvSpPr>
          <p:cNvPr id="84" name="Text 67"/>
          <p:cNvSpPr txBox="1"/>
          <p:nvPr/>
        </p:nvSpPr>
        <p:spPr>
          <a:xfrm>
            <a:off x="7408926" y="3803904"/>
            <a:ext cx="8435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Rantai pasok &amp; DC</a:t>
            </a:r>
            <a:endParaRPr lang="en-US" sz="700" dirty="0"/>
          </a:p>
        </p:txBody>
      </p:sp>
      <p:sp>
        <p:nvSpPr>
          <p:cNvPr id="85" name="Shape 68"/>
          <p:cNvSpPr/>
          <p:nvPr/>
        </p:nvSpPr>
        <p:spPr>
          <a:xfrm>
            <a:off x="8343900" y="3364992"/>
            <a:ext cx="916686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69"/>
          <p:cNvSpPr/>
          <p:nvPr/>
        </p:nvSpPr>
        <p:spPr>
          <a:xfrm>
            <a:off x="8628507" y="3419856"/>
            <a:ext cx="347472" cy="34747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7" name="Image 1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04951" y="3496300"/>
            <a:ext cx="194584" cy="194584"/>
          </a:xfrm>
          <a:prstGeom prst="rect">
            <a:avLst/>
          </a:prstGeom>
        </p:spPr>
      </p:pic>
      <p:sp>
        <p:nvSpPr>
          <p:cNvPr id="88" name="Text 70"/>
          <p:cNvSpPr txBox="1"/>
          <p:nvPr/>
        </p:nvSpPr>
        <p:spPr>
          <a:xfrm>
            <a:off x="8380476" y="3803904"/>
            <a:ext cx="8435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Toko &amp; POS offline-first</a:t>
            </a:r>
            <a:endParaRPr lang="en-US" sz="700" dirty="0"/>
          </a:p>
        </p:txBody>
      </p:sp>
      <p:sp>
        <p:nvSpPr>
          <p:cNvPr id="89" name="Shape 71"/>
          <p:cNvSpPr/>
          <p:nvPr/>
        </p:nvSpPr>
        <p:spPr>
          <a:xfrm>
            <a:off x="9315450" y="3364992"/>
            <a:ext cx="916686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72"/>
          <p:cNvSpPr/>
          <p:nvPr/>
        </p:nvSpPr>
        <p:spPr>
          <a:xfrm>
            <a:off x="9600057" y="3419856"/>
            <a:ext cx="347472" cy="34747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1" name="Image 1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76501" y="3496300"/>
            <a:ext cx="194584" cy="194584"/>
          </a:xfrm>
          <a:prstGeom prst="rect">
            <a:avLst/>
          </a:prstGeom>
        </p:spPr>
      </p:pic>
      <p:sp>
        <p:nvSpPr>
          <p:cNvPr id="92" name="Text 73"/>
          <p:cNvSpPr txBox="1"/>
          <p:nvPr/>
        </p:nvSpPr>
        <p:spPr>
          <a:xfrm>
            <a:off x="9352026" y="3803904"/>
            <a:ext cx="8435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Anggota, CRM &amp; SHU</a:t>
            </a:r>
            <a:endParaRPr lang="en-US" sz="700" dirty="0"/>
          </a:p>
        </p:txBody>
      </p:sp>
      <p:sp>
        <p:nvSpPr>
          <p:cNvPr id="93" name="Shape 74"/>
          <p:cNvSpPr/>
          <p:nvPr/>
        </p:nvSpPr>
        <p:spPr>
          <a:xfrm>
            <a:off x="6400800" y="4288536"/>
            <a:ext cx="3831336" cy="347472"/>
          </a:xfrm>
          <a:prstGeom prst="roundRect">
            <a:avLst>
              <a:gd name="adj" fmla="val 10526"/>
            </a:avLst>
          </a:prstGeom>
          <a:solidFill>
            <a:srgbClr val="0A0A0A"/>
          </a:solidFill>
          <a:ln w="9525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75"/>
          <p:cNvSpPr txBox="1"/>
          <p:nvPr/>
        </p:nvSpPr>
        <p:spPr>
          <a:xfrm>
            <a:off x="6464808" y="428853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Lapisan integrasi &amp; master data tunggal: setiap transaksi anggota tertelusur, SHU transparan</a:t>
            </a:r>
            <a:endParaRPr lang="en-US" sz="730" dirty="0"/>
          </a:p>
        </p:txBody>
      </p:sp>
      <p:sp>
        <p:nvSpPr>
          <p:cNvPr id="95" name="Shape 76"/>
          <p:cNvSpPr/>
          <p:nvPr/>
        </p:nvSpPr>
        <p:spPr>
          <a:xfrm>
            <a:off x="6263640" y="4864608"/>
            <a:ext cx="4105656" cy="2267712"/>
          </a:xfrm>
          <a:prstGeom prst="roundRect">
            <a:avLst>
              <a:gd name="adj" fmla="val 3226"/>
            </a:avLst>
          </a:prstGeom>
          <a:solidFill>
            <a:srgbClr val="0A0A0A"/>
          </a:solidFill>
          <a:ln w="9525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77"/>
          <p:cNvSpPr/>
          <p:nvPr/>
        </p:nvSpPr>
        <p:spPr>
          <a:xfrm>
            <a:off x="6373368" y="4956048"/>
            <a:ext cx="384048" cy="38404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7" name="Image 1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57859" y="5040539"/>
            <a:ext cx="215067" cy="215067"/>
          </a:xfrm>
          <a:prstGeom prst="rect">
            <a:avLst/>
          </a:prstGeom>
        </p:spPr>
      </p:pic>
      <p:sp>
        <p:nvSpPr>
          <p:cNvPr id="98" name="Text 78"/>
          <p:cNvSpPr txBox="1"/>
          <p:nvPr/>
        </p:nvSpPr>
        <p:spPr>
          <a:xfrm>
            <a:off x="6848856" y="4974336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D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Gagasan: denominasi untuk menarik uang gelap</a:t>
            </a:r>
            <a:endParaRPr lang="en-US" sz="1100" dirty="0"/>
          </a:p>
        </p:txBody>
      </p:sp>
      <p:sp>
        <p:nvSpPr>
          <p:cNvPr id="99" name="Shape 79"/>
          <p:cNvSpPr/>
          <p:nvPr/>
        </p:nvSpPr>
        <p:spPr>
          <a:xfrm>
            <a:off x="6792468" y="5468112"/>
            <a:ext cx="402336" cy="402336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0" name="Image 17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80982" y="5556626"/>
            <a:ext cx="225308" cy="225308"/>
          </a:xfrm>
          <a:prstGeom prst="rect">
            <a:avLst/>
          </a:prstGeom>
        </p:spPr>
      </p:pic>
      <p:sp>
        <p:nvSpPr>
          <p:cNvPr id="101" name="Shape 80"/>
          <p:cNvSpPr/>
          <p:nvPr/>
        </p:nvSpPr>
        <p:spPr>
          <a:xfrm>
            <a:off x="7267956" y="5596128"/>
            <a:ext cx="774192" cy="137160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81"/>
          <p:cNvSpPr txBox="1"/>
          <p:nvPr/>
        </p:nvSpPr>
        <p:spPr>
          <a:xfrm>
            <a:off x="6400800" y="5925312"/>
            <a:ext cx="1185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Terbitkan denominasi baru dengan batas waktu penukaran</a:t>
            </a:r>
            <a:endParaRPr lang="en-US" sz="730" dirty="0"/>
          </a:p>
        </p:txBody>
      </p:sp>
      <p:sp>
        <p:nvSpPr>
          <p:cNvPr id="103" name="Shape 82"/>
          <p:cNvSpPr/>
          <p:nvPr/>
        </p:nvSpPr>
        <p:spPr>
          <a:xfrm>
            <a:off x="8115300" y="5468112"/>
            <a:ext cx="402336" cy="402336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4" name="Image 18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03814" y="5556626"/>
            <a:ext cx="225308" cy="225308"/>
          </a:xfrm>
          <a:prstGeom prst="rect">
            <a:avLst/>
          </a:prstGeom>
        </p:spPr>
      </p:pic>
      <p:sp>
        <p:nvSpPr>
          <p:cNvPr id="105" name="Shape 83"/>
          <p:cNvSpPr/>
          <p:nvPr/>
        </p:nvSpPr>
        <p:spPr>
          <a:xfrm>
            <a:off x="8590788" y="5596128"/>
            <a:ext cx="774192" cy="137160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84"/>
          <p:cNvSpPr txBox="1"/>
          <p:nvPr/>
        </p:nvSpPr>
        <p:spPr>
          <a:xfrm>
            <a:off x="7723632" y="5925312"/>
            <a:ext cx="1185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Penukaran di atas ambang wajib identitas &amp; asal dana (PPATK, DJP)</a:t>
            </a:r>
            <a:endParaRPr lang="en-US" sz="730" dirty="0"/>
          </a:p>
        </p:txBody>
      </p:sp>
      <p:sp>
        <p:nvSpPr>
          <p:cNvPr id="107" name="Shape 85"/>
          <p:cNvSpPr/>
          <p:nvPr/>
        </p:nvSpPr>
        <p:spPr>
          <a:xfrm>
            <a:off x="9438132" y="5468112"/>
            <a:ext cx="402336" cy="402336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8" name="Image 19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26646" y="5556626"/>
            <a:ext cx="225308" cy="225308"/>
          </a:xfrm>
          <a:prstGeom prst="rect">
            <a:avLst/>
          </a:prstGeom>
        </p:spPr>
      </p:pic>
      <p:sp>
        <p:nvSpPr>
          <p:cNvPr id="109" name="Text 86"/>
          <p:cNvSpPr txBox="1"/>
          <p:nvPr/>
        </p:nvSpPr>
        <p:spPr>
          <a:xfrm>
            <a:off x="9046464" y="5925312"/>
            <a:ext cx="1185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Uang tunai gelap masuk bank: basis pajak &amp; likuiditas pembiayaan naik</a:t>
            </a:r>
            <a:endParaRPr lang="en-US" sz="730" dirty="0"/>
          </a:p>
        </p:txBody>
      </p:sp>
      <p:sp>
        <p:nvSpPr>
          <p:cNvPr id="110" name="Shape 87"/>
          <p:cNvSpPr/>
          <p:nvPr/>
        </p:nvSpPr>
        <p:spPr>
          <a:xfrm>
            <a:off x="6400800" y="6492240"/>
            <a:ext cx="3831336" cy="548640"/>
          </a:xfrm>
          <a:prstGeom prst="roundRect">
            <a:avLst>
              <a:gd name="adj" fmla="val 6667"/>
            </a:avLst>
          </a:prstGeom>
          <a:solidFill>
            <a:srgbClr val="062A66"/>
          </a:solidFill>
          <a:ln w="9525">
            <a:solidFill>
              <a:srgbClr val="062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88"/>
          <p:cNvSpPr txBox="1"/>
          <p:nvPr/>
        </p:nvSpPr>
        <p:spPr>
          <a:xfrm>
            <a:off x="6464808" y="64922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dikaji, di luar cakupan kajian: memerlukan undang-undang dan kewenangan BI. Pelajaran India 2016: ±99% uang kembali ke bank dan ekonomi terganggu jangka pendek, sehingga perlu desain bertahap dan pembayaran digital yang siap.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1306</Words>
  <Application>Microsoft Office PowerPoint</Application>
  <PresentationFormat>Custom</PresentationFormat>
  <Paragraphs>171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Infografis Ringkasan Kajian Danantara</dc:title>
  <dc:subject>PptxGenJS Presentation</dc:subject>
  <dc:creator>PptxGenJS</dc:creator>
  <cp:lastModifiedBy>H W Bowo</cp:lastModifiedBy>
  <cp:revision>3</cp:revision>
  <dcterms:created xsi:type="dcterms:W3CDTF">2026-10-12T21:45:17Z</dcterms:created>
  <dcterms:modified xsi:type="dcterms:W3CDTF">2026-10-12T21:56:47Z</dcterms:modified>
</cp:coreProperties>
</file>