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542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10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:Dari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Konsolidasi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Aset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Platform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Industri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saat ini · 40 proyek strategis · tujuh masalah struktural yang menahan nilai tambah nasional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59" y="1291499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" y="12252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 </a:t>
            </a:r>
            <a:r>
              <a:rPr lang="en-US" sz="1300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Industrialisasi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Belum </a:t>
            </a:r>
            <a:r>
              <a:rPr lang="en-US" sz="1300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Tampak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" y="1682496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21208" y="17373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US$600 miliar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1208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awal; target kapasitas ~US$982 miliar (≈Rp15.000 T)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331720" y="1682496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423160" y="17373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 miliar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investasi 2026: 50% pasar publik, 50% sektor riil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29768" y="246888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21208" y="25237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US$1,5 miliar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utang DIM Juni 2026; imbal hasil 5,65%, permintaan ~3,07×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331720" y="246888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423160" y="25237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Rp28 T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2423160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2025 empat BUMN Karya; anggaran infra turun ~45%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29768" y="327355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29768" y="32735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Badan Pelaksana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3898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13898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 · COO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BUMN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3042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3042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· CIO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186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32186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DDMF · CTO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pembangunan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29768" y="3803904"/>
            <a:ext cx="3712464" cy="347472"/>
          </a:xfrm>
          <a:prstGeom prst="roundRect">
            <a:avLst>
              <a:gd name="adj" fmla="val 13158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0292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pasar terbukti, tetapi imbal hasil, nilai BUMN, dan dampak industri belum dapat diukur. Mandat industrialisasi belum tampak.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434840" y="1115568"/>
            <a:ext cx="5934456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445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059" y="1291499"/>
            <a:ext cx="215067" cy="21506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020056" y="1225296"/>
            <a:ext cx="5248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proyek strategis · Rp 5,XxX T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572000" y="1682496"/>
            <a:ext cx="769778" cy="237744"/>
          </a:xfrm>
          <a:prstGeom prst="rect">
            <a:avLst/>
          </a:prstGeom>
          <a:solidFill>
            <a:srgbClr val="062A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4617720" y="1682496"/>
            <a:ext cx="678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13,6%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5341778" y="1682496"/>
            <a:ext cx="3447023" cy="237744"/>
          </a:xfrm>
          <a:prstGeom prst="rect">
            <a:avLst/>
          </a:prstGeom>
          <a:solidFill>
            <a:srgbClr val="0B57C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5387498" y="1682496"/>
            <a:ext cx="3355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60,9%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8788801" y="1682496"/>
            <a:ext cx="220745" cy="237744"/>
          </a:xfrm>
          <a:prstGeom prst="rect">
            <a:avLst/>
          </a:prstGeom>
          <a:solidFill>
            <a:srgbClr val="0A0A0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9009547" y="1682496"/>
            <a:ext cx="1222589" cy="237744"/>
          </a:xfrm>
          <a:prstGeom prst="rect">
            <a:avLst/>
          </a:prstGeom>
          <a:solidFill>
            <a:srgbClr val="9DBC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9055267" y="1682496"/>
            <a:ext cx="11311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21,6%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7920121" y="193852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Pertahanan 3,9%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4572000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645152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2293315"/>
            <a:ext cx="204826" cy="204826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5056632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&amp; hilirisasi</a:t>
            </a:r>
            <a:endParaRPr lang="en-US" sz="850" dirty="0"/>
          </a:p>
        </p:txBody>
      </p:sp>
      <p:sp>
        <p:nvSpPr>
          <p:cNvPr id="48" name="Text 43"/>
          <p:cNvSpPr txBox="1"/>
          <p:nvPr/>
        </p:nvSpPr>
        <p:spPr>
          <a:xfrm>
            <a:off x="4645152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Rp283,9 T</a:t>
            </a:r>
            <a:endParaRPr lang="en-US" sz="1500" dirty="0"/>
          </a:p>
        </p:txBody>
      </p:sp>
      <p:sp>
        <p:nvSpPr>
          <p:cNvPr id="49" name="Text 44"/>
          <p:cNvSpPr txBox="1"/>
          <p:nvPr/>
        </p:nvSpPr>
        <p:spPr>
          <a:xfrm>
            <a:off x="4645152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13,6% portofolio</a:t>
            </a:r>
            <a:endParaRPr lang="en-US" sz="750" dirty="0"/>
          </a:p>
        </p:txBody>
      </p:sp>
      <p:sp>
        <p:nvSpPr>
          <p:cNvPr id="50" name="Text 45"/>
          <p:cNvSpPr txBox="1"/>
          <p:nvPr/>
        </p:nvSpPr>
        <p:spPr>
          <a:xfrm>
            <a:off x="4645152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Nikel HPAL, bauksit–alumina, tembaga, material baterai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5925312" y="2139696"/>
            <a:ext cx="1645920" cy="1719072"/>
          </a:xfrm>
          <a:prstGeom prst="roundRect">
            <a:avLst>
              <a:gd name="adj" fmla="val 4444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5998464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931" y="2293315"/>
            <a:ext cx="204826" cy="204826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6409944" y="221284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</a:t>
            </a:r>
            <a:endParaRPr lang="en-US" sz="850" dirty="0"/>
          </a:p>
        </p:txBody>
      </p:sp>
      <p:sp>
        <p:nvSpPr>
          <p:cNvPr id="55" name="Text 49"/>
          <p:cNvSpPr txBox="1"/>
          <p:nvPr/>
        </p:nvSpPr>
        <p:spPr>
          <a:xfrm>
            <a:off x="5998464" y="26334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XXX T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5998464" y="2907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60,9% portofolio</a:t>
            </a:r>
            <a:endParaRPr lang="en-US" sz="750" dirty="0"/>
          </a:p>
        </p:txBody>
      </p:sp>
      <p:sp>
        <p:nvSpPr>
          <p:cNvPr id="57" name="Text 51"/>
          <p:cNvSpPr txBox="1"/>
          <p:nvPr/>
        </p:nvSpPr>
        <p:spPr>
          <a:xfrm>
            <a:off x="5998464" y="308152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Wall, energi, WtE, kota cerdas, perumahan, air</a:t>
            </a:r>
            <a:endParaRPr lang="en-US" sz="700" dirty="0"/>
          </a:p>
        </p:txBody>
      </p:sp>
      <p:sp>
        <p:nvSpPr>
          <p:cNvPr id="58" name="Shape 52"/>
          <p:cNvSpPr/>
          <p:nvPr/>
        </p:nvSpPr>
        <p:spPr>
          <a:xfrm>
            <a:off x="5980176" y="3364992"/>
            <a:ext cx="1536192" cy="4572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3"/>
          <p:cNvSpPr/>
          <p:nvPr/>
        </p:nvSpPr>
        <p:spPr>
          <a:xfrm>
            <a:off x="6025896" y="342900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293" y="3497397"/>
            <a:ext cx="174102" cy="174102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6382512" y="3383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KDKMP: </a:t>
            </a: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 koperasi desa; s.d. Rp3 miliar/unit (plafon ≈Rp240 T)</a:t>
            </a:r>
            <a:endParaRPr lang="en-US" sz="680" dirty="0"/>
          </a:p>
        </p:txBody>
      </p:sp>
      <p:sp>
        <p:nvSpPr>
          <p:cNvPr id="62" name="Shape 55"/>
          <p:cNvSpPr/>
          <p:nvPr/>
        </p:nvSpPr>
        <p:spPr>
          <a:xfrm>
            <a:off x="7662672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6"/>
          <p:cNvSpPr/>
          <p:nvPr/>
        </p:nvSpPr>
        <p:spPr>
          <a:xfrm>
            <a:off x="7735824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6291" y="2293315"/>
            <a:ext cx="204826" cy="204826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8147304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850" dirty="0"/>
          </a:p>
        </p:txBody>
      </p:sp>
      <p:sp>
        <p:nvSpPr>
          <p:cNvPr id="66" name="Text 58"/>
          <p:cNvSpPr txBox="1"/>
          <p:nvPr/>
        </p:nvSpPr>
        <p:spPr>
          <a:xfrm>
            <a:off x="7735824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2,125 T</a:t>
            </a:r>
            <a:endParaRPr lang="en-US" sz="1500" dirty="0"/>
          </a:p>
        </p:txBody>
      </p:sp>
      <p:sp>
        <p:nvSpPr>
          <p:cNvPr id="67" name="Text 59"/>
          <p:cNvSpPr txBox="1"/>
          <p:nvPr/>
        </p:nvSpPr>
        <p:spPr>
          <a:xfrm>
            <a:off x="7735824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 portofolio</a:t>
            </a:r>
            <a:endParaRPr lang="en-US" sz="750" dirty="0"/>
          </a:p>
        </p:txBody>
      </p:sp>
      <p:sp>
        <p:nvSpPr>
          <p:cNvPr id="68" name="Text 60"/>
          <p:cNvSpPr txBox="1"/>
          <p:nvPr/>
        </p:nvSpPr>
        <p:spPr>
          <a:xfrm>
            <a:off x="7735824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selam, fregat, LPD, MRO, DEFEND ID</a:t>
            </a:r>
            <a:endParaRPr lang="en-US" sz="750" dirty="0"/>
          </a:p>
        </p:txBody>
      </p:sp>
      <p:sp>
        <p:nvSpPr>
          <p:cNvPr id="69" name="Shape 61"/>
          <p:cNvSpPr/>
          <p:nvPr/>
        </p:nvSpPr>
        <p:spPr>
          <a:xfrm>
            <a:off x="9015984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2"/>
          <p:cNvSpPr/>
          <p:nvPr/>
        </p:nvSpPr>
        <p:spPr>
          <a:xfrm>
            <a:off x="9089136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9603" y="2293315"/>
            <a:ext cx="204826" cy="204826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9500616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digital</a:t>
            </a:r>
            <a:endParaRPr lang="en-US" sz="850" dirty="0"/>
          </a:p>
        </p:txBody>
      </p:sp>
      <p:sp>
        <p:nvSpPr>
          <p:cNvPr id="73" name="Text 64"/>
          <p:cNvSpPr txBox="1"/>
          <p:nvPr/>
        </p:nvSpPr>
        <p:spPr>
          <a:xfrm>
            <a:off x="9089136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200 T</a:t>
            </a:r>
            <a:endParaRPr lang="en-US" sz="1500" dirty="0"/>
          </a:p>
        </p:txBody>
      </p:sp>
      <p:sp>
        <p:nvSpPr>
          <p:cNvPr id="74" name="Text 65"/>
          <p:cNvSpPr txBox="1"/>
          <p:nvPr/>
        </p:nvSpPr>
        <p:spPr>
          <a:xfrm>
            <a:off x="9089136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sz="750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berdaulat</a:t>
            </a: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Rp 50 T</a:t>
            </a:r>
            <a:endParaRPr lang="en-US" sz="750" dirty="0"/>
          </a:p>
        </p:txBody>
      </p:sp>
      <p:sp>
        <p:nvSpPr>
          <p:cNvPr id="75" name="Text 66"/>
          <p:cNvSpPr txBox="1"/>
          <p:nvPr/>
        </p:nvSpPr>
        <p:spPr>
          <a:xfrm>
            <a:off x="9089136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Semikonduktor</a:t>
            </a: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Rp 100 T, pusat data Rp 40 T, </a:t>
            </a:r>
            <a:r>
              <a:rPr lang="en-US" sz="750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kuantum</a:t>
            </a: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Rp 10 T</a:t>
            </a:r>
            <a:endParaRPr lang="en-US" sz="750" dirty="0"/>
          </a:p>
        </p:txBody>
      </p:sp>
      <p:sp>
        <p:nvSpPr>
          <p:cNvPr id="76" name="Text 67"/>
          <p:cNvSpPr txBox="1"/>
          <p:nvPr/>
        </p:nvSpPr>
        <p:spPr>
          <a:xfrm>
            <a:off x="4572000" y="3895344"/>
            <a:ext cx="5660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(kimia, pangan, tekstil, kesehatan) Rp451,9 T. AI &amp; digital diambil dari daftar RKAP (bagian dari Infrastruktur/Lainnya). KDKMP adalah plafon pembiayaan di luar 40 proyek. Nilai kelas C, belum direkonsiliasi.</a:t>
            </a:r>
            <a:endParaRPr lang="en-US" sz="680" dirty="0"/>
          </a:p>
        </p:txBody>
      </p:sp>
      <p:sp>
        <p:nvSpPr>
          <p:cNvPr id="138" name="Shape 29"/>
          <p:cNvSpPr/>
          <p:nvPr/>
        </p:nvSpPr>
        <p:spPr>
          <a:xfrm>
            <a:off x="320040" y="4389120"/>
            <a:ext cx="10049256" cy="2743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429768" y="4480560"/>
            <a:ext cx="384048" cy="38404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8" name="Picture 77" descr="FaExclamationTriangl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39" y="4572731"/>
            <a:ext cx="199704" cy="19970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05256" y="44988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57C2"/>
                </a:solidFill>
                <a:latin typeface="Arial"/>
              </a:rPr>
              <a:t>3–9  </a:t>
            </a:r>
            <a:r>
              <a:rPr sz="1300" b="1">
                <a:solidFill>
                  <a:srgbClr val="0A0A0A"/>
                </a:solidFill>
                <a:latin typeface="Arial"/>
              </a:rPr>
              <a:t>Tujuh masalah struktural: nilai tambah, devisa, dan kapabilitas mengalir ke luar negeri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976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Oval 80"/>
          <p:cNvSpPr/>
          <p:nvPr/>
        </p:nvSpPr>
        <p:spPr>
          <a:xfrm>
            <a:off x="502919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2" name="Picture 81" descr="FaPercen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535" y="5085527"/>
            <a:ext cx="161665" cy="16166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38988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19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Biaya dana tinggi, biaya proyek membengkak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19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9–11%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19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biaya pinjaman bank (contoh PT PAL)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19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Pinjaman lunak luar negeri pun mahal: pengadaan terikat ke negara pemberi, risiko kurs, biaya komitmen.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84708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2024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" name="Picture 89" descr="FaIndustry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4855" y="5085527"/>
            <a:ext cx="161665" cy="161665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80720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Industri lokal tidak dikembangkan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2024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~75%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2024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material kapal PT PAL masih impor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Kandungan lokal rendah (TKDN DEFEND ID 43%); belanja proyek tidak membangun industri dalam negeri.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26440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Oval 96"/>
          <p:cNvSpPr/>
          <p:nvPr/>
        </p:nvSpPr>
        <p:spPr>
          <a:xfrm>
            <a:off x="333756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8" name="Picture 97" descr="FaLink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2175" y="5085527"/>
            <a:ext cx="161665" cy="161665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22452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3756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Rantai pasok domestik tidak pernah dibangun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3756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US$39 miliar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3756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capex bocor ke luar negeri 2027–2032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3756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Pemasok Tier 1–3 belum terkualifikasi; UMKM ±62% PDB tetapi jarang masuk rantai pasok strategis.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8172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475488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6" name="Picture 105" descr="FaMicrochip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9495" y="5085527"/>
            <a:ext cx="161665" cy="161665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64184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5488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Ketergantungan teknologi asing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5488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US$14 miliar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5488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impor pipeline &amp; hilirisasi 2029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5488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Mitra asing memegang HKI; tanpa alih teknologi, kapabilitas tidak terbangun dan ketergantungan berulang.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09904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17220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4" name="Picture 113" descr="FaGem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6815" y="5085527"/>
            <a:ext cx="161665" cy="161665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7059167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220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SDA belum dimanfaatkan penuh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7220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19,3% → 7,7%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220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porsi SDA dalam penerimaan negara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220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Hanya dijual sebagai komoditas; nilai cadangan belum jadi underlying nilai finansial.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51636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758952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2" name="Picture 121" descr="FaFileInvoiceDollar_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4135" y="5085527"/>
            <a:ext cx="161665" cy="161665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847648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8952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Under-invoicing ekspor SDA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8952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PNBP bocor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58952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faktur ekspor di bawah nilai riil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8952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Royalti, pajak, dan devisa dihitung dari harga yang dikecilkan; negara menerima jauh lebih sedikit.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93368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900684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0" name="Picture 129" descr="FaUserSecret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1455" y="5085527"/>
            <a:ext cx="161665" cy="161665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989380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9DBCEB"/>
                </a:solidFill>
                <a:latin typeface="Arial"/>
              </a:rPr>
              <a:t>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0684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Uang gelap di luar sistem keuangan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0684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9DBCEB"/>
                </a:solidFill>
                <a:latin typeface="Arial"/>
              </a:rPr>
              <a:t>Rp7.000 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0684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  <a:latin typeface="Arial"/>
              </a:rPr>
              <a:t>estimasi: korupsi, narkoba, judi online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0684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  <a:latin typeface="Arial"/>
              </a:rPr>
              <a:t>Tidak dipajaki dan tidak membiayai pembangunan; perlu ditarik masuk ke sistem keuangan formal.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29768" y="6766560"/>
            <a:ext cx="9829800" cy="292608"/>
          </a:xfrm>
          <a:prstGeom prst="roundRect">
            <a:avLst>
              <a:gd name="adj" fmla="val 1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02920" y="6766560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Akibatnya: </a:t>
            </a:r>
            <a:r>
              <a:rPr sz="750" b="0">
                <a:solidFill>
                  <a:srgbClr val="FFFFFF"/>
                </a:solidFill>
                <a:latin typeface="Arial"/>
              </a:rPr>
              <a:t>biaya proyek tinggi, nilai tambah dan devisa bocor, dan kekayaan SDA belum berubah menjadi kapabilitas industri. Angka Rp7.000 T dan under-invoicing adalah estimasi yang perlu diverifikasi.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pertanyaan </a:t>
            </a:r>
            <a:r>
              <a:rPr lang="en-US" sz="2200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</a:t>
            </a: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pertanyaan disertai arah jawaban dari kajian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264408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8056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081" y="1340145"/>
            <a:ext cx="245791" cy="24579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69848" y="12252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mentransformasi Danantara?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6344" y="19019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66344" y="2139696"/>
            <a:ext cx="2971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Reposisi menjadi Platform Kapabilitas Industri Nasional: modal → permintaan → pemasok → kapabilitas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&amp; Pelaksanaan Proyek (konsep DSIM), diuji 90 hari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register 40 proyek tersahkan paling lambat Hari ke-45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scorecard: imbal hasil, BUMN lebih kuat, kapabilitas industri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ganda Alpha &amp; Impact; proyek Impact lewat SPV ring-fenced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21608" y="1115568"/>
            <a:ext cx="3264408" cy="3182112"/>
          </a:xfrm>
          <a:prstGeom prst="roundRect">
            <a:avLst>
              <a:gd name="adj" fmla="val 2299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49624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849624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19088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649" y="1340145"/>
            <a:ext cx="245791" cy="24579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71416" y="12252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mengelola BUMN dengan AI multi-agen?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867912" y="19019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3867912" y="2139696"/>
            <a:ext cx="2971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operasi proyek berbasis AI multi-agen di atas master data tunggal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3 bulan, 6 agen: risiko portofolio, bid/no-bid, estimasi biaya, piutang, jadwal, pengadaan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Terhubung baca-saja ke ERP; keputusan material tetap di tangan manusia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2–3 proyek BUMN Karya → perluas hub-and-spoke ke seluruh BUMN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123176" y="1115568"/>
            <a:ext cx="324612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251192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7251192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802368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929" y="1340145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872984" y="12252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DOCK-UP mempercepat kapabilitas industri?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269480" y="1901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7269480" y="2139696"/>
            <a:ext cx="295351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wajib UU 16/2012 (ofset 35% → 85%) dijadikan pesanan bagi pemasok lokal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&amp; MRL sebagai bahasa bersama; volume dilepas hanya saat gerbang G1–G4 lolos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tahun dan pembiayaan mengikuti gerbang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nyata: PT Barata memasok V-Bracket kapal perang PT PAL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4434840"/>
            <a:ext cx="4956048" cy="2697480"/>
          </a:xfrm>
          <a:prstGeom prst="roundRect">
            <a:avLst>
              <a:gd name="adj" fmla="val 2712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48056" y="4562856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448056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4709160" y="4562856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721" y="4659417"/>
            <a:ext cx="245791" cy="245791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69848" y="454456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dampak NRF dan tokenisasi terhadap inflasi, dan bagaimana mengawasinya?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466344" y="5221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466344" y="5458968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Rp1.000 T ≈ 4% PDB; bila dibelanjakan dalam satu tahun, tambahan inflasi ilustratif 0,1–1,0 poin (sasaran BI 2,5% ± 1%)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jalur transmisi, termasuk harga batu bara → tarif listrik PLN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Inflasi NRF: indikator lima lapis, ambang hijau–kuning–merah, umpan balik ke laju penyaluran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dibangun sebelum rupiah pertama; larang pembiayaan moneter. Tokenisasi US$150 juta kecil dampaknya, tetapi tetap kewajiban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413248" y="4434840"/>
            <a:ext cx="495604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541264" y="4562856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5541264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9802368" y="4562856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929" y="4659417"/>
            <a:ext cx="245791" cy="245791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163056" y="454456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Adakah cara mendanai proyek tanpa pinjaman?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5559552" y="5221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5559552" y="5458968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Ekuitas &amp; ko-investasi mitra global/swasta di tingkat proyek, dengan ekuitas Danantara sebagai jangkar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KPBU / pembayaran ketersediaan layanan dan daur ulang aset (asset recycling) melalui INA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 BUMN dan penerimaan SDA yang ditahan di NRF (bukan sekuritisasi)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Ofset &amp; imbal dagang pertahanan; hibah dan blended finance lembaga multilateral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instrumen berbasis arus kas negara masa depan tetap dihitung sebagai utang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pilar menjadi dampak: alur nilai Danantara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→ NRF dan proyek rinci → DOCK-UP → sistem AI multi-agen → dampak ekonomi dan sosial; hasil kembali ke NRF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300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517904"/>
            <a:ext cx="1554480" cy="812800"/>
          </a:xfrm>
          <a:prstGeom prst="roundRect">
            <a:avLst>
              <a:gd name="adj" fmla="val 10000"/>
            </a:avLst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79" y="1609344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FaGem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4" y="1688348"/>
            <a:ext cx="171175" cy="171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160934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Mineral &amp; batu bara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4818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Rp283,9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67636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13,6% portofolio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534412"/>
            <a:ext cx="1554480" cy="812800"/>
          </a:xfrm>
          <a:prstGeom prst="roundRect">
            <a:avLst>
              <a:gd name="adj" fmla="val 10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1479" y="2625852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FaCity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84" y="2704856"/>
            <a:ext cx="171175" cy="1711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" y="262585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Infrastruktur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974388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rial"/>
              </a:rPr>
              <a:t>Rp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 XXX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18414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60,9% portofolio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550920"/>
            <a:ext cx="1554480" cy="812800"/>
          </a:xfrm>
          <a:prstGeom prst="roundRect">
            <a:avLst>
              <a:gd name="adj" fmla="val 10000"/>
            </a:avLst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1479" y="3642359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FaShieldAl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84" y="3721364"/>
            <a:ext cx="171175" cy="1711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6" y="3642359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Industri pertahanan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990896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rial"/>
              </a:rPr>
              <a:t>Rp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 XXX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20065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3,9% portofolio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567428"/>
            <a:ext cx="1554480" cy="8128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1479" y="4658868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FaRobot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84" y="4737872"/>
            <a:ext cx="171175" cy="1711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3816" y="4658868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AI multi-agen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007404"/>
            <a:ext cx="1371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rial"/>
              </a:rPr>
              <a:t>Rp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 XXX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2171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AI berdaulat Rp13,8 T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96065E2-49D2-B2CA-DA77-10F4AFCF7C77}"/>
              </a:ext>
            </a:extLst>
          </p:cNvPr>
          <p:cNvGrpSpPr/>
          <p:nvPr/>
        </p:nvGrpSpPr>
        <p:grpSpPr>
          <a:xfrm>
            <a:off x="2194560" y="892678"/>
            <a:ext cx="1645920" cy="932688"/>
            <a:chOff x="2194560" y="1517904"/>
            <a:chExt cx="1645920" cy="932688"/>
          </a:xfrm>
        </p:grpSpPr>
        <p:sp>
          <p:nvSpPr>
            <p:cNvPr id="30" name="Rounded Rectangle 29"/>
            <p:cNvSpPr/>
            <p:nvPr/>
          </p:nvSpPr>
          <p:spPr>
            <a:xfrm>
              <a:off x="2194560" y="1517904"/>
              <a:ext cx="1645920" cy="932688"/>
            </a:xfrm>
            <a:prstGeom prst="roundRect">
              <a:avLst>
                <a:gd name="adj" fmla="val 10000"/>
              </a:avLst>
            </a:prstGeom>
            <a:solidFill>
              <a:srgbClr val="E3EDFB"/>
            </a:solidFill>
            <a:ln w="15875">
              <a:solidFill>
                <a:srgbClr val="0B57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Oval 30"/>
            <p:cNvSpPr/>
            <p:nvPr/>
          </p:nvSpPr>
          <p:spPr>
            <a:xfrm>
              <a:off x="2267712" y="1591056"/>
              <a:ext cx="292608" cy="292608"/>
            </a:xfrm>
            <a:prstGeom prst="ellipse">
              <a:avLst/>
            </a:prstGeom>
            <a:solidFill>
              <a:srgbClr val="0B57C2"/>
            </a:solidFill>
            <a:ln w="9525">
              <a:solidFill>
                <a:srgbClr val="0B57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2" name="Picture 31" descr="FaPiggyBank_w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37937" y="1661281"/>
              <a:ext cx="152156" cy="15215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2615184" y="1591056"/>
              <a:ext cx="1170432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1" dirty="0">
                  <a:solidFill>
                    <a:srgbClr val="0A0A0A"/>
                  </a:solidFill>
                  <a:latin typeface="Arial"/>
                </a:rPr>
                <a:t>Natural Resource Fund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267712" y="1929384"/>
              <a:ext cx="1499616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680" b="0">
                  <a:solidFill>
                    <a:srgbClr val="0A0A0A"/>
                  </a:solidFill>
                  <a:latin typeface="Arial"/>
                </a:rPr>
                <a:t>Cadangan minerba milik negara jadi aset dasar; valuasi min. Rp10.000 T; manfaat fiskal Rp1.000 T dalam 3 tahun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4160520" y="1517904"/>
            <a:ext cx="178308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4233672" y="1591056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FaIndustr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3897" y="1661281"/>
            <a:ext cx="152156" cy="1521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81144" y="1591056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Industri hulu &amp; hilirisasi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3672" y="1909572"/>
            <a:ext cx="163677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Nikel HPAL, bauksit–alumina, tembaga, material baterai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2534412"/>
            <a:ext cx="178308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4233672" y="2607564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2" name="Picture 41" descr="FaHardHa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3897" y="2677789"/>
            <a:ext cx="152156" cy="1521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81144" y="2607564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infrastruktur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3672" y="2926080"/>
            <a:ext cx="163677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Giant Sea Wall, energi, WtE, kota cerdas, perumahan, air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3550920"/>
            <a:ext cx="178308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4233672" y="3624072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7" name="Picture 46" descr="FaShi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3897" y="3694297"/>
            <a:ext cx="152156" cy="15215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581144" y="3624072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pertahanan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3672" y="3942588"/>
            <a:ext cx="163677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Kapal selam, fregat, LPD, MRO, DEFEND ID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60520" y="4567428"/>
            <a:ext cx="178308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Oval 50"/>
          <p:cNvSpPr/>
          <p:nvPr/>
        </p:nvSpPr>
        <p:spPr>
          <a:xfrm>
            <a:off x="4233672" y="4640580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2" name="Picture 51" descr="FaCog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3897" y="4710805"/>
            <a:ext cx="152156" cy="1521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581144" y="4640580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AI &amp; digital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33672" y="4959096"/>
            <a:ext cx="163677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6 agen: risiko, bid/no-bid, biaya, piutang, jadwal, pengadaan; KDKMP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1517904"/>
            <a:ext cx="502920" cy="2844800"/>
          </a:xfrm>
          <a:prstGeom prst="roundRect">
            <a:avLst>
              <a:gd name="adj" fmla="val 1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63640" y="1517904"/>
            <a:ext cx="502920" cy="2844800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DOCK-UP</a:t>
            </a:r>
          </a:p>
          <a:p>
            <a:pPr algn="ctr"/>
            <a:r>
              <a:rPr sz="750" b="0">
                <a:solidFill>
                  <a:srgbClr val="9DBCEB"/>
                </a:solidFill>
                <a:latin typeface="Arial"/>
              </a:rPr>
              <a:t>Develop · Off-taker · Certification · Upgrading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1517904"/>
            <a:ext cx="502920" cy="3860800"/>
          </a:xfrm>
          <a:prstGeom prst="roundRect">
            <a:avLst>
              <a:gd name="adj" fmla="val 15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86600" y="1517904"/>
            <a:ext cx="502920" cy="3860800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SISTEM AI MULTI-AGEN</a:t>
            </a:r>
          </a:p>
          <a:p>
            <a:pPr algn="ctr"/>
            <a:r>
              <a:rPr sz="750" b="0">
                <a:solidFill>
                  <a:srgbClr val="E3EDFB"/>
                </a:solidFill>
                <a:latin typeface="Arial"/>
              </a:rPr>
              <a:t>master data tunggal · control tower portofolio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09560" y="1517904"/>
            <a:ext cx="2459736" cy="3860800"/>
          </a:xfrm>
          <a:prstGeom prst="roundRect">
            <a:avLst>
              <a:gd name="adj" fmla="val 4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Oval 59"/>
          <p:cNvSpPr/>
          <p:nvPr/>
        </p:nvSpPr>
        <p:spPr>
          <a:xfrm>
            <a:off x="8001000" y="1609344"/>
            <a:ext cx="329184" cy="329184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1" name="Picture 60" descr="FaChartLin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0004" y="1688348"/>
            <a:ext cx="171175" cy="17117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03336" y="1609344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Dampak ekonomi &amp; sosial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37576" y="2006600"/>
            <a:ext cx="2203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5A6472"/>
                </a:solidFill>
                <a:latin typeface="Arial"/>
              </a:rPr>
              <a:t>EKONOMI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37576" y="2198239"/>
            <a:ext cx="220370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B57C2"/>
                </a:solidFill>
                <a:latin typeface="Arial"/>
              </a:rPr>
              <a:t>+</a:t>
            </a:r>
            <a:r>
              <a:rPr lang="en-US" sz="1200" b="1" dirty="0">
                <a:solidFill>
                  <a:srgbClr val="0B57C2"/>
                </a:solidFill>
                <a:latin typeface="Arial"/>
              </a:rPr>
              <a:t> X,XX</a:t>
            </a:r>
            <a:r>
              <a:rPr sz="1200" b="1" dirty="0">
                <a:solidFill>
                  <a:srgbClr val="0B57C2"/>
                </a:solidFill>
                <a:latin typeface="Arial"/>
              </a:rPr>
              <a:t>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37576" y="24130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puncak level PDB 2030; +0,74% permanen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37576" y="2706239"/>
            <a:ext cx="220370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B57C2"/>
                </a:solidFill>
                <a:latin typeface="Arial"/>
              </a:rPr>
              <a:t>Rp</a:t>
            </a:r>
            <a:r>
              <a:rPr lang="en-US" sz="1200" b="1" dirty="0">
                <a:solidFill>
                  <a:srgbClr val="0B57C2"/>
                </a:solidFill>
                <a:latin typeface="Arial"/>
              </a:rPr>
              <a:t> XXX </a:t>
            </a:r>
            <a:r>
              <a:rPr sz="1200" b="1" dirty="0">
                <a:solidFill>
                  <a:srgbClr val="0B57C2"/>
                </a:solidFill>
                <a:latin typeface="Arial"/>
              </a:rPr>
              <a:t>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37576" y="29210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pajak tambahan selama pembangunan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37576" y="31877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B57C2"/>
                </a:solidFill>
                <a:latin typeface="Arial"/>
              </a:rPr>
              <a:t>US$2,4–7,2 </a:t>
            </a:r>
            <a:r>
              <a:rPr sz="1200" b="1" dirty="0" err="1">
                <a:solidFill>
                  <a:srgbClr val="0B57C2"/>
                </a:solidFill>
                <a:latin typeface="Arial"/>
              </a:rPr>
              <a:t>miliar</a:t>
            </a:r>
            <a:endParaRPr sz="1200" b="1" dirty="0">
              <a:solidFill>
                <a:srgbClr val="0B57C2"/>
              </a:solidFill>
              <a:latin typeface="Arial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37576" y="34290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hemat devisa bila 10–30% impor dilokalkan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37576" y="3721100"/>
            <a:ext cx="2203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5A6472"/>
                </a:solidFill>
                <a:latin typeface="Arial"/>
              </a:rPr>
              <a:t>SOSIAL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37576" y="38862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9,4–11,4 jt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37576" y="41275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tahun-kerja; 0,98–1,24 jt pekerjaan tetap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37576" y="43942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4,68% → ~4,0%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37576" y="46355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tingkat pengangguran terbuka 2028–2030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37576" y="49022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80.000 KDKMP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37576" y="51435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UKM &amp; koperasi desa masuk rantai pasok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840480" y="1930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874519" y="3086100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874519" y="4102100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874519" y="5118100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995928" y="2451100"/>
            <a:ext cx="0" cy="1371600"/>
          </a:xfrm>
          <a:prstGeom prst="line">
            <a:avLst/>
          </a:prstGeom>
          <a:ln w="22225">
            <a:solidFill>
              <a:srgbClr val="0B5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995928" y="2806700"/>
            <a:ext cx="164592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995928" y="3822700"/>
            <a:ext cx="164592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943600" y="1930400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766559" y="1930400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943600" y="2946400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766559" y="2946400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943600" y="3962400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66559" y="3962400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943600" y="4978400"/>
            <a:ext cx="114300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589520" y="1930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89520" y="2946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589520" y="3962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589520" y="4978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39428" y="1261872"/>
            <a:ext cx="0" cy="256032"/>
          </a:xfrm>
          <a:prstGeom prst="line">
            <a:avLst/>
          </a:prstGeom>
          <a:ln w="19050">
            <a:solidFill>
              <a:srgbClr val="062A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>
            <a:cxnSpLocks/>
          </p:cNvCxnSpPr>
          <p:nvPr/>
        </p:nvCxnSpPr>
        <p:spPr>
          <a:xfrm flipH="1">
            <a:off x="3017520" y="972703"/>
            <a:ext cx="6121908" cy="0"/>
          </a:xfrm>
          <a:prstGeom prst="line">
            <a:avLst/>
          </a:prstGeom>
          <a:ln w="19050">
            <a:solidFill>
              <a:srgbClr val="062A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017520" y="949254"/>
            <a:ext cx="0" cy="256032"/>
          </a:xfrm>
          <a:prstGeom prst="line">
            <a:avLst/>
          </a:prstGeom>
          <a:ln w="19050">
            <a:solidFill>
              <a:srgbClr val="062A6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160520" y="1161287"/>
            <a:ext cx="33832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" name="Picture 99" descr="FaRedo_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1843" y="1214323"/>
            <a:ext cx="95097" cy="9509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4407408" y="1161287"/>
            <a:ext cx="3127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062A66"/>
                </a:solidFill>
                <a:latin typeface="Arial"/>
              </a:rPr>
              <a:t>Dividen, pajak &amp; penerimaan SDA kembali ke NRF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94560" y="4640580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>
                <a:solidFill>
                  <a:srgbClr val="0B57C2"/>
                </a:solidFill>
                <a:latin typeface="Arial"/>
              </a:rPr>
              <a:t>— pendanaan NRF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94560" y="4805172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>
                <a:solidFill>
                  <a:srgbClr val="5A6472"/>
                </a:solidFill>
                <a:latin typeface="Arial"/>
              </a:rPr>
              <a:t>— permintaan pilar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20040" y="6272784"/>
            <a:ext cx="1004925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429768" y="6501384"/>
            <a:ext cx="384048" cy="38404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6" name="Picture 105" descr="FaSitemap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939" y="6593555"/>
            <a:ext cx="199704" cy="19970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905256" y="6364224"/>
            <a:ext cx="16002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Arial"/>
              </a:rPr>
              <a:t>Penggerak kelembagaan</a:t>
            </a:r>
          </a:p>
          <a:p>
            <a:pPr algn="l"/>
            <a:r>
              <a:rPr sz="700" b="0">
                <a:solidFill>
                  <a:srgbClr val="5A6472"/>
                </a:solidFill>
                <a:latin typeface="Arial"/>
              </a:rPr>
              <a:t>BPI mengorkestrasi</a:t>
            </a:r>
          </a:p>
        </p:txBody>
      </p:sp>
      <p:sp>
        <p:nvSpPr>
          <p:cNvPr id="108" name="Oval 107"/>
          <p:cNvSpPr/>
          <p:nvPr/>
        </p:nvSpPr>
        <p:spPr>
          <a:xfrm>
            <a:off x="2606040" y="6364224"/>
            <a:ext cx="3246120" cy="658368"/>
          </a:xfrm>
          <a:prstGeom prst="ellipse">
            <a:avLst/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971800" y="6382512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A0A0A"/>
                </a:solidFill>
                <a:latin typeface="Arial"/>
              </a:rPr>
              <a:t>DIM · DAM</a:t>
            </a:r>
          </a:p>
          <a:p>
            <a:pPr algn="ctr"/>
            <a:r>
              <a:rPr sz="700" b="0">
                <a:solidFill>
                  <a:srgbClr val="0A0A0A"/>
                </a:solidFill>
                <a:latin typeface="Arial"/>
              </a:rPr>
              <a:t>Modal, investasi, dan pengelolaan aset BUMN: menyalurkan NRF dan dividen</a:t>
            </a:r>
          </a:p>
        </p:txBody>
      </p:sp>
      <p:sp>
        <p:nvSpPr>
          <p:cNvPr id="110" name="Oval 109"/>
          <p:cNvSpPr/>
          <p:nvPr/>
        </p:nvSpPr>
        <p:spPr>
          <a:xfrm>
            <a:off x="6080760" y="6364224"/>
            <a:ext cx="3246120" cy="658368"/>
          </a:xfrm>
          <a:prstGeom prst="ellipse">
            <a:avLst/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446520" y="6382512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DDMF · DSIM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Pengembangan proyek dan industri strategis: menjalankan proyek rinci dan DOCK-UP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17500" y="5511800"/>
            <a:ext cx="10045700" cy="660400"/>
          </a:xfrm>
          <a:prstGeom prst="roundRect">
            <a:avLst>
              <a:gd name="adj" fmla="val 15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44500" y="5588000"/>
            <a:ext cx="139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DOCK-UP</a:t>
            </a:r>
          </a:p>
          <a:p>
            <a:pPr algn="l"/>
            <a:r>
              <a:rPr sz="650" b="0">
                <a:solidFill>
                  <a:srgbClr val="9DBCEB"/>
                </a:solidFill>
                <a:latin typeface="Arial"/>
              </a:rPr>
              <a:t>Belanja proyek jadi pesanan pemasok lokal; memutus lingkaran integrator–UKM–bank yang saling menunggu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930400" y="5588000"/>
            <a:ext cx="1498600" cy="5080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006600" y="5626100"/>
            <a:ext cx="1346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DBCEB"/>
                </a:solidFill>
                <a:latin typeface="Arial"/>
              </a:rPr>
              <a:t>D · </a:t>
            </a:r>
            <a:r>
              <a:rPr sz="800" b="1">
                <a:solidFill>
                  <a:srgbClr val="FFFFFF"/>
                </a:solidFill>
                <a:latin typeface="Arial"/>
              </a:rPr>
              <a:t>Develop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BUMN integrator membina pemasok lokal: alih teknologi &amp; supervisi produksi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3454400" y="5797550"/>
            <a:ext cx="101600" cy="88900"/>
          </a:xfrm>
          <a:prstGeom prst="rightArrow">
            <a:avLst/>
          </a:prstGeom>
          <a:solidFill>
            <a:srgbClr val="9D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3581400" y="5588000"/>
            <a:ext cx="1498600" cy="5080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657600" y="5626100"/>
            <a:ext cx="1346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DBCEB"/>
                </a:solidFill>
                <a:latin typeface="Arial"/>
              </a:rPr>
              <a:t>O · </a:t>
            </a:r>
            <a:r>
              <a:rPr sz="800" b="1">
                <a:solidFill>
                  <a:srgbClr val="FFFFFF"/>
                </a:solidFill>
                <a:latin typeface="Arial"/>
              </a:rPr>
              <a:t>Off-taker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Kontrak payung 3–5 th; ofset UU 16/2012 (35→85%) jadi pesanan nyata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5105400" y="5797550"/>
            <a:ext cx="101600" cy="88900"/>
          </a:xfrm>
          <a:prstGeom prst="rightArrow">
            <a:avLst/>
          </a:prstGeom>
          <a:solidFill>
            <a:srgbClr val="9D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5232400" y="5588000"/>
            <a:ext cx="1498600" cy="5080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308600" y="5626100"/>
            <a:ext cx="1346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DBCEB"/>
                </a:solidFill>
                <a:latin typeface="Arial"/>
              </a:rPr>
              <a:t>C · </a:t>
            </a:r>
            <a:r>
              <a:rPr sz="800" b="1">
                <a:solidFill>
                  <a:srgbClr val="FFFFFF"/>
                </a:solidFill>
                <a:latin typeface="Arial"/>
              </a:rPr>
              <a:t>Certification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Mutu diverifikasi pihak ketiga; TRL/MRL jadi bahasa bersama</a:t>
            </a:r>
          </a:p>
        </p:txBody>
      </p:sp>
      <p:sp>
        <p:nvSpPr>
          <p:cNvPr id="123" name="Right Arrow 122"/>
          <p:cNvSpPr/>
          <p:nvPr/>
        </p:nvSpPr>
        <p:spPr>
          <a:xfrm>
            <a:off x="6756400" y="5797550"/>
            <a:ext cx="101600" cy="88900"/>
          </a:xfrm>
          <a:prstGeom prst="rightArrow">
            <a:avLst/>
          </a:prstGeom>
          <a:solidFill>
            <a:srgbClr val="9D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6883400" y="5588000"/>
            <a:ext cx="1498600" cy="5080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959600" y="5626100"/>
            <a:ext cx="1346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DBCEB"/>
                </a:solidFill>
                <a:latin typeface="Arial"/>
              </a:rPr>
              <a:t>UP · </a:t>
            </a:r>
            <a:r>
              <a:rPr sz="800" b="1">
                <a:solidFill>
                  <a:srgbClr val="FFFFFF"/>
                </a:solidFill>
                <a:latin typeface="Arial"/>
              </a:rPr>
              <a:t>Upgrading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Volume &amp; kredit dibuka per gerbang G1–G4: dari build-to-print ke design &amp; build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09000" y="5588000"/>
            <a:ext cx="17272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Bukti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V-Bracket PT Barata untuk kapal PT PAL: waktu &amp; biaya turun &gt;50% vs impor. Tanpa DOCK-UP, uang proyek mengalir ke impor.</a:t>
            </a:r>
          </a:p>
        </p:txBody>
      </p:sp>
      <p:cxnSp>
        <p:nvCxnSpPr>
          <p:cNvPr id="129" name="Connector 78">
            <a:extLst>
              <a:ext uri="{FF2B5EF4-FFF2-40B4-BE49-F238E27FC236}">
                <a16:creationId xmlns:a16="http://schemas.microsoft.com/office/drawing/2014/main" id="{47805D96-1A35-06F4-1EAD-22A42F1F1896}"/>
              </a:ext>
            </a:extLst>
          </p:cNvPr>
          <p:cNvCxnSpPr/>
          <p:nvPr/>
        </p:nvCxnSpPr>
        <p:spPr>
          <a:xfrm>
            <a:off x="1874518" y="2017346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Narasi dampak: PDB, pekerjaan, fiskal, devisa, dan sosial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ilustratif atas pipeline Rp2.091 T, 2027–2032; angka bruto, belum dikurangi efek pengalihan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300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170432"/>
            <a:ext cx="21899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+1,55%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36192"/>
            <a:ext cx="21899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</a:rPr>
              <a:t>Puncak level PDB 2030; permanen +0,74% ≈ Rp260 T/tahun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6644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6372" y="1170432"/>
            <a:ext cx="21899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9,4–11,4 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6372" y="1536192"/>
            <a:ext cx="21899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Tahun-kerja selama pembangunan; 0,98–1,24 jt pekerjaan tetap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22976" y="1170432"/>
            <a:ext cx="21899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Rp169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1536192"/>
            <a:ext cx="21899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Pajak tambahan selama pembangunan; lalu +Rp24 T/tahun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9852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9579" y="1170432"/>
            <a:ext cx="21899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US$2,4–7,2 miliar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9579" y="1536192"/>
            <a:ext cx="21899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Hemat devisa bila 10–30% barang impor dilokalkan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9768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FaChartLi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" y="2254910"/>
            <a:ext cx="190195" cy="1901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6968" y="2167128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624328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+1,55% → +0,74%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2935224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Selama konstruksi pengganda investasi publik naik dari 0,5 ke 1,2. Tambahan PDB kumulatif ≈Rp1.819 T: infrastruktur ≈2/3 efek pembangunan, SDA ≈2/5 efek permanen. Setelah selesai, PDB tetap ≈0,74% lebih tinggi; dengan efisiensi investasi, puncak bisa 2,0%.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6644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76372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Fa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154" y="2254910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33572" y="2167128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Lapangan kerja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6372" y="2624328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2,56–2,66 jt pekerjaan/tahun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6372" y="2935224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Puncak 2028–2030. Infrastruktur paling padat karya (≈6.300 tahun-kerja per Rp1 T, SDA 4.600, pertahanan 3.600). Pengangguran terbuka turun dari 4,68% ke ≈4,0%. Rekrutmen lokal dan vokasi menentukan berapa yang jatuh ke pekerja Indonesia.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3248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5522976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FaShoppingC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758" y="2254910"/>
            <a:ext cx="190195" cy="1901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80176" y="2167128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Konsumsi rumah tangga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2976" y="2624328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Rp79 T upah/tahun (2029)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2976" y="2935224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≈2,0 juta pekerja di lokasi dan pemasok menerima upah ≈Rp79 T. Rp40–63 T merupakan pendapatan baru yang menambah konsumsi Rp30–53 T (0,10–0,18% PDB), lalu mendorong PDB 0,2–0,4% pada putaran berikutnya.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9852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69579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Picture 37" descr="FaLandma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362" y="2254910"/>
            <a:ext cx="190195" cy="19019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26780" y="2167128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Penerimaan negara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9579" y="2624328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Rp169 T + Rp24 T/tahun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9579" y="2935224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Pajak tambahan selama pembangunan Rp169 T, lalu ≈Rp24 T per tahun dari kapasitas permanen. NRF menambah manfaat fiskal Rp100 T pada tahun ke-1 dan Rp1.000 T dalam 3 tahun, memulihkan peran SDA yang porsinya turun dari 19,3% ke 7,7%.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429768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4" name="Picture 43" descr="FaExchang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" y="4751222"/>
            <a:ext cx="190195" cy="19019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6968" y="4663440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Devisa &amp; neraca pembayaran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" y="5120640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US$39 miliar bocor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5431536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≈US$6,5 miliar/tahun belanja modal mengalir ke luar negeri (≈5% ekspor SDA 2025). Mengalihkan 10–30% barang impor ke pemasok DOCK-UP menghemat devisa US$2,4–7,2 miliar dan menambah nilai tambah Rp23–68 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66644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2976372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0" name="Picture 49" descr="FaHandshak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4154" y="4751222"/>
            <a:ext cx="190195" cy="19019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433572" y="4663440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Industri lokal, UKM &amp; desa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6372" y="5120640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Ofset 35% → 85%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6372" y="5431536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Permintaan wajib UU 16/2012 menjadi pesanan bagi pemasok lokal. Gerbang G1–G4 membawa UKM dari build-to-print ke design-and-build (90–271 ribu tahun-kerja). 80.000 KDKMP menyalurkan manfaat sampai desa dengan transaksi tertelusur.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13248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5522976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6" name="Picture 55" descr="Fa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758" y="4751222"/>
            <a:ext cx="190195" cy="19019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980176" y="4663440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Pertumbuhan 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2976" y="5120640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5,1% → 6,25% → 6,8% → 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22976" y="5431536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Pengungkit SDA dan pipeline membawa pertumbuhan 2029 ke ≈6,25%, efisiensi investasi ke ≈6,8%; sisa 1,2 poin dari reformasi non-SDA. Target investasi ≈33,5% PDB dengan ICOR ≈4,2; AI multi-agen membantu menekan ICOR lewat kendali biaya, jadwal, dan pengadaan.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9852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Oval 60"/>
          <p:cNvSpPr/>
          <p:nvPr/>
        </p:nvSpPr>
        <p:spPr>
          <a:xfrm>
            <a:off x="8069579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2" name="Picture 61" descr="FaThermometerHalf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7362" y="4751222"/>
            <a:ext cx="190195" cy="19019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526780" y="4663440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Inflasi &amp; risiko 2032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69579" y="5120640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+0,1–1,0 poin inflasi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69579" y="5431536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Bila Rp1.000 T NRF (≈4% PDB) dibelanjakan dalam setahun, inflasi naik 0,1–1,0 poin. Investasi turun dari Rp409 T (2031) ke Rp87 T (2032) memangkas pertumbuhan ≈0,7 poin. Respons: penyaluran bertahap, pemantau inflasi, pipeline penerus sejak 2030.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6931152"/>
            <a:ext cx="10049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5A6472"/>
                </a:solidFill>
                <a:latin typeface="Arial"/>
              </a:rPr>
              <a:t>Catatan: model ilustratif (kelas D). Pekerjaan, PDB, dan pajak dihitung atas pipeline Rp2.091 T; lokalisasi 10–30% adalah skenario terpisah dan tidak dijumlahkan dengan dampak PDB.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1903</Words>
  <Application>Microsoft Office PowerPoint</Application>
  <PresentationFormat>Custom</PresentationFormat>
  <Paragraphs>224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Infografis Ringkasan Kajian Danantara</dc:title>
  <dc:subject>PptxGenJS Presentation</dc:subject>
  <dc:creator>PptxGenJS</dc:creator>
  <cp:lastModifiedBy>H W Bowo</cp:lastModifiedBy>
  <cp:revision>5</cp:revision>
  <dcterms:created xsi:type="dcterms:W3CDTF">2026-10-12T21:45:17Z</dcterms:created>
  <dcterms:modified xsi:type="dcterms:W3CDTF">2026-10-16T12:13:12Z</dcterms:modified>
</cp:coreProperties>
</file>