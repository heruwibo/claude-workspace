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9" r:id="rId4"/>
    <p:sldId id="260" r:id="rId5"/>
  </p:sldIdLst>
  <p:sldSz cx="10688638" cy="7562850"/>
  <p:notesSz cx="7562850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130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5103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2.png"/><Relationship Id="rId7" Type="http://schemas.openxmlformats.org/officeDocument/2006/relationships/image" Target="../media/image10.png"/><Relationship Id="rId12" Type="http://schemas.openxmlformats.org/officeDocument/2006/relationships/image" Target="../media/image3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24.png"/><Relationship Id="rId10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56032"/>
            <a:ext cx="9317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Danantara</a:t>
            </a:r>
            <a:r>
              <a:rPr lang="en-US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:Dari </a:t>
            </a:r>
            <a:r>
              <a:rPr lang="en-US" b="1" dirty="0" err="1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Konsolidasi</a:t>
            </a:r>
            <a:r>
              <a:rPr lang="en-US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Aset </a:t>
            </a:r>
            <a:r>
              <a:rPr lang="en-US" b="1" dirty="0" err="1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Menjadi</a:t>
            </a:r>
            <a:r>
              <a:rPr lang="en-US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Platform </a:t>
            </a:r>
            <a:r>
              <a:rPr lang="en-US" b="1" dirty="0" err="1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Kapabilitas</a:t>
            </a:r>
            <a:r>
              <a:rPr lang="en-US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Industri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713232"/>
            <a:ext cx="9317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Kondisi saat ini · portofolio strategis Rp5.335 T · tujuh masalah struktural yang menahan nilai tambah nasional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802368" y="274320"/>
            <a:ext cx="566928" cy="5669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802368" y="274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E3EDFB"/>
          </a:solidFill>
          <a:ln w="9525">
            <a:solidFill>
              <a:srgbClr val="E3ED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29768" y="1207008"/>
            <a:ext cx="384048" cy="38404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259" y="1291499"/>
            <a:ext cx="215067" cy="21506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05256" y="122529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Kondisi Danantara saat ini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9768" y="1682496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21208" y="173736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US$600 miliar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21208" y="201168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 awal; target kapasitas ~US$982 miliar (≈Rp15.000 T)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2331720" y="1682496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2423160" y="173736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US$14 miliar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423160" y="201168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Rencana investasi 2026: 50% pasar publik, 50% sektor riil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29768" y="246888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521208" y="2523744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US$1,5 miliar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21208" y="2798064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Surat utang DIM Juni 2026; imbal hasil 5,65%, permintaan ~3,07×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2331720" y="2468880"/>
            <a:ext cx="1810512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2423160" y="2523744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Rp28 T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2423160" y="2798064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Estimasi kerugian 2025 empat BUMN Karya; anggaran infra turun ~45%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429768" y="3273552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0A0A0A"/>
          </a:solidFill>
          <a:ln w="9525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429768" y="327355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BPI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Badan Pelaksana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1389888" y="3273552"/>
            <a:ext cx="85953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1389888" y="3273552"/>
            <a:ext cx="859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 · COO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Kelola BUMN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2304288" y="3273552"/>
            <a:ext cx="85953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2304288" y="3273552"/>
            <a:ext cx="859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 · CIO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Investasi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3218688" y="3273552"/>
            <a:ext cx="859536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3218688" y="3273552"/>
            <a:ext cx="859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DDMF · CTO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Proyek pembangunan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429768" y="3803904"/>
            <a:ext cx="3712464" cy="347472"/>
          </a:xfrm>
          <a:prstGeom prst="roundRect">
            <a:avLst>
              <a:gd name="adj" fmla="val 13158"/>
            </a:avLst>
          </a:prstGeom>
          <a:solidFill>
            <a:srgbClr val="0A0A0A"/>
          </a:solidFill>
          <a:ln w="9525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502920" y="38039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Akses pasar terbukti, tetapi imbal hasil, nilai BUMN, dan dampak industri belum dapat diukur. Mandat industrialisasi belum tampak.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4434840" y="1115568"/>
            <a:ext cx="5934456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4544568" y="1207008"/>
            <a:ext cx="384048" cy="384048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9059" y="1291499"/>
            <a:ext cx="215067" cy="215067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5020056" y="1225296"/>
            <a:ext cx="5248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Portofolio strategis · Rp5.335 T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4572000" y="1682496"/>
            <a:ext cx="300719" cy="237744"/>
          </a:xfrm>
          <a:prstGeom prst="rect">
            <a:avLst/>
          </a:prstGeom>
          <a:solidFill>
            <a:srgbClr val="062A6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4872719" y="1682496"/>
            <a:ext cx="2621209" cy="237744"/>
          </a:xfrm>
          <a:prstGeom prst="rect">
            <a:avLst/>
          </a:prstGeom>
          <a:solidFill>
            <a:srgbClr val="0B57C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 txBox="1"/>
          <p:nvPr/>
        </p:nvSpPr>
        <p:spPr>
          <a:xfrm>
            <a:off x="4923519" y="1682496"/>
            <a:ext cx="251960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Infrastruktur 46,4% (termasuk Giant Sea Wall)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7493929" y="1682496"/>
            <a:ext cx="2250897" cy="237744"/>
          </a:xfrm>
          <a:prstGeom prst="rect">
            <a:avLst/>
          </a:prstGeom>
          <a:solidFill>
            <a:srgbClr val="0A0A0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7"/>
          <p:cNvSpPr/>
          <p:nvPr/>
        </p:nvSpPr>
        <p:spPr>
          <a:xfrm>
            <a:off x="9744826" y="1682496"/>
            <a:ext cx="478673" cy="237744"/>
          </a:xfrm>
          <a:prstGeom prst="rect">
            <a:avLst/>
          </a:prstGeom>
          <a:solidFill>
            <a:srgbClr val="9DBCE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 txBox="1"/>
          <p:nvPr/>
        </p:nvSpPr>
        <p:spPr>
          <a:xfrm>
            <a:off x="9080500" y="1943100"/>
            <a:ext cx="1143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Lainnya 8,5%</a:t>
            </a:r>
            <a:endParaRPr lang="en-US" sz="750" dirty="0"/>
          </a:p>
        </p:txBody>
      </p:sp>
      <p:sp>
        <p:nvSpPr>
          <p:cNvPr id="43" name="Text 39"/>
          <p:cNvSpPr txBox="1"/>
          <p:nvPr/>
        </p:nvSpPr>
        <p:spPr>
          <a:xfrm>
            <a:off x="4572000" y="1943100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Mineral 5,3%</a:t>
            </a:r>
            <a:endParaRPr lang="en-US" sz="650" dirty="0"/>
          </a:p>
        </p:txBody>
      </p:sp>
      <p:sp>
        <p:nvSpPr>
          <p:cNvPr id="44" name="Shape 40"/>
          <p:cNvSpPr/>
          <p:nvPr/>
        </p:nvSpPr>
        <p:spPr>
          <a:xfrm>
            <a:off x="4572000" y="2139696"/>
            <a:ext cx="1261872" cy="1719072"/>
          </a:xfrm>
          <a:prstGeom prst="roundRect">
            <a:avLst>
              <a:gd name="adj" fmla="val 5797"/>
            </a:avLst>
          </a:prstGeom>
          <a:solidFill>
            <a:srgbClr val="E3EDFB"/>
          </a:solidFill>
          <a:ln w="9525">
            <a:solidFill>
              <a:srgbClr val="E3ED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1"/>
          <p:cNvSpPr/>
          <p:nvPr/>
        </p:nvSpPr>
        <p:spPr>
          <a:xfrm>
            <a:off x="4645152" y="2212848"/>
            <a:ext cx="365760" cy="365760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5619" y="2293315"/>
            <a:ext cx="204826" cy="204826"/>
          </a:xfrm>
          <a:prstGeom prst="rect">
            <a:avLst/>
          </a:prstGeom>
        </p:spPr>
      </p:pic>
      <p:sp>
        <p:nvSpPr>
          <p:cNvPr id="47" name="Text 42"/>
          <p:cNvSpPr txBox="1"/>
          <p:nvPr/>
        </p:nvSpPr>
        <p:spPr>
          <a:xfrm>
            <a:off x="5056632" y="22128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Mineral &amp; hilirisasi</a:t>
            </a:r>
            <a:endParaRPr lang="en-US" sz="850" dirty="0"/>
          </a:p>
        </p:txBody>
      </p:sp>
      <p:sp>
        <p:nvSpPr>
          <p:cNvPr id="48" name="Text 43"/>
          <p:cNvSpPr txBox="1"/>
          <p:nvPr/>
        </p:nvSpPr>
        <p:spPr>
          <a:xfrm>
            <a:off x="4645152" y="263347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Rp283,9 T</a:t>
            </a:r>
            <a:endParaRPr lang="en-US" sz="1500" dirty="0"/>
          </a:p>
        </p:txBody>
      </p:sp>
      <p:sp>
        <p:nvSpPr>
          <p:cNvPr id="49" name="Text 44"/>
          <p:cNvSpPr txBox="1"/>
          <p:nvPr/>
        </p:nvSpPr>
        <p:spPr>
          <a:xfrm>
            <a:off x="4645152" y="2907792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5,3% portofolio</a:t>
            </a:r>
            <a:endParaRPr lang="en-US" sz="750" dirty="0"/>
          </a:p>
        </p:txBody>
      </p:sp>
      <p:sp>
        <p:nvSpPr>
          <p:cNvPr id="50" name="Text 45"/>
          <p:cNvSpPr txBox="1"/>
          <p:nvPr/>
        </p:nvSpPr>
        <p:spPr>
          <a:xfrm>
            <a:off x="4645152" y="3099816"/>
            <a:ext cx="1115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Nikel HPAL, bauksit–alumina, tembaga, material baterai</a:t>
            </a:r>
            <a:endParaRPr lang="en-US" sz="750" dirty="0"/>
          </a:p>
        </p:txBody>
      </p:sp>
      <p:sp>
        <p:nvSpPr>
          <p:cNvPr id="51" name="Shape 46"/>
          <p:cNvSpPr/>
          <p:nvPr/>
        </p:nvSpPr>
        <p:spPr>
          <a:xfrm>
            <a:off x="5925312" y="2139696"/>
            <a:ext cx="1645920" cy="1719072"/>
          </a:xfrm>
          <a:prstGeom prst="roundRect">
            <a:avLst>
              <a:gd name="adj" fmla="val 4444"/>
            </a:avLst>
          </a:prstGeom>
          <a:solidFill>
            <a:srgbClr val="E3EDFB"/>
          </a:solidFill>
          <a:ln w="9525">
            <a:solidFill>
              <a:srgbClr val="E3ED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7"/>
          <p:cNvSpPr/>
          <p:nvPr/>
        </p:nvSpPr>
        <p:spPr>
          <a:xfrm>
            <a:off x="5998464" y="2212848"/>
            <a:ext cx="365760" cy="365760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8931" y="2293315"/>
            <a:ext cx="204826" cy="204826"/>
          </a:xfrm>
          <a:prstGeom prst="rect">
            <a:avLst/>
          </a:prstGeom>
        </p:spPr>
      </p:pic>
      <p:sp>
        <p:nvSpPr>
          <p:cNvPr id="54" name="Text 48"/>
          <p:cNvSpPr txBox="1"/>
          <p:nvPr/>
        </p:nvSpPr>
        <p:spPr>
          <a:xfrm>
            <a:off x="6409944" y="2212848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Infrastruktur</a:t>
            </a:r>
            <a:endParaRPr lang="en-US" sz="850" dirty="0"/>
          </a:p>
        </p:txBody>
      </p:sp>
      <p:sp>
        <p:nvSpPr>
          <p:cNvPr id="55" name="Text 49"/>
          <p:cNvSpPr txBox="1"/>
          <p:nvPr/>
        </p:nvSpPr>
        <p:spPr>
          <a:xfrm>
            <a:off x="5998464" y="263347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Rp2.474,6 T</a:t>
            </a:r>
            <a:endParaRPr lang="en-US" sz="1500" dirty="0"/>
          </a:p>
        </p:txBody>
      </p:sp>
      <p:sp>
        <p:nvSpPr>
          <p:cNvPr id="56" name="Text 50"/>
          <p:cNvSpPr txBox="1"/>
          <p:nvPr/>
        </p:nvSpPr>
        <p:spPr>
          <a:xfrm>
            <a:off x="5998464" y="290779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46,4% portofolio</a:t>
            </a:r>
            <a:endParaRPr lang="en-US" sz="750" dirty="0"/>
          </a:p>
        </p:txBody>
      </p:sp>
      <p:sp>
        <p:nvSpPr>
          <p:cNvPr id="57" name="Text 51"/>
          <p:cNvSpPr txBox="1"/>
          <p:nvPr/>
        </p:nvSpPr>
        <p:spPr>
          <a:xfrm>
            <a:off x="5998464" y="3081528"/>
            <a:ext cx="1499616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Giant Sea Wall Rp1.200 T; energi, WtE, kota cerdas, perumahan, air</a:t>
            </a:r>
            <a:endParaRPr lang="en-US" sz="700" dirty="0"/>
          </a:p>
        </p:txBody>
      </p:sp>
      <p:sp>
        <p:nvSpPr>
          <p:cNvPr id="58" name="Shape 52"/>
          <p:cNvSpPr/>
          <p:nvPr/>
        </p:nvSpPr>
        <p:spPr>
          <a:xfrm>
            <a:off x="5980176" y="3364992"/>
            <a:ext cx="1536192" cy="457200"/>
          </a:xfrm>
          <a:prstGeom prst="roundRect">
            <a:avLst>
              <a:gd name="adj" fmla="val 10000"/>
            </a:avLst>
          </a:prstGeom>
          <a:solidFill>
            <a:srgbClr val="0A0A0A"/>
          </a:solidFill>
          <a:ln w="9525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3"/>
          <p:cNvSpPr/>
          <p:nvPr/>
        </p:nvSpPr>
        <p:spPr>
          <a:xfrm>
            <a:off x="6025896" y="342900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4293" y="3497397"/>
            <a:ext cx="174102" cy="174102"/>
          </a:xfrm>
          <a:prstGeom prst="rect">
            <a:avLst/>
          </a:prstGeom>
        </p:spPr>
      </p:pic>
      <p:sp>
        <p:nvSpPr>
          <p:cNvPr id="61" name="Text 54"/>
          <p:cNvSpPr txBox="1"/>
          <p:nvPr/>
        </p:nvSpPr>
        <p:spPr>
          <a:xfrm>
            <a:off x="6382512" y="338328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9DB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KDKMP: </a:t>
            </a: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80.000 koperasi desa; s.d. Rp3 miliar/unit (plafon ≈Rp240 T)</a:t>
            </a:r>
            <a:endParaRPr lang="en-US" sz="680" dirty="0"/>
          </a:p>
        </p:txBody>
      </p:sp>
      <p:sp>
        <p:nvSpPr>
          <p:cNvPr id="62" name="Shape 55"/>
          <p:cNvSpPr/>
          <p:nvPr/>
        </p:nvSpPr>
        <p:spPr>
          <a:xfrm>
            <a:off x="7662672" y="2139696"/>
            <a:ext cx="1261872" cy="1719072"/>
          </a:xfrm>
          <a:prstGeom prst="roundRect">
            <a:avLst>
              <a:gd name="adj" fmla="val 5797"/>
            </a:avLst>
          </a:prstGeom>
          <a:solidFill>
            <a:srgbClr val="E3EDFB"/>
          </a:solidFill>
          <a:ln w="9525">
            <a:solidFill>
              <a:srgbClr val="E3ED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56"/>
          <p:cNvSpPr/>
          <p:nvPr/>
        </p:nvSpPr>
        <p:spPr>
          <a:xfrm>
            <a:off x="7735824" y="2212848"/>
            <a:ext cx="365760" cy="365760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6291" y="2293315"/>
            <a:ext cx="204826" cy="204826"/>
          </a:xfrm>
          <a:prstGeom prst="rect">
            <a:avLst/>
          </a:prstGeom>
        </p:spPr>
      </p:pic>
      <p:sp>
        <p:nvSpPr>
          <p:cNvPr id="65" name="Text 57"/>
          <p:cNvSpPr txBox="1"/>
          <p:nvPr/>
        </p:nvSpPr>
        <p:spPr>
          <a:xfrm>
            <a:off x="8147304" y="22128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 pertahanan</a:t>
            </a:r>
            <a:endParaRPr lang="en-US" sz="850" dirty="0"/>
          </a:p>
        </p:txBody>
      </p:sp>
      <p:sp>
        <p:nvSpPr>
          <p:cNvPr id="66" name="Text 58"/>
          <p:cNvSpPr txBox="1"/>
          <p:nvPr/>
        </p:nvSpPr>
        <p:spPr>
          <a:xfrm>
            <a:off x="7735824" y="263347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Rp2.125 T</a:t>
            </a:r>
            <a:endParaRPr lang="en-US" sz="1500" dirty="0"/>
          </a:p>
        </p:txBody>
      </p:sp>
      <p:sp>
        <p:nvSpPr>
          <p:cNvPr id="67" name="Text 59"/>
          <p:cNvSpPr txBox="1"/>
          <p:nvPr/>
        </p:nvSpPr>
        <p:spPr>
          <a:xfrm>
            <a:off x="7735824" y="2907792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39,8% portofolio</a:t>
            </a:r>
            <a:endParaRPr lang="en-US" sz="750" dirty="0"/>
          </a:p>
        </p:txBody>
      </p:sp>
      <p:sp>
        <p:nvSpPr>
          <p:cNvPr id="68" name="Text 60"/>
          <p:cNvSpPr txBox="1"/>
          <p:nvPr/>
        </p:nvSpPr>
        <p:spPr>
          <a:xfrm>
            <a:off x="7735824" y="3099816"/>
            <a:ext cx="1115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Kapal selam, fregat, LPD, MRO, DEFEND ID</a:t>
            </a:r>
            <a:endParaRPr lang="en-US" sz="750" dirty="0"/>
          </a:p>
        </p:txBody>
      </p:sp>
      <p:sp>
        <p:nvSpPr>
          <p:cNvPr id="69" name="Shape 61"/>
          <p:cNvSpPr/>
          <p:nvPr/>
        </p:nvSpPr>
        <p:spPr>
          <a:xfrm>
            <a:off x="9015984" y="2139696"/>
            <a:ext cx="1261872" cy="1719072"/>
          </a:xfrm>
          <a:prstGeom prst="roundRect">
            <a:avLst>
              <a:gd name="adj" fmla="val 5797"/>
            </a:avLst>
          </a:prstGeom>
          <a:solidFill>
            <a:srgbClr val="E3EDFB"/>
          </a:solidFill>
          <a:ln w="9525">
            <a:solidFill>
              <a:srgbClr val="E3ED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2"/>
          <p:cNvSpPr/>
          <p:nvPr/>
        </p:nvSpPr>
        <p:spPr>
          <a:xfrm>
            <a:off x="9089136" y="2212848"/>
            <a:ext cx="365760" cy="365760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69603" y="2293315"/>
            <a:ext cx="204826" cy="204826"/>
          </a:xfrm>
          <a:prstGeom prst="rect">
            <a:avLst/>
          </a:prstGeom>
        </p:spPr>
      </p:pic>
      <p:sp>
        <p:nvSpPr>
          <p:cNvPr id="72" name="Text 63"/>
          <p:cNvSpPr txBox="1"/>
          <p:nvPr/>
        </p:nvSpPr>
        <p:spPr>
          <a:xfrm>
            <a:off x="9500616" y="22128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digital</a:t>
            </a:r>
            <a:endParaRPr lang="en-US" sz="850" dirty="0"/>
          </a:p>
        </p:txBody>
      </p:sp>
      <p:sp>
        <p:nvSpPr>
          <p:cNvPr id="73" name="Text 64"/>
          <p:cNvSpPr txBox="1"/>
          <p:nvPr/>
        </p:nvSpPr>
        <p:spPr>
          <a:xfrm>
            <a:off x="9089136" y="263347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Rp25,6 T</a:t>
            </a:r>
            <a:endParaRPr lang="en-US" sz="1500" dirty="0"/>
          </a:p>
        </p:txBody>
      </p:sp>
      <p:sp>
        <p:nvSpPr>
          <p:cNvPr id="74" name="Text 65"/>
          <p:cNvSpPr txBox="1"/>
          <p:nvPr/>
        </p:nvSpPr>
        <p:spPr>
          <a:xfrm>
            <a:off x="9089136" y="2907792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berdaulat Rp13,8 T</a:t>
            </a:r>
            <a:endParaRPr lang="en-US" sz="750" dirty="0"/>
          </a:p>
        </p:txBody>
      </p:sp>
      <p:sp>
        <p:nvSpPr>
          <p:cNvPr id="75" name="Text 66"/>
          <p:cNvSpPr txBox="1"/>
          <p:nvPr/>
        </p:nvSpPr>
        <p:spPr>
          <a:xfrm>
            <a:off x="9089136" y="3099816"/>
            <a:ext cx="1115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Semikonduktor Rp7,1 T, pusat data Rp4,1 T, kuantum Rp0,5 T</a:t>
            </a:r>
            <a:endParaRPr lang="en-US" sz="750" dirty="0"/>
          </a:p>
        </p:txBody>
      </p:sp>
      <p:sp>
        <p:nvSpPr>
          <p:cNvPr id="76" name="Text 67"/>
          <p:cNvSpPr txBox="1"/>
          <p:nvPr/>
        </p:nvSpPr>
        <p:spPr>
          <a:xfrm>
            <a:off x="4572000" y="3873500"/>
            <a:ext cx="56601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i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Lainnya (kimia, pangan, tekstil, kesehatan) Rp451,9 T. Pembaruan 14 Okt 2026: Giant Sea Wall Rp1.200 T ditambahkan ke Infrastruktur; industri pertahanan Rp2.125 T (sebelumnya Rp81,1 T di register 40 proyek senilai Rp2.091 T). AI &amp; digital dari daftar RKAP; KDKMP plafon di luar portofolio. Nilai kelas C, belum direkonsiliasi.</a:t>
            </a:r>
            <a:endParaRPr lang="en-US" sz="680" dirty="0"/>
          </a:p>
        </p:txBody>
      </p:sp>
      <p:sp>
        <p:nvSpPr>
          <p:cNvPr id="138" name="Shape 29"/>
          <p:cNvSpPr/>
          <p:nvPr/>
        </p:nvSpPr>
        <p:spPr>
          <a:xfrm>
            <a:off x="320040" y="4389120"/>
            <a:ext cx="10049256" cy="27432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Oval 76"/>
          <p:cNvSpPr/>
          <p:nvPr/>
        </p:nvSpPr>
        <p:spPr>
          <a:xfrm>
            <a:off x="429768" y="4480560"/>
            <a:ext cx="384048" cy="384048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8" name="Picture 77" descr="FaExclamationTriangle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1939" y="4572731"/>
            <a:ext cx="199704" cy="199704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905256" y="449884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B57C2"/>
                </a:solidFill>
                <a:latin typeface="Arial"/>
              </a:rPr>
              <a:t>3–9  </a:t>
            </a:r>
            <a:r>
              <a:rPr sz="1300" b="1">
                <a:solidFill>
                  <a:srgbClr val="0A0A0A"/>
                </a:solidFill>
                <a:latin typeface="Arial"/>
              </a:rPr>
              <a:t>Tujuh masalah struktural: nilai tambah, devisa, dan kapabilitas mengalir ke luar negeri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29768" y="4937760"/>
            <a:ext cx="1325880" cy="1773936"/>
          </a:xfrm>
          <a:prstGeom prst="roundRect">
            <a:avLst>
              <a:gd name="adj" fmla="val 5000"/>
            </a:avLst>
          </a:prstGeom>
          <a:solidFill>
            <a:srgbClr val="E3EDFB"/>
          </a:solidFill>
          <a:ln w="9525">
            <a:solidFill>
              <a:srgbClr val="E3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1" name="Oval 80"/>
          <p:cNvSpPr/>
          <p:nvPr/>
        </p:nvSpPr>
        <p:spPr>
          <a:xfrm>
            <a:off x="502919" y="5010912"/>
            <a:ext cx="310896" cy="310896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2" name="Picture 81" descr="FaPercent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7535" y="5085527"/>
            <a:ext cx="161665" cy="161665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1389888" y="5010912"/>
            <a:ext cx="29260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1">
                <a:solidFill>
                  <a:srgbClr val="0B57C2"/>
                </a:solidFill>
                <a:latin typeface="Arial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2919" y="5376672"/>
            <a:ext cx="11795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A0A0A"/>
                </a:solidFill>
                <a:latin typeface="Arial"/>
              </a:rPr>
              <a:t>Biaya dana tinggi, biaya proyek membengkak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2919" y="5705856"/>
            <a:ext cx="117957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B57C2"/>
                </a:solidFill>
                <a:latin typeface="Arial"/>
              </a:rPr>
              <a:t>9–11%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2919" y="5934456"/>
            <a:ext cx="11795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>
                <a:solidFill>
                  <a:srgbClr val="0A0A0A"/>
                </a:solidFill>
                <a:latin typeface="Arial"/>
              </a:rPr>
              <a:t>biaya pinjaman bank (contoh PT PAL)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02919" y="6153912"/>
            <a:ext cx="1179576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80" b="0">
                <a:solidFill>
                  <a:srgbClr val="0A0A0A"/>
                </a:solidFill>
                <a:latin typeface="Arial"/>
              </a:rPr>
              <a:t>Pinjaman lunak luar negeri pun mahal: pengadaan terikat ke negara pemberi, risiko kurs, biaya komitmen.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847088" y="4937760"/>
            <a:ext cx="1325880" cy="1773936"/>
          </a:xfrm>
          <a:prstGeom prst="roundRect">
            <a:avLst>
              <a:gd name="adj" fmla="val 5000"/>
            </a:avLst>
          </a:prstGeom>
          <a:solidFill>
            <a:srgbClr val="E3EDFB"/>
          </a:solidFill>
          <a:ln w="9525">
            <a:solidFill>
              <a:srgbClr val="E3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9" name="Oval 88"/>
          <p:cNvSpPr/>
          <p:nvPr/>
        </p:nvSpPr>
        <p:spPr>
          <a:xfrm>
            <a:off x="1920240" y="5010912"/>
            <a:ext cx="310896" cy="310896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0" name="Picture 89" descr="FaIndustry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94855" y="5085527"/>
            <a:ext cx="161665" cy="161665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2807208" y="5010912"/>
            <a:ext cx="29260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1">
                <a:solidFill>
                  <a:srgbClr val="0B57C2"/>
                </a:solidFill>
                <a:latin typeface="Arial"/>
              </a:rPr>
              <a:t>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920240" y="5376672"/>
            <a:ext cx="11795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A0A0A"/>
                </a:solidFill>
                <a:latin typeface="Arial"/>
              </a:rPr>
              <a:t>Industri lokal tidak dikembangkan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920240" y="5705856"/>
            <a:ext cx="117957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B57C2"/>
                </a:solidFill>
                <a:latin typeface="Arial"/>
              </a:rPr>
              <a:t>~75%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920240" y="5934456"/>
            <a:ext cx="11795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>
                <a:solidFill>
                  <a:srgbClr val="0A0A0A"/>
                </a:solidFill>
                <a:latin typeface="Arial"/>
              </a:rPr>
              <a:t>material kapal PT PAL masih impor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920240" y="6153912"/>
            <a:ext cx="1179576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80" b="0">
                <a:solidFill>
                  <a:srgbClr val="0A0A0A"/>
                </a:solidFill>
                <a:latin typeface="Arial"/>
              </a:rPr>
              <a:t>Kandungan lokal rendah (TKDN DEFEND ID 43%); belanja proyek tidak membangun industri dalam negeri.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264408" y="4937760"/>
            <a:ext cx="1325880" cy="1773936"/>
          </a:xfrm>
          <a:prstGeom prst="roundRect">
            <a:avLst>
              <a:gd name="adj" fmla="val 5000"/>
            </a:avLst>
          </a:prstGeom>
          <a:solidFill>
            <a:srgbClr val="E3EDFB"/>
          </a:solidFill>
          <a:ln w="9525">
            <a:solidFill>
              <a:srgbClr val="E3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7" name="Oval 96"/>
          <p:cNvSpPr/>
          <p:nvPr/>
        </p:nvSpPr>
        <p:spPr>
          <a:xfrm>
            <a:off x="3337560" y="5010912"/>
            <a:ext cx="310896" cy="310896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8" name="Picture 97" descr="FaLink_w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12175" y="5085527"/>
            <a:ext cx="161665" cy="161665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4224528" y="5010912"/>
            <a:ext cx="29260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1">
                <a:solidFill>
                  <a:srgbClr val="0B57C2"/>
                </a:solidFill>
                <a:latin typeface="Arial"/>
              </a:rPr>
              <a:t>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337560" y="5376672"/>
            <a:ext cx="11795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A0A0A"/>
                </a:solidFill>
                <a:latin typeface="Arial"/>
              </a:rPr>
              <a:t>Rantai pasok domestik tidak pernah dibangun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337560" y="5705856"/>
            <a:ext cx="117957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B57C2"/>
                </a:solidFill>
                <a:latin typeface="Arial"/>
              </a:rPr>
              <a:t>US$39 miliar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337560" y="5934456"/>
            <a:ext cx="11795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>
                <a:solidFill>
                  <a:srgbClr val="0A0A0A"/>
                </a:solidFill>
                <a:latin typeface="Arial"/>
              </a:rPr>
              <a:t>capex bocor ke luar negeri 2027–2032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337560" y="6153912"/>
            <a:ext cx="1179576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80" b="0">
                <a:solidFill>
                  <a:srgbClr val="0A0A0A"/>
                </a:solidFill>
                <a:latin typeface="Arial"/>
              </a:rPr>
              <a:t>Pemasok Tier 1–3 belum terkualifikasi; UMKM ±62% PDB tetapi jarang masuk rantai pasok strategis.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681728" y="4937760"/>
            <a:ext cx="1325880" cy="1773936"/>
          </a:xfrm>
          <a:prstGeom prst="roundRect">
            <a:avLst>
              <a:gd name="adj" fmla="val 5000"/>
            </a:avLst>
          </a:prstGeom>
          <a:solidFill>
            <a:srgbClr val="E3EDFB"/>
          </a:solidFill>
          <a:ln w="9525">
            <a:solidFill>
              <a:srgbClr val="E3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4754880" y="5010912"/>
            <a:ext cx="310896" cy="310896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6" name="Picture 105" descr="FaMicrochip_w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29495" y="5085527"/>
            <a:ext cx="161665" cy="161665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5641848" y="5010912"/>
            <a:ext cx="29260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1">
                <a:solidFill>
                  <a:srgbClr val="0B57C2"/>
                </a:solidFill>
                <a:latin typeface="Arial"/>
              </a:rPr>
              <a:t>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754880" y="5376672"/>
            <a:ext cx="11795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A0A0A"/>
                </a:solidFill>
                <a:latin typeface="Arial"/>
              </a:rPr>
              <a:t>Ketergantungan teknologi asing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754880" y="5705856"/>
            <a:ext cx="117957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B57C2"/>
                </a:solidFill>
                <a:latin typeface="Arial"/>
              </a:rPr>
              <a:t>US$14 miliar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754880" y="5934456"/>
            <a:ext cx="11795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>
                <a:solidFill>
                  <a:srgbClr val="0A0A0A"/>
                </a:solidFill>
                <a:latin typeface="Arial"/>
              </a:rPr>
              <a:t>impor pipeline &amp; hilirisasi 2029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754880" y="6153912"/>
            <a:ext cx="1179576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80" b="0">
                <a:solidFill>
                  <a:srgbClr val="0A0A0A"/>
                </a:solidFill>
                <a:latin typeface="Arial"/>
              </a:rPr>
              <a:t>Mitra asing memegang HKI; tanpa alih teknologi, kapabilitas tidak terbangun dan ketergantungan berulang.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099048" y="4937760"/>
            <a:ext cx="1325880" cy="1773936"/>
          </a:xfrm>
          <a:prstGeom prst="roundRect">
            <a:avLst>
              <a:gd name="adj" fmla="val 5000"/>
            </a:avLst>
          </a:prstGeom>
          <a:solidFill>
            <a:srgbClr val="E3EDFB"/>
          </a:solidFill>
          <a:ln w="9525">
            <a:solidFill>
              <a:srgbClr val="E3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6172200" y="5010912"/>
            <a:ext cx="310896" cy="310896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14" name="Picture 113" descr="FaGem_w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46815" y="5085527"/>
            <a:ext cx="161665" cy="161665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7059167" y="5010912"/>
            <a:ext cx="29260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1">
                <a:solidFill>
                  <a:srgbClr val="0B57C2"/>
                </a:solidFill>
                <a:latin typeface="Arial"/>
              </a:rPr>
              <a:t>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172200" y="5376672"/>
            <a:ext cx="11795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A0A0A"/>
                </a:solidFill>
                <a:latin typeface="Arial"/>
              </a:rPr>
              <a:t>SDA belum dimanfaatkan penuh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172200" y="5705856"/>
            <a:ext cx="117957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B57C2"/>
                </a:solidFill>
                <a:latin typeface="Arial"/>
              </a:rPr>
              <a:t>19,3% → 7,7%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172200" y="5934456"/>
            <a:ext cx="11795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>
                <a:solidFill>
                  <a:srgbClr val="0A0A0A"/>
                </a:solidFill>
                <a:latin typeface="Arial"/>
              </a:rPr>
              <a:t>porsi SDA dalam penerimaan negara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172200" y="6153912"/>
            <a:ext cx="1179576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80" b="0">
                <a:solidFill>
                  <a:srgbClr val="0A0A0A"/>
                </a:solidFill>
                <a:latin typeface="Arial"/>
              </a:rPr>
              <a:t>Hanya dijual sebagai komoditas; nilai cadangan belum jadi underlying nilai finansial.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7516368" y="4937760"/>
            <a:ext cx="1325880" cy="1773936"/>
          </a:xfrm>
          <a:prstGeom prst="roundRect">
            <a:avLst>
              <a:gd name="adj" fmla="val 5000"/>
            </a:avLst>
          </a:prstGeom>
          <a:solidFill>
            <a:srgbClr val="E3EDFB"/>
          </a:solidFill>
          <a:ln w="9525">
            <a:solidFill>
              <a:srgbClr val="E3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7589520" y="5010912"/>
            <a:ext cx="310896" cy="310896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22" name="Picture 121" descr="FaFileInvoiceDollar_w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64135" y="5085527"/>
            <a:ext cx="161665" cy="161665"/>
          </a:xfrm>
          <a:prstGeom prst="rect">
            <a:avLst/>
          </a:prstGeom>
        </p:spPr>
      </p:pic>
      <p:sp>
        <p:nvSpPr>
          <p:cNvPr id="123" name="TextBox 122"/>
          <p:cNvSpPr txBox="1"/>
          <p:nvPr/>
        </p:nvSpPr>
        <p:spPr>
          <a:xfrm>
            <a:off x="8476488" y="5010912"/>
            <a:ext cx="29260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1">
                <a:solidFill>
                  <a:srgbClr val="0B57C2"/>
                </a:solidFill>
                <a:latin typeface="Arial"/>
              </a:rPr>
              <a:t>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589520" y="5376672"/>
            <a:ext cx="11795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A0A0A"/>
                </a:solidFill>
                <a:latin typeface="Arial"/>
              </a:rPr>
              <a:t>Under-invoicing ekspor SDA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589520" y="5705856"/>
            <a:ext cx="117957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B57C2"/>
                </a:solidFill>
                <a:latin typeface="Arial"/>
              </a:rPr>
              <a:t>PNBP bocor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589520" y="5934456"/>
            <a:ext cx="11795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>
                <a:solidFill>
                  <a:srgbClr val="0A0A0A"/>
                </a:solidFill>
                <a:latin typeface="Arial"/>
              </a:rPr>
              <a:t>faktur ekspor di bawah nilai riil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589520" y="6153912"/>
            <a:ext cx="1179576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80" b="0">
                <a:solidFill>
                  <a:srgbClr val="0A0A0A"/>
                </a:solidFill>
                <a:latin typeface="Arial"/>
              </a:rPr>
              <a:t>Royalti, pajak, dan devisa dihitung dari harga yang dikecilkan; negara menerima jauh lebih sedikit.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8933688" y="4937760"/>
            <a:ext cx="1325880" cy="1773936"/>
          </a:xfrm>
          <a:prstGeom prst="roundRect">
            <a:avLst>
              <a:gd name="adj" fmla="val 5000"/>
            </a:avLst>
          </a:prstGeom>
          <a:solidFill>
            <a:srgbClr val="0A0A0A"/>
          </a:solidFill>
          <a:ln w="952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9006840" y="5010912"/>
            <a:ext cx="310896" cy="310896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30" name="Picture 129" descr="FaUserSecret_w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81455" y="5085527"/>
            <a:ext cx="161665" cy="161665"/>
          </a:xfrm>
          <a:prstGeom prst="rect">
            <a:avLst/>
          </a:prstGeom>
        </p:spPr>
      </p:pic>
      <p:sp>
        <p:nvSpPr>
          <p:cNvPr id="131" name="TextBox 130"/>
          <p:cNvSpPr txBox="1"/>
          <p:nvPr/>
        </p:nvSpPr>
        <p:spPr>
          <a:xfrm>
            <a:off x="9893808" y="5010912"/>
            <a:ext cx="29260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1">
                <a:solidFill>
                  <a:srgbClr val="9DBCEB"/>
                </a:solidFill>
                <a:latin typeface="Arial"/>
              </a:rPr>
              <a:t>9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006840" y="5376672"/>
            <a:ext cx="11795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rial"/>
              </a:rPr>
              <a:t>Uang gelap di luar sistem keuangan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006840" y="5705856"/>
            <a:ext cx="117957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9DBCEB"/>
                </a:solidFill>
                <a:latin typeface="Arial"/>
              </a:rPr>
              <a:t>Rp7.000 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006840" y="5934456"/>
            <a:ext cx="11795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1">
                <a:solidFill>
                  <a:srgbClr val="FFFFFF"/>
                </a:solidFill>
                <a:latin typeface="Arial"/>
              </a:rPr>
              <a:t>estimasi: korupsi, narkoba, judi online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006840" y="6153912"/>
            <a:ext cx="1179576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80" b="0">
                <a:solidFill>
                  <a:srgbClr val="FFFFFF"/>
                </a:solidFill>
                <a:latin typeface="Arial"/>
              </a:rPr>
              <a:t>Tidak dipajaki dan tidak membiayai pembangunan; perlu ditarik masuk ke sistem keuangan formal.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429768" y="6766560"/>
            <a:ext cx="9829800" cy="292608"/>
          </a:xfrm>
          <a:prstGeom prst="roundRect">
            <a:avLst>
              <a:gd name="adj" fmla="val 15000"/>
            </a:avLst>
          </a:prstGeom>
          <a:solidFill>
            <a:srgbClr val="0A0A0A"/>
          </a:solidFill>
          <a:ln w="952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502920" y="6766560"/>
            <a:ext cx="9692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Akibatnya: </a:t>
            </a:r>
            <a:r>
              <a:rPr sz="750" b="0">
                <a:solidFill>
                  <a:srgbClr val="FFFFFF"/>
                </a:solidFill>
                <a:latin typeface="Arial"/>
              </a:rPr>
              <a:t>biaya proyek tinggi, nilai tambah dan devisa bocor, dan kekayaan SDA belum berubah menjadi kapabilitas industri. Angka Rp7.000 T dan under-invoicing adalah estimasi yang perlu diverifikasi.</a:t>
            </a:r>
          </a:p>
        </p:txBody>
      </p:sp>
      <p:sp>
        <p:nvSpPr>
          <p:cNvPr id="37" name="Text 33"/>
          <p:cNvSpPr txBox="1"/>
          <p:nvPr/>
        </p:nvSpPr>
        <p:spPr>
          <a:xfrm>
            <a:off x="7544729" y="1682496"/>
            <a:ext cx="214929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 pertahanan 39,8%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56032"/>
            <a:ext cx="9317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Lima pertanyaan </a:t>
            </a:r>
            <a:r>
              <a:rPr lang="en-US" sz="2200" b="1" dirty="0" err="1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kunci</a:t>
            </a: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713232"/>
            <a:ext cx="9317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pertanyaan disertai arah jawaban dari kajian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802368" y="274320"/>
            <a:ext cx="566928" cy="5669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802368" y="274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3264408" cy="3182112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48056" y="1243584"/>
            <a:ext cx="512064" cy="512064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48056" y="12435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017520" y="1243584"/>
            <a:ext cx="438912" cy="438912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4081" y="1340145"/>
            <a:ext cx="245791" cy="245791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069848" y="1225296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mentransformasi Danantara?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66344" y="1901952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Arah jawaban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466344" y="2139696"/>
            <a:ext cx="297180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Reposisi menjadi Platform Kapabilitas Industri Nasional: modal → permintaan → pemasok → kapabilitas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Industri Strategis &amp; Pelaksanaan Proyek (konsep DSIM), diuji 90 hari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register 40 proyek tersahkan paling lambat Hari ke-45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scorecard: imbal hasil, BUMN lebih kuat, kapabilitas industri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Portofolio ganda Alpha &amp; Impact; proyek Impact lewat SPV ring-fenced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721608" y="1115568"/>
            <a:ext cx="3264408" cy="3182112"/>
          </a:xfrm>
          <a:prstGeom prst="roundRect">
            <a:avLst>
              <a:gd name="adj" fmla="val 2299"/>
            </a:avLst>
          </a:prstGeom>
          <a:solidFill>
            <a:srgbClr val="E3EDFB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849624" y="1243584"/>
            <a:ext cx="512064" cy="512064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3849624" y="12435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19088" y="1243584"/>
            <a:ext cx="438912" cy="438912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649" y="1340145"/>
            <a:ext cx="245791" cy="245791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471416" y="1225296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mengelola BUMN dengan AI multi-agen?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3867912" y="1901952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Arah jawaban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3867912" y="2139696"/>
            <a:ext cx="297180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operasi proyek berbasis AI multi-agen di atas master data tunggal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3 bulan, 6 agen: risiko portofolio, bid/no-bid, estimasi biaya, piutang, jadwal, pengadaan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Terhubung baca-saja ke ERP; keputusan material tetap di tangan manusia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Uji 2–3 proyek BUMN Karya → perluas hub-and-spoke ke seluruh BUMN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7123176" y="1115568"/>
            <a:ext cx="3246120" cy="3182112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7251192" y="1243584"/>
            <a:ext cx="512064" cy="512064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7251192" y="12435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9802368" y="1243584"/>
            <a:ext cx="438912" cy="438912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8929" y="1340145"/>
            <a:ext cx="245791" cy="245791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7872984" y="1225296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DOCK-UP mempercepat kapabilitas industri?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7269480" y="190195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Arah jawaban</a:t>
            </a:r>
            <a:endParaRPr lang="en-US" sz="950" dirty="0"/>
          </a:p>
        </p:txBody>
      </p:sp>
      <p:sp>
        <p:nvSpPr>
          <p:cNvPr id="29" name="Text 24"/>
          <p:cNvSpPr txBox="1"/>
          <p:nvPr/>
        </p:nvSpPr>
        <p:spPr>
          <a:xfrm>
            <a:off x="7269480" y="2139696"/>
            <a:ext cx="2953512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Permintaan wajib UU 16/2012 (ofset 35% → 85%) dijadikan pesanan bagi pemasok lokal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&amp; MRL sebagai bahasa bersama; volume dilepas hanya saat gerbang G1–G4 lolos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Kontrak payung 3–5 tahun dan pembiayaan mengikuti gerbang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nyata: PT Barata memasok V-Bracket kapal perang PT PAL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320040" y="4434840"/>
            <a:ext cx="4956048" cy="2697480"/>
          </a:xfrm>
          <a:prstGeom prst="roundRect">
            <a:avLst>
              <a:gd name="adj" fmla="val 2712"/>
            </a:avLst>
          </a:prstGeom>
          <a:solidFill>
            <a:srgbClr val="E3EDFB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448056" y="4562856"/>
            <a:ext cx="512064" cy="512064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 txBox="1"/>
          <p:nvPr/>
        </p:nvSpPr>
        <p:spPr>
          <a:xfrm>
            <a:off x="448056" y="45628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4709160" y="4562856"/>
            <a:ext cx="438912" cy="438912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5721" y="4659417"/>
            <a:ext cx="245791" cy="245791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1069848" y="4544568"/>
            <a:ext cx="3584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dampak NRF dan tokenisasi terhadap inflasi, dan bagaimana mengawasinya?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466344" y="5221224"/>
            <a:ext cx="4681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Arah jawaban</a:t>
            </a:r>
            <a:endParaRPr lang="en-US" sz="950" dirty="0"/>
          </a:p>
        </p:txBody>
      </p:sp>
      <p:sp>
        <p:nvSpPr>
          <p:cNvPr id="37" name="Text 31"/>
          <p:cNvSpPr txBox="1"/>
          <p:nvPr/>
        </p:nvSpPr>
        <p:spPr>
          <a:xfrm>
            <a:off x="466344" y="5458968"/>
            <a:ext cx="466344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Rp1.000 T ≈ 4% PDB; bila dibelanjakan dalam satu tahun, tambahan inflasi ilustratif 0,1–1,0 poin (sasaran BI 2,5% ± 1%)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Delapan jalur transmisi, termasuk harga batu bara → tarif listrik PLN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Pemantau Inflasi NRF: indikator lima lapis, ambang hijau–kuning–merah, umpan balik ke laju penyaluran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Pemantau dibangun sebelum rupiah pertama; larang pembiayaan moneter. Tokenisasi US$150 juta kecil dampaknya, tetapi tetap kewajiban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5413248" y="4434840"/>
            <a:ext cx="4956048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3"/>
          <p:cNvSpPr/>
          <p:nvPr/>
        </p:nvSpPr>
        <p:spPr>
          <a:xfrm>
            <a:off x="5541264" y="4562856"/>
            <a:ext cx="512064" cy="512064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 txBox="1"/>
          <p:nvPr/>
        </p:nvSpPr>
        <p:spPr>
          <a:xfrm>
            <a:off x="5541264" y="45628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1300" dirty="0"/>
          </a:p>
        </p:txBody>
      </p:sp>
      <p:sp>
        <p:nvSpPr>
          <p:cNvPr id="41" name="Shape 35"/>
          <p:cNvSpPr/>
          <p:nvPr/>
        </p:nvSpPr>
        <p:spPr>
          <a:xfrm>
            <a:off x="9802368" y="4562856"/>
            <a:ext cx="438912" cy="438912"/>
          </a:xfrm>
          <a:prstGeom prst="ellipse">
            <a:avLst/>
          </a:prstGeom>
          <a:solidFill>
            <a:srgbClr val="0B57C2"/>
          </a:solidFill>
          <a:ln w="12700">
            <a:solidFill>
              <a:srgbClr val="0B57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8929" y="4659417"/>
            <a:ext cx="245791" cy="245791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6163056" y="4544568"/>
            <a:ext cx="3584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Adakah cara mendanai proyek tanpa pinjaman?</a:t>
            </a:r>
            <a:endParaRPr lang="en-US" sz="1200" dirty="0"/>
          </a:p>
        </p:txBody>
      </p:sp>
      <p:sp>
        <p:nvSpPr>
          <p:cNvPr id="44" name="Text 37"/>
          <p:cNvSpPr txBox="1"/>
          <p:nvPr/>
        </p:nvSpPr>
        <p:spPr>
          <a:xfrm>
            <a:off x="5559552" y="5221224"/>
            <a:ext cx="4681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Arah jawaban</a:t>
            </a:r>
            <a:endParaRPr lang="en-US" sz="950" dirty="0"/>
          </a:p>
        </p:txBody>
      </p:sp>
      <p:sp>
        <p:nvSpPr>
          <p:cNvPr id="45" name="Text 38"/>
          <p:cNvSpPr txBox="1"/>
          <p:nvPr/>
        </p:nvSpPr>
        <p:spPr>
          <a:xfrm>
            <a:off x="5559552" y="5458968"/>
            <a:ext cx="466344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Ekuitas &amp; ko-investasi mitra global/swasta di tingkat proyek, dengan ekuitas Danantara sebagai jangkar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KPBU / pembayaran ketersediaan layanan dan daur ulang aset (asset recycling) melalui INA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Dividen BUMN dan penerimaan SDA yang ditahan di NRF (bukan sekuritisasi)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Ofset &amp; imbal dagang pertahanan; hibah dan blended finance lembaga multilateral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instrumen berbasis arus kas negara masa depan tetap dihitung sebagai utang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56032"/>
            <a:ext cx="9317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 pilar menjadi dampak: alur nilai Danantara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713232"/>
            <a:ext cx="9317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→ NRF dan proyek rinci → DOCK-UP → sistem AI multi-agen → dampak ekonomi dan sosial; hasil kembali ke NRF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802368" y="274320"/>
            <a:ext cx="566928" cy="5669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802368" y="274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3/4</a:t>
            </a:r>
            <a:endParaRPr lang="en-US" sz="1300" dirty="0"/>
          </a:p>
        </p:txBody>
      </p:sp>
      <p:sp>
        <p:nvSpPr>
          <p:cNvPr id="6" name="Rounded Rectangle 5"/>
          <p:cNvSpPr/>
          <p:nvPr/>
        </p:nvSpPr>
        <p:spPr>
          <a:xfrm>
            <a:off x="320040" y="1517904"/>
            <a:ext cx="1554480" cy="812800"/>
          </a:xfrm>
          <a:prstGeom prst="roundRect">
            <a:avLst>
              <a:gd name="adj" fmla="val 10000"/>
            </a:avLst>
          </a:prstGeom>
          <a:solidFill>
            <a:srgbClr val="062A66"/>
          </a:solidFill>
          <a:ln w="9525">
            <a:solidFill>
              <a:srgbClr val="06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411479" y="1609344"/>
            <a:ext cx="329184" cy="329184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Picture 7" descr="FaGem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484" y="1688348"/>
            <a:ext cx="171175" cy="1711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3816" y="1609344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Mineral &amp; batu bara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948180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Rp283,9 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167636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9DBCEB"/>
                </a:solidFill>
                <a:latin typeface="Arial"/>
              </a:rPr>
              <a:t>5,3% portofolio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2534412"/>
            <a:ext cx="1554480" cy="812800"/>
          </a:xfrm>
          <a:prstGeom prst="roundRect">
            <a:avLst>
              <a:gd name="adj" fmla="val 10000"/>
            </a:avLst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411479" y="2625852"/>
            <a:ext cx="329184" cy="329184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4" name="Picture 13" descr="FaCity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484" y="2704856"/>
            <a:ext cx="171175" cy="1711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3816" y="2625852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Infrastruktur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2964688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Rp2.474,6 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3184144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9DBCEB"/>
                </a:solidFill>
                <a:latin typeface="Arial"/>
              </a:rPr>
              <a:t>46,4% portofolio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3550920"/>
            <a:ext cx="1554480" cy="812800"/>
          </a:xfrm>
          <a:prstGeom prst="roundRect">
            <a:avLst>
              <a:gd name="adj" fmla="val 10000"/>
            </a:avLst>
          </a:prstGeom>
          <a:solidFill>
            <a:srgbClr val="062A66"/>
          </a:solidFill>
          <a:ln w="9525">
            <a:solidFill>
              <a:srgbClr val="06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411479" y="3642359"/>
            <a:ext cx="329184" cy="329184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0" name="Picture 19" descr="FaShieldAlt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484" y="3721364"/>
            <a:ext cx="171175" cy="1711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13816" y="3642359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Industri pertahanan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3981196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Rp2.125 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4200652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9DBCEB"/>
                </a:solidFill>
                <a:latin typeface="Arial"/>
              </a:rPr>
              <a:t>39,8% portofolio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4567428"/>
            <a:ext cx="1554480" cy="812800"/>
          </a:xfrm>
          <a:prstGeom prst="roundRect">
            <a:avLst>
              <a:gd name="adj" fmla="val 10000"/>
            </a:avLst>
          </a:prstGeom>
          <a:solidFill>
            <a:srgbClr val="0A0A0A"/>
          </a:solidFill>
          <a:ln w="952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Oval 24"/>
          <p:cNvSpPr/>
          <p:nvPr/>
        </p:nvSpPr>
        <p:spPr>
          <a:xfrm>
            <a:off x="411479" y="4658868"/>
            <a:ext cx="329184" cy="329184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6" name="Picture 25" descr="FaRobot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484" y="4737872"/>
            <a:ext cx="171175" cy="1711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13816" y="4658868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AI multi-agen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79" y="4997704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Rp25,6 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5217160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9DBCEB"/>
                </a:solidFill>
                <a:latin typeface="Arial"/>
              </a:rPr>
              <a:t>AI berdaulat Rp13,8 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94560" y="1517904"/>
            <a:ext cx="1645920" cy="932688"/>
          </a:xfrm>
          <a:prstGeom prst="roundRect">
            <a:avLst>
              <a:gd name="adj" fmla="val 10000"/>
            </a:avLst>
          </a:prstGeom>
          <a:solidFill>
            <a:srgbClr val="E3EDFB"/>
          </a:solidFill>
          <a:ln w="1587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Oval 30"/>
          <p:cNvSpPr/>
          <p:nvPr/>
        </p:nvSpPr>
        <p:spPr>
          <a:xfrm>
            <a:off x="2267712" y="1591056"/>
            <a:ext cx="292608" cy="292608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2" name="Picture 31" descr="FaPiggyBan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7937" y="1661281"/>
            <a:ext cx="152156" cy="15215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615184" y="1591056"/>
            <a:ext cx="117043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A0A0A"/>
                </a:solidFill>
                <a:latin typeface="Arial"/>
              </a:rPr>
              <a:t>Natural Resource Fund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67712" y="1929384"/>
            <a:ext cx="149961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80" b="0">
                <a:solidFill>
                  <a:srgbClr val="0A0A0A"/>
                </a:solidFill>
                <a:latin typeface="Arial"/>
              </a:rPr>
              <a:t>Cadangan minerba milik negara jadi aset dasar; valuasi min. Rp10.000 T; manfaat fiskal Rp1.000 T dalam 3 tahun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60520" y="1517904"/>
            <a:ext cx="1783080" cy="812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Oval 35"/>
          <p:cNvSpPr/>
          <p:nvPr/>
        </p:nvSpPr>
        <p:spPr>
          <a:xfrm>
            <a:off x="4233672" y="1591056"/>
            <a:ext cx="292608" cy="292608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7" name="Picture 36" descr="FaIndustry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3897" y="1661281"/>
            <a:ext cx="152156" cy="15215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581144" y="1591056"/>
            <a:ext cx="13075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A0A0A"/>
                </a:solidFill>
                <a:latin typeface="Arial"/>
              </a:rPr>
              <a:t>Industri hulu &amp; hilirisasi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33672" y="1909572"/>
            <a:ext cx="1636776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0A0A0A"/>
                </a:solidFill>
                <a:latin typeface="Arial"/>
              </a:rPr>
              <a:t>Nikel HPAL, bauksit–alumina, tembaga, material baterai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60520" y="2534412"/>
            <a:ext cx="1783080" cy="812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Oval 40"/>
          <p:cNvSpPr/>
          <p:nvPr/>
        </p:nvSpPr>
        <p:spPr>
          <a:xfrm>
            <a:off x="4233672" y="2607564"/>
            <a:ext cx="292608" cy="292608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2" name="Picture 41" descr="FaHardHa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03897" y="2677789"/>
            <a:ext cx="152156" cy="15215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581144" y="2607564"/>
            <a:ext cx="13075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A0A0A"/>
                </a:solidFill>
                <a:latin typeface="Arial"/>
              </a:rPr>
              <a:t>Proyek infrastruktur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33672" y="2926080"/>
            <a:ext cx="1636776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0A0A0A"/>
                </a:solidFill>
                <a:latin typeface="Arial"/>
              </a:rPr>
              <a:t>Giant Sea Wall Rp1.200 T; energi, WtE, kota cerdas, perumahan, air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60520" y="3550920"/>
            <a:ext cx="1783080" cy="812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Oval 45"/>
          <p:cNvSpPr/>
          <p:nvPr/>
        </p:nvSpPr>
        <p:spPr>
          <a:xfrm>
            <a:off x="4233672" y="3624072"/>
            <a:ext cx="292608" cy="292608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7" name="Picture 46" descr="FaShip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03897" y="3694297"/>
            <a:ext cx="152156" cy="15215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4581144" y="3624072"/>
            <a:ext cx="13075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A0A0A"/>
                </a:solidFill>
                <a:latin typeface="Arial"/>
              </a:rPr>
              <a:t>Proyek pertahanan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33672" y="3942588"/>
            <a:ext cx="1636776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0A0A0A"/>
                </a:solidFill>
                <a:latin typeface="Arial"/>
              </a:rPr>
              <a:t>Industri pertahanan Rp2.125 T: kapal selam, fregat, LPD, MRO, DEFEND ID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60520" y="4567428"/>
            <a:ext cx="1783080" cy="812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Oval 50"/>
          <p:cNvSpPr/>
          <p:nvPr/>
        </p:nvSpPr>
        <p:spPr>
          <a:xfrm>
            <a:off x="4233672" y="4640580"/>
            <a:ext cx="292608" cy="292608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2" name="Picture 51" descr="FaCogs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03897" y="4710805"/>
            <a:ext cx="152156" cy="152156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4581144" y="4640580"/>
            <a:ext cx="13075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A0A0A"/>
                </a:solidFill>
                <a:latin typeface="Arial"/>
              </a:rPr>
              <a:t>Proyek AI &amp; digital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33672" y="4959096"/>
            <a:ext cx="1636776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0A0A0A"/>
                </a:solidFill>
                <a:latin typeface="Arial"/>
              </a:rPr>
              <a:t>6 agen: risiko, bid/no-bid, biaya, piutang, jadwal, pengadaan; KDKMP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63640" y="1517904"/>
            <a:ext cx="502920" cy="2844800"/>
          </a:xfrm>
          <a:prstGeom prst="roundRect">
            <a:avLst>
              <a:gd name="adj" fmla="val 15000"/>
            </a:avLst>
          </a:prstGeom>
          <a:solidFill>
            <a:srgbClr val="0A0A0A"/>
          </a:solidFill>
          <a:ln w="952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263640" y="1517904"/>
            <a:ext cx="502920" cy="2844800"/>
          </a:xfrm>
          <a:prstGeom prst="rect">
            <a:avLst/>
          </a:prstGeom>
          <a:noFill/>
        </p:spPr>
        <p:txBody>
          <a:bodyPr vert="vert270"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DOCK-UP</a:t>
            </a:r>
          </a:p>
          <a:p>
            <a:pPr algn="ctr"/>
            <a:r>
              <a:rPr sz="750" b="0">
                <a:solidFill>
                  <a:srgbClr val="9DBCEB"/>
                </a:solidFill>
                <a:latin typeface="Arial"/>
              </a:rPr>
              <a:t>Develop · Off-taker · Certification · Upgrading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086600" y="1517904"/>
            <a:ext cx="502920" cy="3860800"/>
          </a:xfrm>
          <a:prstGeom prst="roundRect">
            <a:avLst>
              <a:gd name="adj" fmla="val 15000"/>
            </a:avLst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086600" y="1517904"/>
            <a:ext cx="502920" cy="3860800"/>
          </a:xfrm>
          <a:prstGeom prst="rect">
            <a:avLst/>
          </a:prstGeom>
          <a:noFill/>
        </p:spPr>
        <p:txBody>
          <a:bodyPr vert="vert270"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SISTEM AI MULTI-AGEN</a:t>
            </a:r>
          </a:p>
          <a:p>
            <a:pPr algn="ctr"/>
            <a:r>
              <a:rPr sz="750" b="0">
                <a:solidFill>
                  <a:srgbClr val="E3EDFB"/>
                </a:solidFill>
                <a:latin typeface="Arial"/>
              </a:rPr>
              <a:t>master data tunggal · control tower portofolio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909560" y="1517904"/>
            <a:ext cx="2459736" cy="3860800"/>
          </a:xfrm>
          <a:prstGeom prst="roundRect">
            <a:avLst>
              <a:gd name="adj" fmla="val 4000"/>
            </a:avLst>
          </a:prstGeom>
          <a:solidFill>
            <a:srgbClr val="E3EDFB"/>
          </a:solidFill>
          <a:ln w="9525">
            <a:solidFill>
              <a:srgbClr val="E3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Oval 59"/>
          <p:cNvSpPr/>
          <p:nvPr/>
        </p:nvSpPr>
        <p:spPr>
          <a:xfrm>
            <a:off x="8001000" y="1609344"/>
            <a:ext cx="329184" cy="329184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1" name="Picture 60" descr="FaChartLine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80004" y="1688348"/>
            <a:ext cx="171175" cy="171175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8403336" y="1609344"/>
            <a:ext cx="1911095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A0A0A"/>
                </a:solidFill>
                <a:latin typeface="Arial"/>
              </a:rPr>
              <a:t>Dampak ekonomi &amp; sosial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37576" y="1981200"/>
            <a:ext cx="22037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5A6472"/>
                </a:solidFill>
                <a:latin typeface="Arial"/>
              </a:rPr>
              <a:t>EKONOMI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37576" y="2133600"/>
            <a:ext cx="22037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B57C2"/>
                </a:solidFill>
                <a:latin typeface="Arial"/>
              </a:rPr>
              <a:t>+1,55%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37576" y="2374900"/>
            <a:ext cx="22037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0A0A0A"/>
                </a:solidFill>
                <a:latin typeface="Arial"/>
              </a:rPr>
              <a:t>puncak level PDB 2030; +0,74% permanen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37576" y="2616200"/>
            <a:ext cx="22037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B57C2"/>
                </a:solidFill>
                <a:latin typeface="Arial"/>
              </a:rPr>
              <a:t>Rp169 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37576" y="2857500"/>
            <a:ext cx="22037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0A0A0A"/>
                </a:solidFill>
                <a:latin typeface="Arial"/>
              </a:rPr>
              <a:t>pajak tambahan selama pembangunan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37576" y="3098800"/>
            <a:ext cx="22037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B57C2"/>
                </a:solidFill>
                <a:latin typeface="Arial"/>
              </a:rPr>
              <a:t>US$2,4–7,2 miliar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37576" y="3340100"/>
            <a:ext cx="22037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0A0A0A"/>
                </a:solidFill>
                <a:latin typeface="Arial"/>
              </a:rPr>
              <a:t>hemat devisa bila 10–30% impor dilokalkan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37576" y="3581400"/>
            <a:ext cx="22037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>
                <a:solidFill>
                  <a:srgbClr val="5A6472"/>
                </a:solidFill>
                <a:latin typeface="Arial"/>
              </a:rPr>
              <a:t>SOSIAL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37576" y="3733800"/>
            <a:ext cx="22037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B57C2"/>
                </a:solidFill>
                <a:latin typeface="Arial"/>
              </a:rPr>
              <a:t>9,4–11,4 jt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37576" y="3975100"/>
            <a:ext cx="22037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0A0A0A"/>
                </a:solidFill>
                <a:latin typeface="Arial"/>
              </a:rPr>
              <a:t>tahun-kerja; 0,98–1,24 jt pekerjaan tetap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37576" y="4216400"/>
            <a:ext cx="22037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B57C2"/>
                </a:solidFill>
                <a:latin typeface="Arial"/>
              </a:rPr>
              <a:t>4,68% → ~4,0%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37576" y="4457700"/>
            <a:ext cx="22037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0A0A0A"/>
                </a:solidFill>
                <a:latin typeface="Arial"/>
              </a:rPr>
              <a:t>tingkat pengangguran terbuka 2028–2030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37576" y="4699000"/>
            <a:ext cx="22037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B57C2"/>
                </a:solidFill>
                <a:latin typeface="Arial"/>
              </a:rPr>
              <a:t>80.000 KDKMP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37576" y="4940300"/>
            <a:ext cx="220370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0A0A0A"/>
                </a:solidFill>
                <a:latin typeface="Arial"/>
              </a:rPr>
              <a:t>UKM &amp; koperasi desa masuk rantai pasok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1874519" y="1930400"/>
            <a:ext cx="320041" cy="0"/>
          </a:xfrm>
          <a:prstGeom prst="line">
            <a:avLst/>
          </a:prstGeom>
          <a:ln w="15875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3840480" y="1930400"/>
            <a:ext cx="320040" cy="0"/>
          </a:xfrm>
          <a:prstGeom prst="line">
            <a:avLst/>
          </a:prstGeom>
          <a:ln w="22225">
            <a:solidFill>
              <a:srgbClr val="0B57C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874519" y="3086100"/>
            <a:ext cx="2286001" cy="0"/>
          </a:xfrm>
          <a:prstGeom prst="line">
            <a:avLst/>
          </a:prstGeom>
          <a:ln w="15875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874519" y="4102100"/>
            <a:ext cx="2286001" cy="0"/>
          </a:xfrm>
          <a:prstGeom prst="line">
            <a:avLst/>
          </a:prstGeom>
          <a:ln w="15875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874519" y="5118100"/>
            <a:ext cx="2286001" cy="0"/>
          </a:xfrm>
          <a:prstGeom prst="line">
            <a:avLst/>
          </a:prstGeom>
          <a:ln w="15875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3995928" y="2451100"/>
            <a:ext cx="0" cy="1371600"/>
          </a:xfrm>
          <a:prstGeom prst="line">
            <a:avLst/>
          </a:prstGeom>
          <a:ln w="22225">
            <a:solidFill>
              <a:srgbClr val="0B57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3995928" y="2806700"/>
            <a:ext cx="164592" cy="0"/>
          </a:xfrm>
          <a:prstGeom prst="line">
            <a:avLst/>
          </a:prstGeom>
          <a:ln w="22225">
            <a:solidFill>
              <a:srgbClr val="0B57C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3995928" y="3822700"/>
            <a:ext cx="164592" cy="0"/>
          </a:xfrm>
          <a:prstGeom prst="line">
            <a:avLst/>
          </a:prstGeom>
          <a:ln w="22225">
            <a:solidFill>
              <a:srgbClr val="0B57C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943600" y="1930400"/>
            <a:ext cx="320040" cy="0"/>
          </a:xfrm>
          <a:prstGeom prst="line">
            <a:avLst/>
          </a:prstGeom>
          <a:ln w="15875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6766559" y="1930400"/>
            <a:ext cx="320041" cy="0"/>
          </a:xfrm>
          <a:prstGeom prst="line">
            <a:avLst/>
          </a:prstGeom>
          <a:ln w="15875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5943600" y="2946400"/>
            <a:ext cx="320040" cy="0"/>
          </a:xfrm>
          <a:prstGeom prst="line">
            <a:avLst/>
          </a:prstGeom>
          <a:ln w="15875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6766559" y="2946400"/>
            <a:ext cx="320041" cy="0"/>
          </a:xfrm>
          <a:prstGeom prst="line">
            <a:avLst/>
          </a:prstGeom>
          <a:ln w="15875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943600" y="3962400"/>
            <a:ext cx="320040" cy="0"/>
          </a:xfrm>
          <a:prstGeom prst="line">
            <a:avLst/>
          </a:prstGeom>
          <a:ln w="15875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6766559" y="3962400"/>
            <a:ext cx="320041" cy="0"/>
          </a:xfrm>
          <a:prstGeom prst="line">
            <a:avLst/>
          </a:prstGeom>
          <a:ln w="15875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943600" y="4978400"/>
            <a:ext cx="1143000" cy="0"/>
          </a:xfrm>
          <a:prstGeom prst="line">
            <a:avLst/>
          </a:prstGeom>
          <a:ln w="15875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7589520" y="1930400"/>
            <a:ext cx="320040" cy="0"/>
          </a:xfrm>
          <a:prstGeom prst="line">
            <a:avLst/>
          </a:prstGeom>
          <a:ln w="22225">
            <a:solidFill>
              <a:srgbClr val="0B57C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7589520" y="2946400"/>
            <a:ext cx="320040" cy="0"/>
          </a:xfrm>
          <a:prstGeom prst="line">
            <a:avLst/>
          </a:prstGeom>
          <a:ln w="22225">
            <a:solidFill>
              <a:srgbClr val="0B57C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7589520" y="3962400"/>
            <a:ext cx="320040" cy="0"/>
          </a:xfrm>
          <a:prstGeom prst="line">
            <a:avLst/>
          </a:prstGeom>
          <a:ln w="22225">
            <a:solidFill>
              <a:srgbClr val="0B57C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7589520" y="4978400"/>
            <a:ext cx="320040" cy="0"/>
          </a:xfrm>
          <a:prstGeom prst="line">
            <a:avLst/>
          </a:prstGeom>
          <a:ln w="22225">
            <a:solidFill>
              <a:srgbClr val="0B57C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139428" y="1261872"/>
            <a:ext cx="0" cy="256032"/>
          </a:xfrm>
          <a:prstGeom prst="line">
            <a:avLst/>
          </a:prstGeom>
          <a:ln w="19050">
            <a:solidFill>
              <a:srgbClr val="062A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H="1">
            <a:off x="3017520" y="1261872"/>
            <a:ext cx="6121908" cy="0"/>
          </a:xfrm>
          <a:prstGeom prst="line">
            <a:avLst/>
          </a:prstGeom>
          <a:ln w="19050">
            <a:solidFill>
              <a:srgbClr val="062A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3017520" y="1261872"/>
            <a:ext cx="0" cy="256032"/>
          </a:xfrm>
          <a:prstGeom prst="line">
            <a:avLst/>
          </a:prstGeom>
          <a:ln w="19050">
            <a:solidFill>
              <a:srgbClr val="062A6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ounded Rectangle 98"/>
          <p:cNvSpPr/>
          <p:nvPr/>
        </p:nvSpPr>
        <p:spPr>
          <a:xfrm>
            <a:off x="4160520" y="1161287"/>
            <a:ext cx="33832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0" name="Picture 99" descr="FaRedo_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31843" y="1214323"/>
            <a:ext cx="95097" cy="95097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4407408" y="1161287"/>
            <a:ext cx="312724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1">
                <a:solidFill>
                  <a:srgbClr val="062A66"/>
                </a:solidFill>
                <a:latin typeface="Arial"/>
              </a:rPr>
              <a:t>Dividen, pajak &amp; penerimaan SDA kembali ke NRF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194560" y="4640580"/>
            <a:ext cx="1600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80" b="1">
                <a:solidFill>
                  <a:srgbClr val="0B57C2"/>
                </a:solidFill>
                <a:latin typeface="Arial"/>
              </a:rPr>
              <a:t>— pendanaan NRF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194560" y="4805172"/>
            <a:ext cx="1600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80" b="1">
                <a:solidFill>
                  <a:srgbClr val="5A6472"/>
                </a:solidFill>
                <a:latin typeface="Arial"/>
              </a:rPr>
              <a:t>— permintaan pilar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20040" y="6272784"/>
            <a:ext cx="10049256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429768" y="6501384"/>
            <a:ext cx="384048" cy="384048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6" name="Picture 105" descr="FaSitemap_w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1939" y="6593555"/>
            <a:ext cx="199704" cy="199704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905256" y="6364224"/>
            <a:ext cx="16002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A0A0A"/>
                </a:solidFill>
                <a:latin typeface="Arial"/>
              </a:rPr>
              <a:t>Penggerak kelembagaan</a:t>
            </a:r>
          </a:p>
          <a:p>
            <a:pPr algn="l"/>
            <a:r>
              <a:rPr sz="700" b="0">
                <a:solidFill>
                  <a:srgbClr val="5A6472"/>
                </a:solidFill>
                <a:latin typeface="Arial"/>
              </a:rPr>
              <a:t>BPI mengorkestrasi</a:t>
            </a:r>
          </a:p>
        </p:txBody>
      </p:sp>
      <p:sp>
        <p:nvSpPr>
          <p:cNvPr id="108" name="Oval 107"/>
          <p:cNvSpPr/>
          <p:nvPr/>
        </p:nvSpPr>
        <p:spPr>
          <a:xfrm>
            <a:off x="2606040" y="6364224"/>
            <a:ext cx="3246120" cy="658368"/>
          </a:xfrm>
          <a:prstGeom prst="ellipse">
            <a:avLst/>
          </a:prstGeom>
          <a:solidFill>
            <a:srgbClr val="E3EDFB"/>
          </a:solidFill>
          <a:ln w="9525">
            <a:solidFill>
              <a:srgbClr val="E3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2971800" y="6382512"/>
            <a:ext cx="25146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0A0A0A"/>
                </a:solidFill>
                <a:latin typeface="Arial"/>
              </a:rPr>
              <a:t>DIM · DAM</a:t>
            </a:r>
          </a:p>
          <a:p>
            <a:pPr algn="ctr"/>
            <a:r>
              <a:rPr sz="700" b="0">
                <a:solidFill>
                  <a:srgbClr val="0A0A0A"/>
                </a:solidFill>
                <a:latin typeface="Arial"/>
              </a:rPr>
              <a:t>Modal, investasi, dan pengelolaan aset BUMN: menyalurkan NRF dan dividen</a:t>
            </a:r>
          </a:p>
        </p:txBody>
      </p:sp>
      <p:sp>
        <p:nvSpPr>
          <p:cNvPr id="110" name="Oval 109"/>
          <p:cNvSpPr/>
          <p:nvPr/>
        </p:nvSpPr>
        <p:spPr>
          <a:xfrm>
            <a:off x="6080760" y="6364224"/>
            <a:ext cx="3246120" cy="658368"/>
          </a:xfrm>
          <a:prstGeom prst="ellipse">
            <a:avLst/>
          </a:prstGeom>
          <a:solidFill>
            <a:srgbClr val="062A66"/>
          </a:solidFill>
          <a:ln w="9525">
            <a:solidFill>
              <a:srgbClr val="06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6446520" y="6382512"/>
            <a:ext cx="25146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DDMF · DSIM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Arial"/>
              </a:rPr>
              <a:t>Pengembangan proyek dan industri strategis: menjalankan proyek rinci dan DOCK-UP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317500" y="5511800"/>
            <a:ext cx="10045700" cy="660400"/>
          </a:xfrm>
          <a:prstGeom prst="roundRect">
            <a:avLst>
              <a:gd name="adj" fmla="val 15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444500" y="5588000"/>
            <a:ext cx="1397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DOCK-UP</a:t>
            </a:r>
          </a:p>
          <a:p>
            <a:pPr algn="l"/>
            <a:r>
              <a:rPr sz="650" b="0">
                <a:solidFill>
                  <a:srgbClr val="9DBCEB"/>
                </a:solidFill>
                <a:latin typeface="Arial"/>
              </a:rPr>
              <a:t>Belanja proyek jadi pesanan pemasok lokal; memutus lingkaran integrator–UKM–bank yang saling menunggu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1930400" y="5588000"/>
            <a:ext cx="1498600" cy="508000"/>
          </a:xfrm>
          <a:prstGeom prst="roundRect">
            <a:avLst>
              <a:gd name="adj" fmla="val 10000"/>
            </a:avLst>
          </a:prstGeom>
          <a:solidFill>
            <a:srgbClr val="1C1C1C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2006600" y="5626100"/>
            <a:ext cx="13462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DBCEB"/>
                </a:solidFill>
                <a:latin typeface="Arial"/>
              </a:rPr>
              <a:t>D · </a:t>
            </a:r>
            <a:r>
              <a:rPr sz="800" b="1">
                <a:solidFill>
                  <a:srgbClr val="FFFFFF"/>
                </a:solidFill>
                <a:latin typeface="Arial"/>
              </a:rPr>
              <a:t>Develop</a:t>
            </a:r>
          </a:p>
          <a:p>
            <a:pPr algn="l"/>
            <a:r>
              <a:rPr sz="630" b="0">
                <a:solidFill>
                  <a:srgbClr val="9DBCEB"/>
                </a:solidFill>
                <a:latin typeface="Arial"/>
              </a:rPr>
              <a:t>BUMN integrator membina pemasok lokal: alih teknologi &amp; supervisi produksi</a:t>
            </a:r>
          </a:p>
        </p:txBody>
      </p:sp>
      <p:sp>
        <p:nvSpPr>
          <p:cNvPr id="117" name="Right Arrow 116"/>
          <p:cNvSpPr/>
          <p:nvPr/>
        </p:nvSpPr>
        <p:spPr>
          <a:xfrm>
            <a:off x="3454400" y="5797550"/>
            <a:ext cx="101600" cy="88900"/>
          </a:xfrm>
          <a:prstGeom prst="rightArrow">
            <a:avLst/>
          </a:prstGeom>
          <a:solidFill>
            <a:srgbClr val="9D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ounded Rectangle 117"/>
          <p:cNvSpPr/>
          <p:nvPr/>
        </p:nvSpPr>
        <p:spPr>
          <a:xfrm>
            <a:off x="3581400" y="5588000"/>
            <a:ext cx="1498600" cy="508000"/>
          </a:xfrm>
          <a:prstGeom prst="roundRect">
            <a:avLst>
              <a:gd name="adj" fmla="val 10000"/>
            </a:avLst>
          </a:prstGeom>
          <a:solidFill>
            <a:srgbClr val="1C1C1C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3657600" y="5626100"/>
            <a:ext cx="13462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DBCEB"/>
                </a:solidFill>
                <a:latin typeface="Arial"/>
              </a:rPr>
              <a:t>O · </a:t>
            </a:r>
            <a:r>
              <a:rPr sz="800" b="1">
                <a:solidFill>
                  <a:srgbClr val="FFFFFF"/>
                </a:solidFill>
                <a:latin typeface="Arial"/>
              </a:rPr>
              <a:t>Off-taker</a:t>
            </a:r>
          </a:p>
          <a:p>
            <a:pPr algn="l"/>
            <a:r>
              <a:rPr sz="630" b="0">
                <a:solidFill>
                  <a:srgbClr val="9DBCEB"/>
                </a:solidFill>
                <a:latin typeface="Arial"/>
              </a:rPr>
              <a:t>Kontrak payung 3–5 th; ofset UU 16/2012 (35→85%) jadi pesanan nyata</a:t>
            </a:r>
          </a:p>
        </p:txBody>
      </p:sp>
      <p:sp>
        <p:nvSpPr>
          <p:cNvPr id="120" name="Right Arrow 119"/>
          <p:cNvSpPr/>
          <p:nvPr/>
        </p:nvSpPr>
        <p:spPr>
          <a:xfrm>
            <a:off x="5105400" y="5797550"/>
            <a:ext cx="101600" cy="88900"/>
          </a:xfrm>
          <a:prstGeom prst="rightArrow">
            <a:avLst/>
          </a:prstGeom>
          <a:solidFill>
            <a:srgbClr val="9D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ounded Rectangle 120"/>
          <p:cNvSpPr/>
          <p:nvPr/>
        </p:nvSpPr>
        <p:spPr>
          <a:xfrm>
            <a:off x="5232400" y="5588000"/>
            <a:ext cx="1498600" cy="508000"/>
          </a:xfrm>
          <a:prstGeom prst="roundRect">
            <a:avLst>
              <a:gd name="adj" fmla="val 10000"/>
            </a:avLst>
          </a:prstGeom>
          <a:solidFill>
            <a:srgbClr val="1C1C1C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5308600" y="5626100"/>
            <a:ext cx="13462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DBCEB"/>
                </a:solidFill>
                <a:latin typeface="Arial"/>
              </a:rPr>
              <a:t>C · </a:t>
            </a:r>
            <a:r>
              <a:rPr sz="800" b="1">
                <a:solidFill>
                  <a:srgbClr val="FFFFFF"/>
                </a:solidFill>
                <a:latin typeface="Arial"/>
              </a:rPr>
              <a:t>Certification</a:t>
            </a:r>
          </a:p>
          <a:p>
            <a:pPr algn="l"/>
            <a:r>
              <a:rPr sz="630" b="0">
                <a:solidFill>
                  <a:srgbClr val="9DBCEB"/>
                </a:solidFill>
                <a:latin typeface="Arial"/>
              </a:rPr>
              <a:t>Mutu diverifikasi pihak ketiga; TRL/MRL jadi bahasa bersama</a:t>
            </a:r>
          </a:p>
        </p:txBody>
      </p:sp>
      <p:sp>
        <p:nvSpPr>
          <p:cNvPr id="123" name="Right Arrow 122"/>
          <p:cNvSpPr/>
          <p:nvPr/>
        </p:nvSpPr>
        <p:spPr>
          <a:xfrm>
            <a:off x="6756400" y="5797550"/>
            <a:ext cx="101600" cy="88900"/>
          </a:xfrm>
          <a:prstGeom prst="rightArrow">
            <a:avLst/>
          </a:prstGeom>
          <a:solidFill>
            <a:srgbClr val="9D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ounded Rectangle 123"/>
          <p:cNvSpPr/>
          <p:nvPr/>
        </p:nvSpPr>
        <p:spPr>
          <a:xfrm>
            <a:off x="6883400" y="5588000"/>
            <a:ext cx="1498600" cy="508000"/>
          </a:xfrm>
          <a:prstGeom prst="roundRect">
            <a:avLst>
              <a:gd name="adj" fmla="val 10000"/>
            </a:avLst>
          </a:prstGeom>
          <a:solidFill>
            <a:srgbClr val="1C1C1C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6959600" y="5626100"/>
            <a:ext cx="13462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DBCEB"/>
                </a:solidFill>
                <a:latin typeface="Arial"/>
              </a:rPr>
              <a:t>UP · </a:t>
            </a:r>
            <a:r>
              <a:rPr sz="800" b="1">
                <a:solidFill>
                  <a:srgbClr val="FFFFFF"/>
                </a:solidFill>
                <a:latin typeface="Arial"/>
              </a:rPr>
              <a:t>Upgrading</a:t>
            </a:r>
          </a:p>
          <a:p>
            <a:pPr algn="l"/>
            <a:r>
              <a:rPr sz="630" b="0">
                <a:solidFill>
                  <a:srgbClr val="9DBCEB"/>
                </a:solidFill>
                <a:latin typeface="Arial"/>
              </a:rPr>
              <a:t>Volume &amp; kredit dibuka per gerbang G1–G4: dari build-to-print ke design &amp; build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509000" y="5588000"/>
            <a:ext cx="17272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rial"/>
              </a:rPr>
              <a:t>Bukti</a:t>
            </a:r>
          </a:p>
          <a:p>
            <a:pPr algn="l"/>
            <a:r>
              <a:rPr sz="630" b="0">
                <a:solidFill>
                  <a:srgbClr val="9DBCEB"/>
                </a:solidFill>
                <a:latin typeface="Arial"/>
              </a:rPr>
              <a:t>V-Bracket PT Barata untuk kapal PT PAL: waktu &amp; biaya turun &gt;50% vs impor. Tanpa DOCK-UP, uang proyek mengalir ke impor.</a:t>
            </a:r>
          </a:p>
        </p:txBody>
      </p:sp>
      <p:sp>
        <p:nvSpPr>
          <p:cNvPr id="900" name="TextBox caveat"/>
          <p:cNvSpPr txBox="1"/>
          <p:nvPr/>
        </p:nvSpPr>
        <p:spPr>
          <a:xfrm>
            <a:off x="8037576" y="5130800"/>
            <a:ext cx="22037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" b="0" i="1">
                <a:solidFill>
                  <a:srgbClr val="0A0A0A"/>
                </a:solidFill>
                <a:latin typeface="Arial"/>
              </a:rPr>
              <a:t>Dampak dimodelkan atas register Rp2.091 T; belum dihitung ulang untuk Giant Sea Wall dan pertahanan baru.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56032"/>
            <a:ext cx="9317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Narasi dampak: PDB, pekerjaan, fiskal, devisa, dan sosial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713232"/>
            <a:ext cx="9317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5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ilustratif atas pipeline Rp2.091 T, 2027–2032; angka bruto, belum dikurangi efek pengalihan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802368" y="274320"/>
            <a:ext cx="566928" cy="566928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802368" y="274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4/4</a:t>
            </a:r>
            <a:endParaRPr lang="en-US" sz="1300" dirty="0"/>
          </a:p>
        </p:txBody>
      </p:sp>
      <p:sp>
        <p:nvSpPr>
          <p:cNvPr id="6" name="Rounded Rectangle 5"/>
          <p:cNvSpPr/>
          <p:nvPr/>
        </p:nvSpPr>
        <p:spPr>
          <a:xfrm>
            <a:off x="320040" y="1115568"/>
            <a:ext cx="2409444" cy="804672"/>
          </a:xfrm>
          <a:prstGeom prst="roundRect">
            <a:avLst>
              <a:gd name="adj" fmla="val 8000"/>
            </a:avLst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9768" y="1170432"/>
            <a:ext cx="21899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+1,55%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536192"/>
            <a:ext cx="218998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Arial"/>
              </a:rPr>
              <a:t>Puncak level PDB 2030; permanen +0,74% ≈ Rp260 T/tahun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6644" y="1115568"/>
            <a:ext cx="2409444" cy="804672"/>
          </a:xfrm>
          <a:prstGeom prst="roundRect">
            <a:avLst>
              <a:gd name="adj" fmla="val 8000"/>
            </a:avLst>
          </a:prstGeom>
          <a:solidFill>
            <a:srgbClr val="E3EDFB"/>
          </a:solidFill>
          <a:ln w="9525">
            <a:solidFill>
              <a:srgbClr val="E3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76372" y="1170432"/>
            <a:ext cx="21899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0B57C2"/>
                </a:solidFill>
                <a:latin typeface="Arial"/>
              </a:rPr>
              <a:t>9,4–11,4 jt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6372" y="1536192"/>
            <a:ext cx="218998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0A0A0A"/>
                </a:solidFill>
                <a:latin typeface="Arial"/>
              </a:rPr>
              <a:t>Tahun-kerja selama pembangunan; 0,98–1,24 jt pekerjaan tetap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13248" y="1115568"/>
            <a:ext cx="2409444" cy="804672"/>
          </a:xfrm>
          <a:prstGeom prst="roundRect">
            <a:avLst>
              <a:gd name="adj" fmla="val 8000"/>
            </a:avLst>
          </a:prstGeom>
          <a:solidFill>
            <a:srgbClr val="E3EDFB"/>
          </a:solidFill>
          <a:ln w="9525">
            <a:solidFill>
              <a:srgbClr val="E3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22976" y="1170432"/>
            <a:ext cx="21899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0B57C2"/>
                </a:solidFill>
                <a:latin typeface="Arial"/>
              </a:rPr>
              <a:t>Rp169 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22976" y="1536192"/>
            <a:ext cx="218998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0A0A0A"/>
                </a:solidFill>
                <a:latin typeface="Arial"/>
              </a:rPr>
              <a:t>Pajak tambahan selama pembangunan; lalu +Rp24 T/tahun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9852" y="1115568"/>
            <a:ext cx="2409444" cy="804672"/>
          </a:xfrm>
          <a:prstGeom prst="roundRect">
            <a:avLst>
              <a:gd name="adj" fmla="val 8000"/>
            </a:avLst>
          </a:prstGeom>
          <a:solidFill>
            <a:srgbClr val="E3EDFB"/>
          </a:solidFill>
          <a:ln w="9525">
            <a:solidFill>
              <a:srgbClr val="E3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69579" y="1170432"/>
            <a:ext cx="21899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0B57C2"/>
                </a:solidFill>
                <a:latin typeface="Arial"/>
              </a:rPr>
              <a:t>US$2,4–7,2 miliar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9579" y="1536192"/>
            <a:ext cx="218998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0A0A0A"/>
                </a:solidFill>
                <a:latin typeface="Arial"/>
              </a:rPr>
              <a:t>Hemat devisa bila 10–30% barang impor dilokalkan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2057400"/>
            <a:ext cx="2409444" cy="23591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429768" y="2167128"/>
            <a:ext cx="365760" cy="365760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0" name="Picture 19" descr="FaChartLin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" y="2254910"/>
            <a:ext cx="190195" cy="19019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86968" y="2167128"/>
            <a:ext cx="17510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A0A0A"/>
                </a:solidFill>
                <a:latin typeface="Arial"/>
              </a:rPr>
              <a:t>PDB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" y="2624328"/>
            <a:ext cx="21899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B57C2"/>
                </a:solidFill>
                <a:latin typeface="Arial"/>
              </a:rPr>
              <a:t>+1,55% → +0,74%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" y="2935224"/>
            <a:ext cx="2189988" cy="1408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0A0A0A"/>
                </a:solidFill>
                <a:latin typeface="Arial"/>
              </a:rPr>
              <a:t>Selama konstruksi pengganda investasi publik naik dari 0,5 ke 1,2. Tambahan PDB kumulatif ≈Rp1.819 T: infrastruktur ≈2/3 efek pembangunan, SDA ≈2/5 efek permanen. Setelah selesai, PDB tetap ≈0,74% lebih tinggi; dengan efisiensi investasi, puncak bisa 2,0%.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66644" y="2057400"/>
            <a:ext cx="2409444" cy="2359152"/>
          </a:xfrm>
          <a:prstGeom prst="roundRect">
            <a:avLst>
              <a:gd name="adj" fmla="val 5000"/>
            </a:avLst>
          </a:prstGeom>
          <a:solidFill>
            <a:srgbClr val="E3EDFB"/>
          </a:solidFill>
          <a:ln w="12700">
            <a:solidFill>
              <a:srgbClr val="E3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Oval 24"/>
          <p:cNvSpPr/>
          <p:nvPr/>
        </p:nvSpPr>
        <p:spPr>
          <a:xfrm>
            <a:off x="2976372" y="2167128"/>
            <a:ext cx="365760" cy="365760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6" name="Picture 25" descr="FaUser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4154" y="2254910"/>
            <a:ext cx="190195" cy="19019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433572" y="2167128"/>
            <a:ext cx="17510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A0A0A"/>
                </a:solidFill>
                <a:latin typeface="Arial"/>
              </a:rPr>
              <a:t>Lapangan kerja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6372" y="2624328"/>
            <a:ext cx="21899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B57C2"/>
                </a:solidFill>
                <a:latin typeface="Arial"/>
              </a:rPr>
              <a:t>2,56–2,66 jt pekerjaan/tahun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6372" y="2935224"/>
            <a:ext cx="2189988" cy="1408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0A0A0A"/>
                </a:solidFill>
                <a:latin typeface="Arial"/>
              </a:rPr>
              <a:t>Puncak 2028–2030. Infrastruktur paling padat karya (≈6.300 tahun-kerja per Rp1 T, SDA 4.600, pertahanan 3.600). Pengangguran terbuka turun dari 4,68% ke ≈4,0%. Rekrutmen lokal dan vokasi menentukan berapa yang jatuh ke pekerja Indonesia.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13248" y="2057400"/>
            <a:ext cx="2409444" cy="23591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Oval 30"/>
          <p:cNvSpPr/>
          <p:nvPr/>
        </p:nvSpPr>
        <p:spPr>
          <a:xfrm>
            <a:off x="5522976" y="2167128"/>
            <a:ext cx="365760" cy="365760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2" name="Picture 31" descr="FaShoppingCar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0758" y="2254910"/>
            <a:ext cx="190195" cy="19019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980176" y="2167128"/>
            <a:ext cx="17510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A0A0A"/>
                </a:solidFill>
                <a:latin typeface="Arial"/>
              </a:rPr>
              <a:t>Konsumsi rumah tangga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22976" y="2624328"/>
            <a:ext cx="21899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B57C2"/>
                </a:solidFill>
                <a:latin typeface="Arial"/>
              </a:rPr>
              <a:t>Rp79 T upah/tahun (2029)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22976" y="2935224"/>
            <a:ext cx="2189988" cy="1408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0A0A0A"/>
                </a:solidFill>
                <a:latin typeface="Arial"/>
              </a:rPr>
              <a:t>≈2,0 juta pekerja di lokasi dan pemasok menerima upah ≈Rp79 T. Rp40–63 T merupakan pendapatan baru yang menambah konsumsi Rp30–53 T (0,10–0,18% PDB), lalu mendorong PDB 0,2–0,4% pada putaran berikutnya.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9852" y="2057400"/>
            <a:ext cx="2409444" cy="2359152"/>
          </a:xfrm>
          <a:prstGeom prst="roundRect">
            <a:avLst>
              <a:gd name="adj" fmla="val 5000"/>
            </a:avLst>
          </a:prstGeom>
          <a:solidFill>
            <a:srgbClr val="E3EDFB"/>
          </a:solidFill>
          <a:ln w="12700">
            <a:solidFill>
              <a:srgbClr val="E3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Oval 36"/>
          <p:cNvSpPr/>
          <p:nvPr/>
        </p:nvSpPr>
        <p:spPr>
          <a:xfrm>
            <a:off x="8069579" y="2167128"/>
            <a:ext cx="365760" cy="365760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8" name="Picture 37" descr="FaLandmar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7362" y="2254910"/>
            <a:ext cx="190195" cy="19019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526780" y="2167128"/>
            <a:ext cx="17510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A0A0A"/>
                </a:solidFill>
                <a:latin typeface="Arial"/>
              </a:rPr>
              <a:t>Penerimaan negara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69579" y="2624328"/>
            <a:ext cx="21899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B57C2"/>
                </a:solidFill>
                <a:latin typeface="Arial"/>
              </a:rPr>
              <a:t>Rp169 T + Rp24 T/tahun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69579" y="2935224"/>
            <a:ext cx="2189988" cy="1408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0A0A0A"/>
                </a:solidFill>
                <a:latin typeface="Arial"/>
              </a:rPr>
              <a:t>Pajak tambahan selama pembangunan Rp169 T, lalu ≈Rp24 T per tahun dari kapasitas permanen. NRF menambah manfaat fiskal Rp100 T pada tahun ke-1 dan Rp1.000 T dalam 3 tahun, memulihkan peran SDA yang porsinya turun dari 19,3% ke 7,7%.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0040" y="4553712"/>
            <a:ext cx="2409444" cy="2359152"/>
          </a:xfrm>
          <a:prstGeom prst="roundRect">
            <a:avLst>
              <a:gd name="adj" fmla="val 5000"/>
            </a:avLst>
          </a:prstGeom>
          <a:solidFill>
            <a:srgbClr val="E3EDFB"/>
          </a:solidFill>
          <a:ln w="12700">
            <a:solidFill>
              <a:srgbClr val="E3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Oval 42"/>
          <p:cNvSpPr/>
          <p:nvPr/>
        </p:nvSpPr>
        <p:spPr>
          <a:xfrm>
            <a:off x="429768" y="4663440"/>
            <a:ext cx="365760" cy="365760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4" name="Picture 43" descr="FaExchangeAl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550" y="4751222"/>
            <a:ext cx="190195" cy="19019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86968" y="4663440"/>
            <a:ext cx="17510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A0A0A"/>
                </a:solidFill>
                <a:latin typeface="Arial"/>
              </a:rPr>
              <a:t>Devisa &amp; neraca pembayaran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9768" y="5120640"/>
            <a:ext cx="21899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B57C2"/>
                </a:solidFill>
                <a:latin typeface="Arial"/>
              </a:rPr>
              <a:t>US$39 miliar bocor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9768" y="5431536"/>
            <a:ext cx="2189988" cy="1408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0A0A0A"/>
                </a:solidFill>
                <a:latin typeface="Arial"/>
              </a:rPr>
              <a:t>≈US$6,5 miliar/tahun belanja modal mengalir ke luar negeri (≈5% ekspor SDA 2025). Mengalihkan 10–30% barang impor ke pemasok DOCK-UP menghemat devisa US$2,4–7,2 miliar dan menambah nilai tambah Rp23–68 T.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866644" y="4553712"/>
            <a:ext cx="2409444" cy="23591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Oval 48"/>
          <p:cNvSpPr/>
          <p:nvPr/>
        </p:nvSpPr>
        <p:spPr>
          <a:xfrm>
            <a:off x="2976372" y="4663440"/>
            <a:ext cx="365760" cy="365760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0" name="Picture 49" descr="FaHandshak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4154" y="4751222"/>
            <a:ext cx="190195" cy="190195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3433572" y="4663440"/>
            <a:ext cx="17510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A0A0A"/>
                </a:solidFill>
                <a:latin typeface="Arial"/>
              </a:rPr>
              <a:t>Industri lokal, UKM &amp; desa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76372" y="5120640"/>
            <a:ext cx="21899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B57C2"/>
                </a:solidFill>
                <a:latin typeface="Arial"/>
              </a:rPr>
              <a:t>Ofset 35% → 85%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76372" y="5431536"/>
            <a:ext cx="2189988" cy="1408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0A0A0A"/>
                </a:solidFill>
                <a:latin typeface="Arial"/>
              </a:rPr>
              <a:t>Permintaan wajib UU 16/2012 menjadi pesanan bagi pemasok lokal. Gerbang G1–G4 membawa UKM dari build-to-print ke design-and-build (90–271 ribu tahun-kerja). 80.000 KDKMP menyalurkan manfaat sampai desa dengan transaksi tertelusur.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13248" y="4553712"/>
            <a:ext cx="2409444" cy="2359152"/>
          </a:xfrm>
          <a:prstGeom prst="roundRect">
            <a:avLst>
              <a:gd name="adj" fmla="val 5000"/>
            </a:avLst>
          </a:prstGeom>
          <a:solidFill>
            <a:srgbClr val="E3EDFB"/>
          </a:solidFill>
          <a:ln w="12700">
            <a:solidFill>
              <a:srgbClr val="E3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Oval 54"/>
          <p:cNvSpPr/>
          <p:nvPr/>
        </p:nvSpPr>
        <p:spPr>
          <a:xfrm>
            <a:off x="5522976" y="4663440"/>
            <a:ext cx="365760" cy="365760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6" name="Picture 55" descr="FaRocke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0758" y="4751222"/>
            <a:ext cx="190195" cy="190195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5980176" y="4663440"/>
            <a:ext cx="17510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A0A0A"/>
                </a:solidFill>
                <a:latin typeface="Arial"/>
              </a:rPr>
              <a:t>Pertumbuhan 8%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22976" y="5120640"/>
            <a:ext cx="21899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B57C2"/>
                </a:solidFill>
                <a:latin typeface="Arial"/>
              </a:rPr>
              <a:t>5,1% → 6,25% → 6,8% → 8%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22976" y="5431536"/>
            <a:ext cx="2189988" cy="1408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0A0A0A"/>
                </a:solidFill>
                <a:latin typeface="Arial"/>
              </a:rPr>
              <a:t>Pengungkit SDA dan pipeline membawa pertumbuhan 2029 ke ≈6,25%, efisiensi investasi ke ≈6,8%; sisa 1,2 poin dari reformasi non-SDA. Target investasi ≈33,5% PDB dengan ICOR ≈4,2; AI multi-agen membantu menekan ICOR lewat kendali biaya, jadwal, dan pengadaan.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959852" y="4553712"/>
            <a:ext cx="2409444" cy="23591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Oval 60"/>
          <p:cNvSpPr/>
          <p:nvPr/>
        </p:nvSpPr>
        <p:spPr>
          <a:xfrm>
            <a:off x="8069579" y="4663440"/>
            <a:ext cx="365760" cy="365760"/>
          </a:xfrm>
          <a:prstGeom prst="ellipse">
            <a:avLst/>
          </a:prstGeom>
          <a:solidFill>
            <a:srgbClr val="0B57C2"/>
          </a:solidFill>
          <a:ln w="9525">
            <a:solidFill>
              <a:srgbClr val="0B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2" name="Picture 61" descr="FaThermometerHalf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57362" y="4751222"/>
            <a:ext cx="190195" cy="190195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8526780" y="4663440"/>
            <a:ext cx="17510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A0A0A"/>
                </a:solidFill>
                <a:latin typeface="Arial"/>
              </a:rPr>
              <a:t>Inflasi &amp; risiko 2032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69579" y="5120640"/>
            <a:ext cx="21899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0B57C2"/>
                </a:solidFill>
                <a:latin typeface="Arial"/>
              </a:rPr>
              <a:t>+0,1–1,0 poin inflasi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69579" y="5431536"/>
            <a:ext cx="2189988" cy="1408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0A0A0A"/>
                </a:solidFill>
                <a:latin typeface="Arial"/>
              </a:rPr>
              <a:t>Bila Rp1.000 T NRF (≈4% PDB) dibelanjakan dalam setahun, inflasi naik 0,1–1,0 poin. Investasi turun dari Rp409 T (2031) ke Rp87 T (2032) memangkas pertumbuhan ≈0,7 poin. Respons: penyaluran bertahap, pemantau inflasi, pipeline penerus sejak 2030.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0040" y="6931152"/>
            <a:ext cx="100492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80" b="0">
                <a:solidFill>
                  <a:srgbClr val="5A6472"/>
                </a:solidFill>
                <a:latin typeface="Arial"/>
              </a:rPr>
              <a:t>Catatan: model ilustratif (kelas D). Pekerjaan, PDB, dan pajak dihitung atas pipeline Rp2.091 T; lokalisasi 10–30% adalah skenario terpisah dan tidak dijumlahkan dengan dampak PDB.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1941</Words>
  <Application>Microsoft Office PowerPoint</Application>
  <PresentationFormat>Custom</PresentationFormat>
  <Paragraphs>225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Infografis Ringkasan Kajian Danantara</dc:title>
  <dc:subject>PptxGenJS Presentation</dc:subject>
  <dc:creator>PptxGenJS</dc:creator>
  <cp:lastModifiedBy>H W Bowo</cp:lastModifiedBy>
  <cp:revision>4</cp:revision>
  <dcterms:created xsi:type="dcterms:W3CDTF">2026-10-12T21:45:17Z</dcterms:created>
  <dcterms:modified xsi:type="dcterms:W3CDTF">2026-10-14T07:31:53Z</dcterms:modified>
</cp:coreProperties>
</file>