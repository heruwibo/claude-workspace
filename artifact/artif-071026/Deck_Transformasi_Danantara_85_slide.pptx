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5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6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7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charts/chart8.xml" ContentType="application/vnd.openxmlformats-officedocument.drawingml.chart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charts/chart9.xml" ContentType="application/vnd.openxmlformats-officedocument.drawingml.chart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charts/chart10.xml" ContentType="application/vnd.openxmlformats-officedocument.drawingml.chart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charts/chart11.xml" ContentType="application/vnd.openxmlformats-officedocument.drawingml.chart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50b43526-b5d8-abc7-e5ee-ac457455b4b0}">
          <p14:sldIdLst>
            <p14:sldId id="256"/>
            <p14:sldId id="257"/>
            <p14:sldId id="258"/>
            <p14:sldId id="259"/>
          </p14:sldIdLst>
        </p14:section>
        <p14:section name="Pengantar" id="{5bfc944d-2d77-d0b7-b283-6c31d915cf3a}">
          <p14:sldIdLst>
            <p14:sldId id="260"/>
            <p14:sldId id="261"/>
          </p14:sldIdLst>
        </p14:section>
        <p14:section name="A. Diagnosis" id="{7aed1313-7044-6525-04f8-e424d36a0fd6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B. Kondisi target" id="{7244094b-a4a2-b48a-6b03-eb4676291886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C. Mesin pelaksanaan" id="{a3e9fcb1-6cce-1e08-1d96-c058c900e878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  <p14:section name="D. Natural Resource Fund" id="{6dd7eabb-9b12-f202-7be4-fa458d0c8d6e}">
          <p14:sldIdLst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</p14:sldIdLst>
        </p14:section>
        <p14:section name="E. Tokenisasi proyek berdaulat" id="{e8872780-e16a-f364-5e62-ecaa868fc13c}">
          <p14:sldIdLst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F. Langkah ke depan" id="{1ed9b83b-02bd-b7b4-b552-6631a4c6f5f0}">
          <p14:sldIdLst>
            <p14:sldId id="336"/>
            <p14:sldId id="337"/>
            <p14:sldId id="338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Perubahan tahun ke tahun, %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Perubahan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Laba grup BRI (FY25)</c:v>
                  </c:pt>
                  <c:pt idx="1">
                    <c:v>Laba Mandiri (FY25)</c:v>
                  </c:pt>
                  <c:pt idx="2">
                    <c:v>Pendapatan PLN (H1 26)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-5.26</c:v>
                </c:pt>
                <c:pt idx="1">
                  <c:v>0.93</c:v>
                </c:pt>
                <c:pt idx="2">
                  <c:v>16.05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Angka investasi 40 proyek per klaster, Rp triliun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Tabel ringkasan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Mineral</c:v>
                  </c:pt>
                  <c:pt idx="1">
                    <c:v>Infrastruktur</c:v>
                  </c:pt>
                  <c:pt idx="2">
                    <c:v>Pertahanan</c:v>
                  </c:pt>
                  <c:pt idx="3">
                    <c:v>Lain-lain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283.85</c:v>
                </c:pt>
                <c:pt idx="1">
                  <c:v>1274.57</c:v>
                </c:pt>
                <c:pt idx="2">
                  <c:v>81.1</c:v>
                </c:pt>
                <c:pt idx="3">
                  <c:v>451.94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Tabel rincian</c:v>
                </c:pt>
              </c:strCache>
            </c:strRef>
          </c:tx>
          <c:spPr>
            <a:solidFill>
              <a:srgbClr val="7FB2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Mineral</c:v>
                  </c:pt>
                  <c:pt idx="1">
                    <c:v>Infrastruktur</c:v>
                  </c:pt>
                  <c:pt idx="2">
                    <c:v>Pertahanan</c:v>
                  </c:pt>
                  <c:pt idx="3">
                    <c:v>Lain-lain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86.87</c:v>
                </c:pt>
                <c:pt idx="1">
                  <c:v>1217.92</c:v>
                </c:pt>
                <c:pt idx="2">
                  <c:v>24.36</c:v>
                </c:pt>
                <c:pt idx="3">
                  <c:v>743.38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338D"/>
                </a:solidFill>
                <a:latin typeface="Arial"/>
              </a:rPr>
              <a:t>Bobot aliran usulan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338D"/>
              </a:solidFill>
              <a:effectLst/>
            </c:spPr>
          </c:dPt>
          <c:dPt>
            <c:idx val="1"/>
            <c:bubble3D val="0"/>
            <c:spPr>
              <a:solidFill>
                <a:srgbClr val="005EB8"/>
              </a:solidFill>
              <a:effectLst/>
            </c:spPr>
          </c:dPt>
          <c:dPt>
            <c:idx val="2"/>
            <c:bubble3D val="0"/>
            <c:spPr>
              <a:solidFill>
                <a:srgbClr val="7FB2E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Investasi (I01–I12)</c:v>
                </c:pt>
                <c:pt idx="1">
                  <c:v>Operasi BUMN (O01–O15)</c:v>
                </c:pt>
                <c:pt idx="2">
                  <c:v>Pembangunan (D01–D12)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35</c:v>
                </c:pt>
                <c:pt idx="2">
                  <c:v>25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Learning curve 85%: indeks biaya per unit vs volume kumulatif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Indeks biaya per unit</c:v>
                </c:pt>
              </c:strCache>
            </c:strRef>
          </c:tx>
          <c:spPr>
            <a:solidFill>
              <a:srgbClr val="00338D"/>
            </a:solidFill>
            <a:ln w="381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1×</c:v>
                  </c:pt>
                  <c:pt idx="1">
                    <c:v>2×</c:v>
                  </c:pt>
                  <c:pt idx="2">
                    <c:v>4×</c:v>
                  </c:pt>
                  <c:pt idx="3">
                    <c:v>8×</c:v>
                  </c:pt>
                  <c:pt idx="4">
                    <c:v>16×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85</c:v>
                </c:pt>
                <c:pt idx="2">
                  <c:v>72</c:v>
                </c:pt>
                <c:pt idx="3">
                  <c:v>61</c:v>
                </c:pt>
                <c:pt idx="4">
                  <c:v>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4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Estimasi kerugian 2025, Rp triliun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Estimasi kerugian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WIKA</c:v>
                  </c:pt>
                  <c:pt idx="1">
                    <c:v>PP</c:v>
                  </c:pt>
                  <c:pt idx="2">
                    <c:v>Adhi Karya</c:v>
                  </c:pt>
                  <c:pt idx="3">
                    <c:v>Waskita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10.14</c:v>
                </c:pt>
                <c:pt idx="1">
                  <c:v>8</c:v>
                </c:pt>
                <c:pt idx="2">
                  <c:v>5.4</c:v>
                </c:pt>
                <c:pt idx="3">
                  <c:v>4.48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Waterfall ilustratif NPV ekonomi @9%, Rp miliar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PV arus kas finansial</c:v>
                  </c:pt>
                  <c:pt idx="1">
                    <c:v>+ Manfaat eksternal</c:v>
                  </c:pt>
                  <c:pt idx="2">
                    <c:v>− Capex</c:v>
                  </c:pt>
                  <c:pt idx="3">
                    <c:v>= NPV ekonomi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96.27</c:v>
                </c:pt>
                <c:pt idx="2">
                  <c:v>34.78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Nilai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PV arus kas finansial</c:v>
                  </c:pt>
                  <c:pt idx="1">
                    <c:v>+ Manfaat eksternal</c:v>
                  </c:pt>
                  <c:pt idx="2">
                    <c:v>− Capex</c:v>
                  </c:pt>
                  <c:pt idx="3">
                    <c:v>= NPV ekonomi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96.27</c:v>
                </c:pt>
                <c:pt idx="1">
                  <c:v>38.51</c:v>
                </c:pt>
                <c:pt idx="2">
                  <c:v>100</c:v>
                </c:pt>
                <c:pt idx="3">
                  <c:v>34.77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Kontribusi SDA terhadap APBN,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Kontribusi SDA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2004–2014</c:v>
                  </c:pt>
                  <c:pt idx="1">
                    <c:v>2015–2024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</c:v>
                </c:pt>
                <c:pt idx="1">
                  <c:v>7.7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Dari nilai in-situ ke kapasitas penerbitan, USD miliar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miliar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Nilai in-situ</c:v>
                  </c:pt>
                  <c:pt idx="1">
                    <c:v>Nilai kini bagian negara</c:v>
                  </c:pt>
                  <c:pt idx="2">
                    <c:v>Kapasitas penerbitan (1,5×)</c:v>
                  </c:pt>
                  <c:pt idx="3">
                    <c:v>Kapasitas, skenario transisi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5.89</c:v>
                </c:pt>
                <c:pt idx="2">
                  <c:v>3.93</c:v>
                </c:pt>
                <c:pt idx="3">
                  <c:v>3.31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Backlog utama, USD miliar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Nilai kontrak</c:v>
                </c:pt>
              </c:strCache>
            </c:strRef>
          </c:tx>
          <c:spPr>
            <a:solidFill>
              <a:srgbClr val="00338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 kapal selam Scorpène Evolved</c:v>
                  </c:pt>
                  <c:pt idx="1">
                    <c:v>2 fregat Merah Putih AH-140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2.16</c:v>
                </c:pt>
                <c:pt idx="1">
                  <c:v>1.2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Pelepasan tranche PAL-SUB-1, USD juta (total 150)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Tranche</c:v>
                </c:pt>
              </c:strCache>
            </c:strRef>
          </c:tx>
          <c:spPr>
            <a:solidFill>
              <a:srgbClr val="7FB2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2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1D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E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338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T1 Potong baja</c:v>
                  </c:pt>
                  <c:pt idx="1">
                    <c:v>T2 Peletakan lunas</c:v>
                  </c:pt>
                  <c:pt idx="2">
                    <c:v>T3 Peluncuran</c:v>
                  </c:pt>
                  <c:pt idx="3">
                    <c:v>T4 Uji laut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45</c:v>
                </c:pt>
                <c:pt idx="2">
                  <c:v>40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338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338D"/>
                </a:solidFill>
                <a:latin typeface="Arial"/>
              </a:rPr>
              <a:t>Kebutuhan PLN, USD miliar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Kebutuhan PLN</c:v>
                </c:pt>
              </c:strCache>
            </c:strRef>
          </c:tx>
          <c:spPr>
            <a:solidFill>
              <a:srgbClr val="C9D3E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338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3E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FB2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5E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338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0. Pola lama</c:v>
                  </c:pt>
                  <c:pt idx="1">
                    <c:v>1. Substitusi</c:v>
                  </c:pt>
                  <c:pt idx="2">
                    <c:v>2. + Lokalisasi</c:v>
                  </c:pt>
                  <c:pt idx="3">
                    <c:v>3. + Valas domestik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2.16</c:v>
                </c:pt>
                <c:pt idx="1">
                  <c:v>1.62</c:v>
                </c:pt>
                <c:pt idx="2">
                  <c:v>1.3</c:v>
                </c:pt>
                <c:pt idx="3">
                  <c:v>0.65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338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6"/>
          <c:min val="0"/>
        </c:scaling>
        <c:delete val="0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merangkum kajian 'Dari Investor ke Platform Industri: Agenda Transformasi Terpadu Danantara' (Oktober 2026), sintesis D1 Evaluasi Tata Kelola, D2 Studi Kinerja, D3 DOCK-UP dan D4 Platform Kapabilitas Industri Nasional, diperluas dengan D5 Natural Resource Fund (Bagian D) dan D6 PALCapital PT PAL (Bagian 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Pembiayaan bertahap, risiko fiskal dan uji stres berfungsi sebagai pengaman lintas pilar.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turunan: posisi saat ini; kondisi target dan organisasi; pengukuran; mesin permintaan; BUMN Konstruksi dan data; pengaman dan urutan implementasi. Kajian adalah sintesis analitis, bukan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Kesenjangan pengungkapan tidak boleh diterjemahkan menjadi asumsi kerugian. Contoh UKM dalam D3 adalah ilustrasi.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Rencana investasi 2026 hingga US$14 miliar dengan porsi sekitar 50/50 pasar publik dan proyek strategis berasal dari D4 (kelas 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obligasi menggambarkan pembiayaan, bukan imbal hasil, biaya kupon atau WACC. Profitabilitas portofolio disesuaikan risiko: NR.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 memakai pembanding yang disajikan kembali; rasio bank-only bukan rasio grup. Telkom: penurunan laba 9,5% pada basis revisi, laba normalisasi Rp22,7 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Keempat akar masalah menjadi dasar enam pilar: mekanisme konversi (DOCK-UP dan gerbang), integrasi (unit di BPI) dan pengukuran (tiga scorecard).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Kesenjangan utama bukan kekurangan jabatan, melainkan tidak adanya lapisan pengelolaan portofolio. Tidak ditemukan dasar bahwa gelar Deputy Chairman sendiri mempercepat proyek.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Menambah posisi pimpinan tanpa memperjelas keputusan, kontrol dan keluaran dapat memperpanjang proses.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Uji yang dapat mengubah kesimpulan: sampel proyek dari empat klaster ditelusuri dari usulan sampai keputusan, penandatanganan, pembayaran dan perubahan lingkup.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Kombinasi yang disarankan: disiplin investasi China dan Malaysia, eskalasi India, ketertiban transisi Vietnam.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Kondisi target hanya tercapai bila setiap klaim hasil dapat ditelusuri ke modal, periode, baseline, pemilik dan verifikasi independen.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Portofolio D4 menjawab untuk apa modal ditempatkan; kumpulan modal D2 menjawab bagaimana hasilnya diukur.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Pilihan C diteruskan bila unit tidak cukup mengatasi hambatan kewenangan. Pilihan D bila kebutuhan badan hukum khusus terbukti.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tidak menerima kewenangan universal atas investasi, pinjaman, jaminan, aset, kontrak atau pengangkatan.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Jumlah MD, project director dan tenaga ahli mengikuti jumlah dan tahap proyek aktif. Uji kapasitas kontrak, rekayasa, model finansial, legal dan commissioning sebelum rekrutmen.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Kapasitas rangkap COO–CEO DAM, CIO–CEO DIM dan CTO–CEO DDMF ditangani dengan pemisahan dokumen keputusan dan penanganan konflik.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Deputy Chairman hanya padanan dari jabatan eksekutif yang sama, itu bukan rangkap jabatan, tetapi nomenklatur harus konsisten dengan instrumen pengangkatan.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penyelesaian hambatan: triase 2 hari, rencana 5 hari, eskalasi lintas arm ke Kepala 10 hari, review lengkap 15 hari. Keterlambatan tidak menimbulkan persetujuan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Persetujuan Presiden atau Dewas dicatat sebagai aktivitas tersendiri sehingga tidak ada dua A pada satu baris. Pasal 32A mengatur penyampaian rencana mulai tahun buku 2028; kewajiban lain tidak ditunda.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Distribusi kas yang dibiayai utang memerlukan jembatan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Belum ada skor agregat yang ditetapkan; sistem siap menerima data manajemen. Enam gate tata kelola bukan poin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Ambang batas memerlukan lingkup pelaporan dan persetujuan; imbal hasil peer bukan otomatis hurdle Danantara.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Pengungkapan: laporan agregat tahunan dan pembaruan triwulanan. Insentif dikaitkan dengan nilai bersih terverifikasi, bukan dana dihimpun, MoU, capex atau dividen.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Proyek anchor tetap memerlukan kasus finansial dan ekonomi sendiri. Permintaan yang diagregasi tidak boleh menjadi kuota.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Pangan, digital dan kesehatan dalam ‘lain-lain’ memerlukan keahlian berbeda dan perlu dipecah setelah register lengkap.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Umur layanan kapal perang yang panjang berarti nilai terbesar ada pada pemeliharaan, suku cadang dan peningkatan, area yang cocok untuk pemasok domestik.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Masalah khas UMKM adalah kesiapan scale-up (MRL) atas teknologi yang sudah dikuasai; industri besar membantu scale-up dan mematangkan teknologi.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Skor tidak pernah dinyatakan sendiri: asesor independen memverifikasi, integrator me-review bukti, skor dinilai ulang setiap tahun.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Jalur MRL cocok untuk UKM yang sudah berproduksi sipil; jalur TRL untuk UKM dengan produk sendiri yang terbukti di pasar sipil.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Proteksi harus sementara: mendorong UKM efisien, mempertahankan MRL 8, dan memberi ruang integrator menjalankan DOCK-UP dengan UKM 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Asesmen: mandiri berdasarkan TRL dan sembilan aspek MRL → verifikasi independen (universitas, lembaga uji, BKI) → review bukti oleh integrator → asesmen tahunan dalam register bersama.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Dampak utama: arus kas negatif, leverage tinggi, kualitas aset rendah, kemampuan proyek menurun, risiko keberlanjutan perusahaan.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Anggaran infrastruktur 2025 turun dari sekitar Rp110,95 triliun menjadi Rp61,38 triliun (−45%). Angka kerugian tidak boleh dijumlahkan ke hasil Danantara.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Pemisahan aset memerlukan valuasi independen saat pengalihan dan pemisahan kewajiban warisan. Kajian menyarankan diagnosis aset per aset, termasuk opsi divestasi.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Arsitektur hub-and-spoke: Danantara AI Platform (LLM gateway, agent platform, common data model, IAM) sebagai hub; setiap BUMN Konstruksi sebagai spoke.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enam agen: Project Document, Cost, Cash &amp; Receivables, Procurement, Schedule, Project Manager Orchestrator.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 teknis: 3 AI/agent, 3 backend, 2 data, 1 AI/ML, 2 frontend, 1 DevOps, 1 security, 1 QA. Tim bisnis 6–8: project control, finance/CFO, procurement, kontrak/klaim, ERP, product owner, data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D2: NPV finansial @12% −Rp15,25 miliar (IRR 8,14%); NPV ekonomi @9% Rp34,77 miliar (EIRR 16,40%). Hibah viability gap Rp15,25 miliar adalah biaya publik dan transfer, bukan penciptaan manfaat.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Bila pembiayaan berbasis sumber daya dipertimbangkan, periksa pemilik hak, kepastian cadangan, offtake, pajak, penerimaan negara, hak menjaminkan dan nilai kini kewajiban.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Kegagalan satu proyek dapat menurunkan dividen BUMN, melemahkan aset bank BUMN dan memicu penjaminan sekaligus; kasus BUMN Konstruksi adalah contohnya.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Percepatan tidak dapat dicapai dengan memindahkan pekerjaan yang belum selesai menjadi komitmen investasi.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D menilai usulan tokenisasi atau mata uang khusus berbasis cadangan SDA, dibangun di atas gagasan Natural Resource Fund (D5) dan koreksi asumsi pembiayaan di D1.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D5: NRF di bawah Presiden, underlying cadangan 100% milik negara diverifikasi CRIRSCO/KCMI, batubara sebagai quick win. Delapan langkah: penertiban tambang ilegal, peninjauan IUP/HGU, landasan hukum, pembentukan NRF, restrukturisasi BUMN, integrasi tata kelola tambang, pengelolaan hasil dana, Koperasi Merah Putih.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pengguna: tokenisasi atau mata uang alternatif khusus yang underlying-nya cadangan SDA Indonesia yang diestimasi resmi oleh badan bersertifikasi internasional.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Kriteria: kesesuaian hukum saat ini, dasar nilai yang jujur, stabilitas moneter, transparansi fiskal, daya tarik investor, kesesuaian untuk ritel. Opsi 5 dipertimbangkan setelah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UU 7/2011: Rupiah satu-satunya alat pembayaran sah dan wajib dipakai untuk transaksi di Indonesia. Setelah UU P2SK, kewenangan Rupiah digital juga pada BI. Mata uang paralel memerlukan perubahan undang-undang mendasar.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 syariah (Sukuk TEPSDA) memakai struktur SBSN yang sudah dikenal, dengan aset dasar yang sesuai syariah dan opini Dewan Syariah Nasional.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Waterfall: penerimaan masuk, lalu cadangan likuiditas, kupon, pokok, dan sisa kembali ke NRF. Satu cadangan hanya menjadi dasar satu instrumen.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 CRIRSCO mengatur pelaporan estimasi, bukan valuasi keuangan; valuasi memerlukan standar valuasi aset mineral tersendiri (sejenis VALMIN atau CIMVAL). UNFC berguna untuk aspek sosial-lingkungan.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deck konservatif, bukan harga puncak. Rasio cakupan minimum disarankan 1,5–2,0× antara nilai kini setelah haircut dan nilai efek beredar.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Asumsi: cadangan terbukti 1.000 juta ton; harga USD80/ton; produksi 50 juta ton/tahun selama 20 tahun; bagian negara 15%; diskonto 8% (faktor anuitas 9,818); cakupan 1,5×. Skenario transisi: produksi tahun 11–20 turun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Rasio cakupan diuji setiap kuartal; di bawah ambang, penerbitan baru dihentikan dan cadangan likuiditas ditambah.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Prinsip desain: berizin bukan publik terbuka; kepastian hukum di atas teknologi; interoperabilitas dengan pencatatan efek nasional dan sistem pembayaran BI; keterbukaan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Tokenisasi paling berhasil sebagai peningkatan efisiensi penerbitan, penyelesaian dan transparansi efek yang sudah dikenal, bukan pengganti kerangka hukum efek.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Kekayaan yang tidak terbarukan harus ditukar dengan aset produktif atau aset keuangan, bukan habis untuk konsumsi.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proyek hilirisasi yang didanai melaporkan D02, D05 dan D06 terhadap kontrafaktual dan diuji pada skenario harga rendah serta transisi.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Kelembagaan yang disarankan (Pilihan C): NRF sebagai pemilik hak penerimaan di bawah kerangka keuangan negara; Danantara sebagai pengelola investasi bermandat; BI untuk penyelesaian; OJK untuk efek.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Langkah penertiban dan peninjauan izin tidak dijadikan dasar penerbitan TEPSDA sampai status hukum wilayah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Risiko reputasi terbesar adalah persepsi 'mata uang tambang' atau spekulasi; komunikasi harus jelas bahwa TEPSDA adalah efek negara.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Korelasi: harga turun dapat sekaligus melemahkan BUMN tambang, dividen ke Danantara, dan kualitas aset bank BUMN yang membiayai sektor tersebut.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tokenisasi efek pemerintah dan lembaga: obligasi bond-i Bank Dunia (2018), obligasi digital EIB (2021), obligasi hijau tertokenisasi Hong Kong (2023).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E mengembangkan usulan PALCapital PT PAL (D6) menjadi Token Proyek Berdaulat (TPB): efek Rupiah yang ditokenisasi, beragun tagihan kontrak pemerintah atau arus kas proyek, dengan dana dilepas per milestone fisik langsung ke pemasok.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Bentuk PLN yang lazim: kredit ekspor terikat pemasok asing, sindikasi komersial valas, pinjaman bilateral proyek. Sektor: pertahanan, perkapalan, perkeretaapian, energi, hilirisasi.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TPB = Token Proyek Berdaulat, nama usulan kajian. Hasil TEPSDA yang dialokasikan ke investasi produktif dapat menjadi investor jangkar atau tranche kerugian pertama TPB.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Backlog D6: 2 kapal selam Scorpène Evolved (USD2,16 miliar), 2 fregat Merah Putih AH-140 (USD1,2 miliar), LPD dan kapal rumah sakit; seluruhnya dijamin Kemhan dengan siklus 60–96 bulan.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D6: 'bukan hibah, bukan utang, tetapi piutang yang ditokenisasi'. Kajian mencatat bahwa secara substansi PAL-SUB-1 adalah surat utang berimbal hasil tetap (Bab 10.3).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Akta tripartit PAL–Danantara–Mandiri; bank escrow ditetapkan IC Danantara, Kemenkeu dan OJK, bukan oleh PAL. IoT (beban crane, persentase potong CNC) hanya bukti pendukung pada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Verifikasi: surveyor utama BKI dan perwira TNI AL menandatangani bersama dengan kunci Secure Enclave; foto 4K bergeotag dan stempel waktu wajib. Mutu las tetap diinspeksi manual oleh BKI.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D6: T1 USD40 juta masuk, USD5,17 juta dibayar sebagai imbal hasil, USD34,83 juta diteruskan ke kas PAL. Pada serah terima akhir sisa sekitar USD329 juta diteruskan ke 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2 menambah oracle Chainlink 3-dari-5 dan 6 validator; fase 3 membuka L2 publik hibrida. Kajian menyarankan fase 2–3 ditunda sampai evaluasi fase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Isu lain: klaim pasar RWA (USD18,9 T pada 2033), throughput galangan +40% dan penghematan USD8–12 juta per kapal adalah kelas C dan diverifikasi pada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Valas domestik: Devisa Hasil Ekspor SDA yang wajib ditahan di dalam negeri, penerimaan valas NRF, dan likuiditas valas bank BUMN. Pembiayaan valas domestik tetap berisiko kurs tetapi tidak menambah PLN.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Perhitungan: S1 = 75% × 2,16; S2 = 60% × 2,16 (konten lokal 40%); S3 = separuh dari porsi impor S2 dibiayai valas domestik = 30% × 2,16.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Aset dasar bukan proyeksi penjualan yang belum dikontrak. DIM sebagai investor jangkar paling banyak 30% per seri agar harga ditentukan pasar.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Kredit ekspor tertentu berbunga rendah, sehingga perbandingan harus all-in: bunga, biaya, lindung nilai valas, dan premi harga akibat pengadaan terikat.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Desak-mendesak: TPB dapat menyerap dana yang semula membeli SBN. Penerbitan dikoordinasikan dengan kalender SBN oleh Kemenkeu.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Kadens: bulanan (likuiditas, konstruksi, risiko, hambatan); triwulanan (imbal hasil, BUMN, pipeline pemasok); tahunan (laporan teraudit, evaluasi, asesmen ulang TRL/MRL). Ketergantungan: register 40 proyek mendahului peta komponen dan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Kriteria kenaikan ke jabatan formal: sengketa mandat tak terselesaikan, antrian keputusan lintas arm berulang, kebutuhan pengganti Kepala, atau lingkup yang nyata memerlukan jabatan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Permintaan data pertama: laporan teraudit, register 40 proyek, Keppres dan board manual, register leverage dan penjaminan, laporan BUMN Konstruksi, data proyek anchor, data ERP pilot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Sasaran awal adalah usulan yang perlu diuji kelayakannya setelah baseline tersedia.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Kajian lengkap (Word) memuat rincian setiap bab, kamus metrik, definisi gerbang, daftar agen AI dan register sumber.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image" Target="../media/image-49-6.png"/><Relationship Id="rId7" Type="http://schemas.openxmlformats.org/officeDocument/2006/relationships/image" Target="../media/image-49-7.png"/><Relationship Id="rId8" Type="http://schemas.openxmlformats.org/officeDocument/2006/relationships/image" Target="../media/image-49-8.png"/><Relationship Id="rId9" Type="http://schemas.openxmlformats.org/officeDocument/2006/relationships/image" Target="../media/image-49-9.png"/><Relationship Id="rId10" Type="http://schemas.openxmlformats.org/officeDocument/2006/relationships/image" Target="../media/image-49-10.png"/><Relationship Id="rId11" Type="http://schemas.openxmlformats.org/officeDocument/2006/relationships/image" Target="../media/image-49-11.png"/><Relationship Id="rId12" Type="http://schemas.openxmlformats.org/officeDocument/2006/relationships/image" Target="../media/image-49-12.png"/><Relationship Id="rId13" Type="http://schemas.openxmlformats.org/officeDocument/2006/relationships/image" Target="../media/image-49-13.png"/><Relationship Id="rId14" Type="http://schemas.openxmlformats.org/officeDocument/2006/relationships/image" Target="../media/image-49-14.png"/><Relationship Id="rId15" Type="http://schemas.openxmlformats.org/officeDocument/2006/relationships/image" Target="../media/image-49-15.png"/><Relationship Id="rId16" Type="http://schemas.openxmlformats.org/officeDocument/2006/relationships/image" Target="../media/image-49-16.png"/><Relationship Id="rId17" Type="http://schemas.openxmlformats.org/officeDocument/2006/relationships/image" Target="../media/image-49-17.png"/><Relationship Id="rId18" Type="http://schemas.openxmlformats.org/officeDocument/2006/relationships/image" Target="../media/image-49-18.png"/><Relationship Id="rId19" Type="http://schemas.openxmlformats.org/officeDocument/2006/relationships/image" Target="../media/image-49-19.png"/><Relationship Id="rId20" Type="http://schemas.openxmlformats.org/officeDocument/2006/relationships/image" Target="../media/image-49-20.png"/><Relationship Id="rId21" Type="http://schemas.openxmlformats.org/officeDocument/2006/relationships/image" Target="../media/image-49-21.png"/><Relationship Id="rId22" Type="http://schemas.openxmlformats.org/officeDocument/2006/relationships/image" Target="../media/image-49-22.png"/><Relationship Id="rId23" Type="http://schemas.openxmlformats.org/officeDocument/2006/relationships/image" Target="../media/image-49-23.png"/><Relationship Id="rId24" Type="http://schemas.openxmlformats.org/officeDocument/2006/relationships/image" Target="../media/image-49-24.png"/><Relationship Id="rId25" Type="http://schemas.openxmlformats.org/officeDocument/2006/relationships/image" Target="../media/image-49-25.png"/><Relationship Id="rId26" Type="http://schemas.openxmlformats.org/officeDocument/2006/relationships/image" Target="../media/image-49-26.png"/><Relationship Id="rId27" Type="http://schemas.openxmlformats.org/officeDocument/2006/relationships/image" Target="../media/image-49-27.png"/><Relationship Id="rId28" Type="http://schemas.openxmlformats.org/officeDocument/2006/relationships/image" Target="../media/image-49-28.png"/><Relationship Id="rId29" Type="http://schemas.openxmlformats.org/officeDocument/2006/relationships/image" Target="../media/image-49-29.png"/><Relationship Id="rId30" Type="http://schemas.openxmlformats.org/officeDocument/2006/relationships/image" Target="../media/image-49-30.png"/><Relationship Id="rId31" Type="http://schemas.openxmlformats.org/officeDocument/2006/relationships/image" Target="../media/image-49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69-1.png"/><Relationship Id="rId3" Type="http://schemas.openxmlformats.org/officeDocument/2006/relationships/image" Target="../media/image-6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image" Target="../media/image-8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155448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233172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INTERNAL · OKTOBER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Investor ke Platform Industri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48640" y="3383280"/>
            <a:ext cx="100584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Transformasi Terpadu Danantara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Sintesis enam dokumen: tata kelola, studi kinerja, DOCK-UP, Platform Kapabilitas Industri, Natural Resource Fund, dan tokenisasi proyek berdaulat PALCapital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 untuk diskusi manajemen · Bukan audit, opini valuasi, pengesahan struktur atau otorisasi pembiayaan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EKSEKUTIF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perlu bergeser dari pengonsolidasi aset menjadi platform kapabilitas industri nasional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Oktober 2026 (sintesis D1–D4)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1600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TESIS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strategis menjadi mesin permintaan, DOCK-UP membangun pemasok, unit di BPI mengelola pelaksanaan, tiga scorecard mengukur hasil, dan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serta tokenisasi proyek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membiayainya dari tabungan domestik, bukan pinjaman luar negeri.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2754539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dan organisasi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di BPI (NITO); gerbang P0–P6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306824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2754539"/>
            <a:ext cx="215067" cy="215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Manajemen kinerja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scorecard, kelas bukti, kontrol hitung ganda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065008" y="256032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3024" y="267004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2754539"/>
            <a:ext cx="215067" cy="215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193024" y="316382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permintaan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anchor dan register 40 proyek dipetakan ke komponen lokal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76656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147" y="4629059"/>
            <a:ext cx="215067" cy="215067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76656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pemasok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dengan gerbang S1–S4 berbasis TRL/MRL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4306824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434840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331" y="4629059"/>
            <a:ext cx="215067" cy="21506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434840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Pemulihan BUMN Konstruksi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 bisnis, proyek bermargin sehat, aset warisan dipisah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8065008" y="4434840"/>
            <a:ext cx="3575304" cy="16916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8193024" y="45445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515" y="4629059"/>
            <a:ext cx="215067" cy="215067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193024" y="5038344"/>
            <a:ext cx="33192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 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AI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Control Tower dan master data bersama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TEMUAN UTAMA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dan pendanaan sudah ada; hasil, kapabilitas pemasok dan disiplin eksekusi belum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D1–D4. Kerugian BUMN Konstruksi adalah estimasi (kelas C) dan perlu verifikasi laporan teraudit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600200"/>
            <a:ext cx="1109167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636776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636776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dan pendanaan terbukti, hasil belum dapat dinilai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1636776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 DIM USD1,5 miliar (5,65%, 33 bps, 3,07×); imbal hasil, nilai BUMN dan dampak industri masih NR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441448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47802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478024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Implementasi didominasi konsolidasi aset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2478024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Manufaktur maju, pengembangan pemasok dan kepemilikan teknologi adalah kesenjangan besar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282696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31927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319272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Lapisan portofolio lintas arm belum ada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40680" y="3319272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register terpadu 40 proyek; angka investasi berselisih Rp18,9 triliun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12394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1605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4160520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dijamin, pemasok belum siap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4160520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16/2012: 85% imbal dagang, 35% kandungan lokal; UKM tertahan di TRL 6–8, MRL 3–5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96519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001768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5001768"/>
            <a:ext cx="4206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Konstruksi paling tertekan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40680" y="5001768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2025 ±Rp28 triliun; anggaran infrastruktur turun sekitar 45%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580644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0"/>
            <a:ext cx="73152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22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ISI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bagian dari diagnosis sampai keputusan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26280" y="411480"/>
            <a:ext cx="713232" cy="713232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26280" y="4114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411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7772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Mandat, sumber dan disiplin bukti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332720" y="41148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5–6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26280" y="1197864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271016"/>
            <a:ext cx="713232" cy="7132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26280" y="127101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12710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0" y="163677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Posisi Danantara, kinerja BUMN dan tata kelola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0" y="1271016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7–14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26280" y="2057400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26280" y="2130552"/>
            <a:ext cx="713232" cy="7132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26280" y="213055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1305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 target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0" y="24963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Portofolio, organisasi, gerbang dan manajemen kinerja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332720" y="2130552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15–27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26280" y="2916936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2990088"/>
            <a:ext cx="713232" cy="7132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6280" y="299008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0" y="29900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pelaksanaan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0" y="33558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Anchor, DOCK-UP, BUMN Konstruksi, AI, pembiayaan, risiko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332720" y="2990088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28–45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26280" y="3776472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26280" y="3849624"/>
            <a:ext cx="713232" cy="7132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526280" y="38496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0" y="38496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 Fund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0" y="42153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cadangan: instrumen, valuasi, teknologi, tata kelola, risiko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10332720" y="3849624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46–65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526280" y="4636008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26280" y="4709160"/>
            <a:ext cx="713232" cy="71323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526280" y="4709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600" dirty="0"/>
          </a:p>
        </p:txBody>
      </p:sp>
      <p:sp>
        <p:nvSpPr>
          <p:cNvPr id="41" name="Text 38"/>
          <p:cNvSpPr txBox="1"/>
          <p:nvPr/>
        </p:nvSpPr>
        <p:spPr>
          <a:xfrm>
            <a:off x="548640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proyek berdaulat</a:t>
            </a:r>
            <a:endParaRPr lang="en-US" sz="18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0" y="50749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PALCapital, tiga tuas pengurang PLN, desain TPB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10332720" y="4709160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66–80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526280" y="5495544"/>
            <a:ext cx="711403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26280" y="5568696"/>
            <a:ext cx="713232" cy="71323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526280" y="556869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6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0" y="5568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ke depan</a:t>
            </a:r>
            <a:endParaRPr lang="en-US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5486400" y="59344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jalan, keputusan, KPI dan isu rekonsiliasi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10332720" y="5568696"/>
            <a:ext cx="1307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81–85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 · MANDAT DAN SUMBER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menjawab bagaimana modal negara menjadi imbal hasil dan kapabilitas industri yang terverifikasi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1. Tiga aliran adalah pertanyaan kinerja, bukan sekat hukum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132588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bersih di atas benchmark, risiko dapat diterima, valuasi independen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306824" y="1600200"/>
            <a:ext cx="3575304" cy="132588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4840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34840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Operasi BUMN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Produktivitas riil, economic profit, arus kas berkelanjutan, mutu layanan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8065008" y="1600200"/>
            <a:ext cx="3575304" cy="132588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9302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4" y="2203704"/>
            <a:ext cx="331927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kompetitif, nilai tambah domestik, teknologi, kerja berkelanjutan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914400"/>
        </p:xfrm>
        <a:graphic>
          <a:graphicData uri="http://schemas.openxmlformats.org/drawingml/2006/table">
            <a:tbl>
              <a:tblPr/>
              <a:tblGrid>
                <a:gridCol w="693230"/>
                <a:gridCol w="4951639"/>
                <a:gridCol w="1485492"/>
                <a:gridCol w="396131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Dokumen sumber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Tanggal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Fokus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Evaluasi Tata Kelola Danantara dan Organisasi Industri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kelola, organisasi, gerbang, RASCI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Studi Kinerja Danantara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publik, 45 metrik, atribusi, uji stres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DOCK-UP: Membangun Pemasok UKM Siap Produksi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TRL/MRL, gerbang, pembiayaan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Kapabilitas Industri Nasional (infografik 8 hlm.)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Tanpa tanggal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Portofolio, anchor, BUMN Konstruksi,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PENGANTAR · DISIPLIN BUKTI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angka diberi kelas bukti; pengumuman tidak pernah dibaca sebagai hasil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(kelas bukti); Kajian Transformasi Danantara, Bab 1.4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821605"/>
                <a:gridCol w="4108027"/>
                <a:gridCol w="6162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Interpretasi yang diizinkan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Diaudit atau dijamin independen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tertinggi bila lingkup, periode dan definisi cocok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Observasi resmi yang dilaporkan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Dapat dipakai dengan batasan assurance yang eksplisit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Pengumuman, proyeksi atau komitmen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niat atau milestone, bukan laba, produksi atau dampak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Ilustrasi atau asumsi analis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untuk desain metode atau sensitivitas; tidak diberi skor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0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dapat dinilai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hilang atau tanpa benchmark; berbeda dari nol dan kegagalan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212080"/>
            <a:ext cx="11091672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48640" y="5212080"/>
            <a:ext cx="54864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5212080"/>
            <a:ext cx="10771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dari D4, yaitu estimasi kerugian BUMN Konstruksi dan rencana investasi 2026, diperlakukan sebagai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kelas C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sampai dikonfirmasi dengan sumber resmi atau teraudit.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EVALUASI PER SEKTOR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saat ini lebih dekat ke investor finansial daripada penggerak industrialisasi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1. Bola Harvey adalah penilaian indikatif kajian atas label kualitatif D4, bukan skor resmi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180414"/>
                <a:gridCol w="2559617"/>
                <a:gridCol w="2749218"/>
                <a:gridCol w="2654417"/>
                <a:gridCol w="94800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Arah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yang terlihat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 D4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Tingkat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Pengembalian finansial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 berkelanjutan, diversifikasi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Pasar publik dan eksplorasi global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Optimalisasi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Kinerja aset negara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Portofolio, dividen, restrukturisasi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Lebih matang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Nikel, aluminium, bauksit, tembaga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Smelter, alumina, soda kaustik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Strategis, bertumpu pada sumber daya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 energi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 terbarukan dan WtE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Inisiatif WtE dan energi bersih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Ekonomi dan teknologi belum jelas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 digital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Pusat data, infrastruktur digital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 dengan operator global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Infrastruktur, belum teknologi-industri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Ketahanan pangan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Pertanian, pupuk, agribisnis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Pertanian dan peternakan terintegrasi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Strategis, tidak selalu padat teknologi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Manufaktur maju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Mesin, elektronik, galangan, dirgantara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publik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Kesenjangan besar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pemasok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menjadi KPI inti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Lokalisasi dan rekayasa terbatas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Kesenjangan besar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Kepemilikan teknologi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Inovasi dan daya saing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Mitra asing masih dominan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terbukti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tiga peremp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149" y="2079752"/>
            <a:ext cx="274320" cy="274320"/>
          </a:xfrm>
          <a:prstGeom prst="rect">
            <a:avLst/>
          </a:prstGeom>
        </p:spPr>
      </p:pic>
      <p:pic>
        <p:nvPicPr>
          <p:cNvPr id="12" name="Image 2" descr="penu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149" y="2545080"/>
            <a:ext cx="274320" cy="274320"/>
          </a:xfrm>
          <a:prstGeom prst="rect">
            <a:avLst/>
          </a:prstGeom>
        </p:spPr>
      </p:pic>
      <p:pic>
        <p:nvPicPr>
          <p:cNvPr id="13" name="Image 3" descr="setenga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9149" y="3010408"/>
            <a:ext cx="274320" cy="274320"/>
          </a:xfrm>
          <a:prstGeom prst="rect">
            <a:avLst/>
          </a:prstGeom>
        </p:spPr>
      </p:pic>
      <p:pic>
        <p:nvPicPr>
          <p:cNvPr id="14" name="Image 4" descr="setenga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9149" y="3475736"/>
            <a:ext cx="274320" cy="274320"/>
          </a:xfrm>
          <a:prstGeom prst="rect">
            <a:avLst/>
          </a:prstGeom>
        </p:spPr>
      </p:pic>
      <p:pic>
        <p:nvPicPr>
          <p:cNvPr id="15" name="Image 5" descr="setenga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9149" y="3941064"/>
            <a:ext cx="274320" cy="274320"/>
          </a:xfrm>
          <a:prstGeom prst="rect">
            <a:avLst/>
          </a:prstGeom>
        </p:spPr>
      </p:pic>
      <p:pic>
        <p:nvPicPr>
          <p:cNvPr id="16" name="Image 6" descr="setenga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9149" y="4406392"/>
            <a:ext cx="274320" cy="274320"/>
          </a:xfrm>
          <a:prstGeom prst="rect">
            <a:avLst/>
          </a:prstGeom>
        </p:spPr>
      </p:pic>
      <p:pic>
        <p:nvPicPr>
          <p:cNvPr id="17" name="Image 7" descr="seperempa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9149" y="4871720"/>
            <a:ext cx="274320" cy="274320"/>
          </a:xfrm>
          <a:prstGeom prst="rect">
            <a:avLst/>
          </a:prstGeom>
        </p:spPr>
      </p:pic>
      <p:pic>
        <p:nvPicPr>
          <p:cNvPr id="18" name="Image 8" descr="seperemp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29149" y="5337048"/>
            <a:ext cx="274320" cy="274320"/>
          </a:xfrm>
          <a:prstGeom prst="rect">
            <a:avLst/>
          </a:prstGeom>
        </p:spPr>
      </p:pic>
      <p:pic>
        <p:nvPicPr>
          <p:cNvPr id="19" name="Image 9" descr="koso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29149" y="5802376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BUKTI SAAT INI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publik menunjukkan mobilisasi dan milestone, belum hasil finansial atau dampak terealisasi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(S04–S08); yield tertimbang, spread rata-rata dan rasio permintaan dihitung penulis D2. M = miliar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USD1,5 M</a:t>
            </a:r>
            <a:endParaRPr lang="en-US" sz="3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 DIM, Juni 2026 (dua tranche USD750 juta)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90138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390138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5,65%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3390138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tertimbang (5,35% dan 5,95%)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31636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31636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bps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6231636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rata-rata atas sovereign (32 dan 34)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073134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73134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3,07×</a:t>
            </a:r>
            <a:endParaRPr lang="en-US" sz="3200" dirty="0"/>
          </a:p>
        </p:txBody>
      </p:sp>
      <p:sp>
        <p:nvSpPr>
          <p:cNvPr id="21" name="Text 17"/>
          <p:cNvSpPr txBox="1"/>
          <p:nvPr/>
        </p:nvSpPr>
        <p:spPr>
          <a:xfrm>
            <a:off x="9073134" y="235000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Kelebihan permintaan; order puncak ±USD4,6 miliar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1672" cy="914400"/>
        </p:xfrm>
        <a:graphic>
          <a:graphicData uri="http://schemas.openxmlformats.org/drawingml/2006/table">
            <a:tbl>
              <a:tblPr/>
              <a:tblGrid>
                <a:gridCol w="4229875"/>
                <a:gridCol w="3289903"/>
                <a:gridCol w="357189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yang tersisa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USD200 juta Danantara/INA untuk CA–EDC USD800 juta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Tahap komitmen; 25% nilai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Syarat terpenuhi, kas dibayar, imbal hasil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Bogor Raya 1: Rp2,8 T, 1.500 ton/hari, PPA, Sep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Milestone; target operasi pertengahan 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 fisik tersertifikasi, commissioning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Enam groundbreaking hilirisasi, nilai USD7 miliar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Aktivasi program, bukan dana dicairkan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pembiayaan dan manfaat per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Tinjauan tata kelola dan akuntansi, Maret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Reformasi kualitas 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Perbaikan operasi terverifikasi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KINERJA BUMN TERPILIH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 BUMN terpilih beragam, dan kontribusi Danantara belum dapat diatribusikan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(S10–S13). T = triliun rupiah. Metrik berbeda per entitas; contoh purposif, bukan sampel representatif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79592" cy="914400"/>
        </p:xfrm>
        <a:graphic>
          <a:graphicData uri="http://schemas.openxmlformats.org/drawingml/2006/table">
            <a:tbl>
              <a:tblPr/>
              <a:tblGrid>
                <a:gridCol w="1649154"/>
                <a:gridCol w="2366177"/>
                <a:gridCol w="18642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Entitas / metrik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Observasi sebanding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bersih grup BRI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Rp60,306 T → Rp57,132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Menurun pada basis sebanding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/ NPL bank-only BRI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37,87% → 38,92%; NPL 2,94% → 3,29%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Efisiensi dan kredit melemah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Mandiri (induk)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Rp55,78 T → Rp56,30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Moderat; belum economic profit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Telkom FY2025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Rp146,7 T; laba Rp17,8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Perlu jembatan restatement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815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Pendapatan PLN H1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Rp281,89 T → Rp327,15 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Pecah volume, tarif, kompensasi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31520" y="521208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Periode, porsi kepemilikan dan lingkup akuntansi berbeda; angka ini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boleh dijumlahkan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menjadi laba Danantara.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AKAR MASALAH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akar masalah dikonfirmasi oleh keempat kajian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(diagnosis utama), dikonfirmasi oleh D1, D2 dan D3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D4, D2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tanpa mekanisme konversi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Belum ada jalur jelas dari investasi ke kapabilitas industri; tahap modal belum dibedakan dalam pelaporan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185916" y="1600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13932" y="2203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D4, D3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bersifat impor dan konstruksi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teknologi dan pengembangan pemasok terbatas; UKM tertahan di MRL 3–5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6656" y="3995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7" y="4080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6656" y="4489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D4, D1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berjalan sendiri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pemilik integrasi lintas DAM, DIM dan DDMF; tidak ada register terpadu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185916" y="3886200"/>
            <a:ext cx="5454396" cy="2103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313932" y="3995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23" y="4080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13932" y="4489704"/>
            <a:ext cx="519836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D4, D2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belum terukur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Dampak PDB, teknologi dan ekspor sebagian besar prospektif; atribusi perlu kontrafaktual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TATA KELOLA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hukum tersedia, tetapi lapisan pengelolaan portofolio lintas arm belum ada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(R1–R9, U1). Tabel rincian dikonversi dari Rp juta; satuan dan lingkup perlu dikonfirmasi pemilik data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sudah ada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9659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PP 10/2025 dan PP 19/2026 memisahkan Dewan Pengawas dan Badan Pelaksana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Holding komersial dan pembangunan dibedakan; DDMF bermandat pembangunan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Pengaturan benturan kepentingan dan recusal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belum ada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336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 terpadu 40 proyek dengan pemimpin, tahap dan hasil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Pemilik integrasi lintas DAM, DIM dan DDMF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Bukti efektivitas kontrol (belum diuji)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26480" y="1600200"/>
          <a:ext cx="551383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0"/>
          <p:cNvSpPr/>
          <p:nvPr/>
        </p:nvSpPr>
        <p:spPr>
          <a:xfrm>
            <a:off x="6126480" y="5486400"/>
            <a:ext cx="5513832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09360" y="5486400"/>
            <a:ext cx="5148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Rp2.091,46 T vs Rp2.072,53 T: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Rp18,93 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FONDASI GOOD GOVERNANCE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sejalan dengan prinsip OECD; efektivitasnya bergantung pada instrumen internal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2 (PP 10/2025, PP 19/2026, OECD SOE Guidelines 2024). Bola Harvey: penilaian indikatif dasar desain; efektivitas belum diuji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845975"/>
                <a:gridCol w="3947883"/>
                <a:gridCol w="385388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Tindakan yang diperlukan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Kejelasan organ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Dewan Pengawas dan Badan Pelaksana dipisahkan [R1–R2]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Periksa board manual, reserved matters, piagam komite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 pemilik dan regulator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 BUMN dan BPI memiliki peran hukum berbeda [R2–R3]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Dokumentasikan kapan BPI bertindak sebagai pemilik atau investor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Komersial vs pembangunan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19 membedakan tujuan holding; DDMF bermandat pembangunan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finansial, dampak dan dukungan per mandat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Kompetensi eksekusi industri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 dan MD industrialisasi ada dalam struktur [R4]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kapasitas engineering, kontrak, commissioning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tingkat organ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14 mensyaratkan pembidangan; nama MD Risk belum membuktikan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Verifikasi Keppres, pembidangan dan posisi komite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Benturan kepentingan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mengatur pengungkapan dan pengecualian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konflik, risalah recusal, jalur keputusan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penu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107" y="2177796"/>
            <a:ext cx="310896" cy="310896"/>
          </a:xfrm>
          <a:prstGeom prst="rect">
            <a:avLst/>
          </a:prstGeom>
        </p:spPr>
      </p:pic>
      <p:pic>
        <p:nvPicPr>
          <p:cNvPr id="12" name="Image 2" descr="setenga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107" y="2875788"/>
            <a:ext cx="310896" cy="310896"/>
          </a:xfrm>
          <a:prstGeom prst="rect">
            <a:avLst/>
          </a:prstGeom>
        </p:spPr>
      </p:pic>
      <p:pic>
        <p:nvPicPr>
          <p:cNvPr id="13" name="Image 3" descr="penu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107" y="3573780"/>
            <a:ext cx="310896" cy="310896"/>
          </a:xfrm>
          <a:prstGeom prst="rect">
            <a:avLst/>
          </a:prstGeom>
        </p:spPr>
      </p:pic>
      <p:pic>
        <p:nvPicPr>
          <p:cNvPr id="14" name="Image 4" descr="setenga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107" y="4271772"/>
            <a:ext cx="310896" cy="310896"/>
          </a:xfrm>
          <a:prstGeom prst="rect">
            <a:avLst/>
          </a:prstGeom>
        </p:spPr>
      </p:pic>
      <p:pic>
        <p:nvPicPr>
          <p:cNvPr id="15" name="Image 5" descr="seperemp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0107" y="4969764"/>
            <a:ext cx="310896" cy="310896"/>
          </a:xfrm>
          <a:prstGeom prst="rect">
            <a:avLst/>
          </a:prstGeom>
        </p:spPr>
      </p:pic>
      <p:pic>
        <p:nvPicPr>
          <p:cNvPr id="16" name="Image 6" descr="penu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0107" y="5667756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KESIAPAN EKSEKUSI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mengeksekusi 40 proyek belum dapat dibuktikan pada enam dimensi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3 (R1–R2, R8)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4323872"/>
                <a:gridCol w="4323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Kebutuhan penerapan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Akuntabilitas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Belum ada register terpadu; tidak ada pemimpin hasil yang jelas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 penanggung jawab hasil per proyek; register keputusan dan hambatan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Kewenangan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Badan dan keputusan perusahaan adalah lapisan berbeda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otorisasi per entitas, objek dan tahap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Jaminan dan dukungan fiskal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 pembangunan tidak otomatis memberi jaminan atau PMN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Tunjukkan penjamin, kapasitas bayar, biaya kontinjensi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Pengadaan dan mitra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Perlu diperiksa pada entitas pelaksana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beneficial ownership, afiliasi, alasan sole 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 dan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Konsolidasi dan audit disebut (12 Mei 2026); opini belum dinilai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Periksa tindak lanjut audit; laporkan portofolio konsisten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Pengukuran keberhasilan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investasi dan target kerja bukan bukti manfaat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 operasi, kapasitas terpakai, dampak bersih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DIAGNOSIS — PELAJARAN INTERNASIONAL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Pembanding internasional menekankan pemilik keputusan yang jelas, eskalasi dan transisi tertib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4–5 (R10–R19); D2 (S17–S19). Praktik dipilih sesuai kebutuhan, bukan pemeringkatan tata kelola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4229875"/>
                <a:gridCol w="42298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Praktik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Adaptasi untuk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China (SASAC, SDIC)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Perusahaan sebagai subjek keputusan; daftar terlarang; evaluasi pasca investasi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 keputusan per entitas; kriteria masuk transparan; platform rantai nilai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Vietnam (CMSC, SCIC)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CMSC dibubarkan efektif 21 Maret 2025; arah restrukturisasi SCIC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Daftar kewenangan, arsip, kontrak, aset dan kewajiban yang berpindah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(PRAGATI, NIIF)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Pemantauan teknologi dan eskalasi tingkat tinggi; due diligence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forum penyelesaian hambatan dari pengujian investasi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Malaysia (Khazanah, NIMP 2030)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Charter, Limits of Authority; Delivery Management Unit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mandat per arm dan unit pengelolaan pelaksanaan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Temasek, Khazanah (pelaporan)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terhadap biaya modal; tahunan dan multi-tahun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Pelaporan imbal hasil terpisah dari pengumuman proyek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4864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ditemukan dasar bahwa gelar “Deputy Chairman” sendiri mempercepat proyek.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KONDISI TARGET — LOGIKA PERUBAHAN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diubah menjadi kapabilitas melalui permintaan, pemasok dan upgrading yang terverifikasi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(tujuan dan lima nilai); D3 (gerbang dan upgrading); D2 (pengukuran)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dan mandat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ditempatkan; mandat per arm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18258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47442" y="160020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38882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dan BUMN mengagregasi permintaan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17059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46243" y="160020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37683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UKM dan Tier 1–3 lolos S1–S4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115861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45045" y="160020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6485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Kapabilitas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Build-to-print ke design-and-build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414662" y="21762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743846" y="160020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835286" y="165506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Diukur terhadap kontrafaktual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6656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3623219"/>
            <a:ext cx="215067" cy="21506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76656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Ekonomi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di atas biaya modal; nilai tambah domestik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2803550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931566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57" y="3623219"/>
            <a:ext cx="215067" cy="215067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931566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Kapasitas dan rantai pasok kompetitif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058461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186477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967" y="3623219"/>
            <a:ext cx="215067" cy="21506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186477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dan IP dikuasai Indonesia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7313371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441387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878" y="3623219"/>
            <a:ext cx="215067" cy="215067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441387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Ketahanan pasokan, pertahanan, energi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9568282" y="3429000"/>
            <a:ext cx="2072030" cy="16459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9696298" y="35387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788" y="3623219"/>
            <a:ext cx="215067" cy="215067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696298" y="4032504"/>
            <a:ext cx="181599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Sosial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 berkualitas, layanan andal, lingkungan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jenis nilai yang dituju (D4)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KONDISI TARGET — ARSITEKTUR PORTOFOLIO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portofolio, masing-masing dengan ukuran keberhasilan dan pemilik yang berbeda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(portofolio 1–5); D2 (ukuran). Portofolio 0 dan kolom arm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3947883"/>
                <a:gridCol w="3007911"/>
                <a:gridCol w="150395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 utama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 (usulan)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 BUMN operasi warisan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 yang dialihkan ke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ROIC/economic profit; ROE 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Pelestarian kekayaan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Saham publik, obligasi, aset global matang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TWR bersih vs benchmark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Infrastruktur strategis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Energi, pelabuhan, logistik, kawasan industri, data center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 bersih, DPI/TVPI, PME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/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Platform industri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Wall, 3 Juta Rumah, maritim, pertahanan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Keberlanjutan finansial + ENPV/EIRR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 + unit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Inovasi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Semikonduktor, AI, material maju, R&amp;D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bertahap per milestone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/ CTO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2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Pengembangan pemasok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UMKM, Tier 1–3, komponen, fabrikasi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S1–S4; D05, D06, D12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+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49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Pengalihan aset memperbesar perimeter, bukan menciptakan imbal hasil. Portofolio warisan dilaporkan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terpisah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dari vintage baru.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PILIHAN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empat pilihan organisasi, unit Industri Strategis di BPI adalah penerapan awal yang disarankan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6. Bola Harvey: penilaian kualitatif indikatif (penuh = kuat, kosong = lemah); belum ada data waktu keputusan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1174965"/>
                <a:gridCol w="1174965"/>
                <a:gridCol w="1174965"/>
                <a:gridCol w="1174965"/>
                <a:gridCol w="3759889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Pilihan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Integrasi lintas arm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Kecepatan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Kejelasan akuntabilitas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Duplikasi rendah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Penilaian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Memperkuat CTO dan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Layak bila hampir seluruh portofolio dalam mandat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Unit Industri Strategis di BPI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Penerapan awal yang disarankan; risiko jadi lapisan rapat tanpa akses 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Wakil Kepala formal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Setelah kebutuhan kewenangan terbukti; rawan konflik dengan COO/CIO/CTO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Holding atau badan baru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bila badan hukum khusus terbukti perlu; dapat memecah portofolio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setenga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165" y="2322576"/>
            <a:ext cx="365760" cy="365760"/>
          </a:xfrm>
          <a:prstGeom prst="rect">
            <a:avLst/>
          </a:prstGeom>
        </p:spPr>
      </p:pic>
      <p:pic>
        <p:nvPicPr>
          <p:cNvPr id="12" name="Image 2" descr="penu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130" y="2322576"/>
            <a:ext cx="365760" cy="365760"/>
          </a:xfrm>
          <a:prstGeom prst="rect">
            <a:avLst/>
          </a:prstGeom>
        </p:spPr>
      </p:pic>
      <p:pic>
        <p:nvPicPr>
          <p:cNvPr id="13" name="Image 3" descr="setenga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095" y="2322576"/>
            <a:ext cx="365760" cy="365760"/>
          </a:xfrm>
          <a:prstGeom prst="rect">
            <a:avLst/>
          </a:prstGeom>
        </p:spPr>
      </p:pic>
      <p:pic>
        <p:nvPicPr>
          <p:cNvPr id="14" name="Image 4" descr="penu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061" y="2322576"/>
            <a:ext cx="365760" cy="365760"/>
          </a:xfrm>
          <a:prstGeom prst="rect">
            <a:avLst/>
          </a:prstGeom>
        </p:spPr>
      </p:pic>
      <p:pic>
        <p:nvPicPr>
          <p:cNvPr id="15" name="Image 5" descr="penu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165" y="3035808"/>
            <a:ext cx="365760" cy="365760"/>
          </a:xfrm>
          <a:prstGeom prst="rect">
            <a:avLst/>
          </a:prstGeom>
        </p:spPr>
      </p:pic>
      <p:pic>
        <p:nvPicPr>
          <p:cNvPr id="16" name="Image 6" descr="tiga perempa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0130" y="3035808"/>
            <a:ext cx="365760" cy="365760"/>
          </a:xfrm>
          <a:prstGeom prst="rect">
            <a:avLst/>
          </a:prstGeom>
        </p:spPr>
      </p:pic>
      <p:pic>
        <p:nvPicPr>
          <p:cNvPr id="17" name="Image 7" descr="penuh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5095" y="3035808"/>
            <a:ext cx="365760" cy="365760"/>
          </a:xfrm>
          <a:prstGeom prst="rect">
            <a:avLst/>
          </a:prstGeom>
        </p:spPr>
      </p:pic>
      <p:pic>
        <p:nvPicPr>
          <p:cNvPr id="18" name="Image 8" descr="setengah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0061" y="3035808"/>
            <a:ext cx="365760" cy="365760"/>
          </a:xfrm>
          <a:prstGeom prst="rect">
            <a:avLst/>
          </a:prstGeom>
        </p:spPr>
      </p:pic>
      <p:pic>
        <p:nvPicPr>
          <p:cNvPr id="19" name="Image 9" descr="penu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5165" y="3749040"/>
            <a:ext cx="365760" cy="365760"/>
          </a:xfrm>
          <a:prstGeom prst="rect">
            <a:avLst/>
          </a:prstGeom>
        </p:spPr>
      </p:pic>
      <p:pic>
        <p:nvPicPr>
          <p:cNvPr id="20" name="Image 10" descr="seperemp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0130" y="3749040"/>
            <a:ext cx="365760" cy="365760"/>
          </a:xfrm>
          <a:prstGeom prst="rect">
            <a:avLst/>
          </a:prstGeom>
        </p:spPr>
      </p:pic>
      <p:pic>
        <p:nvPicPr>
          <p:cNvPr id="21" name="Image 11" descr="setengah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5095" y="3749040"/>
            <a:ext cx="365760" cy="365760"/>
          </a:xfrm>
          <a:prstGeom prst="rect">
            <a:avLst/>
          </a:prstGeom>
        </p:spPr>
      </p:pic>
      <p:pic>
        <p:nvPicPr>
          <p:cNvPr id="22" name="Image 12" descr="setengah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0061" y="3749040"/>
            <a:ext cx="365760" cy="365760"/>
          </a:xfrm>
          <a:prstGeom prst="rect">
            <a:avLst/>
          </a:prstGeom>
        </p:spPr>
      </p:pic>
      <p:pic>
        <p:nvPicPr>
          <p:cNvPr id="23" name="Image 13" descr="seperempat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85165" y="4462272"/>
            <a:ext cx="365760" cy="365760"/>
          </a:xfrm>
          <a:prstGeom prst="rect">
            <a:avLst/>
          </a:prstGeom>
        </p:spPr>
      </p:pic>
      <p:pic>
        <p:nvPicPr>
          <p:cNvPr id="24" name="Image 14" descr="koso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60130" y="4462272"/>
            <a:ext cx="365760" cy="365760"/>
          </a:xfrm>
          <a:prstGeom prst="rect">
            <a:avLst/>
          </a:prstGeom>
        </p:spPr>
      </p:pic>
      <p:pic>
        <p:nvPicPr>
          <p:cNvPr id="25" name="Image 15" descr="setengah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5095" y="4462272"/>
            <a:ext cx="365760" cy="365760"/>
          </a:xfrm>
          <a:prstGeom prst="rect">
            <a:avLst/>
          </a:prstGeom>
        </p:spPr>
      </p:pic>
      <p:pic>
        <p:nvPicPr>
          <p:cNvPr id="26" name="Image 16" descr="seperempat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0061" y="4462272"/>
            <a:ext cx="365760" cy="365760"/>
          </a:xfrm>
          <a:prstGeom prst="rect">
            <a:avLst/>
          </a:prstGeom>
        </p:spPr>
      </p:pic>
      <p:sp>
        <p:nvSpPr>
          <p:cNvPr id="27" name="Text 6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Penuh = kuat · tiga perempat · setengah · seperempat · kosong = lemah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NITO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NITO dibentuk sebagai unit di BPI terlebih dahulu, bukan sebagai holding atau badan hukum baru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6–9; D4 halaman 2. Pemetaan NITO ke struktur MD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3571894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NITO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Penempatan dalam desain D1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Catatan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 industri dan roadmap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Pengembangan Industri Strategis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Rantai nilai, pasar, offtake, substitusi impor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proyek (pre-FEED, FEED, FID)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Engineering dan Pelaksanaan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Kesiapan studi, strategi kontrak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dan 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Koordinasi dengan 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teknis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rantai pasok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Pengembangan Industri (DOCK-UP)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S1–S4, register kesiapan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Integrasi permintaan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 bersama 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Agregasi permintaan, kontrak payung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Pembiayaan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Koordinasi CIO/DIM, DDMF, 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tidak memegang kewenangan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Kantor kinerja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 dan Project Delivery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Register, scorecard, 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Tetap pada Risk, Legal, Internal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melapor kepada promotor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STRUKTUR UNIT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fungsi MD dan empat pemimpin klaster, diisi awalnya melalui secondment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9. Fungsi MD adalah rancangan pekerjaan, bukan jabatan yang telah disahkan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16002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Pimpinan Industri Strategis dan Pelaksanaan Proyek — melapor kepada Kepala Badan Pelaksana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76656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2434499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6656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Portofolio dan Project Delivery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40 proyek, jadwal terpadu, hambatan, mutu data, laporan keputusan dan manfaat.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Office of the Board, Digital Solutions, Finance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306824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434840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2434499"/>
            <a:ext cx="215067" cy="215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434840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Pengembangan Industri Strategis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Rantai nilai, pasar, offtake, mitra, substitusi impor, kapasitas pemasok.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Industrialization, Chief Economist, Global Relations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065008" y="2240280"/>
            <a:ext cx="3575304" cy="1737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193024" y="23500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2434499"/>
            <a:ext cx="215067" cy="21506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193024" y="2843784"/>
            <a:ext cx="33192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Engineering dan Pelaksanaan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studi, engineering, strategi kontrak, constructability, commissioning.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Didukung: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Technology Advancement, Strategic Tech Initiatives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4160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Pemimpin klaster</a:t>
            </a:r>
            <a:pPr indent="0" marL="0">
              <a:buNone/>
            </a:pPr>
            <a:r>
              <a:rPr lang="en-US" sz="120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(tim matriks dari BUMN, holding dan BPI)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676656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dan material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3367278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495294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 dan infrastruktur industri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6185916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313932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Pertahanan dan maritim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004554" y="4480560"/>
            <a:ext cx="2635758" cy="5943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132570" y="4572000"/>
            <a:ext cx="23797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Manufaktur strategis lainnya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349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kapasitas: tidak ada satu pimpinan yang mengelola langsung 40 proyek sebagai pelaksana harian. “Lain-lain” dipecah setelah register lengkap.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HUBUNGAN KERJA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dibatasi pada integrasi lintas portofolio; arm dan fungsi kontrol tetap memegang mandatnya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10. Satu paket informasi per review, satu keputusan per objek pada entitas berwenang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79944"/>
                <a:gridCol w="4605864"/>
                <a:gridCol w="460586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Tetap bertanggung jawab atas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Hubungan dengan unit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 dan DAM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Pengelolaan dan transformasi operasi portofolio BUMN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Menugaskan sponsor; menyepakati batas aset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 dan DIM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Pengujian investasi komersial, alokasi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Menelaah financial case dalam satu paket keputusan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Arsitektur teknologi, kesiapan skala, IPR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teknis independen atas klaim vendor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Persiapan, strukturisasi dan pelaksanaan pembangunan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kelola ketergantungan; DDMF jalankan proyek tugasnya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Likuiditas, biaya modal, akuntansi, konsolidasi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Menguji sumber modal dan pembiayaan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dan 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 risiko, kepatuhan, kewenangan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melapor kepada promotor; pendapat masuk risalah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Assurance atas kontrol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Bukan pemberi persetujuan investasi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ORGANISASI — JALUR HUKUM WAKIL KEPALA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Wakil Kepala formal memerlukan harmonisasi, karena PP 19/2026 tidak menambah jabatan tersebut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7 (PP 10/2025 Pasal 12–18; PP 19/2026; UU 16/2025)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 mengangkat anggota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03550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931566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Anggota sesuai kebutuhan, termasuk bidang lain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58461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86477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Kewenangan menyusun organisasi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313371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41387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PASAL 18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Badan pada Kepala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568282" y="1600200"/>
            <a:ext cx="2072030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96298" y="1691640"/>
            <a:ext cx="1815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19/2026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eksplisit menambah Wakil Kepala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2697480"/>
            <a:ext cx="3429000" cy="1828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0080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Strategic Industry and Project Delivery (pemimpin unit), atau Anggota Badan Pelaksana Bidang Industri Strategis sesuai Pasal 14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050792" y="350215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379976" y="2697480"/>
            <a:ext cx="3429000" cy="18288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471416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Kemudian, bila terbukti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Wakil Kepala Badan Pelaksana Bidang Industri Strategis dan Pelaksanaan Proyek, setelah harmonisasi Pasal 12–18 dan UU BUMN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882128" y="350215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2697480"/>
            <a:ext cx="3429000" cy="1828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302752" y="2752344"/>
            <a:ext cx="32461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Hindari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“Deputy Chairman” bila terbaca sebagai Wakil Ketua Dewan Pengawas; menimbulkan kesan mengawasi pekerjaan sendiri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548640" y="4846320"/>
            <a:ext cx="11091672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48640" y="4846320"/>
            <a:ext cx="54864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731520" y="4846320"/>
            <a:ext cx="10771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kenaikan ke jabatan formal: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sengketa mandat tak terselesaikan · antrian keputusan lintas arm berulang · kebutuhan pengganti saat Kepala berhalangan · lingkup yang nyata memerlukan jabatan formal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DUA SISTEM GERBANG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Gerbang proyek P0–P6 dan gerbang pemasok S1–S4 dihubungkan oleh rencana lokalisasi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11 (G0–G6 → P0–P6); D3 halaman 6 (G1–G4 → S1–S4). Titik temu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3571894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proyek (D1)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pemasok (D3)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Titik temu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 Validasi mandat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Masuk: baseline TRL/MRL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proyek dan pemasok memakai ID yang sama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Prioritas dan pilihan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Rencana lokalisasi awal; kelompok komponen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Kesiapan investasi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S1: MRL 6, inspeksi artikel pertama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pemasok dan target gerbang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Keputusan modal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DOCK-UP dalam kontrak payung dan ofset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Financial close dan konstruksi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S2: MRL 7 + C1, low-rate supply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tahap 2 sesuai kesiapan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 Commissioning dan operasi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S3: MRL 8 + C2, pasokan serial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Kesiapan rantai pasok sebagai syarat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 Evaluasi hasil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S4: produk sendiri TRL 7+, MRL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Kapabilitas pemasok masuk evaluasi (D05, D06, D09)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PETA KEWENANGAN DAN RASCI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penting tetap pada organ yang sah; unit menyiapkan keputusan, tidak menyetujuinya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12–15. RASCI lengkap 24 aktivitas harus dicocokkan dengan board manual, AD dan delegasi aktual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900"/>
                <a:gridCol w="2443928"/>
                <a:gridCol w="3383900"/>
                <a:gridCol w="187994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(pemilik hasil)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(pelaksana)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 unit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Rekonsiliasi register 40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Portofolio, 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Penetapan prioritas Badan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Kepala Badan Pelaksana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Pimpinan Industri Strategis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Menyiapkan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kelayakan dan kesiapan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director, MD Industri, MD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 risiko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 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Diinformasikan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 pembiayaan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CIO/DIM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CIO, Finance, DDMF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Dikonsultasikan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investasi perusahaan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 perusahaan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Dikonsultasikan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Pelaksanaan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director, MD Engineering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Konsolidasi manfaat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 Portofolio, MD Industri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Pemilik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5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Mendukung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TAHAP MODAL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tahap modal harus dilaporkan terpisah; penghimpunan dana dan belanja investasi bukan laba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(bukti saat ini dan diagnosis investasi)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291840"/>
            <a:ext cx="2130552" cy="91440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3364992"/>
            <a:ext cx="1947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Dihimpun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Obligasi, ekuitas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88920" y="2880360"/>
            <a:ext cx="2130552" cy="132588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80360" y="2953512"/>
            <a:ext cx="19476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Dikomitmenkan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Perjanjian bersyarat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0" y="2468880"/>
            <a:ext cx="2130552" cy="173736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120640" y="2542032"/>
            <a:ext cx="1947672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Dicairkan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 dibayar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269480" y="2057400"/>
            <a:ext cx="2130552" cy="214884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60920" y="2130552"/>
            <a:ext cx="1947672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Konstruksi selesai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Commissioning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509760" y="1645920"/>
            <a:ext cx="2130552" cy="256032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601200" y="1719072"/>
            <a:ext cx="1947672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Manfaat tercapai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hasil, output, dampak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48640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6656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PPA ditandatangani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financial close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3367278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495294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Peresmian konstruksi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progres yang dicapai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185916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13932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Pengalihan aset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apresiasi nilai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9004554" y="44805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132570" y="45720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Kenaikan dividen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bisa payout atau laba warisan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SCORECARD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 terhubung, ditambah lima indikator kapabilitas untuk platform industri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(39 metrik, bobot, aturan); K01–K05 usulan kajian berbasis D3 dan D4. Bobot hanya titik awal tata kelola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0233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4892040" y="1600200"/>
            <a:ext cx="3282696" cy="4480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020056" y="1691640"/>
            <a:ext cx="3026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Indikator kapabilitas usulan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K01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pemasok per gerbang S1–S4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K02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Nilai pesanan ke pemasok dalam negeri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K03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Kandungan dalam negeri berbasis kapabilitas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K04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Waktu siklus gerbang S1 ke S3
</a:t>
            </a:r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K05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Kegagalan mutu pasca pesanan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357616" y="1600200"/>
            <a:ext cx="3282696" cy="448056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485632" y="1691640"/>
            <a:ext cx="3026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penilaian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buruk / target / stretch = 0 / 80 / 100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80% bobot metrik dapat dinilai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 hilang tetap NR, bukan nol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gate tata kelola lolos sebelum skor komposit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Bobot tidak dihapus karena hasil buruk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KAMUS METRIK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puluh sembilan metrik hasil membentuk tiga scorecard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D2. Definisi, benchmark, pemilik, frekuensi dan bobot lengkap ada di D2 dan workbook pendampingnya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bersih pasar publik vs benchmark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IRR bersih privat vs hurdle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Public-market equivalent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NPV finansial / modal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kerugian kredit dan 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Eksposur di atas batas konsentrasi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Likuiditas dalam stres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total biaya investasi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Mobilisasi swasta teratribusi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investasi strategis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pendanaan vs sovereign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06824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Operasi BUMN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ROIC − WACC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profit inkremental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EBITDA sebanding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Konversi kas operasi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unit riil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per pegawai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Pertumbuhan riil organik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bersih / 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transformasi bersih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Keandalan layanan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ROE bank − cost of equity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NPL bruto bank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Headroom CET1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PSO tak didanai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5008" y="1600200"/>
          <a:ext cx="3575304" cy="914400"/>
        </p:xfrm>
        <a:graphic>
          <a:graphicData uri="http://schemas.openxmlformats.org/drawingml/2006/table">
            <a:tbl>
              <a:tblPr/>
              <a:tblGrid>
                <a:gridCol w="564522"/>
                <a:gridCol w="301078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EIRR vs hurdle sosial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domestik tambahan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Kerja tambahan berkelanjutan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Devisa bersih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Pangsa nilai tambah domestik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teknologi terverifikasi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Utilisasi kapasitas komersial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Commissioning tepat waktu/anggaran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Produktivitas pemasok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Penurunan GRK siklus hidup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Layanan andal dan terjangkau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Dukungan publik per hasil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MANAJEMEN KINERJA — ATRIBUSI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kontrol hitung ganda mencegah salah saji yang paling umum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 (S28). Persentase kepemilikan berguna untuk atribusi finansial, bukan otomatis porsi dampak kausal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229875"/>
                <a:gridCol w="686179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Potensi salah saji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Kontrol yang diperlukan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Pengalihan aset disebut imbal hasil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Jembatan NAV awal + modal eksternal + hasil − distribusi = NAV akhir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Laba BUMN dan dividennya sama-sama dihitung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Eliminasi konsolidasi; setoran kas sebagai ukuran kapasitas pembiayaan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biaya proyek disebut investasi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total capex, porsi Danantara, modal publik lain dan dana swasta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 diklaim beberapa pemberi dana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Atribusi selaras MDB: mobilisasi langsung, tidak langsung, total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Penjualan proyek, pemasok dan PDB dijumlahkan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dan kerangka input–output; kurangi impor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Hitungan pekerjaan bruto di rantai pasok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FTE langsung, person-year sementara, tidak langsung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PDB nasional disebut dampak Danantara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 tanpa proyek; laporkan rentang kontribusi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MESIN PERMINTAAN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proyek anchor menciptakan permintaan yang dapat dipenuhi pemasok dalam negeri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2 (proyek anchor); empat langkah adalah usulan kajian. Peran Danantara mengikuti mandat hukum program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MARITIM DAN PESISIR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Giant Sea Wall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beton dan baja; pompa, pintu air; galangan dan peralatan kelautan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PERUMAHAN NASIONAL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Juta Rumah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Semen, baja, kaca, keramik; komponen modular; plumbing, elektrikal, HVAC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GALANGAN, KOMPONEN, MRO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maritim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 niaga dan khusus; mesin, propulsi; MRO dan docking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18288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ALUTSISTA DAN PENDUKUNG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pertahanan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Elektronika, sensor, radar; material khusus; integrasi dan pemeliharaan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40080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Register terpadu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Selisih Rp18,9 T direkonsiliasi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3092958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422142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3513582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Peta komponen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Impor, lokal siap, lokal potensial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5966460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295644" y="3840480"/>
            <a:ext cx="2471166" cy="10058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387084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Agregasi permintaan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Lintas proyek dan BUMN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839962" y="42336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169146" y="3840480"/>
            <a:ext cx="2471166" cy="10058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9260586" y="3895344"/>
            <a:ext cx="228828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Rencana lokalisasi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gerbang S per komponen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51206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skema DOCK-UP untuk semua proyek anchor: Development (pre-FEED, FEED) → Offtaker (kontrak jangka panjang) → Certified (TKDN berbasis kapabilitas) → Upgrading (alih teknologi, ekspor, IP).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MESIN PERMINTAAN — KLASTER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klaster industri strategis dipetakan ke proyek anchor dan uji kapabilitasnya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(klaster), D4 (anchor), D2 (uji). Pemetaan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2819917"/>
                <a:gridCol w="3007911"/>
                <a:gridCol w="300791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Klaster (D1)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 anchor terkait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finansial dan operasi (D2)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kapabilitas (D2)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Mineral dan material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 nikel, bauksit, alumina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bijih dan energi, recovery, utilisasi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olahan domestik, devisa bersih, intensitas karbon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 dan infrastruktur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 (sebagian), WtE, kawasan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layanan seumur hidup, kontrak, layanan utang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Sampah diolah, GRK bersih, keterjangkauan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Pertahanan dan maritim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Industri maritim dan pertahanan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 orderbook, pengiriman tepat waktu, garansi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Desain dan manufaktur tersertifikasi, komponen domestik, ekspor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Manufaktur strategis lainnya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Juta Rumah, manufaktur maju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Modal R&amp;D bertahap, permintaan terkualifikasi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 produksi, otonomi rekayasa, pesanan berulang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MASALAH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 sudah ada dalam undang-undang; basis pemasok UKM belum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UU 16/2012 Pasal 43; KemenkopUKM (2021); D3 halaman 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/ 35%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imbal dagang dan kandungan lokal/ofset alpalhankam impor, naik 10 poin setiap 5 tahun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37304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37304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64,2 juta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4337304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UMKM, ~62% PDB dan ~97% lapangan kerja; sedikit yang masuk rantai pasok strategis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5968" y="1600200"/>
            <a:ext cx="3514344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25968" y="1691640"/>
            <a:ext cx="3514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25–30 thn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8125968" y="2350008"/>
            <a:ext cx="3514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Umur layanan kapal perang; pemeliharaan dan suku cadang sering lebih mahal dari pembangunan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023360"/>
            <a:ext cx="11091672" cy="82296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40233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Lingkaran setan hanya dapat diputus oleh program konkret: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develop, off-taker, certification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dengan gerbang yang memadukan TRL dan MRL.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BAHASA BERSAMA DAN DIAGNOSIS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menjawab “apakah berfungsi?”, MRL menjawab “dapatkah dibuat setiap saat?”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3–4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914400"/>
        </p:xfrm>
        <a:graphic>
          <a:graphicData uri="http://schemas.openxmlformats.org/drawingml/2006/table">
            <a:tbl>
              <a:tblPr/>
              <a:tblGrid>
                <a:gridCol w="593015"/>
                <a:gridCol w="2202628"/>
                <a:gridCol w="762448"/>
                <a:gridCol w="220262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MRL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Konsep: prinsip diamati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Konsep: kelayakan dibahas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konsep di laboratorium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Skala lab: buatan tangan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Validasi lab, lalu simulasi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5–6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Proses rintisan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prototipe di lingkungan relevan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Laju rendah, mutu berulang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Terkualifikasi dan dipakai rutin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/ 9–10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Pra-produksi / produksi penuh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537960" y="1600200"/>
            <a:ext cx="2459736" cy="20574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66597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467" y="1794419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65976" y="220370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6–8 · MRL 3–5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Kaya prototipe, lemah produksi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Inti DOCK-UP: pesanan jangkar, peralatan bersama, insinyur pendamping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9180576" y="1600200"/>
            <a:ext cx="2459736" cy="205740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9308592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083" y="1794419"/>
            <a:ext cx="215067" cy="21506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308592" y="220370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8–9 · MRL 8–10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 terkualifikasi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jangka panjang dan ekspor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537960" y="3840480"/>
            <a:ext cx="2459736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6665976" y="39502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467" y="4034699"/>
            <a:ext cx="215067" cy="21506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665976" y="444398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1–4 · MRL 1–3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Penjelajah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Hibah riset, laboratorium BRIN dan universitas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9180576" y="3840480"/>
            <a:ext cx="2459736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308592" y="395020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3083" y="4034699"/>
            <a:ext cx="215067" cy="215067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308592" y="4443984"/>
            <a:ext cx="2203704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4–5 · MRL 6–8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 produksi, teknologi dangkal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Mitra litbang, sertifikasi produk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KERANGKA DAN GERBANG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terverifikasi, bukan janji, yang membuka pesanan, dana dan sertifikat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5–6. Rintisan: 1 integrator, 20–30 UKM, 3–5 kelompok komponen, dikoordinasikan KKIP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TRL/MRL; keluar di S1: MRL 6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3367278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95294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Off-taker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payung 3–5 tahun; volume bertahap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6185916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13932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= MRL 7; C2 = MRL 8; C3 pertahanan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9004554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32570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Build-to-print → design-and-build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48640" y="4983480"/>
            <a:ext cx="2130552" cy="118872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5056632"/>
            <a:ext cx="19476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Baseline; insinyur pendamping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788920" y="4549140"/>
            <a:ext cx="2130552" cy="162306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880360" y="4622292"/>
            <a:ext cx="1947672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· MRL 6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 artikel pertama; pesanan rintisan; hibah pendamping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0" y="4114800"/>
            <a:ext cx="2130552" cy="205740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120640" y="4187952"/>
            <a:ext cx="194767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· MRL 7 + C1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berulang, ISO 9001; low-rate supply; KUR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269480" y="3680460"/>
            <a:ext cx="2130552" cy="249174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60920" y="3753612"/>
            <a:ext cx="1947672" cy="23454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· MRL 8 + C2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3834/9606; serial + suku cadang; first-loss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9509760" y="3246120"/>
            <a:ext cx="2130552" cy="292608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601200" y="3319272"/>
            <a:ext cx="19476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· TRL 7+, MRL 9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Diadopsi satu kelas kapal; design-and-build; ventura, LPEI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DUA JALUR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 sama, urutan berbeda: jalur MRL dan jalur TRL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7. UKM ilustratif, bukan perusahaan yang dinilai. Angka bulan pada jalur MRL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MRL · Sidoarjo Steel Manufacturing</a:t>
            </a:r>
            <a:pPr indent="0" marL="0"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(bearing dan valve)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196596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0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MRL sipil 7, kapal perang 4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518258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47442" y="196596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938882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1–6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Insinyur pendamping; material marine grade, uji hidrostatik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17059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146243" y="196596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237683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7 · S1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Katup pertama lolos; rintisan 20 katup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115861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45045" y="196596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36485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8–14 · S2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tepat waktu untuk satu set kapal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414662" y="25420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743846" y="196596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835286" y="20208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15–24 · S3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Terstandar untuk satu kelas fregat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36576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TRL · Sensor Karya Mandiri</a:t>
            </a:r>
            <a:pPr indent="0" marL="0">
              <a:buNone/>
            </a:pPr>
            <a:r>
              <a:rPr lang="en-US" sz="13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(sensor inframerah)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4023360"/>
            <a:ext cx="1896466" cy="13716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40080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Pijakan sipil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8–9: kamera termal genggam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2518258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847442" y="4023360"/>
            <a:ext cx="1896466" cy="13716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938882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Kualifikasi ulang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5 → 7: guncangan, getaran, EMC, uji IRST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4817059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146243" y="4023360"/>
            <a:ext cx="1896466" cy="13716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237683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Produksi pertahanan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MRL 5 → 8: kalibrasi, ketertelusuran, C3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7115861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445045" y="4023360"/>
            <a:ext cx="1896466" cy="13716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536485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IRST kapal perang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8, S4: sea trials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9414662" y="45994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743846" y="4023360"/>
            <a:ext cx="1896466" cy="13716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835286" y="4078224"/>
            <a:ext cx="171358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Sensor rudal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Sub-pemasok program DEFEND ID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EKONOMI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terverifikasi menurunkan risiko sehingga bank dan investor non-pemerintah ikut masuk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8; UU 16/2012; PP 45/2019. Indeks dihitung dari asumsi learning curve 85% (ilustrasi)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6309360" y="1600200"/>
            <a:ext cx="533095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309360" y="1636776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903720" y="163677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modal lebih rendah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8823960" y="1636776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Off-take multi-tahun + skor MRL memberi bank dasar penilaian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309360" y="2441448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09360" y="2478024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903720" y="247802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 lot ekonomis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823960" y="2478024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standar lintas kapal dan perusahaan DEFEND ID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282696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309360" y="3319272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903720" y="331927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Devisa dan multiplier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823960" y="3319272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Kandungan lokal tetap di dalam negeri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09360" y="4123944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09360" y="4160520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903720" y="416052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Through-life value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8823960" y="4160520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domestik diwajibkan; tahap 3 mencakup suku cadang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09360" y="4965192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309360" y="5001768"/>
            <a:ext cx="548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903720" y="500176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Proteksi sementara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8823960" y="5001768"/>
            <a:ext cx="28163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biaya setara impor melalui agregasi pesanan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309360" y="5806440"/>
            <a:ext cx="533095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DOCK-UP — TEKNOLOGI, ASESMEN DAN PERLUASAN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 proses lebih dulu, asesmen berlapis, lalu perluasan ke proyek anchor lain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D3 halaman 9; perluasan ke Giant Sea Wall dan 3 Juta Rumah adalah usulan kajian (standar dan off-taker perlu konfirmasi)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 proses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terkualifikasi, heat treatment, pelapisan, NDT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367278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495294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Alih teknologi berjenjang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ofset dialihlisensikan ke pemasok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5916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13932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Integrasi digital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pemasok terhubung ERP integrator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004554" y="1600200"/>
            <a:ext cx="2635758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32570" y="1691640"/>
            <a:ext cx="23797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informasi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Akses terkendali; masuk C3 sesuai sensitivitas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Asesmen mandiri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 dan 9 aspek MRL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3092958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22142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513582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Verifikasi independen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Universitas, lembaga uji, BKI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66460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95644" y="2971800"/>
            <a:ext cx="2471166" cy="8686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87084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Review integrator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Artikel pertama, batch, audit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8839962" y="3296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169146" y="2971800"/>
            <a:ext cx="2471166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260586" y="3026664"/>
            <a:ext cx="22882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Asesmen tahunan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kesiapan bersama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3101908"/>
                <a:gridCol w="3101908"/>
                <a:gridCol w="263192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 anchor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awal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 setara C1–C3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Off-taker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Maritim dan pertahanan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Katup, bearing, sensor, komponen kapal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9001, klas BKI, standar pertahanan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 ID, galangan 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Giant Sea Wall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Pintu air, pompa, struktur baja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 dan standar pemilik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Pelaksana, BUMN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Juta Rumah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modular, plumbing, elektrikal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SNI produk bangunan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Pengembang, BUMN Konstruksi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MASALAH DAN PENYEBAB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Ekspansi agresif yang dibiayai utang dan pembayaran yang terlambat menekan BUMN Konstruksi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utama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1965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Proyek bermargin rendah atau politis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Infrastruktur dan tol dibiayai utang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Piutang tertunda dan pembayaran lambat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Pembengkakan biaya dan keterlambatan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Leverage tinggi, aset rendah, kas negatif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Tata kelola lemah, peran politis besar</a:t>
            </a:r>
            <a:endParaRPr lang="en-US" sz="13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600200"/>
          <a:ext cx="5696712" cy="914400"/>
        </p:xfrm>
        <a:graphic>
          <a:graphicData uri="http://schemas.openxmlformats.org/drawingml/2006/table">
            <a:tbl>
              <a:tblPr/>
              <a:tblGrid>
                <a:gridCol w="2205179"/>
                <a:gridCol w="349153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Penyebab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Penjelasan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Ekspansi infrastruktur agresif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Jalan, tol, kereta, bandara, bendungan, pelabuhan dalam waktu singkat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konstruksi rendah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Persaingan ketat dan proyek politis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Pembayaran terlambat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Piutang pemerintah dan BUMN menjadi masalah pendanaan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turnkey dan EPC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Kontraktor menanggung risiko desain sampai commissioning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Insentif bermasalah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Keberhasilan diukur dari penyelesaian, bukan profitabilitas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KINERJA DAN ARAH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kerugian ±Rp28 triliun menuntut kembali ke model kontraktor yang disiplin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3. Angka berlabel “estimasi” (kelas C); verifikasi dengan laporan teraudit FY2025 sebelum dipakai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49240"/>
            <a:ext cx="5760720" cy="5029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49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± Rp28 T · anggaran infrastruktur −45%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75120" y="1600200"/>
            <a:ext cx="496519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75120" y="1636776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163677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 bisnis konstruksi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675120" y="2167128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675120" y="2203704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20370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Selektif pada proyek bermargin sehat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675120" y="2734056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675120" y="2770632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269480" y="27706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Perbaiki manajemen proyek dan risiko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675120" y="3300984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675120" y="3337560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269480" y="333756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 profesional dan transparan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675120" y="3867912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75120" y="3904488"/>
            <a:ext cx="548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2"/>
          <p:cNvSpPr txBox="1"/>
          <p:nvPr/>
        </p:nvSpPr>
        <p:spPr>
          <a:xfrm>
            <a:off x="7269480" y="390448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 pertumbuhan berkelanjutan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675120" y="4434840"/>
            <a:ext cx="496519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675120" y="457200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Siklus kas sehat: uang muka → laksanakan → sertifikasi → tagih → bayar subkontraktor → margin wajar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BUMN KONSTRUKSI — MODEL DAN UKURAN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 warisan dipisahkan setelah diagnosis, dan pemulihan diukur dengan metrik nilai dan kas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3 (model); D2 (metrik O). Kendaraan aset warisan adalah keputusan Pilihan D yang memerlukan bukti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760720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504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SAAT INI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Konglomerasi investasi infrastruktur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Kontraktor, EPC, pengembang, investor tol, pengembang properti, pemilik aset, pemasok via anak usaha, pembiayaan proyek pemerintah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3840480"/>
            <a:ext cx="5760720" cy="20574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76656" y="39502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7" y="403469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" y="4443984"/>
            <a:ext cx="550468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SEHARUSNYA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Perusahaan konstruksi yang disiplin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inti; selektif margin; tanpa aset jangka panjang berlebihan; pendanaan dari owner; risiko kuat; tata kelola profesional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600200"/>
          <a:ext cx="5148072" cy="914400"/>
        </p:xfrm>
        <a:graphic>
          <a:graphicData uri="http://schemas.openxmlformats.org/drawingml/2006/table">
            <a:tbl>
              <a:tblPr/>
              <a:tblGrid>
                <a:gridCol w="2022457"/>
                <a:gridCol w="31256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Metrik D2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Penciptaan nilai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O01 ROIC − WACC; O02 economic profit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Kualitas laba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O03 margin EBITDA sebanding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 konversi kas operasi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O08 utang bersih / EBITDA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transformasi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O09 manfaat bersih terverifikasi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Portofolio kontrak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bermargin sehat, percepatan penagihan (D4)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ARSITEKTUR DAN FASE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operasi proyek berbasis AI, dimulai dari BUMN Konstruksi dan diperluas bertahap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4–8. Roadmap “3 bulan” dibaca sebagai MVP; 24 bulan sebagai perluasan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760720" cy="530352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002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Danantara Portfolio Control Tower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203704"/>
            <a:ext cx="5760720" cy="530352"/>
          </a:xfrm>
          <a:prstGeom prst="rect">
            <a:avLst/>
          </a:prstGeom>
          <a:solidFill>
            <a:srgbClr val="1A4A9E"/>
          </a:solidFill>
          <a:ln w="12700">
            <a:solidFill>
              <a:srgbClr val="1A4A9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20370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SOE Enterprise Orchestrator · CEO/CFO/COO Cockpit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807208"/>
            <a:ext cx="5760720" cy="53035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80720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 korporat: komersial, keuangan, eksekusi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410712"/>
            <a:ext cx="5760720" cy="530352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41071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Control Tower per proyek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014216"/>
            <a:ext cx="5760720" cy="530352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01421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Intelligence: drone, IoT, CCTV, BIM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617720"/>
            <a:ext cx="5760720" cy="530352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46177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Platform dan master data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3035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untuk keputusan material dan berisiko tinggi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600200"/>
          <a:ext cx="5056632" cy="914400"/>
        </p:xfrm>
        <a:graphic>
          <a:graphicData uri="http://schemas.openxmlformats.org/drawingml/2006/table">
            <a:tbl>
              <a:tblPr/>
              <a:tblGrid>
                <a:gridCol w="1542701"/>
                <a:gridCol w="2742580"/>
                <a:gridCol w="77135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Cakupan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0–3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BUMN, 2–3 proyek, 6 agen utama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6–12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2–3 BUMN, 20–50 proyek, HA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12–24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BUMN Konstruksi, 100+ proyek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4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&gt;24 bulan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Nasional, multi-site, DR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16–24+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AGEN DAN MASTER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agen prioritas dan satu register identitas bersama melayani AI, scorecard dan DOCK-UP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5–7; satu register identitas bersama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portofolio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Peringkat Green/Amber/Red/Black; deteksi dini kerugian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306824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34840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/ no-bid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Kelayakan tender, margin historis, simulasi skenario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65008" y="160020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93024" y="169164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biaya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Estimasi independen; perbandingan kontrak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6656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Piutang dan pembayaran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Invoice, sertifikat, prediksi gagal bayar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306824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434840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Jadwal dan progres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Fisik vs rencana; dampak keterlambatan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065008" y="2834640"/>
            <a:ext cx="3575304" cy="10515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193024" y="292608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Pengadaan dan pemasok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pasar, risiko pemasok, substitusi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4135878"/>
                <a:gridCol w="695579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Dipakai oleh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ID, WBS, Cost Code, Activity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 40 proyek (D1), scorecard (D2), Project Control Tower (D4)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Supplier ID, Material Code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 pengadaan (D4) dan register kesiapan S1–S4 (D3)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Contract, Variation Order, Payment Certificate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 piutang dan klaim; percepatan penagihan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 dan Asset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Jembatan perimeter dan pemisahan aset warisan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DATA DAN AI — SUMBER DAYA DAN TATA KELOLA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memerlukan infrastruktur lokal, 14 orang teknis, dan manfaat yang diukur bersih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D4 halaman 7–8. Model dijalankan lokal; manfaat diukur melalui O09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Komponen Fase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Spesifikasi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server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1–2 server, 4 × NVIDIA L40S 48 GB, 256–512 GB RAM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platform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Database, lakehouse, vector DB, ETL, knowledge graph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processing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kontrak dan laporan; computer vision progres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20–50 TB NAS/object storage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30–40B, LLM kecil 7–8B, embedding, computer vision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teknis + 6–8 bisnis dan domain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766560" y="160020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94576" y="16916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Manfaat diukur bersih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platform dan tim dikurangkan (O09)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766560" y="265176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94576" y="2743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keputusan otomatis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Bid/no-bid dan penghentian tetap oleh organ sesuai RASCI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766560" y="370332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94576" y="379476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Kedaulatan data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lokal, RBAC, audit, multi-tenant; data pertahanan C3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766560" y="4754880"/>
            <a:ext cx="4873752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894576" y="4846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sebelum kecerdasan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Validasi data model di Fase 1 sebelum perluasan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Pembiayaan mengikuti kesiapan, dan setiap dukungan publik dikuantifikasi secara eksplisit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D1, D2, D3. Waterfall dihitung dari contoh ilustratif D2 (capex Rp100 M, arus kas Rp15 M/tahun, manfaat eksternal Rp6 M/tahun, 10 tahun); bukan proyek Danantara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79944"/>
                <a:gridCol w="4605864"/>
                <a:gridCol w="460586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 pemasok (D3)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 proyek (D1, D2)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Masuk / P0–P1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Insinyur pendamping, pelatihan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studi dan pre-FEED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 / P2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Hibah pendamping, fasilitas bersama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FEED, persiapan investasi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 / P3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KUR, pembiayaan rantai pasok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 modal sesuai kewenangan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/ P4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investasi, penjaminan kerugian pertama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close: pendanaan mengikat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36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S4 / P5–P6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Ventura, R&amp;D super-deduction (PP 45/2019), LPEI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Refinancing, mobilisasi swasta (I10)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548640" y="3749040"/>
          <a:ext cx="67665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6"/>
          <p:cNvSpPr/>
          <p:nvPr/>
        </p:nvSpPr>
        <p:spPr>
          <a:xfrm>
            <a:off x="7543800" y="3749040"/>
            <a:ext cx="4096512" cy="11887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671816" y="3840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FINANSIAL @12%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−Rp15,25 miliar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 proyek 8,14%: di bawah hurdle komersial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7543800" y="5074920"/>
            <a:ext cx="4096512" cy="118872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671816" y="51663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HIBAH VIABILITY GAP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Rp15,25 miliar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NPV investor nol; biaya publik, </a:t>
            </a:r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manfaat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 — KOREKSI ASUMSI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asumsi dalam memo hukum internal perlu dikoreksi sebelum menjadi dasar keputusan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D1 bagian 18 (R1–R3, U2)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323872"/>
                <a:gridCol w="6767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Asumsi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Pembacaan yang benar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 19 langsung membentuk Wakil Kepala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menciptakan jabatan baru; jalur anggota dan harmonisasi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Semua 40 proyek keluar dari DAM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Klasifikasikan komersial vs pembangunan melalui register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9G dasar tetap status pejabat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UU 16/2025 menghapus Pasal 9G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BJR memberi kekebalan atas kerugian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3Y memuat syarat; bukan kekebalan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Obligasi berbasis sumber daya bukan utang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Kewajiban bayar atau kupon tetap = kewajiban pembiayaan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Pasal 33: hak menjaminkan cadangan/royalti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otomatis memberi BPI hak atas cadangan atau PNBP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dapat menetapkan standar/TKDN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 wajib dan TKDN tetap pada otoritas berwenang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PEMBIAYAAN — UJI STRES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uji stres dijalankan simultan di tingkat grup, karena risikonya saling berkorelasi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D2. Guncangan adalah asumsi ilustratif, bukan proyeksi atau ambang regulasi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4699861"/>
                <a:gridCol w="413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yang diusulkan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 keputusan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Kurs / refinancing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Rupiah −15%; spread +200 bps pada utang yang reprice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Lindung nilai; jaga likuiditas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Siklus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−20%, bahan baku/listrik +15%, utilisasi rendah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ulang margin, covenant, capex bertahap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Konstruksi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+20%, terlambat 12 bulan, kontraktor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Kontinjensi; insinyur independen; hentikan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Fiskal / layanan publik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Kompensasi terlambat 180 hari; jaminan ditagih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Ungkap dukungan kontinjen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bank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Migrasi kredit; eksposur BUMN berkorelasi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setelah kerugian; batasi konsentrasi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/ pasar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Yield pilot tidak terulang; IP tidak memadai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Pendanaan per milestone independen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Lingkungan / sosial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emisi berlebih; izin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Estimasi ulang; tangguhkan bila gagal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RISIKO TRANSFORMASI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terbesar adalah memperlakukan transformasi sebagai target kuantitas, bukan jalur bergerbang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12 (sintesis D1–D4)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195905"/>
                <a:gridCol w="6579805"/>
                <a:gridCol w="131596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Pengaman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 menjadi kuota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 hanya dilepas per gerbang S yang terverifikasi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Duplikasi mandat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Piagam antarfungsi; unit hanya integrasi lintas portofolio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Dominasi promotor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Jalur risiko, legal dan audit terlindungi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Sentralisasi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 kewenangan per entitas; RASCI satu 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 strategis disalahgunakan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Kasus finansial dan ekonomi; evaluasi ulang P6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D1, 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Proteksi permanen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Proteksi sementara; target biaya setara impor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tetap di luar negeri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Hak IPR dan paket alih teknologi dalam ofset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D3, 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Klaim dampak berlebihan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 bukti, lima tahap modal, kontrafaktual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Pemulihan memindahkan masalah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Valuasi independen; kewajiban warisan dipisahkan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D2, 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dan AI keliru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Validasi data model; human-in-the-loop; RBAC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155448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D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Resource Fund dan tokenisasi cadangan SDA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100584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Pertanyaan: dapatkah cadangan sumber daya alam yang diestimasi badan bersertifikasi internasional menjadi dasar instrumen pembiayaan, bahkan mata uang khusus, untuk membiayai transformasi Danantara?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6–9 dan 11–13 kajian: instrumen · valuasi · teknologi · penggunaan dana · tata kelola · risiko · pelajaran internasional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GAGASAN DAN KLAIM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menjawab rendahnya fiscal capture SDA, tetapi klaim manfaatnya belum memiliki metodologi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D5 Indonesia Natural Resource Fund, Executive Summary (berkas 250925). Seluruh angka D5 diperlakukan sebagai kelas 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00200"/>
          <a:ext cx="6611112" cy="914400"/>
        </p:xfrm>
        <a:graphic>
          <a:graphicData uri="http://schemas.openxmlformats.org/drawingml/2006/table">
            <a:tbl>
              <a:tblPr/>
              <a:tblGrid>
                <a:gridCol w="3111112"/>
                <a:gridCol w="3500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Klaim D5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Angka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Manfaat fiskal langsung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Rp100 T (tahun 1); Rp1.000 T (tahun 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kapitalisasi batubara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Minimal Rp10.000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Proyeksi manfaat SDA 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Rp336 T; 10,68% pendapatan negara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negara atas potensi batubara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Kurang dari 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Penerimaan SDA vs bunga utang 2024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Kurang dari 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676656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ABS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67278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3495294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Note berbasis mineral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185916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313932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Royalty-Backed Financing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9004554" y="4937760"/>
            <a:ext cx="2635758" cy="8686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132570" y="5029200"/>
            <a:ext cx="23797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Mineral Reserve Trust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681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opsi monetisasi D5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OPSI INSTRUMEN (BAB 6.2)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bentuk instrumen dinilai: dari mata uang khusus sampai efek negara yang ditokenisasi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072030" cy="3108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uang / stablecoin berbasis cadangan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pembayaran yang nilainya dipatok pada cadangan atau komoditas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803550" y="1600200"/>
            <a:ext cx="2072030" cy="3108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93156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057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931566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klaim cadangan in-situ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token mewakili klaim atas sejumlah ton cadangan di dalam tanah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058461" y="1600200"/>
            <a:ext cx="2072030" cy="310896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186477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967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186477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 negara atau EBA yang membayar kupon dan pokok dari royalti dan PNBP, ditokenisasi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313371" y="1600200"/>
            <a:ext cx="2072030" cy="310896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441387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878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41387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Sukuk negara berbasis aset SDA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SBSN dengan aset dasar terkait SDA, ditokenisasi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9568282" y="1600200"/>
            <a:ext cx="2072030" cy="3108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696298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0788" y="1794419"/>
            <a:ext cx="215067" cy="21506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696298" y="2203704"/>
            <a:ext cx="1815998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trust cadangan mineral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penyertaan dalam trust yang memegang hak ekonomi bagian negara (opsi 4 D5)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548640" y="5029200"/>
            <a:ext cx="11091672" cy="68580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548640" y="5029200"/>
            <a:ext cx="54864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731520" y="5029200"/>
            <a:ext cx="10771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Token Efek Berbasis Penerimaan SDA, nama usulan kajian untuk efek yang agunannya arus kas penerimaan negara, bukan tonase.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PENILAIAN OPSI (BAB 6.3)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 dan sukuk SDA unggul; mata uang dan klaim tonase gagal pada hampir semua kriteria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6.3. Bola Harvey: penilaian kualitatif kajian (penuh = baik, kosong = buruk)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398199"/>
                <a:gridCol w="1049212"/>
                <a:gridCol w="1049212"/>
                <a:gridCol w="1149137"/>
                <a:gridCol w="1149137"/>
                <a:gridCol w="1049212"/>
                <a:gridCol w="1049212"/>
                <a:gridCol w="219834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Hukum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jujur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Stabilitas moneter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 fiskal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Ritel aman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Rekomendasi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Mata uang khusus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Klaim tonase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TEPSDA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Ya, instrumen utama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Sukuk SDA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Ya, varian syariah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6821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Unit trust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Setelah pilot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" descr="koso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709" y="2334463"/>
            <a:ext cx="347472" cy="347472"/>
          </a:xfrm>
          <a:prstGeom prst="rect">
            <a:avLst/>
          </a:prstGeom>
        </p:spPr>
      </p:pic>
      <p:pic>
        <p:nvPicPr>
          <p:cNvPr id="12" name="Image 2" descr="seperemp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22" y="2334463"/>
            <a:ext cx="347472" cy="347472"/>
          </a:xfrm>
          <a:prstGeom prst="rect">
            <a:avLst/>
          </a:prstGeom>
        </p:spPr>
      </p:pic>
      <p:pic>
        <p:nvPicPr>
          <p:cNvPr id="13" name="Image 3" descr="koso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6096" y="2334463"/>
            <a:ext cx="347472" cy="347472"/>
          </a:xfrm>
          <a:prstGeom prst="rect">
            <a:avLst/>
          </a:prstGeom>
        </p:spPr>
      </p:pic>
      <p:pic>
        <p:nvPicPr>
          <p:cNvPr id="14" name="Image 4" descr="seperempa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234" y="2334463"/>
            <a:ext cx="347472" cy="347472"/>
          </a:xfrm>
          <a:prstGeom prst="rect">
            <a:avLst/>
          </a:prstGeom>
        </p:spPr>
      </p:pic>
      <p:pic>
        <p:nvPicPr>
          <p:cNvPr id="15" name="Image 5" descr="seperempa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4408" y="2334463"/>
            <a:ext cx="347472" cy="347472"/>
          </a:xfrm>
          <a:prstGeom prst="rect">
            <a:avLst/>
          </a:prstGeom>
        </p:spPr>
      </p:pic>
      <p:pic>
        <p:nvPicPr>
          <p:cNvPr id="16" name="Image 6" descr="koso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3620" y="2334463"/>
            <a:ext cx="347472" cy="347472"/>
          </a:xfrm>
          <a:prstGeom prst="rect">
            <a:avLst/>
          </a:prstGeom>
        </p:spPr>
      </p:pic>
      <p:pic>
        <p:nvPicPr>
          <p:cNvPr id="17" name="Image 7" descr="seperempa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7709" y="3016606"/>
            <a:ext cx="347472" cy="347472"/>
          </a:xfrm>
          <a:prstGeom prst="rect">
            <a:avLst/>
          </a:prstGeom>
        </p:spPr>
      </p:pic>
      <p:pic>
        <p:nvPicPr>
          <p:cNvPr id="18" name="Image 8" descr="seperempa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6922" y="3016606"/>
            <a:ext cx="347472" cy="347472"/>
          </a:xfrm>
          <a:prstGeom prst="rect">
            <a:avLst/>
          </a:prstGeom>
        </p:spPr>
      </p:pic>
      <p:pic>
        <p:nvPicPr>
          <p:cNvPr id="19" name="Image 9" descr="setengah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6096" y="3016606"/>
            <a:ext cx="347472" cy="347472"/>
          </a:xfrm>
          <a:prstGeom prst="rect">
            <a:avLst/>
          </a:prstGeom>
        </p:spPr>
      </p:pic>
      <p:pic>
        <p:nvPicPr>
          <p:cNvPr id="20" name="Image 10" descr="seperempa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5234" y="3016606"/>
            <a:ext cx="347472" cy="347472"/>
          </a:xfrm>
          <a:prstGeom prst="rect">
            <a:avLst/>
          </a:prstGeom>
        </p:spPr>
      </p:pic>
      <p:pic>
        <p:nvPicPr>
          <p:cNvPr id="21" name="Image 11" descr="seperempa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4408" y="3016606"/>
            <a:ext cx="347472" cy="347472"/>
          </a:xfrm>
          <a:prstGeom prst="rect">
            <a:avLst/>
          </a:prstGeom>
        </p:spPr>
      </p:pic>
      <p:pic>
        <p:nvPicPr>
          <p:cNvPr id="22" name="Image 12" descr="koso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43620" y="3016606"/>
            <a:ext cx="347472" cy="347472"/>
          </a:xfrm>
          <a:prstGeom prst="rect">
            <a:avLst/>
          </a:prstGeom>
        </p:spPr>
      </p:pic>
      <p:pic>
        <p:nvPicPr>
          <p:cNvPr id="23" name="Image 13" descr="penuh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97709" y="3698748"/>
            <a:ext cx="347472" cy="347472"/>
          </a:xfrm>
          <a:prstGeom prst="rect">
            <a:avLst/>
          </a:prstGeom>
        </p:spPr>
      </p:pic>
      <p:pic>
        <p:nvPicPr>
          <p:cNvPr id="24" name="Image 14" descr="penuh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46922" y="3698748"/>
            <a:ext cx="347472" cy="347472"/>
          </a:xfrm>
          <a:prstGeom prst="rect">
            <a:avLst/>
          </a:prstGeom>
        </p:spPr>
      </p:pic>
      <p:pic>
        <p:nvPicPr>
          <p:cNvPr id="25" name="Image 15" descr="penuh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6096" y="3698748"/>
            <a:ext cx="347472" cy="347472"/>
          </a:xfrm>
          <a:prstGeom prst="rect">
            <a:avLst/>
          </a:prstGeom>
        </p:spPr>
      </p:pic>
      <p:pic>
        <p:nvPicPr>
          <p:cNvPr id="26" name="Image 16" descr="penuh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5234" y="3698748"/>
            <a:ext cx="347472" cy="347472"/>
          </a:xfrm>
          <a:prstGeom prst="rect">
            <a:avLst/>
          </a:prstGeom>
        </p:spPr>
      </p:pic>
      <p:pic>
        <p:nvPicPr>
          <p:cNvPr id="27" name="Image 17" descr="tiga perempat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4408" y="3698748"/>
            <a:ext cx="347472" cy="347472"/>
          </a:xfrm>
          <a:prstGeom prst="rect">
            <a:avLst/>
          </a:prstGeom>
        </p:spPr>
      </p:pic>
      <p:pic>
        <p:nvPicPr>
          <p:cNvPr id="28" name="Image 18" descr="tiga perempat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43620" y="3698748"/>
            <a:ext cx="347472" cy="347472"/>
          </a:xfrm>
          <a:prstGeom prst="rect">
            <a:avLst/>
          </a:prstGeom>
        </p:spPr>
      </p:pic>
      <p:pic>
        <p:nvPicPr>
          <p:cNvPr id="29" name="Image 19" descr="tiga perempat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97709" y="4380890"/>
            <a:ext cx="347472" cy="347472"/>
          </a:xfrm>
          <a:prstGeom prst="rect">
            <a:avLst/>
          </a:prstGeom>
        </p:spPr>
      </p:pic>
      <p:pic>
        <p:nvPicPr>
          <p:cNvPr id="30" name="Image 20" descr="penuh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46922" y="4380890"/>
            <a:ext cx="347472" cy="347472"/>
          </a:xfrm>
          <a:prstGeom prst="rect">
            <a:avLst/>
          </a:prstGeom>
        </p:spPr>
      </p:pic>
      <p:pic>
        <p:nvPicPr>
          <p:cNvPr id="31" name="Image 21" descr="penuh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46096" y="4380890"/>
            <a:ext cx="347472" cy="347472"/>
          </a:xfrm>
          <a:prstGeom prst="rect">
            <a:avLst/>
          </a:prstGeom>
        </p:spPr>
      </p:pic>
      <p:pic>
        <p:nvPicPr>
          <p:cNvPr id="32" name="Image 22" descr="penuh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95234" y="4380890"/>
            <a:ext cx="347472" cy="347472"/>
          </a:xfrm>
          <a:prstGeom prst="rect">
            <a:avLst/>
          </a:prstGeom>
        </p:spPr>
      </p:pic>
      <p:pic>
        <p:nvPicPr>
          <p:cNvPr id="33" name="Image 23" descr="penuh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94408" y="4380890"/>
            <a:ext cx="347472" cy="347472"/>
          </a:xfrm>
          <a:prstGeom prst="rect">
            <a:avLst/>
          </a:prstGeom>
        </p:spPr>
      </p:pic>
      <p:pic>
        <p:nvPicPr>
          <p:cNvPr id="34" name="Image 24" descr="penuh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43620" y="4380890"/>
            <a:ext cx="347472" cy="347472"/>
          </a:xfrm>
          <a:prstGeom prst="rect">
            <a:avLst/>
          </a:prstGeom>
        </p:spPr>
      </p:pic>
      <p:pic>
        <p:nvPicPr>
          <p:cNvPr id="35" name="Image 25" descr="setengah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7709" y="5063033"/>
            <a:ext cx="347472" cy="347472"/>
          </a:xfrm>
          <a:prstGeom prst="rect">
            <a:avLst/>
          </a:prstGeom>
        </p:spPr>
      </p:pic>
      <p:pic>
        <p:nvPicPr>
          <p:cNvPr id="36" name="Image 26" descr="setengah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46922" y="5063033"/>
            <a:ext cx="347472" cy="347472"/>
          </a:xfrm>
          <a:prstGeom prst="rect">
            <a:avLst/>
          </a:prstGeom>
        </p:spPr>
      </p:pic>
      <p:pic>
        <p:nvPicPr>
          <p:cNvPr id="37" name="Image 27" descr="tiga perempat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46096" y="5063033"/>
            <a:ext cx="347472" cy="347472"/>
          </a:xfrm>
          <a:prstGeom prst="rect">
            <a:avLst/>
          </a:prstGeom>
        </p:spPr>
      </p:pic>
      <p:pic>
        <p:nvPicPr>
          <p:cNvPr id="38" name="Image 28" descr="setengah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95234" y="5063033"/>
            <a:ext cx="347472" cy="347472"/>
          </a:xfrm>
          <a:prstGeom prst="rect">
            <a:avLst/>
          </a:prstGeom>
        </p:spPr>
      </p:pic>
      <p:pic>
        <p:nvPicPr>
          <p:cNvPr id="39" name="Image 29" descr="setengah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94408" y="5063033"/>
            <a:ext cx="347472" cy="347472"/>
          </a:xfrm>
          <a:prstGeom prst="rect">
            <a:avLst/>
          </a:prstGeom>
        </p:spPr>
      </p:pic>
      <p:pic>
        <p:nvPicPr>
          <p:cNvPr id="40" name="Image 30" descr="setengah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43620" y="5063033"/>
            <a:ext cx="347472" cy="347472"/>
          </a:xfrm>
          <a:prstGeom prst="rect">
            <a:avLst/>
          </a:prstGeom>
        </p:spPr>
      </p:pic>
      <p:sp>
        <p:nvSpPr>
          <p:cNvPr id="41" name="Text 6"/>
          <p:cNvSpPr txBox="1"/>
          <p:nvPr/>
        </p:nvSpPr>
        <p:spPr>
          <a:xfrm>
            <a:off x="548640" y="57607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Penuh = baik · tiga perempat · setengah · seperempat · kosong = buruk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MENGAPA BUKAN MATA UANG (BAB 6.4)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 uang khusus berbasis cadangan tidak layak secara hukum dan berisiko tinggi secara moneter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6.4. Rujukan hukum dan Petro perlu diverifikasi dengan naskah resmi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HUKUM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Rupiah satu-satunya alat pembayaran sah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 7/2011 dan kewenangan BI atas penerbitan uang, termasuk Rupiah digital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MONETER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Dualisme moneter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berfluktuasi mengikuti harga komoditas; risiko dolarisasi dan arus modal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LIKUIDITAS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Janji penebusan tidak kredibel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di dalam tanah tidak dapat dicairkan cepat untuk menebus unit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30175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PRESEDEN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Petro, Venezuela (2018)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Diklaim didukung minyak; tanpa penebusan, verifikasi atau pasar kredibel; dihentikan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4892040"/>
            <a:ext cx="11091672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731520" y="489204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di dalam tanah tidak menciptakan kepercayaan dengan sendirinya; yang menciptakannya adalah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hukum yang jelas, arus kas yang dapat diverifikasi, dan tata kelola yang dapat diuji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DESAIN TEPSDA (BAB 6.6)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TEPSDA: efek beragun arus kas negara, ditokenisasi di jaringan berizin dan diselesaikan dalam Rupiah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6367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1636776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Pemerintah (SBN/SBSN), atau SPV NRF sebagai efek beragun aset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222199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258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258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 dasar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429000" y="2258568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atas sebagian arus kas penerimaan negara dari wilayah dengan laporan Competent Person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284378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2880360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di buku besar terdistribusi berizin, setara pencatatan efek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548640" y="3465576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35021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429000" y="3502152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Rupiah melalui sistem BI (DvP); kelak Rupiah digital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4087368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123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41239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Pembayaran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429000" y="4123944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Kupon dan pokok dari arus kas aktual melalui waterfall terprogram dan rasio cakupan minimum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548640" y="470916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4745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1143000" y="474573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 ritel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3429000" y="4745736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pembelian, edukasi wajib, agen berizin termasuk koperasi yang memenuhi syarat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548640" y="533095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48640" y="5367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2"/>
          <p:cNvSpPr txBox="1"/>
          <p:nvPr/>
        </p:nvSpPr>
        <p:spPr>
          <a:xfrm>
            <a:off x="1143000" y="5367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Pengungkapan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3429000" y="5367528"/>
            <a:ext cx="8211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Cadangan, produksi, penerimaan dan cakupan dipublikasikan setiap kuartal (proof of reserve and revenue)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48640" y="595274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ALUR TEPSDA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Arus kas mengalir dari cadangan terverifikasi ke investor melalui waterfall yang transparan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6.6 dan 8.2. Diagram konseptual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896466" cy="146304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Cadangan terverifikasi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Competent Person KCMI/CRIRSCO per wilayah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18258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47442" y="1600200"/>
            <a:ext cx="1896466" cy="146304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38882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Penerimaan negara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Royalti, PNBP, pajak, dividen BUMN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17059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46243" y="1600200"/>
            <a:ext cx="1896466" cy="146304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37683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/ SPV penerbit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satu cadangan, satu klaim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115861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45045" y="1600200"/>
            <a:ext cx="1896466" cy="146304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6485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TEPSDA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besar berizin; kustodian; KYC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414662" y="222199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743846" y="1600200"/>
            <a:ext cx="1896466" cy="14630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835286" y="1655064"/>
            <a:ext cx="171358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Institusi dan ritel; penyelesaian Rupiah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pembayaran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5257800"/>
            <a:ext cx="2130552" cy="91440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0080" y="5330952"/>
            <a:ext cx="19476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Penerimaan masuk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Arus kas aktual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788920" y="4892040"/>
            <a:ext cx="2130552" cy="128016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880360" y="4965192"/>
            <a:ext cx="194767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Cadangan likuiditas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Penyangga harga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029200" y="4526280"/>
            <a:ext cx="2130552" cy="164592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120640" y="4599432"/>
            <a:ext cx="19476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Kupon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 investor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269480" y="4160520"/>
            <a:ext cx="2130552" cy="201168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360920" y="4233672"/>
            <a:ext cx="194767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Pokok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Amortisasi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9509760" y="3794760"/>
            <a:ext cx="2130552" cy="237744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601200" y="3867912"/>
            <a:ext cx="194767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Sisa ke NRF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Tabungan dan investasi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STANDAR CADANGAN (BAB 7.1)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cadangan terbukti dan terkira menurut KCMI/CRIRSCO yang layak menjadi dasar pembiayaan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7.1. Keluarga CRIRSCO: JORC, NI 43-101/CIM, SAMREC, PERC, KCMI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819917"/>
                <a:gridCol w="4887855"/>
                <a:gridCol w="33839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Kategori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Dasar pembiayaan?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tereka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geologi rendah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tertunjuk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sedang; belum diuji ekonomi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terukur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Keyakinan tinggi; belum diuji ekonomi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Tidak secara langsung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Cadangan terkira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Bagian ekonomis setelah faktor pengubah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Ya, haircut lebih besar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  <a:tr h="4992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Cadangan terbukti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Bagian ekonomis dari sumber daya terukur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F7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754880"/>
            <a:ext cx="11091672" cy="8686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475488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“Estimasi resmi oleh badan bersertifikasi internasional” = laporan KCMI/CRIRSCO oleh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Competent Person independen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diverifikasi pihak ketiga, dan dipadukan dengan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valuasi independen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URUTAN VALUASI (BAB 7.2)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Tujuh langkah mengubah tonase cadangan menjadi nilai yang dapat dibiayai secara jujur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Cadangan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Terbukti dan terkira per wilayah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092958" y="2153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22142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513582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Produksi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realistis sesuai izin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66460" y="2153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95644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87084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Harga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deck konservatif + transisi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839962" y="215341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169146" y="1600200"/>
            <a:ext cx="2471166" cy="132588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260586" y="1655064"/>
            <a:ext cx="2288286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Bagian negara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Royalti, PNBP, pajak, dividen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3246120"/>
            <a:ext cx="3429000" cy="132588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0080" y="3300984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Nilai kini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Diskonto sesuai risiko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050792" y="37993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79976" y="3246120"/>
            <a:ext cx="3429000" cy="132588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71416" y="3300984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Haircut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Harga, produksi, hukum, sosial, transisi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7882128" y="37993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11312" y="3246120"/>
            <a:ext cx="3429000" cy="132588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302752" y="3300984"/>
            <a:ext cx="32461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Rasio cakupan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1,5–2,0× terhadap efek beredar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48640" y="4937760"/>
            <a:ext cx="1109167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48640" y="4937760"/>
            <a:ext cx="54864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731520" y="4937760"/>
            <a:ext cx="10771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Kode CRIRSCO menjawab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cadangan yang ada; valuasi independen menjawab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berapa nilai bagian negara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Keduanya diperlukan sebelum penerbitan.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ILUSTRASI VALUASI (BAB 7.3)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yang dapat dibiayai mungkin hanya sekitar 5–7% dari nilai in-situ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7.3. Ilustrasi hipotetis (kelas D), bukan estimasi wilayah mana pun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00200"/>
          <a:ext cx="4233672" cy="914400"/>
        </p:xfrm>
        <a:graphic>
          <a:graphicData uri="http://schemas.openxmlformats.org/drawingml/2006/table">
            <a:tbl>
              <a:tblPr/>
              <a:tblGrid>
                <a:gridCol w="2925082"/>
                <a:gridCol w="130859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Langkah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in-situ: 1.000 juta ton × USD80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USD80,0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Bagian negara/tahun: 50 juta ton × USD80 × 15%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USD0,6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kini 20 tahun @8%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USD5,89 M (7,4%)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Kapasitas penerbitan, cakupan 1,5×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USD3,93 M (4,9%)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41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 transisi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USD3,31 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7406640" y="5029200"/>
            <a:ext cx="4233672" cy="1143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589520" y="5029200"/>
            <a:ext cx="38679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Klaim “kapitalisasi Rp10.000 T” perlu diterjemahkan menjadi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nilai kini bagian negara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sebelum dipakai untuk target fiskal.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ATURAN VALUASI (BAB 7.4)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valuasi mencegah agunan berlebihan dan penjaminan ganda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7.4. Persentase pengakuan cadangan terkira adalah usulan kebijakan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631922"/>
                <a:gridCol w="845975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Kategori yang diakui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Cadangan terbukti 100% setelah haircut; terkira maksimal 50–70%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Competent Person dan valuator tidak terafiliasi dengan penerbit, pembeli atau pemegang izin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Re-estimasi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Tahunan, dan setiap perubahan material (harga, izin, kecelakaan, regulasi)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kecukupan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cakupan diuji setiap kuartal; di bawah ambang menghentikan penerbitan baru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 energi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Batubara: haircut tambahan dan tenor pendek; mineral transisi diuji pada harga rendah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7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Sumber daya tereka/tertunjuk; wilayah sengketa; cadangan yang sudah menjadi agunan lain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ARSITEKTUR TEKNOLOGI (BAB 8.2)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lapisan teknologi menghubungkan data cadangan resmi dengan token dan penyelesaian Rupiah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8.1–8.2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7498080" cy="47548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85800" y="16002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Pengungkapan publik: cadangan, produksi, penerimaan, cakupan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148840"/>
            <a:ext cx="7498080" cy="475488"/>
          </a:xfrm>
          <a:prstGeom prst="rect">
            <a:avLst/>
          </a:prstGeom>
          <a:solidFill>
            <a:srgbClr val="1A4A9E"/>
          </a:solidFill>
          <a:ln w="12700">
            <a:solidFill>
              <a:srgbClr val="1A4A9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21488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Kustodian dan identitas: KYC/AML, dompet berizin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749808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26974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Penyelesaian: DvP Rupiah (RTGS/BI-FAST), kelak Rupiah digital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3246120"/>
            <a:ext cx="7498080" cy="475488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324612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pintar waterfall: likuiditas → kupon → pokok → sisa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794760"/>
            <a:ext cx="7498080" cy="475488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7947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Buku besar berizin: penerbitan, kepemilikan, transfer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48640" y="4343400"/>
            <a:ext cx="7498080" cy="475488"/>
          </a:xfrm>
          <a:prstGeom prst="rect">
            <a:avLst/>
          </a:prstGeom>
          <a:solidFill>
            <a:srgbClr val="A9C6EC"/>
          </a:solidFill>
          <a:ln w="12700">
            <a:solidFill>
              <a:srgbClr val="A9C6E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" y="43434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terverifikasi: data resmi ditandatangani digital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892040"/>
            <a:ext cx="7498080" cy="475488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85800" y="48920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cadangan NRF: satu cadangan, satu klaim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48640" y="5440680"/>
            <a:ext cx="7498080" cy="475488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85800" y="54406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sumber: laporan KCMI, produksi ESDM, penerimaan Kemenkeu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321040" y="1600200"/>
            <a:ext cx="3319272" cy="13258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4490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547" y="1794419"/>
            <a:ext cx="215067" cy="215067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449056" y="2203704"/>
            <a:ext cx="3063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Berizin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Partisipan diketahui dan diawasi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321040" y="3035808"/>
            <a:ext cx="3319272" cy="13258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449056" y="3145536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547" y="3230027"/>
            <a:ext cx="215067" cy="215067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449056" y="3639312"/>
            <a:ext cx="3063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Hukum di atas kode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Hak diatur prospektus dan peraturan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321040" y="4471416"/>
            <a:ext cx="3319272" cy="132588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8449056" y="4581144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3547" y="4665635"/>
            <a:ext cx="215067" cy="215067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449056" y="5074920"/>
            <a:ext cx="3063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Interoperabel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efek nasional dan sistem BI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PENGAMAN TEKNOLOGI (BAB 8.3)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hanya memperkuat kepercayaan bila keamanan setara infrastruktur pasar keuangan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8.3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kode independen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 peluncuran dan setiap perubahan kontrak pintar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185916" y="160020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13932" y="220370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dan pemulihan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yang diatur hukum dengan otorisasi berlapis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374904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76656" y="38587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47" y="394325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76656" y="435254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siber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Setara infrastruktur pasar keuangan; uji penetrasi berkala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6185916" y="3749040"/>
            <a:ext cx="5454396" cy="19659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313932" y="385876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423" y="394325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313932" y="4352544"/>
            <a:ext cx="519836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Pemisahan peran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jaringan, penerbit, kustodian dan agen pembayaran terpisah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PENGGUNAAN DANA (BAB 9.1)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NRF dialokasikan ke lima porsi dengan pengelola dan aturan yang berbeda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9.1. Besaran porsi ditetapkan undang-undang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3571894"/>
                <a:gridCol w="2725919"/>
                <a:gridCol w="253792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Tujuan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Pengelola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Tabungan antargenerasi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Mengganti kekayaan tidak terbarukan dengan aset keuangan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 (mandat NRF)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minimum di undang-undang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Stabilisasi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Penyangga saat harga komoditas turun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 / Kemenkeu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Penarikan berbasis harga acuan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 produktif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Hilirisasi, platform industri, infrastruktur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DDMF/DIM via unit Industri Strategis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proyek lolos P0–P6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Pengembangan pemasok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DOCK-UP: hibah, fasilitas, first-loss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Industri Strategis + DDMF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Dilepas per gerbang S1–S4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Distribusi manfaat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Program, misalnya melalui koperasi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Kementerian/lembaga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Dianggarkan eksplisit; bukan dari utang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HILIRISASI DAN LARANGAN (BAB 9.2–9.3)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berbasis SDA paling tepat untuk mengubah sumber daya menjadi kapabilitas industri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9.2–9.3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16002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Syarat proyek hilirisasi yang didanai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48640" y="1965960"/>
            <a:ext cx="6035040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200253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" y="200253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Lolos P2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200253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Kesiapan teknis, pasar, lingkungan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283464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48640" y="287121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287121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Rencana lokalisasi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063240" y="287121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gerbang S untuk pemasok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370332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48640" y="37398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373989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 hasil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3063240" y="373989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D02, D05, D06 vs kontrafaktual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48640" y="457200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8640" y="460857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1143000" y="4608576"/>
            <a:ext cx="18288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stres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3063240" y="4608576"/>
            <a:ext cx="3520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Harga rendah dan transisi energi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548640" y="5440680"/>
            <a:ext cx="603504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0" y="1600200"/>
            <a:ext cx="4690872" cy="41148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07745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1947" y="1794419"/>
            <a:ext cx="215067" cy="21506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077456" y="2203704"/>
            <a:ext cx="443484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Larangan penggunaan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Belanja rutin atau subsidi berulang dari hasil TEPSDA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Menutup kerugian BUMN tanpa rencana pemulihan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Proyek tanpa register, sponsor dan pemimpin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Menjaminkan kembali hasil investasi yang dibiayai TEPSDA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TATA KELOLA (BAB 11.1)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mengikuti Santiago Principles dan memisahkan pemilik kekayaan dari pengelola investasi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11.1 dan 5. Santiago Principles (IFSWF); OECD SOE Guidelines 2024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195905"/>
                <a:gridCol w="78957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Prinsip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Penerapan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Landasan hukum jelas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Undang-undang NRF: tujuan, aturan penarikan, porsi tabungan, larangan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Pemisahan pemilik dan pengelola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NRF/Kemenkeu pemilik; Danantara pengelola bermandat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 fiskal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Batas penerbitan; rasio cakupan; dicatat sebagai utang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Independensi valuasi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Competent Person dan valuator independen; komite valuasi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Laporan tahunan teraudit dan kuartalan; portal data publik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Akuntabilitas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BPK; pelaporan ke DPR; evaluasi independen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982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Pencegahan konflik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Larangan kepentingan di pemegang izin; register konflik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PERLINDUNGAN DAN DISTRIBUSI (BAB 11.2–11.4)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Perlindungan investor, proses hukum yang adil, dan pemisahan jalur program dari jalur investasi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11.2–11.4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3566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331927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Perlindungan investor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Prospektus memuat risiko harga, transisi, hukum, teknologi, likuiditas. Seri ritel: batas pembelian, edukasi wajib, kanal berizin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06824" y="1600200"/>
            <a:ext cx="3575304" cy="3566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484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34840" y="2203704"/>
            <a:ext cx="331927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Penertiban dan peninjauan izin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hukum yang adil; hak masyarakat dan masyarakat adat; risiko sengketa dan arbitrase investasi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65008" y="1600200"/>
            <a:ext cx="3575304" cy="3566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9302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4" y="2203704"/>
            <a:ext cx="331927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Koperasi: dua jalur terpisah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Jalur program dianggarkan dari penerimaan aktual. Jalur investasi: koperasi sebagai agen penjual seri ritel di bawah OJK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RISIKO (BAB 12.1)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Sepuluh risiko utama, dari harga komoditas sampai reputasi, masing-masing dengan pengaman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12.1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443928"/>
                <a:gridCol w="4135878"/>
                <a:gridCol w="4511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Mekanisme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Pengaman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komoditas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Arus kas dan cakupan turun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deck konservatif; cadangan likuiditas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 energi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Permintaan batubara turun; aset terdampar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Haircut tambahan; tenor pendek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Hukum dan perizinan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Sengketa izin, perubahan regulasi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wilayah berstatus final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Fiskal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Utang bertambah; penerimaan terikat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Dicatat sebagai utang; batas penerbitan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Moneter dan nilai tukar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Arus modal asing; tekanan Rupiah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Penyelesaian Rupiah; koordinasi BI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Tata kelola dan capture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Dana untuk proyek tidak layak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Gerbang P0–P6; audit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Valuasi berlebihan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in-situ dipakai sebagai agunan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Aturan valuasi Bab 7.4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Teknologi dan siber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Kegagalan kontrak pintar, peretasan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kode; jaringan berizin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Reputasi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Persepsi mata uang tambang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Komunikasi: efek negara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7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Lingkungan dan sosial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Kerusakan, konflik lahan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Faktor pengubah KCMI; ESG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UJI STRES (BAB 12.2)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uji stres dijalankan simultan di tingkat grup NRF, Danantara dan perbankan BUMN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12.2. Guncangan ilustratif, bukan proyeksi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067939"/>
                <a:gridCol w="4699861"/>
                <a:gridCol w="43238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Guncangan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Ukuran yang diuji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Batubara −40%, mineral −30% selama 3 tahun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cakupan; cadangan likuiditas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Transisi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Produksi batubara −50% dalam 10 tahun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kini bagian negara; bayar pokok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Hukum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 wilayah terkena sengketa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Penggantian aset dasar; seri beredar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tukar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Rupiah −15%; spread +200 bps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 refinancing; arus modal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89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Gabungan grup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 turun + BUMN tambang rugi + bank BUMN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Korelasi risiko lintas grup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303520"/>
            <a:ext cx="11091672" cy="59436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30352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penerbitan baru bila rasio cakupan hasil uji stres berada di bawah ambang yang ditetapkan.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NRF — PELAJARAN INTERNASIONAL (BAB 13)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sumber daya terbaik menabung penerimaan; tokenisasi berhasil pada efek yang sudah dikenal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13. Rujukan eksternal dari pengetahuan umum penyusun; perlu diverifikasi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SUMBER DAYA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Tabung, bukan pinjam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Norwegia (GPFG), Chile (ESSF), Botswana (Pula Fund), Timor-Leste: penerimaan ditabung dengan aturan penarikan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PINJAMAN BERBASIS SDA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Mahal dan tertutup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Sering kurang transparan, mengikat produksi, sulit direstrukturisasi saat harga jatuh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EFEK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Efisiensi, bukan pengganti hukum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Dunia, EIB, Hong Kong: efek dikenal, dicatat di buku besar terdistribusi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NEGARA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Petro: kredibilitas gagal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penebusan, verifikasi cadangan atau tata kelola yang dapat diuji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507492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731520" y="507492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Indonesia: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tabung penerimaan aktual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 terbatas dan transparan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penggunaan dana bergerbang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033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155448" cy="68580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23774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proyek berdaulat: dari pinjaman luar negeri ke tabungan domestik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48640" y="3429000"/>
            <a:ext cx="1005840" cy="0"/>
          </a:xfrm>
          <a:prstGeom prst="line">
            <a:avLst/>
          </a:prstGeom>
          <a:noFill/>
          <a:ln w="508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6118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Pertanyaan: dapatkah proyek industri strategis dibiayai dengan efek Rupiah yang ditokenisasi dan beragun kontrak negara, sehingga pinjaman luar negeri berkurang dan pemasok dalam negeri tumbuh?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800600"/>
            <a:ext cx="8138160" cy="868680"/>
          </a:xfrm>
          <a:prstGeom prst="rect">
            <a:avLst/>
          </a:prstGeom>
          <a:solidFill>
            <a:srgbClr val="1A4A9E"/>
          </a:solidFill>
          <a:ln w="12700">
            <a:solidFill>
              <a:srgbClr val="1A4A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800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Bagian D menjawab dari mana dana berasal (TEPSDA). Bagian E menjawab bagaimana dana sampai ke proyek dan pemasok tanpa menambah utang luar negeri.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10 kajian: masalah · studi kasus PALCapital PT PAL (D6) · tiga tuas · desain TPB · uji substitusi · risiko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MASALAH (BAB 10.1)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 strategis masih dibiayai pinjaman luar negeri yang membawa empat biaya struktural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NILAI TUKAR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valas menumpuk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Kewajiban dalam valas, penerimaan APBN dan BUMN dalam Rupiah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PENGADAAN TERIKAT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Belanja terkunci ke luar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 ekspor mensyaratkan pemasok negara pemberi pinjaman; DOCK-UP melemah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DEVISA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Devisa keluar dua kali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impor komponen dan saat membayar pokok serta bunga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329184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TABUNGAN DOMESTIK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terhubung ke proyek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Danantara, bank, asuransi, dana pensiun dan DHE SDA belum punya saluran yang aman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Masalahnya bukan kekurangan dana nasional, tetapi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adanya saluran yang aman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dari tabungan domestik ke proyek industri. Pinjaman luar negeri mengisi kekosongan itu dengan harga valas dan pengadaan terikat.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POSISI TPB DALAM ARSITEKTUR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 menghimpun dana dari kekayaan alam; TPB menyalurkannya ke proyek dan pemasok berbasis bukti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10.1 dan 10.5; Bab 6.6 (TEPSDA)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896466" cy="118872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17135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Penerimaan SDA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Royalti, PNBP, dividen; dikelola NRF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518258" y="20848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47442" y="1600200"/>
            <a:ext cx="1896466" cy="118872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938882" y="1655064"/>
            <a:ext cx="17135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TEPSDA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 Rupiah; investor domestik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17059" y="20848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46243" y="1600200"/>
            <a:ext cx="1896466" cy="118872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237683" y="1655064"/>
            <a:ext cx="17135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dan institusi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Jangkar ≤ 30% per seri; bank, asuransi, dana pensiun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115861" y="20848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45045" y="1600200"/>
            <a:ext cx="1896466" cy="118872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36485" y="1655064"/>
            <a:ext cx="17135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TPB per proyek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Beragun kontrak negara atau arus kas proyek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414662" y="208483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743846" y="1600200"/>
            <a:ext cx="1896466" cy="11887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9835286" y="1655064"/>
            <a:ext cx="171358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Pemasok dalam negeri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Dilepas per milestone; gerbang S1–S4</a:t>
            </a:r>
            <a:endParaRPr lang="en-US" sz="13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91672" cy="914400"/>
        </p:xfrm>
        <a:graphic>
          <a:graphicData uri="http://schemas.openxmlformats.org/drawingml/2006/table">
            <a:tbl>
              <a:tblPr/>
              <a:tblGrid>
                <a:gridCol w="2067939"/>
                <a:gridCol w="4511867"/>
                <a:gridCol w="4511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TEPSDA (Bagian 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TPB (Bagian 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Fungsi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Menghimpun dana dari kekayaan alam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Menyalurkan dana ke proyek industri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dasar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Arus kas penerimaan negara dari cadangan terverifikasi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Tagihan kontrak pemerintah yang mengikat atau arus kas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Penerbit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Pemerintah atau SPV NRF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SPV proyek, BUMN, atau SBSN berbasis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0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Pelepasan dana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 pengelola bermandat sesuai aturan alokasi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milestone fisik, langsung ke pemasok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instrumen, satu disiplin: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aset satu klaim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denominasi Rupiah, dan dana hanya mengalir ke proyek yang lolos gerbang P0–P6.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STUDI KASUS D6: PALCAPITAL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PAL memegang kontrak negara bernilai miliaran dolar, tetapi kekurangan modal kerja untuk membangunnya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D6 PALCapital: Sovereign Maritime Tokenization Engine Rev B (PT PAL Indonesia); seluruh angka D6 kelas 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USD3,36 M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5000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2 kapal selam dan 2 fregat yang dijamin Kemhan (miliar)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90138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390138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USD150–300 jt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3390138" y="235000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Kesenjangan modal kerja per program sebelum termin dibayar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31636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31636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 75%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6231636" y="235000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Porsi material yang diimpor (baja HY-80, baterai, propulsi, sistem tempur)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073134" y="1600200"/>
            <a:ext cx="2567178" cy="0"/>
          </a:xfrm>
          <a:prstGeom prst="line">
            <a:avLst/>
          </a:prstGeom>
          <a:noFill/>
          <a:ln w="38100">
            <a:solidFill>
              <a:srgbClr val="00338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073134" y="1691640"/>
            <a:ext cx="2567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180–270 hari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9073134" y="2350008"/>
            <a:ext cx="25671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proses sindikasi bank, dengan biaya all-in 9–11%</a:t>
            </a:r>
            <a:endParaRPr lang="en-US" sz="12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48640" y="3154680"/>
          <a:ext cx="56692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Shape 18"/>
          <p:cNvSpPr/>
          <p:nvPr/>
        </p:nvSpPr>
        <p:spPr>
          <a:xfrm>
            <a:off x="6492240" y="3200400"/>
            <a:ext cx="5148072" cy="2057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620256" y="33101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747" y="3394619"/>
            <a:ext cx="215067" cy="21506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620256" y="3803904"/>
            <a:ext cx="4892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celah muncul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Bahan baku dan sistem harus dibayar 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sebelum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termin Kemhan cair, sementara siklus pembangunan 60–96 bulan. Celah ini biasanya ditutup dengan sindikasi atau kredit ekspor valas.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 titik tempat PLN biasanya masuk: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kesenjangan modal kerja dan impor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Bila celah ini diisi tabungan domestik, ketergantungan pada kreditur asing berkurang sejak awal program.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STUDI KASUS D6: INSTRUMEN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PALCapital menawarkan tagihan kontrak Kemhan yang ditokenisasi sebagai alternatif sindikasi bank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D6 PALCapital: Sovereign Maritime Tokenization Engine Rev B (PT PAL Indonesia); seluruh angka D6 kelas C. Perbandingan adalah klaim D6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 sheet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PAL-SUB-1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Instrumen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Surat utang berimbal hasil, token ERC-3643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dasar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Purchase order Kemhan, diverifikasi ZK proof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fase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USD150 juta (Scorpène unit 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hasil, tenor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 bps; 720 hari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Danantara jangkar; Mandiri, BRI; 100 dompet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5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Pelunasan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 Kemhan; token dimusnahkan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605272" cy="914400"/>
        </p:xfrm>
        <a:graphic>
          <a:graphicData uri="http://schemas.openxmlformats.org/drawingml/2006/table">
            <a:tbl>
              <a:tblPr/>
              <a:tblGrid>
                <a:gridCol w="1681582"/>
                <a:gridCol w="1961845"/>
                <a:gridCol w="196184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Sindikasi bank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PALCapital (klaim)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Waktu pendanaan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180–270 hari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7–14 hari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9–11% + biaya 2–3%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6–7% tetap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Jaminan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Kovenan, agunan, gadai saham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Purchase order Kemhan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Transparansi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manual kuartalan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Jejak audit on-chain real-time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Kendali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 dilusi negara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kepemilikan tetap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Lebih cepat belum tentu lebih murah bagi negara: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 dalam USD untuk risiko akhir Kemhan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perlu dibandingkan dengan kurva SBN, bukan dengan sindikasi bank.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STUDI KASUS D6: SIKLUS HIDUP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langkah: dari unggah kontrak sampai pelunasan dan pemusnahan token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D6 PALCapital: Sovereign Maritime Tokenization Engine Rev B (PT PAL Indonesia); seluruh angka D6 kelas C. Pemetaan ke gerbang P dan S adalah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513332" cy="1828800"/>
          </a:xfrm>
          <a:prstGeom prst="rect">
            <a:avLst/>
          </a:prstGeom>
          <a:solidFill>
            <a:srgbClr val="C9D3E3"/>
          </a:solidFill>
          <a:ln w="12700">
            <a:solidFill>
              <a:srgbClr val="C9D3E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1655064"/>
            <a:ext cx="13304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Pemicu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Kemhan dan termin di-hash ke rantai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2135124" y="24048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64308" y="1600200"/>
            <a:ext cx="1513332" cy="1828800"/>
          </a:xfrm>
          <a:prstGeom prst="rect">
            <a:avLst/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555748" y="1655064"/>
            <a:ext cx="13304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Perisai ZK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 nilai dan tanda tangan tanpa spesifikasi rahasia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050792" y="24048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79976" y="1600200"/>
            <a:ext cx="1513332" cy="1828800"/>
          </a:xfrm>
          <a:prstGeom prst="rect">
            <a:avLst/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471416" y="1655064"/>
            <a:ext cx="13304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Onboarding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KYB/AML, identitas on-chain, whitelist ERC-3643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66460" y="24048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95644" y="1600200"/>
            <a:ext cx="1513332" cy="18288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387084" y="1655064"/>
            <a:ext cx="13304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Escrow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kontrak pintar + escrow fiat Mandiri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882128" y="24048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11312" y="1600200"/>
            <a:ext cx="1513332" cy="1828800"/>
          </a:xfrm>
          <a:prstGeom prst="rect">
            <a:avLst/>
          </a:prstGeom>
          <a:solidFill>
            <a:srgbClr val="1A4A9E"/>
          </a:solidFill>
          <a:ln w="12700">
            <a:solidFill>
              <a:srgbClr val="1A4A9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302752" y="1655064"/>
            <a:ext cx="13304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Bangun dan lepas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BKI + perwira TNI AL 2-dari-2; dana ke pemasok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9797796" y="2404872"/>
            <a:ext cx="256032" cy="219456"/>
          </a:xfrm>
          <a:prstGeom prst="rightArrow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126980" y="1600200"/>
            <a:ext cx="1513332" cy="1828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218420" y="1655064"/>
            <a:ext cx="133045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Pelunasan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 ke rekening penampungan; pokok + burn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3639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Padanan dalam sistem gerbang Danantara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3977640"/>
            <a:ext cx="2635758" cy="1280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76656" y="4069080"/>
            <a:ext cx="23797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1–2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P3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investasi atas kontrak yang mengikat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367278" y="3977640"/>
            <a:ext cx="2635758" cy="1280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495294" y="4069080"/>
            <a:ext cx="23797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3–4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Penerbitan bergerbang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dan pengawasan OJK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185916" y="3977640"/>
            <a:ext cx="2635758" cy="1280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13932" y="4069080"/>
            <a:ext cx="23797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P4–P5 dan S1–S4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Pelaksanaan dan pembayaran pemasok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9004554" y="3977640"/>
            <a:ext cx="2635758" cy="128016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132570" y="4069080"/>
            <a:ext cx="237972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P6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Serah terima dan penutupan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Kekuatan utama desain ini: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uang mengikuti bukti fisik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bukan rencana. Logikanya sama dengan gerbang P0–P6 dan S1–S4, sehingga dapat diadopsi sebagai standar Danantara.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STUDI KASUS D6: ESCROW PER MILESTONE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 dilepas per milestone setelah verifikasi independen, langsung ke pemasok, tidak melalui rekening PAL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D6 PALCapital: Sovereign Maritime Tokenization Engine Rev B (PT PAL Indonesia); seluruh angka D6 kelas C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57607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6"/>
          <p:cNvSpPr/>
          <p:nvPr/>
        </p:nvSpPr>
        <p:spPr>
          <a:xfrm>
            <a:off x="6583680" y="1600200"/>
            <a:ext cx="5056632" cy="1133856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711696" y="1691640"/>
            <a:ext cx="4800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 1 · KODE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ada fungsi tarik ke PAL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 pintar hanya mengirim ke rekening pemasok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583680" y="2843784"/>
            <a:ext cx="5056632" cy="1133856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711696" y="2935224"/>
            <a:ext cx="4800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 2 · VALIDATOR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dari 4 validator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 ×2, Danantara, BKI; PAL tidak dapat bertindak sendiri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583680" y="4087368"/>
            <a:ext cx="5056632" cy="1133856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711696" y="4178808"/>
            <a:ext cx="4800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KUNCI 3 · UPGRADE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Timelock 3 hari + multisig 3-dari-5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PAL, Danantara, BSSN; terlihat oleh OJK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Pelepasan langsung ke pemasok membuka peluang kebijakan: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dapat memprioritaskan pemasok dalam negeri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yang lolos S1–S4, sehingga setiap tranche sekaligus menjadi alat lokalisasi.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STUDI KASUS D6: PELUNASAN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Rekening penampungan dan air terjun pembayaran memisahkan pelunasan investor dari kas operasional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D6 PALCapital: Sovereign Maritime Tokenization Engine Rev B (PT PAL Indonesia); seluruh angka D6 kelas C. Perhitungan ulang oleh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548640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1600200"/>
            <a:ext cx="54864" cy="5486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1600200"/>
            <a:ext cx="10771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 hasil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pokok × 700 bps × 720/365 → USD150 juta × 7% × 1,97 ≈ 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USD20,7 juta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(D6 membulatkan menjadi USD21 juta)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251960"/>
            <a:ext cx="2130552" cy="1005840"/>
          </a:xfrm>
          <a:prstGeom prst="rect">
            <a:avLst/>
          </a:prstGeom>
          <a:solidFill>
            <a:srgbClr val="C9D3E3"/>
          </a:solidFill>
          <a:ln w="6350">
            <a:solidFill>
              <a:srgbClr val="C9D3E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0080" y="4325112"/>
            <a:ext cx="1947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Termin Kemhan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Uang muka 15% dan T1–T5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88920" y="3783330"/>
            <a:ext cx="2130552" cy="1474470"/>
          </a:xfrm>
          <a:prstGeom prst="rect">
            <a:avLst/>
          </a:prstGeom>
          <a:solidFill>
            <a:srgbClr val="7FB2E5"/>
          </a:solidFill>
          <a:ln w="6350">
            <a:solidFill>
              <a:srgbClr val="7FB2E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880360" y="3856482"/>
            <a:ext cx="1947672" cy="13281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Rekening penampungan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Mandiri, bukan rekening PAL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0" y="3314700"/>
            <a:ext cx="2130552" cy="1943100"/>
          </a:xfrm>
          <a:prstGeom prst="rect">
            <a:avLst/>
          </a:prstGeom>
          <a:solidFill>
            <a:srgbClr val="0091DA"/>
          </a:solidFill>
          <a:ln w="6350">
            <a:solidFill>
              <a:srgbClr val="0091D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20640" y="3387852"/>
            <a:ext cx="1947672" cy="1796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Imbal hasil investor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Dibayar lebih dahulu, pro rata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269480" y="2846070"/>
            <a:ext cx="2130552" cy="241173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60920" y="2919222"/>
            <a:ext cx="1947672" cy="226542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Sisa ke kas PAL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operasi galangan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509760" y="2377440"/>
            <a:ext cx="2130552" cy="288036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601200" y="2450592"/>
            <a:ext cx="1947672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Serah terima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Pokok + imbal hasil akhir; token dimusnahkan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kuat posisinya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hanya bila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pengalihan hak tagih atas pembayaran APBN sah secara hukum. Tanpa opini hukum serta persetujuan Kemhan dan Kemenkeu, status “kreditur terjamin” masih klaim.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STUDI KASUS D6: TEKNOLOGI DAN KEPATUHAN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Jaringan berizin dengan privasi untuk data rahasia pertahanan dan node regulator sejak hari pertama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D6 PALCapital: Sovereign Maritime Tokenization Engine Rev B (PT PAL Indonesia); seluruh angka D6 kelas C. Klaim keamanan belum diaudit independen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11091672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3677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636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Luar rantai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246120" y="1636776"/>
            <a:ext cx="8394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SAP S/4HANA dan BOM; oracle RTGS ISO 20022; IoT galangan (las, crane); aplikasi BKI bergeotag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313432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3500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35000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3246120" y="2350008"/>
            <a:ext cx="8394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Mesin ZK-SNARK, KYB/KYC dan identitas on-chain, portal investor; di cloud berdaulat sesuai BSSN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3026664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30632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30632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246120" y="3063240"/>
            <a:ext cx="8394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Hyperledger Besu IBFT 2.0; 4 validator, 3 untuk finalisasi; token ERC-3643; escrow dan settlement otomatis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3739896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7764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37764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246120" y="3776472"/>
            <a:ext cx="8394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AES-256-GCM, TLS 1.3, HSM FIPS 140-2 L3, audit Slither/Mythril, ISO 27001, kunci Shamir 3-dari-5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48640" y="4453128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48970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448970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Pengawasan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246120" y="4489704"/>
            <a:ext cx="8394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auditor baca-saja untuk Kemhan dan OJK; sandbox IKD OJK; tanpa investor ritel sampai fase 3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548640" y="516636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sudah sejalan dengan arsitektur Bab 8. Catatan kajian: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 memegang 2 dari 4 validator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sehingga dapat memblokir finalisasi; tambahkan validator independen agar penerbit tidak mendominasi jaringan.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PENILAIAN D6 (BAB 10.3)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Mekanisme D6 layak menjadi standar; struktur keuangannya perlu dikoreksi agar benar-benar mengurangi PLN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874520"/>
            <a:ext cx="3383280" cy="804672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76656" y="1965960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Pelepasan berbasis bukti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BKI, langsung ke pemasok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752344"/>
            <a:ext cx="3383280" cy="804672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" y="2843784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Rekening penampungan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Pelunasan terpisah dari kas operasi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630168"/>
            <a:ext cx="3383280" cy="804672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76656" y="3721608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Jaringan berizin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Kepatuhan di token; node regulator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507992"/>
            <a:ext cx="3383280" cy="804672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76656" y="4599432"/>
            <a:ext cx="3127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Bertahap, digerbangi OJK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ritel sebelum pilot berhasil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1600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KEKUATAN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160520" y="1600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KOREKSI YANG DIPERLUKAN</a:t>
            </a:r>
            <a:endParaRPr lang="en-US" sz="10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874520"/>
          <a:ext cx="7479792" cy="914400"/>
        </p:xfrm>
        <a:graphic>
          <a:graphicData uri="http://schemas.openxmlformats.org/drawingml/2006/table">
            <a:tbl>
              <a:tblPr/>
              <a:tblGrid>
                <a:gridCol w="3601381"/>
                <a:gridCol w="3878411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Isu dalam D6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Koreksi yang diusulkan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Dibingkai “bukan utang”, padahal debt note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Catat sebagai kewajiban; dukungan negara = kontinjensi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Denominasi USD, settlement stablecoin USD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Rupiah; RTGS lalu Rupiah digital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Agunan purchase order Kemhan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Opini hukum pengalihan; persetujuan Kemhan dan Kemenkeu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Kreditur terjamin sekaligus tanpa agunan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SPV/EBA dengan fidusia atas hak tagih; diperingkat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7% USD untuk risiko negara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Patok ke kurva SBN/SBSN Rupiah + premi terungkap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Danantara: jangkar, validator, penentu escrow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Pisahkan peran investor, validator dan pengawas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9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3: ritel dan bursa 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Ritel hanya melalui jalur SBN ritel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6"/>
          <p:cNvSpPr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731520" y="5532120"/>
            <a:ext cx="10725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mesinnya, ubah instrumennya.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Pinjaman USD yang ditokenisasi hanya memindahkan utang valas dari bank ke pemegang token; efek Rupiah terpatok kurva SBN yang benar-benar mengurangi PLN.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TIGA TUAS (BAB 10.4)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TPB mengurangi pinjaman luar negeri melalui tiga tuas yang harus berjalan bersama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10.4. Ketentuan DHE SDA dan koordinasi BI perlu diverifikasi dengan naskah resmi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3575304" cy="347472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33192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TUAS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Substitusi pendanaan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Porsi Rupiah proyek (upah, konten lokal, modal kerja) dibiayai investor domestik melalui TPB, bukan kredit ekspor atau sindikasi asing
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Prasyarat: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harga terpatok SBN; basis investor institusi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06824" y="1600200"/>
            <a:ext cx="3575304" cy="3474720"/>
          </a:xfrm>
          <a:prstGeom prst="rect">
            <a:avLst/>
          </a:prstGeom>
          <a:solidFill>
            <a:srgbClr val="005EB8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434840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331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434840" y="2203704"/>
            <a:ext cx="33192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TUAS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Lokalisasi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memprioritaskan pemasok dalam negeri yang lolos S1–S4, sehingga porsi impor dan kebutuhan valas turun dari program ke program
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Prasyarat: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peta komponen; target TKDN per milestone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065008" y="1600200"/>
            <a:ext cx="3575304" cy="3474720"/>
          </a:xfrm>
          <a:prstGeom prst="rect">
            <a:avLst/>
          </a:prstGeom>
          <a:solidFill>
            <a:srgbClr val="1A4A9E"/>
          </a:solidFill>
          <a:ln w="6350">
            <a:solidFill>
              <a:srgbClr val="1A4A9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193024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515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93024" y="2203704"/>
            <a:ext cx="331927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TUAS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Valas domestik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 yang belum dapat dilokalkan dibiayai valas yang sudah ada di sistem keuangan domestik: DHE SDA, NRF, bank BUMN
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Prasyarat: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koordinasi BI; lindung nilai; batas per seri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Tokenisasi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tidak menciptakan tabungan baru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ia menghubungkan tabungan domestik yang ada dengan proyek. Tanpa lokalisasi dan valas domestik, substitusi hanya mencakup porsi Rupiah proyek.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ILUSTRASI DAMPAK (BAB 10.4)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Ilustrasi: kombinasi tiga tuas menurunkan kebutuhan PLN satu program dari 100% ke sekitar 30%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10.4. Kelas D: nilai kontrak dan porsi impor dari D6 (kelas C) dipakai hanya untuk menunjukkan metode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10" name="Chart 0" descr=""/>
          <p:cNvGraphicFramePr/>
          <p:nvPr/>
        </p:nvGraphicFramePr>
        <p:xfrm>
          <a:off x="548640" y="160020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600200"/>
          <a:ext cx="4828032" cy="914400"/>
        </p:xfrm>
        <a:graphic>
          <a:graphicData uri="http://schemas.openxmlformats.org/drawingml/2006/table">
            <a:tbl>
              <a:tblPr/>
              <a:tblGrid>
                <a:gridCol w="1439939"/>
                <a:gridCol w="2710474"/>
                <a:gridCol w="67761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Skenario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Asumsi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 Pola lama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USD2,16 miliar dibiayai PLN penuh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Substitusi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Rupiah (25%) dan modal kerja via TPB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+ Lokalisasi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Konten lokal naik ke 40% melalui DOCK-UP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+ Valas domestik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Separuh impor dari DHE SDA, NRF, bank BUMN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 adalah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ilustrasi kelas 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bukan rencana pembiayaan program. Skenario 3 masih mengandung risiko valas, tetapi kewajibannya kepada kreditur domestik dan tidak menambah PLN.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DESAIN TPB (BAB 10.5)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TPB: efek Rupiah beragun kontrak negara, dipatok kurva SBN, dilepas per milestone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067939"/>
                <a:gridCol w="9023733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Rancangan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Bentuk hukum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EBA atau surat utang SPV proyek yang ditokenisasi; untuk proyek APBN: SBSN berbasis proyek yang ditokenisasi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Aset dasar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Tagihan kontrak pemerintah dalam pagu tahun jamak, atau arus kas proyek yang beroperasi (tarif, PPA, sewa)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Rupiah melalui RTGS, kemudian Rupiah digital BI; tanpa stablecoin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Harga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Kurva SBN/SBSN tenor setara + premi pelaksanaan yang diungkapkan; diperingkat pemeringkat domestik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Pelepasan dana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milestone fisik yang diverifikasi pihak independen, langsung ke rekening pemasok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Pelunasan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Rekening penampungan di bank kustodian; air terjun pembayaran dalam kontrak dan kode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Institusi domestik; DIM jangkar ≤ 30% per seri; ritel hanya melalui SBN ritel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Kerahasiaan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nilai tanpa membuka spesifikasi; klasifikasi data oleh Kemhan dan BSSN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37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Kaitan gerbang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Terbit hanya untuk proyek lolos P3; pelepasan ≈ P4–P5; porsi pemasok per S1–S4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Pembeda TPB dari D6: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Rupiah, harga terpatok SBN, peran terpisah, satu aset satu klaim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Untuk proyek APBN, varian paling sederhana adalah SBSN berbasis proyek yang ditokenisasi.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SEKTOR SASARAN DAN UJI SUBSTITUSI (BAB 10.6–10.7)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luar perkapalan, TPB diterapkan di lima sektor; setiap PLN baru harus lolos uji substitusi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10.6–10.7. Blue Book = Daftar Rencana PLN Jangka Menengah (Bappenas)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2074699"/>
                <a:gridCol w="2435517"/>
                <a:gridCol w="216490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Sektor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Contoh aset dasar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PLN yang digantikan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Pertahanan, perkapalan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Kemhan tahun jamak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 ekspor terikat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Perkeretaapian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sarana dan prasarana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bilateral proyek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PPA dengan PLN Persero; transmisi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Sindikasi valas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Hilirisasi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offtake dalam Rupiah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Pinjaman pemegang saham asing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54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Infrastruktur maritim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Konsesi pelabuhan; Giant Sea Wall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Rupiah pinjaman multilateral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7452360" y="1600200"/>
            <a:ext cx="4187952" cy="3657600"/>
          </a:xfrm>
          <a:prstGeom prst="rect">
            <a:avLst/>
          </a:prstGeom>
          <a:solidFill>
            <a:srgbClr val="00338D"/>
          </a:solidFill>
          <a:ln w="6350">
            <a:solidFill>
              <a:srgbClr val="00338D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580376" y="17099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867" y="1794419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580376" y="2203704"/>
            <a:ext cx="393192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ATURAN UJI SUBSTITUSI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TPB bila: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biaya all-in TPB (Rupiah) ≤ biaya PLN + lindung nilai valas + premi pengadaan terikat
</a:t>
            </a:r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atau</a:t>
            </a:r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selisih biayanya &lt; nilai tambah domestik tambahan (D02)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Kandidat: setiap proyek dalam Blue Book diperiksa satu per satu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TPB tidak otomatis lebih murah.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substitusi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membuat pilihan antara utang domestik dan luar negeri menjadi transparan, dapat diaudit, dan memperhitungkan nilai kapabilitas industri.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· RISIKO DAN PENGAMAN TPB (BAB 10.8, 12.1)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risiko khusus TPB dikendalikan dengan pencatatan utang, batas grup dan pemisahan peran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Danantara, NRF dan Tokenisasi (Okt 2026), Bab 10.8; Bab 12.1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55933"/>
                <a:gridCol w="4323872"/>
                <a:gridCol w="4511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Risiko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Mekanisme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Pengaman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Kontrak pemerintah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Pagu tahun jamak tidak tersedia; kontrak diubah atau diputus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Hanya kontrak teralokasi; klausul rekening penampungan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Desak-mendesak pasar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TPB menyerap dana pembeli SBN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Batas penerbitan; harga terpatok kurva SBN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Pergeseran risiko valas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impor tetap memerlukan valas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Lokalisasi; valas domestik; lindung nilai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Kerahasiaan pertahanan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Kebocoran spesifikasi lewat data milestone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Bukti tanpa pengungkapan; cloud BSSN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443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Konflik peran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Penerbit atau jangkar mengendalikan validasi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Pemisahan peran; validator independen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370832"/>
            <a:ext cx="2635758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76656" y="4462272"/>
            <a:ext cx="2379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PENGAMAN 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Pencatatan utang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Dukungan negara = kontinjensi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367278" y="4370832"/>
            <a:ext cx="2635758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3495294" y="4462272"/>
            <a:ext cx="2379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PENGAMAN 2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Batas grup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BUMN dan per program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85916" y="4370832"/>
            <a:ext cx="2635758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313932" y="4462272"/>
            <a:ext cx="2379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PENGAMAN 3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tunggal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kontrak, milestone, seri, pemasok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004554" y="4370832"/>
            <a:ext cx="2635758" cy="9144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132570" y="4462272"/>
            <a:ext cx="23797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PENGAMAN 4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Pengungkapan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 dan porsi domestik, kuartalan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1091672" cy="73152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544068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 PENJELASAN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Ukuran keberhasilan bukan jumlah token yang terbit, tetapi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PLN yang tergantikan dan porsi pemasok dalam negeri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keduanya dilaporkan terhadap Blue Book setiap tahun.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PETA JALAN TERPADU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Delapan alur kerja, termasuk NRF dan TPB, berjalan paralel dalam empat tahap hingga 24 bulan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13 (menyatukan jadwal D1, D2, D3, D4). Belah ketupat = titik keputusan. Alur NRF dan TPB dari Kajian NRF, Bab 15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23160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423160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0–30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27448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27448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31–90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31736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031736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4–12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36024" y="1600200"/>
            <a:ext cx="2249424" cy="384048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336024" y="160020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12–24+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20574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40080" y="20574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Tata kelola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459736" y="2112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2551176" y="2112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Register; piagam unit; proyek uji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64024" y="2112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55464" y="2112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keputusan; evaluasi uji coba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068312" y="2112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159752" y="2112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ke portofolio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9372600" y="2112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464040" y="2112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permanen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548640" y="25146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40080" y="25146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Kinerja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2459736" y="2569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2551176" y="2569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Jembatan perimeter; kamus data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64024" y="2569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4855464" y="2569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pertama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068312" y="2569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159752" y="2569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portofolio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9372600" y="2569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464040" y="2569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teraudit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48640" y="29718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640080" y="29718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2459736" y="3026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2551176" y="3026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anchor di register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4764024" y="3026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855464" y="3026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komponen</a:t>
            </a:r>
            <a:endParaRPr lang="en-US" sz="1050" dirty="0"/>
          </a:p>
        </p:txBody>
      </p:sp>
      <p:sp>
        <p:nvSpPr>
          <p:cNvPr id="44" name="Shape 40"/>
          <p:cNvSpPr/>
          <p:nvPr/>
        </p:nvSpPr>
        <p:spPr>
          <a:xfrm>
            <a:off x="7068312" y="3026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7159752" y="3026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Agregasi; kontrak payung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9372600" y="3026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9464040" y="3026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tambahan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548640" y="34290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640080" y="34290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2459736" y="34838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2551176" y="34838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rintisan; asesor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4764024" y="34838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4855464" y="34838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20–30 UKM</a:t>
            </a:r>
            <a:endParaRPr lang="en-US" sz="1050" dirty="0"/>
          </a:p>
        </p:txBody>
      </p:sp>
      <p:sp>
        <p:nvSpPr>
          <p:cNvPr id="54" name="Shape 50"/>
          <p:cNvSpPr/>
          <p:nvPr/>
        </p:nvSpPr>
        <p:spPr>
          <a:xfrm>
            <a:off x="7068312" y="34838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7159752" y="34838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S1, S2; sertifikasi C1</a:t>
            </a:r>
            <a:endParaRPr lang="en-US" sz="1050" dirty="0"/>
          </a:p>
        </p:txBody>
      </p:sp>
      <p:sp>
        <p:nvSpPr>
          <p:cNvPr id="56" name="Shape 52"/>
          <p:cNvSpPr/>
          <p:nvPr/>
        </p:nvSpPr>
        <p:spPr>
          <a:xfrm>
            <a:off x="9372600" y="34838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9464040" y="34838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S3; seluruh DEFEND ID</a:t>
            </a:r>
            <a:endParaRPr lang="en-US" sz="1050" dirty="0"/>
          </a:p>
        </p:txBody>
      </p:sp>
      <p:sp>
        <p:nvSpPr>
          <p:cNvPr id="58" name="Shape 54"/>
          <p:cNvSpPr/>
          <p:nvPr/>
        </p:nvSpPr>
        <p:spPr>
          <a:xfrm>
            <a:off x="548640" y="38862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40080" y="38862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BUMN Konstruksi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2459736" y="39410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2551176" y="39410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request teraudit</a:t>
            </a:r>
            <a:endParaRPr lang="en-US" sz="1050" dirty="0"/>
          </a:p>
        </p:txBody>
      </p:sp>
      <p:sp>
        <p:nvSpPr>
          <p:cNvPr id="62" name="Shape 58"/>
          <p:cNvSpPr/>
          <p:nvPr/>
        </p:nvSpPr>
        <p:spPr>
          <a:xfrm>
            <a:off x="4764024" y="39410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4855464" y="39410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per aset</a:t>
            </a:r>
            <a:endParaRPr lang="en-US" sz="1050" dirty="0"/>
          </a:p>
        </p:txBody>
      </p:sp>
      <p:sp>
        <p:nvSpPr>
          <p:cNvPr id="64" name="Shape 60"/>
          <p:cNvSpPr/>
          <p:nvPr/>
        </p:nvSpPr>
        <p:spPr>
          <a:xfrm>
            <a:off x="7068312" y="39410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65" name="Text 61"/>
          <p:cNvSpPr txBox="1"/>
          <p:nvPr/>
        </p:nvSpPr>
        <p:spPr>
          <a:xfrm>
            <a:off x="7159752" y="39410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Selektivitas; penagihan</a:t>
            </a:r>
            <a:endParaRPr lang="en-US" sz="1050" dirty="0"/>
          </a:p>
        </p:txBody>
      </p:sp>
      <p:sp>
        <p:nvSpPr>
          <p:cNvPr id="66" name="Shape 62"/>
          <p:cNvSpPr/>
          <p:nvPr/>
        </p:nvSpPr>
        <p:spPr>
          <a:xfrm>
            <a:off x="9372600" y="39410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9464040" y="39410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Kontraktor disiplin</a:t>
            </a:r>
            <a:endParaRPr lang="en-US" sz="1050" dirty="0"/>
          </a:p>
        </p:txBody>
      </p:sp>
      <p:sp>
        <p:nvSpPr>
          <p:cNvPr id="68" name="Shape 64"/>
          <p:cNvSpPr/>
          <p:nvPr/>
        </p:nvSpPr>
        <p:spPr>
          <a:xfrm>
            <a:off x="548640" y="43434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9" name="Text 65"/>
          <p:cNvSpPr txBox="1"/>
          <p:nvPr/>
        </p:nvSpPr>
        <p:spPr>
          <a:xfrm>
            <a:off x="640080" y="43434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dan AI</a:t>
            </a:r>
            <a:endParaRPr lang="en-US" sz="1200" dirty="0"/>
          </a:p>
        </p:txBody>
      </p:sp>
      <p:sp>
        <p:nvSpPr>
          <p:cNvPr id="70" name="Shape 66"/>
          <p:cNvSpPr/>
          <p:nvPr/>
        </p:nvSpPr>
        <p:spPr>
          <a:xfrm>
            <a:off x="2459736" y="4398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2551176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Fondasi data, ERP read-only</a:t>
            </a:r>
            <a:endParaRPr lang="en-US" sz="1050" dirty="0"/>
          </a:p>
        </p:txBody>
      </p:sp>
      <p:sp>
        <p:nvSpPr>
          <p:cNvPr id="72" name="Shape 68"/>
          <p:cNvSpPr/>
          <p:nvPr/>
        </p:nvSpPr>
        <p:spPr>
          <a:xfrm>
            <a:off x="4764024" y="4398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4855464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agen; pilot 2–3 proyek</a:t>
            </a:r>
            <a:endParaRPr lang="en-US" sz="1050" dirty="0"/>
          </a:p>
        </p:txBody>
      </p:sp>
      <p:sp>
        <p:nvSpPr>
          <p:cNvPr id="74" name="Shape 70"/>
          <p:cNvSpPr/>
          <p:nvPr/>
        </p:nvSpPr>
        <p:spPr>
          <a:xfrm>
            <a:off x="7068312" y="4398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75" name="Text 71"/>
          <p:cNvSpPr txBox="1"/>
          <p:nvPr/>
        </p:nvSpPr>
        <p:spPr>
          <a:xfrm>
            <a:off x="7159752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2–3 BUMN</a:t>
            </a:r>
            <a:endParaRPr lang="en-US" sz="1050" dirty="0"/>
          </a:p>
        </p:txBody>
      </p:sp>
      <p:sp>
        <p:nvSpPr>
          <p:cNvPr id="76" name="Shape 72"/>
          <p:cNvSpPr/>
          <p:nvPr/>
        </p:nvSpPr>
        <p:spPr>
          <a:xfrm>
            <a:off x="9372600" y="43982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9464040" y="43982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3–4: nasional</a:t>
            </a:r>
            <a:endParaRPr lang="en-US" sz="1050" dirty="0"/>
          </a:p>
        </p:txBody>
      </p:sp>
      <p:sp>
        <p:nvSpPr>
          <p:cNvPr id="78" name="Shape 74"/>
          <p:cNvSpPr/>
          <p:nvPr/>
        </p:nvSpPr>
        <p:spPr>
          <a:xfrm>
            <a:off x="548640" y="48006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79" name="Text 75"/>
          <p:cNvSpPr txBox="1"/>
          <p:nvPr/>
        </p:nvSpPr>
        <p:spPr>
          <a:xfrm>
            <a:off x="640080" y="48006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NRF dan TEPSDA</a:t>
            </a:r>
            <a:endParaRPr lang="en-US" sz="1200" dirty="0"/>
          </a:p>
        </p:txBody>
      </p:sp>
      <p:sp>
        <p:nvSpPr>
          <p:cNvPr id="80" name="Shape 76"/>
          <p:cNvSpPr/>
          <p:nvPr/>
        </p:nvSpPr>
        <p:spPr>
          <a:xfrm>
            <a:off x="2459736" y="4855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81" name="Text 77"/>
          <p:cNvSpPr txBox="1"/>
          <p:nvPr/>
        </p:nvSpPr>
        <p:spPr>
          <a:xfrm>
            <a:off x="2551176" y="4855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Kajian hukum dan valuasi</a:t>
            </a:r>
            <a:endParaRPr lang="en-US" sz="1050" dirty="0"/>
          </a:p>
        </p:txBody>
      </p:sp>
      <p:sp>
        <p:nvSpPr>
          <p:cNvPr id="82" name="Shape 78"/>
          <p:cNvSpPr/>
          <p:nvPr/>
        </p:nvSpPr>
        <p:spPr>
          <a:xfrm>
            <a:off x="4764024" y="4855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83" name="Text 79"/>
          <p:cNvSpPr txBox="1"/>
          <p:nvPr/>
        </p:nvSpPr>
        <p:spPr>
          <a:xfrm>
            <a:off x="4855464" y="4855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wilayah percontohan</a:t>
            </a:r>
            <a:endParaRPr lang="en-US" sz="1050" dirty="0"/>
          </a:p>
        </p:txBody>
      </p:sp>
      <p:sp>
        <p:nvSpPr>
          <p:cNvPr id="84" name="Shape 80"/>
          <p:cNvSpPr/>
          <p:nvPr/>
        </p:nvSpPr>
        <p:spPr>
          <a:xfrm>
            <a:off x="7068312" y="4855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7159752" y="4855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CP; sandbox OJK/BI</a:t>
            </a:r>
            <a:endParaRPr lang="en-US" sz="1050" dirty="0"/>
          </a:p>
        </p:txBody>
      </p:sp>
      <p:sp>
        <p:nvSpPr>
          <p:cNvPr id="86" name="Shape 82"/>
          <p:cNvSpPr/>
          <p:nvPr/>
        </p:nvSpPr>
        <p:spPr>
          <a:xfrm>
            <a:off x="9372600" y="48554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87" name="Text 83"/>
          <p:cNvSpPr txBox="1"/>
          <p:nvPr/>
        </p:nvSpPr>
        <p:spPr>
          <a:xfrm>
            <a:off x="9464040" y="48554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seri kecil; perluasan</a:t>
            </a:r>
            <a:endParaRPr lang="en-US" sz="1050" dirty="0"/>
          </a:p>
        </p:txBody>
      </p:sp>
      <p:sp>
        <p:nvSpPr>
          <p:cNvPr id="88" name="Shape 84"/>
          <p:cNvSpPr/>
          <p:nvPr/>
        </p:nvSpPr>
        <p:spPr>
          <a:xfrm>
            <a:off x="548640" y="5257800"/>
            <a:ext cx="1783080" cy="420624"/>
          </a:xfrm>
          <a:prstGeom prst="rect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9" name="Text 85"/>
          <p:cNvSpPr txBox="1"/>
          <p:nvPr/>
        </p:nvSpPr>
        <p:spPr>
          <a:xfrm>
            <a:off x="640080" y="525780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berdaulat (TPB)</a:t>
            </a:r>
            <a:endParaRPr lang="en-US" sz="1200" dirty="0"/>
          </a:p>
        </p:txBody>
      </p:sp>
      <p:sp>
        <p:nvSpPr>
          <p:cNvPr id="90" name="Shape 86"/>
          <p:cNvSpPr/>
          <p:nvPr/>
        </p:nvSpPr>
        <p:spPr>
          <a:xfrm>
            <a:off x="2459736" y="5312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7FB2E5"/>
          </a:solidFill>
          <a:ln w="12700">
            <a:solidFill>
              <a:srgbClr val="7FB2E5"/>
            </a:solidFill>
            <a:prstDash val="solid"/>
          </a:ln>
        </p:spPr>
      </p:sp>
      <p:sp>
        <p:nvSpPr>
          <p:cNvPr id="91" name="Text 87"/>
          <p:cNvSpPr txBox="1"/>
          <p:nvPr/>
        </p:nvSpPr>
        <p:spPr>
          <a:xfrm>
            <a:off x="2551176" y="5312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 hukum hak tagih</a:t>
            </a:r>
            <a:endParaRPr lang="en-US" sz="1050" dirty="0"/>
          </a:p>
        </p:txBody>
      </p:sp>
      <p:sp>
        <p:nvSpPr>
          <p:cNvPr id="92" name="Shape 88"/>
          <p:cNvSpPr/>
          <p:nvPr/>
        </p:nvSpPr>
        <p:spPr>
          <a:xfrm>
            <a:off x="4764024" y="5312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91DA"/>
          </a:solidFill>
          <a:ln w="12700">
            <a:solidFill>
              <a:srgbClr val="0091DA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4855464" y="5312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PAL-SUB-1 ke Rupiah; Blue Book</a:t>
            </a:r>
            <a:endParaRPr lang="en-US" sz="1050" dirty="0"/>
          </a:p>
        </p:txBody>
      </p:sp>
      <p:sp>
        <p:nvSpPr>
          <p:cNvPr id="94" name="Shape 90"/>
          <p:cNvSpPr/>
          <p:nvPr/>
        </p:nvSpPr>
        <p:spPr>
          <a:xfrm>
            <a:off x="7068312" y="5312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7159752" y="5312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sandbox USD150 jt</a:t>
            </a:r>
            <a:endParaRPr lang="en-US" sz="1050" dirty="0"/>
          </a:p>
        </p:txBody>
      </p:sp>
      <p:sp>
        <p:nvSpPr>
          <p:cNvPr id="96" name="Shape 92"/>
          <p:cNvSpPr/>
          <p:nvPr/>
        </p:nvSpPr>
        <p:spPr>
          <a:xfrm>
            <a:off x="9372600" y="5312664"/>
            <a:ext cx="2176272" cy="310896"/>
          </a:xfrm>
          <a:prstGeom prst="roundRect">
            <a:avLst>
              <a:gd name="adj" fmla="val 23529"/>
            </a:avLst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97" name="Text 93"/>
          <p:cNvSpPr txBox="1"/>
          <p:nvPr/>
        </p:nvSpPr>
        <p:spPr>
          <a:xfrm>
            <a:off x="9464040" y="5312664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program; PLN tergantikan</a:t>
            </a:r>
            <a:endParaRPr lang="en-US" sz="1050" dirty="0"/>
          </a:p>
        </p:txBody>
      </p:sp>
      <p:sp>
        <p:nvSpPr>
          <p:cNvPr id="98" name="Shape 94"/>
          <p:cNvSpPr/>
          <p:nvPr/>
        </p:nvSpPr>
        <p:spPr>
          <a:xfrm>
            <a:off x="6858000" y="575157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99" name="Text 95"/>
          <p:cNvSpPr txBox="1"/>
          <p:nvPr/>
        </p:nvSpPr>
        <p:spPr>
          <a:xfrm>
            <a:off x="6336792" y="59984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90</a:t>
            </a:r>
            <a:endParaRPr lang="en-US" sz="1000" dirty="0"/>
          </a:p>
        </p:txBody>
      </p:sp>
      <p:sp>
        <p:nvSpPr>
          <p:cNvPr id="100" name="Shape 96"/>
          <p:cNvSpPr/>
          <p:nvPr/>
        </p:nvSpPr>
        <p:spPr>
          <a:xfrm>
            <a:off x="8010144" y="575157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1" name="Text 97"/>
          <p:cNvSpPr txBox="1"/>
          <p:nvPr/>
        </p:nvSpPr>
        <p:spPr>
          <a:xfrm>
            <a:off x="7488936" y="59984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6</a:t>
            </a:r>
            <a:endParaRPr lang="en-US" sz="1000" dirty="0"/>
          </a:p>
        </p:txBody>
      </p:sp>
      <p:sp>
        <p:nvSpPr>
          <p:cNvPr id="102" name="Shape 98"/>
          <p:cNvSpPr/>
          <p:nvPr/>
        </p:nvSpPr>
        <p:spPr>
          <a:xfrm>
            <a:off x="9162288" y="575157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3" name="Text 99"/>
          <p:cNvSpPr txBox="1"/>
          <p:nvPr/>
        </p:nvSpPr>
        <p:spPr>
          <a:xfrm>
            <a:off x="8641080" y="59984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</a:t>
            </a:r>
            <a:endParaRPr lang="en-US" sz="1000" dirty="0"/>
          </a:p>
        </p:txBody>
      </p:sp>
      <p:sp>
        <p:nvSpPr>
          <p:cNvPr id="104" name="Shape 100"/>
          <p:cNvSpPr/>
          <p:nvPr/>
        </p:nvSpPr>
        <p:spPr>
          <a:xfrm>
            <a:off x="11305276" y="5751576"/>
            <a:ext cx="237744" cy="237744"/>
          </a:xfrm>
          <a:prstGeom prst="diamond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05" name="Text 101"/>
          <p:cNvSpPr txBox="1"/>
          <p:nvPr/>
        </p:nvSpPr>
        <p:spPr>
          <a:xfrm>
            <a:off x="10360152" y="59984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24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TITIK KEPUTUSAN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 titik keputusan memastikan setiap perluasan didasarkan pada bukti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13.3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76656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7" y="1794419"/>
            <a:ext cx="215067" cy="215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76656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90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Lanjut, perbaiki atau hentikan uji coba unit; lanjut ke Fase 2 AI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waktu keputusan, hambatan selesai, manfaat bersih pilot AI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3367278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95294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785" y="1794419"/>
            <a:ext cx="215067" cy="215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495294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6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Perluasan unit; kerangka kontrak payung DOCK-UP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baseline lengkap; UKM pertama lolos S1; opini hukum TPB</a:t>
            </a:r>
            <a:endParaRPr lang="en-US" sz="1800" dirty="0"/>
          </a:p>
        </p:txBody>
      </p:sp>
      <p:sp>
        <p:nvSpPr>
          <p:cNvPr id="18" name="Shape 12"/>
          <p:cNvSpPr/>
          <p:nvPr/>
        </p:nvSpPr>
        <p:spPr>
          <a:xfrm>
            <a:off x="6185916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313932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423" y="1794419"/>
            <a:ext cx="215067" cy="215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313932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12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permanen; opsi kendaraan aset warisan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kriteria kenaikan; valuasi independen; hasil pilot PAL-SUB-1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9004554" y="1600200"/>
            <a:ext cx="2635758" cy="274320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32570" y="1709928"/>
            <a:ext cx="384048" cy="384048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61" y="1794419"/>
            <a:ext cx="215067" cy="215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32570" y="2203704"/>
            <a:ext cx="237972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BULAN 24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ke seluruh DEFEND ID; AI nasional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Bukti: hasil S2–S3; manfaat bersih; laporan portofolio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KEPUTUSAN YANG DIMINTA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Enam keputusan diambil sekarang; keputusan struktural besar ditunda sampai ada bukti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14; Kajian NRF, Bab 16.1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600200"/>
            <a:ext cx="6766560" cy="0"/>
          </a:xfrm>
          <a:prstGeom prst="line">
            <a:avLst/>
          </a:prstGeom>
          <a:noFill/>
          <a:ln w="19050">
            <a:solidFill>
              <a:srgbClr val="003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6367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16367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Industri Strategis di BPI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16367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NITO sebagai unit; uji coba 90 hari · Kepala Badan Pelaksana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33172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8640" y="236829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236829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Tiga scorecard dan kelas bukti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236829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dan jembatan perimeter · Kepala, CFO, Dewas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48640" y="306324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48640" y="309981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30998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DOCK-UP sebagai model standar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3611880" y="309981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Rintisan 1 integrator, 20–30 UKM · bersama KKIP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48640" y="379476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8640" y="383133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 txBox="1"/>
          <p:nvPr/>
        </p:nvSpPr>
        <p:spPr>
          <a:xfrm>
            <a:off x="1143000" y="3831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Pemulihan BUMN Konstruksi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3611880" y="383133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berbasis laporan teraudit · COO/DAM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52628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8640" y="45628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 txBox="1"/>
          <p:nvPr/>
        </p:nvSpPr>
        <p:spPr>
          <a:xfrm>
            <a:off x="1143000" y="45628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AI Control Tower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3611880" y="456285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proyek prioritas · CTO bersama COO/DAM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48640" y="525780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8640" y="529437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1143000" y="52943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TPB sebagai jalur utama sebelum PLN baru</a:t>
            </a:r>
            <a:endParaRPr lang="en-US" sz="1250" dirty="0"/>
          </a:p>
        </p:txBody>
      </p:sp>
      <p:sp>
        <p:nvSpPr>
          <p:cNvPr id="33" name="Text 29"/>
          <p:cNvSpPr txBox="1"/>
          <p:nvPr/>
        </p:nvSpPr>
        <p:spPr>
          <a:xfrm>
            <a:off x="3611880" y="5294376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PALCapital dalam Rupiah, terpatok SBN · DIM, Kemenkeu, Kemhan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548640" y="5989320"/>
            <a:ext cx="6766560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589520" y="1600200"/>
            <a:ext cx="4050792" cy="4389120"/>
          </a:xfrm>
          <a:prstGeom prst="rect">
            <a:avLst/>
          </a:prstGeom>
          <a:solidFill>
            <a:srgbClr val="EEF3FA"/>
          </a:solidFill>
          <a:ln w="6350">
            <a:solidFill>
              <a:srgbClr val="EEF3FA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717536" y="1691640"/>
            <a:ext cx="3794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Ditunda sampai ada bukti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Jabatan Wakil Kepala formal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Holding atau badan hukum baru, termasuk kendaraan aset warisan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Fase 3–4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DOCK-UP ke seluruh DEFEND ID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Penerbitan TEPSDA skala besar dan target Rp100 T/Rp1.000 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Fase 2–3 PALCapital (ritel, perdagangan sekunder)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Tidak dilanjutkan: mata uang khusus berbasis cadangan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KPI TERPADU TINGKAT PIMPINAN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belas KPI menghubungkan data, keputusan, investasi, BUMN, pembangunan, pemasok, NRF dan PLN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Bab 14.4; Kajian NRF, Bab 16.3; kode metrik dari D2, K01–K05 usulan kajian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8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691950"/>
                <a:gridCol w="4323872"/>
                <a:gridCol w="1221964"/>
                <a:gridCol w="385388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Sasaran awal (usulan)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Kualitas register 40 proyek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terpetakan dalam 30 hari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Keputusan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Waktu keputusan, median dan P90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−30% median dalam 6 bulan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Imbal hasil bersih vs benchmark; IRR vs hurdle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I01, I02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 atas benchmark yang disetujui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Investasi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Pencapaian milestone strategis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Terhadap baseline beku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profit inkremental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Positif vs baseline independen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BUMN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Konversi kas; utang bersih / EBITDA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O04, O08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Sesuai sektor dengan buffer stres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Nilai tambah domestik tambahan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Metode disepakati di muka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Pembangunan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 teknologi terverifikasi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Terhadap roadmap eksplisit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Pemasok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pemasok per gerbang S1–S4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20–30 UKM masuk rintisan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Pemasok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Kegagalan mutu pasca pesanan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K05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Nol kegagalan kritis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Integritas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Konflik dan pengecualian terdokumentasi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Rasio cakupan TEPSDA setelah haircut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1,5× setiap kuartal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Kewajiban TEPSDA tercatat sebagai utang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Porsi pembiayaan proyek strategis dari TPB/TEPSDA vs PLN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Naik setiap tahun dari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279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Dana TPB dibayar ke pemasok dalam negeri; nol pengalihan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Naik per program; 100% terverifikasi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5E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· ISU REKONSILIASI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Sepuluh inkonsistensi antar dokumen sumber, termasuk NRF dan PALCapital, diselesaikan sebelum keputusan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C9D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Sumber: Kajian Transformasi Danantara, Lampiran E; Kajian NRF, Bab 14.6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1672" y="64008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183112" y="91440"/>
            <a:ext cx="457200" cy="457200"/>
          </a:xfrm>
          <a:prstGeom prst="ellipse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696" y="192024"/>
            <a:ext cx="256032" cy="256032"/>
          </a:xfrm>
          <a:prstGeom prst="rect">
            <a:avLst/>
          </a:prstGeom>
        </p:spPr>
      </p:pic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69986"/>
                <a:gridCol w="5263844"/>
                <a:gridCol w="535784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Penyelesaian yang diusulkan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8D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 sistem gerbang memakai huruf G (D1 dan D3)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P0–P6 untuk proyek, S1–S4 untuk pemasok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Kepanjangan DOCK-UP berbeda antara D3 dan D4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Baku: Develop, Off-taker, Certification, Upgrading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Jadwal AI “3 bulan” vs diagram M1–M12 dan 24 bulan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bulan = MVP Fase 1; 24 bulan = perluasan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Angka ±Rp28 T dan US$14 miliar belum terverifikasi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Kelas C; konfirmasi dengan laporan teraudit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NITO dan kendaraan aset warisan vs unit di BPI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NITO = unit Pilihan B; kendaraan baru setelah bukti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 Rp18,9 T pada angka 40 proyek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Rekonsiliasi dengan pemilik data sebelum baseline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 di bawah Presiden (D5) vs batas kewenangan BPI atas SDA (D1)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NRF pemilik hak; Danantara pengelola bermandat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Monetisasi “non-utang” (D5) vs koreksi D1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Seluruh kewajiban TEPSDA dicatat sebagai utang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PALCapital “bukan utang” padahal debt note (D6)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Kewajiban penerbit; dukungan negara = kontinjensi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338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Denominasi USD dan stablecoin (D6) vs Rupiah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TPB berdenominasi Rupiah; RTGS lalu Rupiah digital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212080"/>
            <a:ext cx="11091672" cy="77724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21208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D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SEGERA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klaim hasil dapat ditelusuri ke modal, periode, baseline, pemilik dan verifikasi independen, dan setiap proyek yang dapat dibiayai tabungan domestik tidak lagi menambah pinjaman luar negeri.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Transformasi Terpadu Danantara</dc:title>
  <dc:subject>PptxGenJS Presentation</dc:subject>
  <dc:creator>Kajian internal</dc:creator>
  <cp:lastModifiedBy>Kajian internal</cp:lastModifiedBy>
  <cp:revision>1</cp:revision>
  <dcterms:created xsi:type="dcterms:W3CDTF">2026-10-07T07:18:17Z</dcterms:created>
  <dcterms:modified xsi:type="dcterms:W3CDTF">2026-10-07T07:18:17Z</dcterms:modified>
</cp:coreProperties>
</file>