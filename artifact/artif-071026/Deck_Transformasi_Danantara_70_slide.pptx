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3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4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5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6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7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charts/chart8.xml" ContentType="application/vnd.openxmlformats-officedocument.drawingml.chart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dcb73f3f-bc79-6097-ae81-4b64fb5eb64b}">
          <p14:sldIdLst>
            <p14:sldId id="256"/>
            <p14:sldId id="257"/>
            <p14:sldId id="258"/>
            <p14:sldId id="259"/>
          </p14:sldIdLst>
        </p14:section>
        <p14:section name="Pengantar" id="{a4d44adc-5b65-1d9c-c477-2ff1f8691c7f}">
          <p14:sldIdLst>
            <p14:sldId id="260"/>
            <p14:sldId id="261"/>
          </p14:sldIdLst>
        </p14:section>
        <p14:section name="A. Diagnosis" id="{a40eb727-8543-c052-01e7-0efeb5da905b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B. Kondisi target" id="{91d2ea13-4651-02b3-b519-950010be7536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C. Mesin pelaksanaan" id="{d02cf0d6-bbb7-6d85-9f09-45ea85a4ead9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D. Natural Resource Fund" id="{fa009efc-8000-036b-60be-578bea001016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  <p14:section name="E. Langkah ke depan" id="{e0ddcff0-639a-f44c-0d8b-071a79094e3b}">
          <p14:sldIdLst>
            <p14:sldId id="321"/>
            <p14:sldId id="322"/>
            <p14:sldId id="323"/>
            <p14:sldId id="324"/>
            <p14:sldId id="3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Perubahan tahun ke tahun,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Perubahan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Laba grup BRI (FY25)</c:v>
                  </c:pt>
                  <c:pt idx="1">
                    <c:v>Laba Mandiri (FY25)</c:v>
                  </c:pt>
                  <c:pt idx="2">
                    <c:v>Pendapatan PLN (H1 26)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-5.26</c:v>
                </c:pt>
                <c:pt idx="1">
                  <c:v>0.93</c:v>
                </c:pt>
                <c:pt idx="2">
                  <c:v>16.05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Angka investasi 40 proyek per klaster, Rp triliun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Tabel ringkasan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Mineral</c:v>
                  </c:pt>
                  <c:pt idx="1">
                    <c:v>Infrastruktur</c:v>
                  </c:pt>
                  <c:pt idx="2">
                    <c:v>Pertahanan</c:v>
                  </c:pt>
                  <c:pt idx="3">
                    <c:v>Lain-lain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283.85</c:v>
                </c:pt>
                <c:pt idx="1">
                  <c:v>1274.57</c:v>
                </c:pt>
                <c:pt idx="2">
                  <c:v>81.1</c:v>
                </c:pt>
                <c:pt idx="3">
                  <c:v>451.94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Tabel rincian</c:v>
                </c:pt>
              </c:strCache>
            </c:strRef>
          </c:tx>
          <c:spPr>
            <a:solidFill>
              <a:srgbClr val="7FB2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Mineral</c:v>
                  </c:pt>
                  <c:pt idx="1">
                    <c:v>Infrastruktur</c:v>
                  </c:pt>
                  <c:pt idx="2">
                    <c:v>Pertahanan</c:v>
                  </c:pt>
                  <c:pt idx="3">
                    <c:v>Lain-lain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86.87</c:v>
                </c:pt>
                <c:pt idx="1">
                  <c:v>1217.92</c:v>
                </c:pt>
                <c:pt idx="2">
                  <c:v>24.36</c:v>
                </c:pt>
                <c:pt idx="3">
                  <c:v>743.38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338D"/>
                </a:solidFill>
                <a:latin typeface="Arial"/>
              </a:rPr>
              <a:t>Bobot aliran usulan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Bobot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338D"/>
              </a:solidFill>
              <a:effectLst/>
            </c:spPr>
          </c:dPt>
          <c:dPt>
            <c:idx val="1"/>
            <c:bubble3D val="0"/>
            <c:spPr>
              <a:solidFill>
                <a:srgbClr val="005EB8"/>
              </a:solidFill>
              <a:effectLst/>
            </c:spPr>
          </c:dPt>
          <c:dPt>
            <c:idx val="2"/>
            <c:bubble3D val="0"/>
            <c:spPr>
              <a:solidFill>
                <a:srgbClr val="7FB2E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Investasi (I01–I12)</c:v>
                </c:pt>
                <c:pt idx="1">
                  <c:v>Operasi BUMN (O01–O15)</c:v>
                </c:pt>
                <c:pt idx="2">
                  <c:v>Pembangunan (D01–D12)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Learning curve 85%: indeks biaya per unit vs volume kumulatif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Indeks biaya per unit</c:v>
                </c:pt>
              </c:strCache>
            </c:strRef>
          </c:tx>
          <c:spPr>
            <a:solidFill>
              <a:srgbClr val="00338D"/>
            </a:solidFill>
            <a:ln w="381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1×</c:v>
                  </c:pt>
                  <c:pt idx="1">
                    <c:v>2×</c:v>
                  </c:pt>
                  <c:pt idx="2">
                    <c:v>4×</c:v>
                  </c:pt>
                  <c:pt idx="3">
                    <c:v>8×</c:v>
                  </c:pt>
                  <c:pt idx="4">
                    <c:v>16×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85</c:v>
                </c:pt>
                <c:pt idx="2">
                  <c:v>72</c:v>
                </c:pt>
                <c:pt idx="3">
                  <c:v>61</c:v>
                </c:pt>
                <c:pt idx="4">
                  <c:v>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4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Estimasi kerugian 2025, Rp triliun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Estimasi kerugian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WIKA</c:v>
                  </c:pt>
                  <c:pt idx="1">
                    <c:v>PP</c:v>
                  </c:pt>
                  <c:pt idx="2">
                    <c:v>Adhi Karya</c:v>
                  </c:pt>
                  <c:pt idx="3">
                    <c:v>Waskita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10.14</c:v>
                </c:pt>
                <c:pt idx="1">
                  <c:v>8</c:v>
                </c:pt>
                <c:pt idx="2">
                  <c:v>5.4</c:v>
                </c:pt>
                <c:pt idx="3">
                  <c:v>4.48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Waterfall ilustratif NPV ekonomi @9%, Rp miliar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Basis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PV arus kas finansial</c:v>
                  </c:pt>
                  <c:pt idx="1">
                    <c:v>+ Manfaat eksternal</c:v>
                  </c:pt>
                  <c:pt idx="2">
                    <c:v>− Capex</c:v>
                  </c:pt>
                  <c:pt idx="3">
                    <c:v>= NPV ekonomi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96.27</c:v>
                </c:pt>
                <c:pt idx="2">
                  <c:v>34.78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PV arus kas finansial</c:v>
                  </c:pt>
                  <c:pt idx="1">
                    <c:v>+ Manfaat eksternal</c:v>
                  </c:pt>
                  <c:pt idx="2">
                    <c:v>− Capex</c:v>
                  </c:pt>
                  <c:pt idx="3">
                    <c:v>= NPV ekonomi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96.27</c:v>
                </c:pt>
                <c:pt idx="1">
                  <c:v>38.51</c:v>
                </c:pt>
                <c:pt idx="2">
                  <c:v>100</c:v>
                </c:pt>
                <c:pt idx="3">
                  <c:v>34.77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Kontribusi SDA terhadap APBN,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Kontribusi SDA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2004–2014</c:v>
                  </c:pt>
                  <c:pt idx="1">
                    <c:v>2015–2024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19.3</c:v>
                </c:pt>
                <c:pt idx="1">
                  <c:v>7.7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Dari nilai in-situ ke kapasitas penerbitan, USD miliar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miliar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Nilai in-situ</c:v>
                  </c:pt>
                  <c:pt idx="1">
                    <c:v>Nilai kini bagian negara</c:v>
                  </c:pt>
                  <c:pt idx="2">
                    <c:v>Kapasitas penerbitan (1,5×)</c:v>
                  </c:pt>
                  <c:pt idx="3">
                    <c:v>Kapasitas, skenario transisi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5.89</c:v>
                </c:pt>
                <c:pt idx="2">
                  <c:v>3.93</c:v>
                </c:pt>
                <c:pt idx="3">
                  <c:v>3.31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b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ini merangkum kajian 'Dari Investor ke Platform Industri: Agenda Transformasi Terpadu Danantara' (Oktober 2026), sintesis D1 Evaluasi Tata Kelola, D2 Studi Kinerja, D3 DOCK-UP dan D4 Platform Kapabilitas Industri Nasional.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Pembiayaan bertahap, risiko fiskal dan uji stres berfungsi sebagai pengaman lintas pilar.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turunan: posisi saat ini; kondisi target dan organisasi; pengukuran; mesin permintaan; BUMN Konstruksi dan data; pengaman dan urutan implementasi. Kajian adalah sintesis analitis, bukan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Kesenjangan pengungkapan tidak boleh diterjemahkan menjadi asumsi kerugian. Contoh UKM dalam D3 adalah ilustrasi.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Rencana investasi 2026 hingga US$14 miliar dengan porsi sekitar 50/50 pasar publik dan proyek strategis berasal dari D4 (kelas 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obligasi menggambarkan pembiayaan, bukan imbal hasil, biaya kupon atau WACC. Profitabilitas portofolio disesuaikan risiko: NR.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 memakai pembanding yang disajikan kembali; rasio bank-only bukan rasio grup. Telkom: penurunan laba 9,5% pada basis revisi, laba normalisasi Rp22,7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Keempat akar masalah menjadi dasar enam pilar: mekanisme konversi (DOCK-UP dan gerbang), integrasi (unit di BPI) dan pengukuran (tiga scorecard).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Kesenjangan utama bukan kekurangan jabatan, melainkan tidak adanya lapisan pengelolaan portofolio. Tidak ditemukan dasar bahwa gelar Deputy Chairman sendiri mempercepat proyek.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Menambah posisi pimpinan tanpa memperjelas keputusan, kontrol dan keluaran dapat memperpanjang proses.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Uji yang dapat mengubah kesimpulan: sampel proyek dari empat klaster ditelusuri dari usulan sampai keputusan, penandatanganan, pembayaran dan perubahan lingkup.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Kombinasi yang disarankan: disiplin investasi China dan Malaysia, eskalasi India, ketertiban transisi Vietnam.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Kondisi target hanya tercapai bila setiap klaim hasil dapat ditelusuri ke modal, periode, baseline, pemilik dan verifikasi independen.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Portofolio D4 menjawab untuk apa modal ditempatkan; kumpulan modal D2 menjawab bagaimana hasilnya diukur.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Pilihan C diteruskan bila unit tidak cukup mengatasi hambatan kewenangan. Pilihan D bila kebutuhan badan hukum khusus terbukti.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tidak menerima kewenangan universal atas investasi, pinjaman, jaminan, aset, kontrak atau pengangkatan.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Jumlah MD, project director dan tenaga ahli mengikuti jumlah dan tahap proyek aktif. Uji kapasitas kontrak, rekayasa, model finansial, legal dan commissioning sebelum rekrutmen.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Kapasitas rangkap COO–CEO DAM, CIO–CEO DIM dan CTO–CEO DDMF ditangani dengan pemisahan dokumen keputusan dan penanganan konflik.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 Deputy Chairman hanya padanan dari jabatan eksekutif yang sama, itu bukan rangkap jabatan, tetapi nomenklatur harus konsisten dengan instrumen pengangkatan.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penyelesaian hambatan: triase 2 hari, rencana 5 hari, eskalasi lintas arm ke Kepala 10 hari, review lengkap 15 hari. Keterlambatan tidak menimbulkan persetujuan otomatis.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Persetujuan Presiden atau Dewas dicatat sebagai aktivitas tersendiri sehingga tidak ada dua A pada satu baris. Pasal 32A mengatur penyampaian rencana mulai tahun buku 2028; kewajiban lain tidak ditunda.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Distribusi kas yang dibiayai utang memerlukan jembatan leverage.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Belum ada skor agregat yang ditetapkan; sistem siap menerima data manajemen. Enam gate tata kelola bukan poin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Ambang batas memerlukan lingkup pelaporan dan persetujuan; imbal hasil peer bukan otomatis hurdle Danantara.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Pengungkapan: laporan agregat tahunan dan pembaruan triwulanan. Insentif dikaitkan dengan nilai bersih terverifikasi, bukan dana dihimpun, MoU, capex atau dividen.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Proyek anchor tetap memerlukan kasus finansial dan ekonomi sendiri. Permintaan yang diagregasi tidak boleh menjadi kuota.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Pangan, digital dan kesehatan dalam ‘lain-lain’ memerlukan keahlian berbeda dan perlu dipecah setelah register lengkap.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Umur layanan kapal perang yang panjang berarti nilai terbesar ada pada pemeliharaan, suku cadang dan peningkatan, area yang cocok untuk pemasok domestik.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 khas UMKM adalah kesiapan scale-up (MRL) atas teknologi yang sudah dikuasai; industri besar membantu scale-up dan mematangkan teknologi.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Skor tidak pernah dinyatakan sendiri: asesor independen memverifikasi, integrator me-review bukti, skor dinilai ulang setiap tahun.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Jalur MRL cocok untuk UKM yang sudah berproduksi sipil; jalur TRL untuk UKM dengan produk sendiri yang terbukti di pasar sipil.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Proteksi harus sementara: mendorong UKM efisien, mempertahankan MRL 8, dan memberi ruang integrator menjalankan DOCK-UP dengan UKM 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Asesmen: mandiri berdasarkan TRL dan sembilan aspek MRL → verifikasi independen (universitas, lembaga uji, BKI) → review bukti oleh integrator → asesmen tahunan dalam register bersama.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Dampak utama: arus kas negatif, leverage tinggi, kualitas aset rendah, kemampuan proyek menurun, risiko keberlanjutan perusahaan.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Anggaran infrastruktur 2025 turun dari sekitar Rp110,95 triliun menjadi Rp61,38 triliun (−45%). Angka kerugian tidak boleh dijumlahkan ke hasil Danantara.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Pemisahan aset memerlukan valuasi independen saat pengalihan dan pemisahan kewajiban warisan. Kajian menyarankan diagnosis aset per aset, termasuk opsi divestasi.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Arsitektur hub-and-spoke: Danantara AI Platform (LLM gateway, agent platform, common data model, IAM) sebagai hub; setiap BUMN Konstruksi sebagai spoke.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 enam agen: Project Document, Cost, Cash &amp; Receivables, Procurement, Schedule, Project Manager Orchestrator.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 teknis: 3 AI/agent, 3 backend, 2 data, 1 AI/ML, 2 frontend, 1 DevOps, 1 security, 1 QA. Tim bisnis 6–8: project control, finance/CFO, procurement, kontrak/klaim, ERP, product owner, data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D2: NPV finansial @12% −Rp15,25 miliar (IRR 8,14%); NPV ekonomi @9% Rp34,77 miliar (EIRR 16,40%). Hibah viability gap Rp15,25 miliar adalah biaya publik dan transfer, bukan penciptaan manfaat.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 pembiayaan berbasis sumber daya dipertimbangkan, periksa pemilik hak, kepastian cadangan, offtake, pajak, penerimaan negara, hak menjaminkan dan nilai kini kewajiban.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Kegagalan satu proyek dapat menurunkan dividen BUMN, melemahkan aset bank BUMN dan memicu penjaminan sekaligus; kasus BUMN Konstruksi adalah contohnya.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Percepatan tidak dapat dicapai dengan memindahkan pekerjaan yang belum selesai menjadi komitmen investasi.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D menilai usulan tokenisasi atau mata uang khusus berbasis cadangan SDA, dibangun di atas gagasan Natural Resource Fund (D5) dan koreksi asumsi pembiayaan di D1.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D5: NRF di bawah Presiden, underlying cadangan 100% milik negara diverifikasi CRIRSCO/KCMI, batubara sebagai quick win. Delapan langkah: penertiban tambang ilegal, peninjauan IUP/HGU, landasan hukum, pembentukan NRF, restrukturisasi BUMN, integrasi tata kelola tambang, pengelolaan hasil dana, Koperasi Merah Putih.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pengguna: tokenisasi atau mata uang alternatif khusus yang underlying-nya cadangan SDA Indonesia yang diestimasi resmi oleh badan bersertifikasi internasional.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Kriteria: kesesuaian hukum saat ini, dasar nilai yang jujur, stabilitas moneter, transparansi fiskal, daya tarik investor, kesesuaian untuk ritel. Opsi 5 dipertimbangkan setelah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UU 7/2011: Rupiah satu-satunya alat pembayaran sah dan wajib dipakai untuk transaksi di Indonesia. Setelah UU P2SK, kewenangan Rupiah digital juga pada BI. Mata uang paralel memerlukan perubahan undang-undang mendasar.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 syariah (Sukuk TEPSDA) memakai struktur SBSN yang sudah dikenal, dengan aset dasar yang sesuai syariah dan opini Dewan Syariah Nasional.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Waterfall: penerimaan masuk, lalu cadangan likuiditas, kupon, pokok, dan sisa kembali ke NRF. Satu cadangan hanya menjadi dasar satu instrumen.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Kode CRIRSCO mengatur pelaporan estimasi, bukan valuasi keuangan; valuasi memerlukan standar valuasi aset mineral tersendiri (sejenis VALMIN atau CIMVAL). UNFC berguna untuk aspek sosial-lingkungan.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 deck konservatif, bukan harga puncak. Rasio cakupan minimum disarankan 1,5–2,0× antara nilai kini setelah haircut dan nilai efek beredar.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Asumsi: cadangan terbukti 1.000 juta ton; harga USD80/ton; produksi 50 juta ton/tahun selama 20 tahun; bagian negara 15%; diskonto 8% (faktor anuitas 9,818); cakupan 1,5×. Skenario transisi: produksi tahun 11–20 turun 50%.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Rasio cakupan diuji setiap kuartal; di bawah ambang, penerbitan baru dihentikan dan cadangan likuiditas ditambah.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Prinsip desain: berizin bukan publik terbuka; kepastian hukum di atas teknologi; interoperabilitas dengan pencatatan efek nasional dan sistem pembayaran BI; keterbukaan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Tokenisasi paling berhasil sebagai peningkatan efisiensi penerbitan, penyelesaian dan transparansi efek yang sudah dikenal, bukan pengganti kerangka hukum efek.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Kekayaan yang tidak terbarukan harus ditukar dengan aset produktif atau aset keuangan, bukan habis untuk konsumsi.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Setiap proyek hilirisasi yang didanai melaporkan D02, D05 dan D06 terhadap kontrafaktual dan diuji pada skenario harga rendah serta transisi.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Kelembagaan yang disarankan (Pilihan C): NRF sebagai pemilik hak penerimaan di bawah kerangka keuangan negara; Danantara sebagai pengelola investasi bermandat; BI untuk penyelesaian; OJK untuk efek.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Langkah penertiban dan peninjauan izin tidak dijadikan dasar penerbitan TEPSDA sampai status hukum wilayah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Risiko reputasi terbesar adalah persepsi 'mata uang tambang' atau spekulasi; komunikasi harus jelas bahwa TEPSDA adalah efek negara.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Korelasi: harga turun dapat sekaligus melemahkan BUMN tambang, dividen ke Danantara, dan kualitas aset bank BUMN yang membiayai sektor tersebut.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tokenisasi efek pemerintah dan lembaga: obligasi bond-i Bank Dunia (2018), obligasi digital EIB (2021), obligasi hijau tertokenisasi Hong Kong (2023).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Kadens: bulanan (likuiditas, konstruksi, risiko, hambatan); triwulanan (imbal hasil, BUMN, pipeline pemasok); tahunan (laporan teraudit, evaluasi, asesmen ulang TRL/MRL). Ketergantungan: register 40 proyek mendahului peta komponen dan scorecard.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Kriteria kenaikan ke jabatan formal: sengketa mandat tak terselesaikan, antrian keputusan lintas arm berulang, kebutuhan pengganti Kepala, atau lingkup yang nyata memerlukan jabatan 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Permintaan data pertama: laporan teraudit, register 40 proyek, Keppres dan board manual, register leverage dan penjaminan, laporan BUMN Konstruksi, data proyek anchor, data ERP pilot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Sasaran awal adalah usulan yang perlu diuji kelayakannya setelah baseline tersedia.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Kajian lengkap (Word) memuat rincian setiap bab, kamus metrik, definisi gerbang, daftar agen AI dan register sumber.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image" Target="../media/image-49-6.png"/><Relationship Id="rId7" Type="http://schemas.openxmlformats.org/officeDocument/2006/relationships/image" Target="../media/image-49-7.png"/><Relationship Id="rId8" Type="http://schemas.openxmlformats.org/officeDocument/2006/relationships/image" Target="../media/image-49-8.png"/><Relationship Id="rId9" Type="http://schemas.openxmlformats.org/officeDocument/2006/relationships/image" Target="../media/image-49-9.png"/><Relationship Id="rId10" Type="http://schemas.openxmlformats.org/officeDocument/2006/relationships/image" Target="../media/image-49-10.png"/><Relationship Id="rId11" Type="http://schemas.openxmlformats.org/officeDocument/2006/relationships/image" Target="../media/image-49-11.png"/><Relationship Id="rId12" Type="http://schemas.openxmlformats.org/officeDocument/2006/relationships/image" Target="../media/image-49-12.png"/><Relationship Id="rId13" Type="http://schemas.openxmlformats.org/officeDocument/2006/relationships/image" Target="../media/image-49-13.png"/><Relationship Id="rId14" Type="http://schemas.openxmlformats.org/officeDocument/2006/relationships/image" Target="../media/image-49-14.png"/><Relationship Id="rId15" Type="http://schemas.openxmlformats.org/officeDocument/2006/relationships/image" Target="../media/image-49-15.png"/><Relationship Id="rId16" Type="http://schemas.openxmlformats.org/officeDocument/2006/relationships/image" Target="../media/image-49-16.png"/><Relationship Id="rId17" Type="http://schemas.openxmlformats.org/officeDocument/2006/relationships/image" Target="../media/image-49-17.png"/><Relationship Id="rId18" Type="http://schemas.openxmlformats.org/officeDocument/2006/relationships/image" Target="../media/image-49-18.png"/><Relationship Id="rId19" Type="http://schemas.openxmlformats.org/officeDocument/2006/relationships/image" Target="../media/image-49-19.png"/><Relationship Id="rId20" Type="http://schemas.openxmlformats.org/officeDocument/2006/relationships/image" Target="../media/image-49-20.png"/><Relationship Id="rId21" Type="http://schemas.openxmlformats.org/officeDocument/2006/relationships/image" Target="../media/image-49-21.png"/><Relationship Id="rId22" Type="http://schemas.openxmlformats.org/officeDocument/2006/relationships/image" Target="../media/image-49-22.png"/><Relationship Id="rId23" Type="http://schemas.openxmlformats.org/officeDocument/2006/relationships/image" Target="../media/image-49-23.png"/><Relationship Id="rId24" Type="http://schemas.openxmlformats.org/officeDocument/2006/relationships/image" Target="../media/image-49-24.png"/><Relationship Id="rId25" Type="http://schemas.openxmlformats.org/officeDocument/2006/relationships/image" Target="../media/image-49-25.png"/><Relationship Id="rId26" Type="http://schemas.openxmlformats.org/officeDocument/2006/relationships/image" Target="../media/image-49-26.png"/><Relationship Id="rId27" Type="http://schemas.openxmlformats.org/officeDocument/2006/relationships/image" Target="../media/image-49-27.png"/><Relationship Id="rId28" Type="http://schemas.openxmlformats.org/officeDocument/2006/relationships/image" Target="../media/image-49-28.png"/><Relationship Id="rId29" Type="http://schemas.openxmlformats.org/officeDocument/2006/relationships/image" Target="../media/image-49-29.png"/><Relationship Id="rId30" Type="http://schemas.openxmlformats.org/officeDocument/2006/relationships/image" Target="../media/image-49-30.png"/><Relationship Id="rId31" Type="http://schemas.openxmlformats.org/officeDocument/2006/relationships/image" Target="../media/image-49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image" Target="../media/image-6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155448" cy="68580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233172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KAJIAN INTERNAL · OKTOBER 2026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Investor ke Platform Industri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548640" y="3383280"/>
            <a:ext cx="100584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Transformasi Terpadu Danantara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14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Sintesis empat kajian: tata kelola dan arm Industri Strategis, studi kinerja, skema DOCK-UP, dan Platform Kapabilitas Industri Nasional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 untuk diskusi manajemen · Bukan audit, opini valuasi, pengesahan struktur atau otorisasi pembiayaan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EKSEKUTIF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Danantara perlu bergeser dari pengonsolidasi aset menjadi platform kapabilitas industri nasional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Oktober 2026 (sintesis D1–D4)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16002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TESIS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strategis menjadi mesin permintaan, DOCK-UP membangun pemasok, unit di BPI mengelola pelaksanaan, dan tiga scorecard mengukur hasil, tanpa meninggalkan disiplin investasi.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56032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76656" y="267004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2754539"/>
            <a:ext cx="215067" cy="215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6656" y="316382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 dan organisasi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Industri Strategis di BPI (NITO); gerbang P0–P6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306824" y="256032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434840" y="267004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31" y="2754539"/>
            <a:ext cx="215067" cy="215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434840" y="316382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kinerja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scorecard, kelas bukti, kontrol hitung ganda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5008" y="256032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193024" y="267004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515" y="2754539"/>
            <a:ext cx="215067" cy="21506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193024" y="316382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permintaan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anchor dan register 40 proyek dipetakan ke komponen lokal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443484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76656" y="454456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147" y="4629059"/>
            <a:ext cx="215067" cy="21506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76656" y="503834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Pembangunan pemasok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DOCK-UP dengan gerbang S1–S4 berbasis TRL/MRL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306824" y="443484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434840" y="454456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9331" y="4629059"/>
            <a:ext cx="215067" cy="215067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434840" y="503834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Pemulihan BUMN Konstruksi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inti bisnis, proyek bermargin sehat, aset warisan dipisah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8065008" y="443484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8193024" y="454456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7515" y="4629059"/>
            <a:ext cx="215067" cy="215067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193024" y="503834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dan AI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Control Tower dan master data bersama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TEMUAN UTAMA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dan pendanaan sudah ada; hasil, kapabilitas pemasok dan disiplin eksekusi belum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D1–D4. Kerugian BUMN Konstruksi adalah estimasi (kelas C) dan perlu verifikasi laporan teraudit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600200"/>
            <a:ext cx="11091672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636776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636776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dan pendanaan terbukti, hasil belum dapat dinilai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636776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Obligasi DIM USD1,5 miliar (5,65%, 33 bps, 3,07×); imbal hasil, nilai BUMN dan dampak industri masih NR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441448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478024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478024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didominasi konsolidasi aset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2478024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Manufaktur maju, pengembangan pemasok dan kepemilikan teknologi adalah kesenjangan besar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282696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31927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31927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portofolio lintas arm belum ada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3319272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ada register terpadu 40 proyek; angka investasi berselisih Rp18,9 triliun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123944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160520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4160520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dijamin, pemasok belum siap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4160520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 16/2012: 85% imbal dagang, 35% kandungan lokal; UKM tertahan di TRL 6–8, MRL 3–5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965192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001768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5001768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BUMN Konstruksi paling tertekan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40680" y="5001768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kerugian 2025 ±Rp28 triliun; anggaran infrastruktur turun sekitar 45%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580644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0"/>
            <a:ext cx="73152" cy="68580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822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ISI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bagian dari diagnosis sampai keputusan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26280" y="548640"/>
            <a:ext cx="777240" cy="77724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548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5669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Pengantar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532120" y="9601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Mandat, sumber dan disiplin bukti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332720" y="548640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5–6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26280" y="1426464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1527048"/>
            <a:ext cx="777240" cy="7772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6280" y="1527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5532120" y="154533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532120" y="19385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Danantara, kinerja BUMN dan tata kelola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0" y="1527048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7–14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26280" y="2404872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26280" y="2505456"/>
            <a:ext cx="777240" cy="7772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26280" y="2505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5532120" y="25237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target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532120" y="29169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Portofolio, organisasi, gerbang dan manajemen kinerja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332720" y="2505456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15–27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26280" y="3383280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3483864"/>
            <a:ext cx="777240" cy="7772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26280" y="348386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5532120" y="35021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pelaksanaan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532120" y="389534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Anchor, DOCK-UP, BUMN Konstruksi, AI, pembiayaan, risiko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332720" y="3483864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28–45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26280" y="4361688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26280" y="4462272"/>
            <a:ext cx="777240" cy="7772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26280" y="44622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5532120" y="4480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Resource Fund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5532120" y="48737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Tokenisasi cadangan: instrumen, valuasi, teknologi, tata kelola, risiko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0332720" y="4462272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46–65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526280" y="5340096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26280" y="5440680"/>
            <a:ext cx="777240" cy="7772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526280" y="5440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600" dirty="0"/>
          </a:p>
        </p:txBody>
      </p:sp>
      <p:sp>
        <p:nvSpPr>
          <p:cNvPr id="41" name="Text 38"/>
          <p:cNvSpPr txBox="1"/>
          <p:nvPr/>
        </p:nvSpPr>
        <p:spPr>
          <a:xfrm>
            <a:off x="5532120" y="545896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ke depan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5532120" y="58521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jalan, keputusan, KPI dan isu rekonsiliasi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10332720" y="5440680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66–70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PENGANTAR · MANDAT DAN SUMBER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Kajian menjawab bagaimana modal negara menjadi imbal hasil dan kapabilitas industri yang terverifikasi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1. Tiga aliran adalah pertanyaan kinerja, bukan sekat hukum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3575304" cy="132588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3319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 bersih di atas benchmark, risiko dapat diterima, valuasi independen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306824" y="1600200"/>
            <a:ext cx="3575304" cy="132588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434840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31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434840" y="2203704"/>
            <a:ext cx="3319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Operasi BUMN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Produktivitas riil, economic profit, arus kas berkelanjutan, mutu layanan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065008" y="1600200"/>
            <a:ext cx="3575304" cy="1325880"/>
          </a:xfrm>
          <a:prstGeom prst="rect">
            <a:avLst/>
          </a:prstGeom>
          <a:solidFill>
            <a:srgbClr val="7FB2E5"/>
          </a:solidFill>
          <a:ln w="6350">
            <a:solidFill>
              <a:srgbClr val="7FB2E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19302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515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93024" y="2203704"/>
            <a:ext cx="3319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Industrialisasi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kompetitif, nilai tambah domestik, teknologi, kerja berkelanjutan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1672" cy="914400"/>
        </p:xfrm>
        <a:graphic>
          <a:graphicData uri="http://schemas.openxmlformats.org/drawingml/2006/table">
            <a:tbl>
              <a:tblPr/>
              <a:tblGrid>
                <a:gridCol w="693230"/>
                <a:gridCol w="4951639"/>
                <a:gridCol w="1485492"/>
                <a:gridCol w="396131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Dokumen sumber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Tanggal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Fokus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Evaluasi Tata Kelola Danantara dan Organisasi Industri Strategis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Okt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Tata kelola, organisasi, gerbang, RASCI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Studi Kinerja Danantara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Okt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 publik, 45 metrik, atribusi, uji stres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DOCK-UP: Membangun Pemasok UKM Siap Produksi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Okt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TRL/MRL, gerbang, pembiayaan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Kapabilitas Industri Nasional (infografik 8 hlm.)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Tanpa tanggal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Portofolio, anchor, BUMN Konstruksi,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PENGANTAR · DISIPLIN BUKTI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angka diberi kelas bukti; pengumuman tidak pernah dibaca sebagai hasil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(kelas bukti); Kajian Transformasi Danantara, Bab 1.4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821605"/>
                <a:gridCol w="4108027"/>
                <a:gridCol w="6162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Interpretasi yang diizinkan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Diaudit atau dijamin independen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Keyakinan tertinggi bila lingkup, periode dan definisi cocok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Observasi resmi yang dilaporkan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Dapat dipakai dengan batasan assurance yang eksplisit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Pengumuman, proyeksi atau komitmen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 niat atau milestone, bukan laba, produksi atau dampak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Ilustrasi atau asumsi analis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Hanya untuk desain metode atau sensitivitas; tidak diberi skor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dapat dinilai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hilang atau tanpa benchmark; berbeda dari nol dan kegagalan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212080"/>
            <a:ext cx="11091672" cy="68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48640" y="5212080"/>
            <a:ext cx="54864" cy="6858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31520" y="5212080"/>
            <a:ext cx="10771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 dari D4, yaitu estimasi kerugian BUMN Konstruksi dan rencana investasi 2026, diperlakukan sebagai 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C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sampai dikonfirmasi dengan sumber resmi atau teraudit.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EVALUASI PER SEKTOR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Danantara saat ini lebih dekat ke investor finansial daripada penggerak industrialisasi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1. Bola Harvey adalah penilaian indikatif kajian atas label kualitatif D4, bukan skor resmi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180414"/>
                <a:gridCol w="2559617"/>
                <a:gridCol w="2749218"/>
                <a:gridCol w="2654417"/>
                <a:gridCol w="94800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Sektor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Arah strategis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yang terlihat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Penilaian D4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Tingkat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Pengembalian finansial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 berkelanjutan, diversifikasi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Pasar publik dan eksplorasi global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Optimalisasi BUMN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Kinerja aset negara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Portofolio, dividen, restrukturisasi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Lebih matang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Hilirisasi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Nikel, aluminium, bauksit, tembaga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Smelter, alumina, soda kaustik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Strategis, bertumpu pada sumber daya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Transisi energi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 terbarukan dan WtE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Inisiatif WtE dan energi bersih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Ekonomi dan teknologi belum jelas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Industri digital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Pusat data, infrastruktur digital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dengan operator global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Infrastruktur, belum teknologi-industri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Ketahanan pangan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Pertanian, pupuk, agribisnis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Pertanian dan peternakan terintegrasi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Strategis, tidak selalu padat teknologi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Manufaktur maju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Mesin, elektronik, galangan, dirgantara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 publik terbatas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Kesenjangan besar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Pengembangan pemasok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Belum menjadi KPI inti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Lokalisasi dan rekayasa terbatas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Kesenjangan besar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Kepemilikan teknologi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Inovasi dan daya saing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Mitra asing masih dominan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Belum terbukti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" descr="tiga peremp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149" y="2079752"/>
            <a:ext cx="274320" cy="274320"/>
          </a:xfrm>
          <a:prstGeom prst="rect">
            <a:avLst/>
          </a:prstGeom>
        </p:spPr>
      </p:pic>
      <p:pic>
        <p:nvPicPr>
          <p:cNvPr id="12" name="Image 2" descr="penu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149" y="2545080"/>
            <a:ext cx="274320" cy="274320"/>
          </a:xfrm>
          <a:prstGeom prst="rect">
            <a:avLst/>
          </a:prstGeom>
        </p:spPr>
      </p:pic>
      <p:pic>
        <p:nvPicPr>
          <p:cNvPr id="13" name="Image 3" descr="setenga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9149" y="3010408"/>
            <a:ext cx="274320" cy="274320"/>
          </a:xfrm>
          <a:prstGeom prst="rect">
            <a:avLst/>
          </a:prstGeom>
        </p:spPr>
      </p:pic>
      <p:pic>
        <p:nvPicPr>
          <p:cNvPr id="14" name="Image 4" descr="setenga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9149" y="3475736"/>
            <a:ext cx="274320" cy="274320"/>
          </a:xfrm>
          <a:prstGeom prst="rect">
            <a:avLst/>
          </a:prstGeom>
        </p:spPr>
      </p:pic>
      <p:pic>
        <p:nvPicPr>
          <p:cNvPr id="15" name="Image 5" descr="setenga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9149" y="3941064"/>
            <a:ext cx="274320" cy="274320"/>
          </a:xfrm>
          <a:prstGeom prst="rect">
            <a:avLst/>
          </a:prstGeom>
        </p:spPr>
      </p:pic>
      <p:pic>
        <p:nvPicPr>
          <p:cNvPr id="16" name="Image 6" descr="setenga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9149" y="4406392"/>
            <a:ext cx="274320" cy="274320"/>
          </a:xfrm>
          <a:prstGeom prst="rect">
            <a:avLst/>
          </a:prstGeom>
        </p:spPr>
      </p:pic>
      <p:pic>
        <p:nvPicPr>
          <p:cNvPr id="17" name="Image 7" descr="seperempa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9149" y="4871720"/>
            <a:ext cx="274320" cy="274320"/>
          </a:xfrm>
          <a:prstGeom prst="rect">
            <a:avLst/>
          </a:prstGeom>
        </p:spPr>
      </p:pic>
      <p:pic>
        <p:nvPicPr>
          <p:cNvPr id="18" name="Image 8" descr="seperempa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29149" y="5337048"/>
            <a:ext cx="274320" cy="274320"/>
          </a:xfrm>
          <a:prstGeom prst="rect">
            <a:avLst/>
          </a:prstGeom>
        </p:spPr>
      </p:pic>
      <p:pic>
        <p:nvPicPr>
          <p:cNvPr id="19" name="Image 9" descr="koso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29149" y="580237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BUKTI SAAT INI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 publik menunjukkan mobilisasi dan milestone, belum hasil finansial atau dampak terealisasi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(S04–S08); yield tertimbang, spread rata-rata dan rasio permintaan dihitung penulis D2. M = miliar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USD1,5 M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35000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Obligasi DIM, Juni 2026 (dua tranche USD750 juta)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90138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390138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5,65%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3390138" y="235000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tertimbang (5,35% dan 5,95%)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31636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31636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bps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6231636" y="235000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rata-rata atas sovereign (32 dan 34)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073134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073134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3,07×</a:t>
            </a:r>
            <a:endParaRPr lang="en-US" sz="3200" dirty="0"/>
          </a:p>
        </p:txBody>
      </p:sp>
      <p:sp>
        <p:nvSpPr>
          <p:cNvPr id="21" name="Text 17"/>
          <p:cNvSpPr txBox="1"/>
          <p:nvPr/>
        </p:nvSpPr>
        <p:spPr>
          <a:xfrm>
            <a:off x="9073134" y="235000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Kelebihan permintaan; order puncak ±USD4,6 miliar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1672" cy="914400"/>
        </p:xfrm>
        <a:graphic>
          <a:graphicData uri="http://schemas.openxmlformats.org/drawingml/2006/table">
            <a:tbl>
              <a:tblPr/>
              <a:tblGrid>
                <a:gridCol w="4229875"/>
                <a:gridCol w="3289903"/>
                <a:gridCol w="357189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yang tersisa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USD200 juta Danantara/INA untuk CA–EDC USD800 juta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Tahap komitmen; 25% nilai proyek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Syarat terpenuhi, kas dibayar, imbal hasil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Bogor Raya 1: Rp2,8 T, 1.500 ton/hari, PPA, Sep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Milestone; target operasi pertengahan 2028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Progres fisik tersertifikasi, commissioning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Enam groundbreaking hilirisasi, nilai USD7 miliar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Aktivasi program, bukan dana dicairkan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Porsi pembiayaan dan manfaat per proyek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Tinjauan tata kelola dan akuntansi, Maret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Reformasi kualitas aset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Perbaikan operasi terverifikasi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KINERJA BUMN TERPILIH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Kinerja BUMN terpilih beragam, dan kontribusi Danantara belum dapat diatribusikan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(S10–S13). T = triliun rupiah. Metrik berbeda per entitas; contoh purposif, bukan sampel representatif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00200"/>
          <a:ext cx="5879592" cy="914400"/>
        </p:xfrm>
        <a:graphic>
          <a:graphicData uri="http://schemas.openxmlformats.org/drawingml/2006/table">
            <a:tbl>
              <a:tblPr/>
              <a:tblGrid>
                <a:gridCol w="1649154"/>
                <a:gridCol w="2366177"/>
                <a:gridCol w="186426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Entitas / metrik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Observasi sebanding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Bacaan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bersih grup BRI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Rp60,306 T → Rp57,132 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Menurun pada basis sebanding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 / NPL bank-only BRI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 37,87% → 38,92%; NPL 2,94% → 3,29%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Efisiensi dan kredit melemah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Mandiri (induk)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Rp55,78 T → Rp56,30 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Moderat; belum economic profit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Telkom FY2025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 Rp146,7 T; laba Rp17,8 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Perlu jembatan restatement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 PLN H1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Rp281,89 T → Rp327,15 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Pecah volume, tarif, kompensasi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548640" y="5212080"/>
            <a:ext cx="11091672" cy="6400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31520" y="5212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Periode, porsi kepemilikan dan lingkup akuntansi berbeda; angka ini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boleh dijumlahkan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menjadi laba Danantara.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AKAR MASALAH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akar masalah dikonfirmasi oleh keempat kajian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2 (diagnosis utama), dikonfirmasi oleh D1, D2 dan D3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5454396" cy="21031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51983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D4, D2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tanpa mekanisme konversi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ada jalur jelas dari investasi ke kapabilitas industri; tahap modal belum dibedakan dalam pelaporan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185916" y="1600200"/>
            <a:ext cx="5454396" cy="21031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13932" y="2203704"/>
            <a:ext cx="51983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D4, D3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bersifat impor dan konstruksi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teknologi dan pengembangan pemasok terbatas; UKM tertahan di MRL 3–5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48640" y="3886200"/>
            <a:ext cx="5454396" cy="21031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76656" y="3995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47" y="4080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76656" y="4489704"/>
            <a:ext cx="51983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D4, D1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BUMN berjalan sendiri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pemilik integrasi lintas DAM, DIM dan DDMF; tidak ada register terpadu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185916" y="3886200"/>
            <a:ext cx="5454396" cy="21031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313932" y="3995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423" y="4080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313932" y="4489704"/>
            <a:ext cx="51983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D4, D2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belum terukur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PDB, teknologi dan ekspor sebagian besar prospektif; atribusi perlu kontrafaktual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TATA KELOLA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hukum tersedia, tetapi lapisan pengelolaan portofolio lintas arm belum 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(R1–R9, U1). Tabel rincian dikonversi dari Rp juta; satuan dan lingkup perlu dikonfirmasi pemilik data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sudah ada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196596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PP 10/2025 dan PP 19/2026 memisahkan Dewan Pengawas dan Badan Pelaksana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Holding komersial dan pembangunan dibedakan; DDMF bermandat pembangunan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Pengaturan benturan kepentingan dan recusal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657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belum ada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233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Register terpadu 40 proyek dengan pemimpin, tahap dan hasil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Pemilik integrasi lintas DAM, DIM dan DDMF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Bukti efektivitas kontrol (belum diuji)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126480" y="1600200"/>
          <a:ext cx="551383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0"/>
          <p:cNvSpPr/>
          <p:nvPr/>
        </p:nvSpPr>
        <p:spPr>
          <a:xfrm>
            <a:off x="6126480" y="5486400"/>
            <a:ext cx="5513832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309360" y="5486400"/>
            <a:ext cx="5148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Rp2.091,46 T vs Rp2.072,53 T: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selisih Rp18,93 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FONDASI GOOD GOVERNANCE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sejalan dengan prinsip OECD; efektivitasnya bergantung pada instrumen internal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2 (PP 10/2025, PP 19/2026, OECD SOE Guidelines 2024). Bola Harvey: penilaian indikatif dasar desain; efektivitas belum diuji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443928"/>
                <a:gridCol w="845975"/>
                <a:gridCol w="3947883"/>
                <a:gridCol w="385388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Tindakan yang diperlukan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Kejelasan organ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Dewan Pengawas dan Badan Pelaksana dipisahkan [R1–R2]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Periksa board manual, reserved matters, piagam komite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 pemilik dan regulator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 BUMN dan BPI memiliki peran hukum berbeda [R2–R3]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Dokumentasikan kapan BPI bertindak sebagai pemilik atau investor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Komersial vs pembangunan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 19 membedakan tujuan holding; DDMF bermandat pembangunan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finansial, dampak dan dukungan per mandat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Kompetensi eksekusi industri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CTO dan MD industrialisasi ada dalam struktur [R4]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kapasitas engineering, kontrak, commissioning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 tingkat organ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Pasal 14 mensyaratkan pembidangan; nama MD Risk belum membuktikan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Verifikasi Keppres, pembidangan dan posisi komite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Benturan kepentingan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 mengatur pengungkapan dan pengecualian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 konflik, risalah recusal, jalur keputusan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" descr="penu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107" y="2177796"/>
            <a:ext cx="310896" cy="310896"/>
          </a:xfrm>
          <a:prstGeom prst="rect">
            <a:avLst/>
          </a:prstGeom>
        </p:spPr>
      </p:pic>
      <p:pic>
        <p:nvPicPr>
          <p:cNvPr id="12" name="Image 2" descr="setenga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107" y="2875788"/>
            <a:ext cx="310896" cy="310896"/>
          </a:xfrm>
          <a:prstGeom prst="rect">
            <a:avLst/>
          </a:prstGeom>
        </p:spPr>
      </p:pic>
      <p:pic>
        <p:nvPicPr>
          <p:cNvPr id="13" name="Image 3" descr="penu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107" y="3573780"/>
            <a:ext cx="310896" cy="310896"/>
          </a:xfrm>
          <a:prstGeom prst="rect">
            <a:avLst/>
          </a:prstGeom>
        </p:spPr>
      </p:pic>
      <p:pic>
        <p:nvPicPr>
          <p:cNvPr id="14" name="Image 4" descr="setenga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0107" y="4271772"/>
            <a:ext cx="310896" cy="310896"/>
          </a:xfrm>
          <a:prstGeom prst="rect">
            <a:avLst/>
          </a:prstGeom>
        </p:spPr>
      </p:pic>
      <p:pic>
        <p:nvPicPr>
          <p:cNvPr id="15" name="Image 5" descr="seperempa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0107" y="4969764"/>
            <a:ext cx="310896" cy="310896"/>
          </a:xfrm>
          <a:prstGeom prst="rect">
            <a:avLst/>
          </a:prstGeom>
        </p:spPr>
      </p:pic>
      <p:pic>
        <p:nvPicPr>
          <p:cNvPr id="16" name="Image 6" descr="penu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0107" y="5667756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KESIAPAN EKSEKUSI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mengeksekusi 40 proyek belum dapat dibuktikan pada enam dimensi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3 (R1–R2, R8)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443928"/>
                <a:gridCol w="4323872"/>
                <a:gridCol w="4323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Penilaian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Kebutuhan penerapan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Akuntabilitas proyek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Belum ada register terpadu; tidak ada pemimpin hasil yang jelas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Satu penanggung jawab hasil per proyek; register keputusan dan hambatan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Kewenangan modal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Keputusan Badan dan keputusan perusahaan adalah lapisan berbeda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Peta otorisasi per entitas, objek dan tahap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Jaminan dan dukungan fiskal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 pembangunan tidak otomatis memberi jaminan atau PMN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Tunjukkan penjamin, kapasitas bayar, biaya kontinjensi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Pengadaan dan mitra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Perlu diperiksa pada entitas pelaksana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beneficial ownership, afiliasi, alasan sole 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Transparansi dan audit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Konsolidasi dan audit disebut (12 Mei 2026); opini belum dinilai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Periksa tindak lanjut audit; laporkan portofolio konsisten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Pengukuran keberhasilan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Daftar investasi dan target kerja bukan bukti manfaat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Ukur operasi, kapasitas terpakai, dampak bersih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PELAJARAN INTERNASIONAL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Pembanding internasional menekankan pemilik keputusan yang jelas, eskalasi dan transisi tertib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4–5 (R10–R19); D2 (S17–S19). Praktik dipilih sesuai kebutuhan, bukan pemeringkatan tata kelola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31922"/>
                <a:gridCol w="4229875"/>
                <a:gridCol w="42298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Pembanding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Praktik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Adaptasi untuk Danantara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(SASAC, SDIC)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Perusahaan sebagai subjek keputusan; daftar terlarang; evaluasi pasca investasi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Pemilik keputusan per entitas; kriteria masuk transparan; platform rantai nilai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Vietnam (CMSC, SCIC)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CMSC dibubarkan efektif 21 Maret 2025; arah restrukturisasi SCIC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Daftar kewenangan, arsip, kontrak, aset dan kewajiban yang berpindah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 (PRAGATI, NIIF)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Pemantauan teknologi dan eskalasi tingkat tinggi; due diligence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Pisahkan forum penyelesaian hambatan dari pengujian investasi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Malaysia (Khazanah, NIMP 2030)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Charter, Limits of Authority; Delivery Management Unit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Kontrak mandat per arm dan unit pengelolaan pelaksanaan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Temasek, Khazanah (pelaporan)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 hasil terhadap biaya modal; tahunan dan multi-tahun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Pelaporan imbal hasil terpisah dari pengumuman proyek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4864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ditemukan dasar bahwa gelar “Deputy Chairman” sendiri mempercepat proyek.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KONDISI TARGET — LOGIKA PERUBAHAN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diubah menjadi kapabilitas melalui permintaan, pemasok dan upgrading yang terverifikasi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2 (tujuan dan lima nilai); D3 (gerbang dan upgrading); D2 (pengukuran)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896466" cy="137160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dan mandat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ditempatkan; mandat per arm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518258" y="21762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847442" y="1600200"/>
            <a:ext cx="1896466" cy="137160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938882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dan BUMN mengagregasi permintaan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17059" y="21762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46243" y="1600200"/>
            <a:ext cx="1896466" cy="13716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237683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Pemasok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UKM dan Tier 1–3 lolos S1–S4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115861" y="21762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45045" y="1600200"/>
            <a:ext cx="1896466" cy="13716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536485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Kapabilitas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Build-to-print ke design-and-build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414662" y="21762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743846" y="1600200"/>
            <a:ext cx="1896466" cy="13716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835286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Diukur terhadap kontrafaktual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76656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3623219"/>
            <a:ext cx="215067" cy="21506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76656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Ekonomi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 di atas biaya modal; nilai tambah domestik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2803550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2931566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057" y="3623219"/>
            <a:ext cx="215067" cy="215067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2931566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Kapasitas dan rantai pasok kompetitif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5058461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186477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967" y="3623219"/>
            <a:ext cx="215067" cy="21506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186477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dan IP dikuasai Indonesia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7313371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441387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878" y="3623219"/>
            <a:ext cx="215067" cy="215067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441387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Ketahanan pasokan, pertahanan, energi</a:t>
            </a:r>
            <a:endParaRPr lang="en-US" sz="1400" dirty="0"/>
          </a:p>
        </p:txBody>
      </p:sp>
      <p:sp>
        <p:nvSpPr>
          <p:cNvPr id="40" name="Shape 32"/>
          <p:cNvSpPr/>
          <p:nvPr/>
        </p:nvSpPr>
        <p:spPr>
          <a:xfrm>
            <a:off x="9568282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9696298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788" y="3623219"/>
            <a:ext cx="215067" cy="215067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9696298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Sosial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Kerja berkualitas, layanan andal, lingkungan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jenis nilai yang dituju (D4)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KONDISI TARGET — ARSITEKTUR PORTOFOLIO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portofolio, masing-masing dengan ukuran keberhasilan dan pemilik yang berbeda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2 (portofolio 1–5); D2 (ukuran). Portofolio 0 dan kolom arm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31922"/>
                <a:gridCol w="3947883"/>
                <a:gridCol w="3007911"/>
                <a:gridCol w="150395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Portofolio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Ukuran utama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Arm (usulan)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 BUMN operasi warisan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BUMN yang dialihkan ke Danantara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ROIC/economic profit; ROE bank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Pelestarian kekayaan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Saham publik, obligasi, aset global matang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TWR bersih vs benchmark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Infrastruktur strategis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Energi, pelabuhan, logistik, kawasan industri, data center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 bersih, DPI/TVPI, PME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 / DDMF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Platform industri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Giant Sea Wall, 3 Juta Rumah, maritim, pertahanan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Keberlanjutan finansial + ENPV/EIRR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DDMF + unit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Inovasi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Semikonduktor, AI, material maju, R&amp;D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Pendanaan bertahap per milestone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 / CTO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Pengembangan pemasok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UMKM, Tier 1–3, komponen, fabrikasi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Gerbang S1–S4; D05, D06, D12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+ DDMF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349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Pengalihan aset memperbesar perimeter, bukan menciptakan imbal hasil. Portofolio warisan dilaporkan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terpisah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dari vintage baru.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PILIHAN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empat pilihan organisasi, unit Industri Strategis di BPI adalah penerapan awal yang disarankan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6. Bola Harvey: penilaian kualitatif indikatif (penuh = kuat, kosong = lemah); belum ada data waktu keputusan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31922"/>
                <a:gridCol w="1174965"/>
                <a:gridCol w="1174965"/>
                <a:gridCol w="1174965"/>
                <a:gridCol w="1174965"/>
                <a:gridCol w="3759889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Pilihan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Integrasi lintas arm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Kecepatan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Kejelasan akuntabilitas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Duplikasi rendah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Penilaian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 Memperkuat CTO dan DDMF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Layak bila hampir seluruh portofolio dalam mandat DDMF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Unit Industri Strategis di BPI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Penerapan awal yang disarankan; risiko jadi lapisan rapat tanpa akses 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 Wakil Kepala formal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Setelah kebutuhan kewenangan terbukti; rawan konflik dengan COO/CIO/CTO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Holding atau badan baru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Hanya bila badan hukum khusus terbukti perlu; dapat memecah portofolio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" descr="setenga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165" y="2322576"/>
            <a:ext cx="365760" cy="365760"/>
          </a:xfrm>
          <a:prstGeom prst="rect">
            <a:avLst/>
          </a:prstGeom>
        </p:spPr>
      </p:pic>
      <p:pic>
        <p:nvPicPr>
          <p:cNvPr id="12" name="Image 2" descr="penu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130" y="2322576"/>
            <a:ext cx="365760" cy="365760"/>
          </a:xfrm>
          <a:prstGeom prst="rect">
            <a:avLst/>
          </a:prstGeom>
        </p:spPr>
      </p:pic>
      <p:pic>
        <p:nvPicPr>
          <p:cNvPr id="13" name="Image 3" descr="setenga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095" y="2322576"/>
            <a:ext cx="365760" cy="365760"/>
          </a:xfrm>
          <a:prstGeom prst="rect">
            <a:avLst/>
          </a:prstGeom>
        </p:spPr>
      </p:pic>
      <p:pic>
        <p:nvPicPr>
          <p:cNvPr id="14" name="Image 4" descr="penu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061" y="2322576"/>
            <a:ext cx="365760" cy="365760"/>
          </a:xfrm>
          <a:prstGeom prst="rect">
            <a:avLst/>
          </a:prstGeom>
        </p:spPr>
      </p:pic>
      <p:pic>
        <p:nvPicPr>
          <p:cNvPr id="15" name="Image 5" descr="penu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5165" y="3035808"/>
            <a:ext cx="365760" cy="365760"/>
          </a:xfrm>
          <a:prstGeom prst="rect">
            <a:avLst/>
          </a:prstGeom>
        </p:spPr>
      </p:pic>
      <p:pic>
        <p:nvPicPr>
          <p:cNvPr id="16" name="Image 6" descr="tiga perempa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0130" y="3035808"/>
            <a:ext cx="365760" cy="365760"/>
          </a:xfrm>
          <a:prstGeom prst="rect">
            <a:avLst/>
          </a:prstGeom>
        </p:spPr>
      </p:pic>
      <p:pic>
        <p:nvPicPr>
          <p:cNvPr id="17" name="Image 7" descr="penu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5095" y="3035808"/>
            <a:ext cx="365760" cy="365760"/>
          </a:xfrm>
          <a:prstGeom prst="rect">
            <a:avLst/>
          </a:prstGeom>
        </p:spPr>
      </p:pic>
      <p:pic>
        <p:nvPicPr>
          <p:cNvPr id="18" name="Image 8" descr="setengah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0061" y="3035808"/>
            <a:ext cx="365760" cy="365760"/>
          </a:xfrm>
          <a:prstGeom prst="rect">
            <a:avLst/>
          </a:prstGeom>
        </p:spPr>
      </p:pic>
      <p:pic>
        <p:nvPicPr>
          <p:cNvPr id="19" name="Image 9" descr="penuh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5165" y="3749040"/>
            <a:ext cx="365760" cy="365760"/>
          </a:xfrm>
          <a:prstGeom prst="rect">
            <a:avLst/>
          </a:prstGeom>
        </p:spPr>
      </p:pic>
      <p:pic>
        <p:nvPicPr>
          <p:cNvPr id="20" name="Image 10" descr="seperempa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0130" y="3749040"/>
            <a:ext cx="365760" cy="365760"/>
          </a:xfrm>
          <a:prstGeom prst="rect">
            <a:avLst/>
          </a:prstGeom>
        </p:spPr>
      </p:pic>
      <p:pic>
        <p:nvPicPr>
          <p:cNvPr id="21" name="Image 11" descr="setengah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5095" y="3749040"/>
            <a:ext cx="365760" cy="365760"/>
          </a:xfrm>
          <a:prstGeom prst="rect">
            <a:avLst/>
          </a:prstGeom>
        </p:spPr>
      </p:pic>
      <p:pic>
        <p:nvPicPr>
          <p:cNvPr id="22" name="Image 12" descr="setengah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0061" y="3749040"/>
            <a:ext cx="365760" cy="365760"/>
          </a:xfrm>
          <a:prstGeom prst="rect">
            <a:avLst/>
          </a:prstGeom>
        </p:spPr>
      </p:pic>
      <p:pic>
        <p:nvPicPr>
          <p:cNvPr id="23" name="Image 13" descr="seperempa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85165" y="4462272"/>
            <a:ext cx="365760" cy="365760"/>
          </a:xfrm>
          <a:prstGeom prst="rect">
            <a:avLst/>
          </a:prstGeom>
        </p:spPr>
      </p:pic>
      <p:pic>
        <p:nvPicPr>
          <p:cNvPr id="24" name="Image 14" descr="koso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0130" y="4462272"/>
            <a:ext cx="365760" cy="365760"/>
          </a:xfrm>
          <a:prstGeom prst="rect">
            <a:avLst/>
          </a:prstGeom>
        </p:spPr>
      </p:pic>
      <p:pic>
        <p:nvPicPr>
          <p:cNvPr id="25" name="Image 15" descr="setengah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35095" y="4462272"/>
            <a:ext cx="365760" cy="365760"/>
          </a:xfrm>
          <a:prstGeom prst="rect">
            <a:avLst/>
          </a:prstGeom>
        </p:spPr>
      </p:pic>
      <p:pic>
        <p:nvPicPr>
          <p:cNvPr id="26" name="Image 16" descr="seperempat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10061" y="4462272"/>
            <a:ext cx="365760" cy="365760"/>
          </a:xfrm>
          <a:prstGeom prst="rect">
            <a:avLst/>
          </a:prstGeom>
        </p:spPr>
      </p:pic>
      <p:sp>
        <p:nvSpPr>
          <p:cNvPr id="27" name="Text 6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Penuh = kuat · tiga perempat · setengah · seperempat · kosong = lemah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NITO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NITO dibentuk sebagai unit di BPI terlebih dahulu, bukan sebagai holding atau badan hukum baru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6–9; D4 halaman 2. Pemetaan NITO ke struktur MD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900"/>
                <a:gridCol w="3571894"/>
                <a:gridCol w="41358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 NITO (D4)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Penempatan dalam desain D1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Catatan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 industri dan roadmap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Pengembangan Industri Strategis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Rantai nilai, pasar, offtake, substitusi impor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Pengembangan proyek (pre-FEED, FEED, FID)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Engineering dan Pelaksanaan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Kesiapan studi, strategi kontrak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 dan 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Koordinasi dengan 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teknis independen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Pengembangan rantai pasok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Pengembangan Industri (DOCK-UP)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Gerbang S1–S4, register kesiapan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Integrasi permintaan BUMN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 bersama DAM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Agregasi permintaan, kontrak payung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Pembiayaan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Koordinasi CIO/DIM, DDMF, Finance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tidak memegang kewenangan modal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Kantor kinerja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 dan Project Delivery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Register, scorecard, dashboard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Assurance independen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Tetap pada Risk, Legal, Internal Audit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melapor kepada promotor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STRUKTUR UNIT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fungsi MD dan empat pemimpin klaster, diisi awalnya melalui secondment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9. Fungsi MD adalah rancangan pekerjaan, bukan jabatan yang telah disahkan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1091672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160020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Pimpinan Industri Strategis dan Pelaksanaan Proyek — melapor kepada Kepala Badan Pelaksana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240280"/>
            <a:ext cx="3575304" cy="1737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76656" y="23500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2434499"/>
            <a:ext cx="215067" cy="215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6656" y="2843784"/>
            <a:ext cx="33192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Portofolio dan Project Delivery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40 proyek, jadwal terpadu, hambatan, mutu data, laporan keputusan dan manfaat.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Didukung: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Office of the Board, Digital Solutions, Finance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306824" y="2240280"/>
            <a:ext cx="3575304" cy="1737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434840" y="23500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31" y="2434499"/>
            <a:ext cx="215067" cy="215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434840" y="2843784"/>
            <a:ext cx="33192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Pengembangan Industri Strategis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Rantai nilai, pasar, offtake, mitra, substitusi impor, kapasitas pemasok.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Didukung: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Industrialization, Chief Economist, Global Relations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065008" y="2240280"/>
            <a:ext cx="3575304" cy="1737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193024" y="23500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515" y="2434499"/>
            <a:ext cx="215067" cy="21506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193024" y="2843784"/>
            <a:ext cx="33192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Engineering dan Pelaksanaan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studi, engineering, strategi kontrak, constructability, commissioning.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Didukung: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Technology Advancement, Strategic Tech Initiatives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4160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Pemimpin klaster</a:t>
            </a:r>
            <a:pPr indent="0" marL="0">
              <a:buNone/>
            </a:pPr>
            <a:r>
              <a:rPr lang="en-US" sz="120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(tim matriks dari BUMN, holding dan BPI)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8640" y="4480560"/>
            <a:ext cx="2635758" cy="594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76656" y="4572000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dan material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3367278" y="4480560"/>
            <a:ext cx="2635758" cy="594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495294" y="4572000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 dan infrastruktur industri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185916" y="4480560"/>
            <a:ext cx="2635758" cy="594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313932" y="4572000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Pertahanan dan maritim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9004554" y="4480560"/>
            <a:ext cx="2635758" cy="594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132570" y="4572000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Manufaktur strategis lainnya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kapasitas: tidak ada satu pimpinan yang mengelola langsung 40 proyek sebagai pelaksana harian. “Lain-lain” dipecah setelah register lengkap.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HUBUNGAN KERJA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dibatasi pada integrasi lintas portofolio; arm dan fungsi kontrol tetap memegang mandatnya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10. Satu paket informasi per review, satu keputusan per objek pada entitas berwenang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879944"/>
                <a:gridCol w="4605864"/>
                <a:gridCol w="460586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Tetap bertanggung jawab atas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Hubungan dengan unit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 dan DAM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Pengelolaan dan transformasi operasi portofolio BUMN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Menugaskan sponsor; menyepakati batas aset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CIO dan DIM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Pengujian investasi komersial, alokasi modal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Menelaah financial case dalam satu paket keputusan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Arsitektur teknologi, kesiapan skala, IPR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teknis independen atas klaim vendor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DDMF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Persiapan, strukturisasi dan pelaksanaan pembangunan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kelola ketergantungan; DDMF jalankan proyek tugasnya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Likuiditas, biaya modal, akuntansi, konsolidasi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Menguji sumber modal dan pembiayaan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dan Legal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Opini risiko, kepatuhan, kewenangan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melapor kepada promotor; pendapat masuk risalah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Audit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Assurance atas kontrol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Bukan pemberi persetujuan investasi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JALUR HUKUM WAKIL KEPALA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Wakil Kepala formal memerlukan harmonisasi, karena PP 19/2026 tidak menambah jabatan tersebut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7 (PP 10/2025 Pasal 12–18; PP 19/2026; UU 16/2025)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PASAL 13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 mengangkat anggota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803550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931566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PASAL 14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Anggota sesuai kebutuhan, termasuk bidang lain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58461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86477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PASAL 15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Kewenangan menyusun organisasi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3371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441387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PASAL 18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Badan pada Kepala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568282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696298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19/2026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eksplisit menambah Wakil Kepala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2697480"/>
            <a:ext cx="3429000" cy="18288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0080" y="2752344"/>
            <a:ext cx="3246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Sekarang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Strategic Industry and Project Delivery (pemimpin unit), atau Anggota Badan Pelaksana Bidang Industri Strategis sesuai Pasal 14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050792" y="350215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79976" y="2697480"/>
            <a:ext cx="3429000" cy="18288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471416" y="2752344"/>
            <a:ext cx="3246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Kemudian, bila terbukti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Wakil Kepala Badan Pelaksana Bidang Industri Strategis dan Pelaksanaan Proyek, setelah harmonisasi Pasal 12–18 dan UU BUMN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882128" y="350215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11312" y="2697480"/>
            <a:ext cx="3429000" cy="1828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302752" y="2752344"/>
            <a:ext cx="3246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Hindari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Gelar “Deputy Chairman” bila terbaca sebagai Wakil Ketua Dewan Pengawas; menimbulkan kesan mengawasi pekerjaan sendiri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48640" y="4846320"/>
            <a:ext cx="11091672" cy="8686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4846320"/>
            <a:ext cx="54864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31520" y="4846320"/>
            <a:ext cx="10771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kenaikan ke jabatan formal: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sengketa mandat tak terselesaikan · antrian keputusan lintas arm berulang · kebutuhan pengganti saat Kepala berhalangan · lingkup yang nyata memerlukan jabatan formal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DUA SISTEM GERBANG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Gerbang proyek P0–P6 dan gerbang pemasok S1–S4 dihubungkan oleh rencana lokalisasi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11 (G0–G6 → P0–P6); D3 halaman 6 (G1–G4 → S1–S4). Titik temu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900"/>
                <a:gridCol w="3571894"/>
                <a:gridCol w="41358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Gerbang proyek (D1)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Gerbang pemasok (D3)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Titik temu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 Validasi mandat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Masuk: baseline TRL/MRL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 proyek dan pemasok memakai ID yang sama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Prioritas dan pilihan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Rencana lokalisasi awal; kelompok komponen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 Kesiapan investasi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S1: MRL 6, inspeksi artikel pertama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Peta pemasok dan target gerbang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Keputusan modal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Paket DOCK-UP dalam kontrak payung dan ofset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 Financial close dan konstruksi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S2: MRL 7 + C1, low-rate supply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tahap 2 sesuai kesiapan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 Commissioning dan operasi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S3: MRL 8 + C2, pasokan serial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Kesiapan rantai pasok sebagai syarat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P6 Evaluasi hasil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S4: produk sendiri TRL 7+, MRL 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Kapabilitas pemasok masuk evaluasi (D05, D06, D09)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PETA KEWENANGAN DAN RASCI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penting tetap pada organ yang sah; unit menyiapkan keputusan, tidak menyetujuinya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12–15. RASCI lengkap 24 aktivitas harus dicocokkan dengan board manual, AD dan delegasi aktual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900"/>
                <a:gridCol w="2443928"/>
                <a:gridCol w="3383900"/>
                <a:gridCol w="187994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(pemilik hasil)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(pelaksana)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Peran unit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Rekonsiliasi register 40 proyek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Portofolio, sponsor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Pemilik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Penetapan prioritas Badan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Kepala Badan Pelaksana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Pimpinan Industri Strategis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Menyiapkan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Paket kelayakan dan kesiapan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director, MD Industri, MD Engineering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Mendukung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Opini risiko independen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 risiko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 risiko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Diinformasikan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Struktur pembiayaan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CIO/DIM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CIO, Finance, DDMF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Dikonsultasikan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Keputusan investasi perusahaan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 perusahaan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Dikonsultasikan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Pelaksanaan konstruksi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director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director, MD Engineering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Mendukung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Konsolidasi manfaat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Portofolio, MD Industri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Pemilik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independen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Audit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Audit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Mendukung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MANAJEMEN KINERJA — TAHAP MODAL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tahap modal harus dilaporkan terpisah; penghimpunan dana dan belanja investasi bukan laba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(bukti saat ini dan diagnosis investasi)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291840"/>
            <a:ext cx="2130552" cy="914400"/>
          </a:xfrm>
          <a:prstGeom prst="rect">
            <a:avLst/>
          </a:prstGeom>
          <a:solidFill>
            <a:srgbClr val="C9D3E3"/>
          </a:solidFill>
          <a:ln w="6350">
            <a:solidFill>
              <a:srgbClr val="C9D3E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3364992"/>
            <a:ext cx="1947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Dihimpun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Obligasi, ekuitas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788920" y="2880360"/>
            <a:ext cx="2130552" cy="1325880"/>
          </a:xfrm>
          <a:prstGeom prst="rect">
            <a:avLst/>
          </a:prstGeom>
          <a:solidFill>
            <a:srgbClr val="7FB2E5"/>
          </a:solidFill>
          <a:ln w="6350">
            <a:solidFill>
              <a:srgbClr val="7FB2E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880360" y="2953512"/>
            <a:ext cx="19476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Dikomitmenkan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Perjanjian bersyarat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0" y="2468880"/>
            <a:ext cx="2130552" cy="1737360"/>
          </a:xfrm>
          <a:prstGeom prst="rect">
            <a:avLst/>
          </a:prstGeom>
          <a:solidFill>
            <a:srgbClr val="0091DA"/>
          </a:solidFill>
          <a:ln w="6350">
            <a:solidFill>
              <a:srgbClr val="0091D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20640" y="2542032"/>
            <a:ext cx="19476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Dicairkan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 dibayar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269480" y="2057400"/>
            <a:ext cx="2130552" cy="214884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60920" y="2130552"/>
            <a:ext cx="1947672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Konstruksi selesai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Commissioning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509760" y="1645920"/>
            <a:ext cx="2130552" cy="256032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601200" y="1719072"/>
            <a:ext cx="1947672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Manfaat tercapai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hasil, output, dampak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44805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76656" y="45720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 ditandatangani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financial close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367278" y="44805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495294" y="45720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Peresmian konstruksi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progres yang dicapai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185916" y="44805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313932" y="45720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Pengalihan aset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apresiasi nilai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9004554" y="44805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132570" y="45720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Kenaikan dividen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payout atau laba warisan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MANAJEMEN KINERJA — SCORECARD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scorecard terhubung, ditambah lima indikator kapabilitas untuk platform industri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(39 metrik, bobot, aturan); K01–K05 usulan kajian berbasis D3 dan D4. Bobot hanya titik awal tata kelola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4023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4892040" y="1600200"/>
            <a:ext cx="3282696" cy="4480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020056" y="1691640"/>
            <a:ext cx="302666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Indikator kapabilitas usulan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K01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Pipeline pemasok per gerbang S1–S4
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K02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Nilai pesanan ke pemasok dalam negeri
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K03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Kandungan dalam negeri berbasis kapabilitas
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K04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Waktu siklus gerbang S1 ke S3
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K05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Kegagalan mutu pasca pesanan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357616" y="1600200"/>
            <a:ext cx="3282696" cy="448056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485632" y="1691640"/>
            <a:ext cx="302666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penilaian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buruk / target / stretch = 0 / 80 / 100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80% bobot metrik dapat dinilai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Metrik hilang tetap NR, bukan nol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gate tata kelola lolos sebelum skor komposit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Bobot tidak dihapus karena hasil buruk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MANAJEMEN KINERJA — KAMUS METRIK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puluh sembilan metrik hasil membentuk tiga scorecard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D2. Definisi, benchmark, pemilik, frekuensi dan bobot lengkap ada di D2 dan workbook pendampingnya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3575304" cy="914400"/>
        </p:xfrm>
        <a:graphic>
          <a:graphicData uri="http://schemas.openxmlformats.org/drawingml/2006/table">
            <a:tbl>
              <a:tblPr/>
              <a:tblGrid>
                <a:gridCol w="564522"/>
                <a:gridCol w="301078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 hasil bersih pasar publik vs benchmark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 bersih privat vs hurdle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Public-market equivalent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NPV finansial / modal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Rasio kerugian kredit dan investasi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Eksposur di atas batas konsentrasi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Likuiditas dalam stres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Rasio total biaya investasi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Mobilisasi swasta teratribusi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 investasi strategis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 pendanaan vs sovereign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06824" y="1600200"/>
          <a:ext cx="3575304" cy="914400"/>
        </p:xfrm>
        <a:graphic>
          <a:graphicData uri="http://schemas.openxmlformats.org/drawingml/2006/table">
            <a:tbl>
              <a:tblPr/>
              <a:tblGrid>
                <a:gridCol w="564522"/>
                <a:gridCol w="301078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Operasi BUMN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ROIC − WACC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Economic profit inkremental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EBITDA sebanding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Konversi kas operasi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unit riil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tambah per pegawai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Pertumbuhan riil organik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Utang bersih / 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Manfaat transformasi bersih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Keandalan layanan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ROE bank − cost of equity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 bank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NPL bruto bank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Headroom CET1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PSO tak didanai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5008" y="1600200"/>
          <a:ext cx="3575304" cy="914400"/>
        </p:xfrm>
        <a:graphic>
          <a:graphicData uri="http://schemas.openxmlformats.org/drawingml/2006/table">
            <a:tbl>
              <a:tblPr/>
              <a:tblGrid>
                <a:gridCol w="564522"/>
                <a:gridCol w="301078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Pembangunan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EIRR vs hurdle sosial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tambah domestik tambahan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Kerja tambahan berkelanjutan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Devisa bersih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Pangsa nilai tambah domestik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 teknologi terverifikasi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Utilisasi kapasitas komersial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Commissioning tepat waktu/anggaran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Produktivitas pemasok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Penurunan GRK siklus hidup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Layanan andal dan terjangkau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Dukungan publik per hasil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MANAJEMEN KINERJA — ATRIBUSI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Tujuh kontrol hitung ganda mencegah salah saji yang paling umum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(S28). Persentase kepemilikan berguna untuk atribusi finansial, bukan otomatis porsi dampak kausal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229875"/>
                <a:gridCol w="686179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Potensi salah saji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Kontrol yang diperlukan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Pengalihan aset disebut imbal hasil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Jembatan NAV awal + modal eksternal + hasil − distribusi = NAV akhir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BUMN dan dividennya sama-sama dihitung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Eliminasi konsolidasi; setoran kas sebagai ukuran kapasitas pembiayaan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Seluruh biaya proyek disebut investasi Danantara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Pisahkan total capex, porsi Danantara, modal publik lain dan dana swasta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 diklaim beberapa pemberi dana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Atribusi selaras MDB: mobilisasi langsung, tidak langsung, total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Penjualan proyek, pemasok dan PDB dijumlahkan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tambah dan kerangka input–output; kurangi impor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Hitungan pekerjaan bruto di rantai pasok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Pisahkan FTE langsung, person-year sementara, tidak langsung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PDB nasional disebut dampak Danantara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Skenario tanpa proyek; laporkan rentang kontribusi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MESIN PERMINTAAN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proyek anchor menciptakan permintaan yang dapat dipenuhi pemasok dalam negeri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2 (proyek anchor); empat langkah adalah usulan kajian. Peran Danantara mengikuti mandat hukum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18288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237972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 DAN PESISIR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Giant Sea Wall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beton dan baja; pompa, pintu air; galangan dan peralatan kelautan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367278" y="1600200"/>
            <a:ext cx="2635758" cy="18288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9529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785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95294" y="2203704"/>
            <a:ext cx="237972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PERUMAHAN NASIONAL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Juta Rumah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Semen, baja, kaca, keramik; komponen modular; plumbing, elektrikal, HVAC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185916" y="1600200"/>
            <a:ext cx="2635758" cy="18288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13932" y="2203704"/>
            <a:ext cx="237972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GALANGAN, KOMPONEN, MRO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maritim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Kapal niaga dan khusus; mesin, propulsi; MRO dan docking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9004554" y="1600200"/>
            <a:ext cx="2635758" cy="18288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32570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061" y="1794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32570" y="2203704"/>
            <a:ext cx="237972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ALUTSISTA DAN PENDUKUNG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pertahanan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Elektronika, sensor, radar; material khusus; integrasi dan pemeliharaan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548640" y="3840480"/>
            <a:ext cx="2471166" cy="10058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640080" y="3895344"/>
            <a:ext cx="22882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Register terpadu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Selisih Rp18,9 T direkonsiliasi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092958" y="42336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422142" y="3840480"/>
            <a:ext cx="2471166" cy="10058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513582" y="3895344"/>
            <a:ext cx="22882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Peta komponen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Impor, lokal siap, lokal potensial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5966460" y="42336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295644" y="3840480"/>
            <a:ext cx="2471166" cy="10058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387084" y="3895344"/>
            <a:ext cx="22882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Agregasi permintaan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Lintas proyek dan BUMN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8839962" y="42336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9169146" y="3840480"/>
            <a:ext cx="2471166" cy="10058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9260586" y="3895344"/>
            <a:ext cx="22882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Rencana lokalisasi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gerbang S per komponen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48640" y="51206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skema DOCK-UP untuk semua proyek anchor: Development (pre-FEED, FEED) → Offtaker (kontrak jangka panjang) → Certified (TKDN berbasis kapabilitas) → Upgrading (alih teknologi, ekspor, IP).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MESIN PERMINTAAN — KLASTER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klaster industri strategis dipetakan ke proyek anchor dan uji kapabilitasnya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(klaster), D4 (anchor), D2 (uji). Pemetaan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255933"/>
                <a:gridCol w="2819917"/>
                <a:gridCol w="3007911"/>
                <a:gridCol w="300791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Klaster (D1)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Proyek anchor terkait (D4)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finansial dan operasi (D2)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kapabilitas (D2)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Mineral dan material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Hilirisasi nikel, bauksit, alumina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bijih dan energi, recovery, utilisasi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olahan domestik, devisa bersih, intensitas karbon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 dan infrastruktur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Giant Sea Wall (sebagian), WtE, kawasan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layanan seumur hidup, kontrak, layanan utang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Sampah diolah, GRK bersih, keterjangkauan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Pertahanan dan maritim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Industri maritim dan pertahanan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Mutu orderbook, pengiriman tepat waktu, garansi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Desain dan manufaktur tersertifikasi, komponen domestik, ekspor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Manufaktur strategis lainnya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Juta Rumah, manufaktur maju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 R&amp;D bertahap, permintaan terkualifikasi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Mutu produksi, otonomi rekayasa, pesanan berulang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MASALAH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sudah ada dalam undang-undang; basis pemasok UKM belum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UU 16/2012 Pasal 43; KemenkopUKM (2021); D3 halaman 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3514344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691640"/>
            <a:ext cx="3514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/ 35%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350008"/>
            <a:ext cx="3514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imbal dagang dan kandungan lokal/ofset alpalhankam impor, naik 10 poin setiap 5 tahun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37304" y="1600200"/>
            <a:ext cx="3514344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37304" y="1691640"/>
            <a:ext cx="3514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64,2 juta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4337304" y="2350008"/>
            <a:ext cx="3514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UMKM, ~62% PDB dan ~97% lapangan kerja; sedikit yang masuk rantai pasok strategis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5968" y="1600200"/>
            <a:ext cx="3514344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25968" y="1691640"/>
            <a:ext cx="3514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25–30 thn</a:t>
            </a:r>
            <a:endParaRPr lang="en-US" sz="4000" dirty="0"/>
          </a:p>
        </p:txBody>
      </p:sp>
      <p:sp>
        <p:nvSpPr>
          <p:cNvPr id="18" name="Text 14"/>
          <p:cNvSpPr txBox="1"/>
          <p:nvPr/>
        </p:nvSpPr>
        <p:spPr>
          <a:xfrm>
            <a:off x="8125968" y="2350008"/>
            <a:ext cx="3514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 layanan kapal perang; pemeliharaan dan suku cadang sering lebih mahal dari pembangunan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023360"/>
            <a:ext cx="11091672" cy="82296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" y="40233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Lingkaran setan hanya dapat diputus oleh program konkret: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develop, off-taker, certification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dengan gerbang yang memadukan TRL dan MRL.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BAHASA BERSAMA DAN DIAGNOSIS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menjawab “apakah berfungsi?”, MRL menjawab “dapatkah dibuat setiap saat?”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3–4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760720" cy="914400"/>
        </p:xfrm>
        <a:graphic>
          <a:graphicData uri="http://schemas.openxmlformats.org/drawingml/2006/table">
            <a:tbl>
              <a:tblPr/>
              <a:tblGrid>
                <a:gridCol w="593015"/>
                <a:gridCol w="2202628"/>
                <a:gridCol w="762448"/>
                <a:gridCol w="220262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Konsep: prinsip diamati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Konsep: kelayakan dibahas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 konsep di laboratorium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Skala lab: buatan tangan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4–5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Validasi lab, lalu simulasi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Proses rintisan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prototipe di lingkungan relevan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Laju rendah, mutu berulang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Terkualifikasi dan dipakai rutin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/ 9–10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Pra-produksi / produksi penuh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537960" y="1600200"/>
            <a:ext cx="2459736" cy="205740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665976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467" y="1794419"/>
            <a:ext cx="215067" cy="21506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665976" y="2203704"/>
            <a:ext cx="22037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6–8 · MRL 3–5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Kaya prototipe, lemah produksi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Inti DOCK-UP: pesanan jangkar, peralatan bersama, insinyur pendamping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9180576" y="1600200"/>
            <a:ext cx="2459736" cy="205740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9308592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083" y="1794419"/>
            <a:ext cx="215067" cy="21506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308592" y="2203704"/>
            <a:ext cx="22037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8–9 · MRL 8–10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Pemasok terkualifikasi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payung jangka panjang dan ekspor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537960" y="3840480"/>
            <a:ext cx="2459736" cy="2057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665976" y="39502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467" y="4034699"/>
            <a:ext cx="215067" cy="215067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665976" y="4443984"/>
            <a:ext cx="22037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1–4 · MRL 1–3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Penjelajah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Hibah riset, laboratorium BRIN dan universitas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9180576" y="3840480"/>
            <a:ext cx="2459736" cy="2057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308592" y="39502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3083" y="4034699"/>
            <a:ext cx="215067" cy="215067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308592" y="4443984"/>
            <a:ext cx="22037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4–5 · MRL 6–8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produksi, teknologi dangkal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litbang, sertifikasi produk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KERANGKA DAN GERBANG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terverifikasi, bukan janji, yang membuka pesanan, dana dan sertifikat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5–6. Rintisan: 1 integrator, 20–30 UKM, 3–5 kelompok komponen, dikoordinasikan KKIP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TRL/MRL; keluar di S1: MRL 6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3367278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95294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Off-taker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payung 3–5 tahun; volume bertahap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185916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13932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= MRL 7; C2 = MRL 8; C3 pertahanan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9004554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32570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Upgrading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Build-to-print → design-and-build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48640" y="4983480"/>
            <a:ext cx="2130552" cy="1188720"/>
          </a:xfrm>
          <a:prstGeom prst="rect">
            <a:avLst/>
          </a:prstGeom>
          <a:solidFill>
            <a:srgbClr val="C9D3E3"/>
          </a:solidFill>
          <a:ln w="6350">
            <a:solidFill>
              <a:srgbClr val="C9D3E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5056632"/>
            <a:ext cx="19476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Baseline; insinyur pendamping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788920" y="4549140"/>
            <a:ext cx="2130552" cy="1623060"/>
          </a:xfrm>
          <a:prstGeom prst="rect">
            <a:avLst/>
          </a:prstGeom>
          <a:solidFill>
            <a:srgbClr val="7FB2E5"/>
          </a:solidFill>
          <a:ln w="6350">
            <a:solidFill>
              <a:srgbClr val="7FB2E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880360" y="4622292"/>
            <a:ext cx="1947672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MRL 6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Inspeksi artikel pertama; pesanan rintisan; hibah pendamping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029200" y="4114800"/>
            <a:ext cx="2130552" cy="2057400"/>
          </a:xfrm>
          <a:prstGeom prst="rect">
            <a:avLst/>
          </a:prstGeom>
          <a:solidFill>
            <a:srgbClr val="0091DA"/>
          </a:solidFill>
          <a:ln w="6350">
            <a:solidFill>
              <a:srgbClr val="0091D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120640" y="4187952"/>
            <a:ext cx="194767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MRL 7 + C1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berulang, ISO 9001; low-rate supply; KUR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269480" y="3680460"/>
            <a:ext cx="2130552" cy="249174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60920" y="3753612"/>
            <a:ext cx="1947672" cy="2345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MRL 8 + C2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3834/9606; serial + suku cadang; first-loss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509760" y="3246120"/>
            <a:ext cx="2130552" cy="292608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601200" y="3319272"/>
            <a:ext cx="194767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TRL 7+, MRL 9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Diadopsi satu kelas kapal; design-and-build; ventura, LPEI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DUA JALUR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 sama, urutan berbeda: jalur MRL dan jalur TRL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7. UKM ilustratif, bukan perusahaan yang dinilai. Angka bulan pada jalur MRL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1600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Jalur MRL · Sidoarjo Steel Manufacturing</a:t>
            </a:r>
            <a:pPr indent="0" marL="0"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(bearing dan valve)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1965960"/>
            <a:ext cx="1896466" cy="137160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0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MRL sipil 7, kapal perang 4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518258" y="25420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847442" y="1965960"/>
            <a:ext cx="1896466" cy="137160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938882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1–6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Insinyur pendamping; material marine grade, uji hidrostatik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817059" y="25420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46243" y="1965960"/>
            <a:ext cx="1896466" cy="13716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237683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7 · S1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Katup pertama lolos; rintisan 20 katup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115861" y="25420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45045" y="1965960"/>
            <a:ext cx="1896466" cy="13716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536485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8–14 · S2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tepat waktu untuk satu set kapal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9414662" y="25420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743846" y="1965960"/>
            <a:ext cx="1896466" cy="13716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835286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15–24 · S3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Terstandar untuk satu kelas fregat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3657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Jalur TRL · Sensor Karya Mandiri</a:t>
            </a:r>
            <a:pPr indent="0" marL="0"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(sensor inframerah)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4023360"/>
            <a:ext cx="1896466" cy="137160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40080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Pijakan sipil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8–9: kamera termal genggam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2518258" y="45994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847442" y="4023360"/>
            <a:ext cx="1896466" cy="137160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938882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Kualifikasi ulang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5 → 7: guncangan, getaran, EMC, uji IRST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817059" y="45994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146243" y="4023360"/>
            <a:ext cx="1896466" cy="13716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237683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Produksi pertahanan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MRL 5 → 8: kalibrasi, ketertelusuran, C3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7115861" y="45994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445045" y="4023360"/>
            <a:ext cx="1896466" cy="13716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536485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IRST kapal perang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8, S4: sea trials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9414662" y="45994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9743846" y="4023360"/>
            <a:ext cx="1896466" cy="13716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835286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Sensor rudal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Sub-pemasok program DEFEND ID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EKONOMI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terverifikasi menurunkan risiko sehingga bank dan investor non-pemerintah ikut masuk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8; UU 16/2012; PP 45/2019. Indeks dihitung dari asumsi learning curve 85% (ilustrasi)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6309360" y="1600200"/>
            <a:ext cx="5330952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309360" y="1636776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903720" y="163677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modal lebih rendah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8823960" y="1636776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Off-take multi-tahun + skor MRL memberi bank dasar penilaian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309360" y="2441448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309360" y="2478024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903720" y="247802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Ukuran lot ekonomis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823960" y="2478024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 standar lintas kapal dan perusahaan DEFEND ID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3282696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09360" y="331927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903720" y="331927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Devisa dan multiplier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823960" y="3319272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Kandungan lokal tetap di dalam negeri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09360" y="4123944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309360" y="4160520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903720" y="416052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Through-life value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8823960" y="4160520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domestik diwajibkan; tahap 3 mencakup suku cadang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309360" y="4965192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309360" y="5001768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6903720" y="500176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Proteksi sementara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8823960" y="5001768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biaya setara impor melalui agregasi pesanan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309360" y="5806440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TEKNOLOGI, ASESMEN DAN PERLUASAN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 proses lebih dulu, asesmen berlapis, lalu perluasan ke proyek anchor lain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9; perluasan ke Giant Sea Wall dan 3 Juta Rumah adalah usulan kajian (standar dan off-taker perlu konfirmasi)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 proses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terkualifikasi, heat treatment, pelapisan, NDT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367278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95294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Alih teknologi berjenjang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ofset dialihlisensikan ke pemasok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85916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13932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digital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pemasok terhubung ERP integrator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9004554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32570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informasi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terkendali; masuk C3 sesuai sensitivitas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" y="2971800"/>
            <a:ext cx="2471166" cy="8686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3026664"/>
            <a:ext cx="22882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Asesmen mandiri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dan 9 aspek MRL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092958" y="3296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422142" y="2971800"/>
            <a:ext cx="2471166" cy="8686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513582" y="3026664"/>
            <a:ext cx="22882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Verifikasi independen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Universitas, lembaga uji, BKI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966460" y="3296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295644" y="2971800"/>
            <a:ext cx="2471166" cy="8686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387084" y="3026664"/>
            <a:ext cx="22882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Review integrator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Artikel pertama, batch, audit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839962" y="3296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169146" y="2971800"/>
            <a:ext cx="2471166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260586" y="3026664"/>
            <a:ext cx="22882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Asesmen tahunan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kesiapan bersama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91672" cy="914400"/>
        </p:xfrm>
        <a:graphic>
          <a:graphicData uri="http://schemas.openxmlformats.org/drawingml/2006/table">
            <a:tbl>
              <a:tblPr/>
              <a:tblGrid>
                <a:gridCol w="2255933"/>
                <a:gridCol w="3101908"/>
                <a:gridCol w="3101908"/>
                <a:gridCol w="263192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Proyek anchor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Komponen awal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 setara C1–C3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Off-taker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Maritim dan pertahanan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Katup, bearing, sensor, komponen kapal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 9001, klas BKI, standar pertahanan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 ID, galangan BUMN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Giant Sea Wall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Pintu air, pompa, struktur baja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SNI dan standar pemilik proyek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Pelaksana, BUMN Konstruksi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Juta Rumah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Komponen modular, plumbing, elektrikal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SNI produk bangunan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Pengembang, BUMN Konstruksi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BUMN KONSTRUKSI — MASALAH DAN PENYEBAB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Ekspansi agresif yang dibiayai utang dan pembayaran yang terlambat menekan BUMN Konstruksi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16002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utama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1965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Proyek bermargin rendah atau politis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Infrastruktur dan tol dibiayai utang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Piutang tertunda dan pembayaran lambat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Pembengkakan biaya dan keterlambatan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Leverage tinggi, aset rendah, kas negatif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Tata kelola lemah, peran politis besar</a:t>
            </a:r>
            <a:endParaRPr lang="en-US" sz="1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600200"/>
          <a:ext cx="5696712" cy="914400"/>
        </p:xfrm>
        <a:graphic>
          <a:graphicData uri="http://schemas.openxmlformats.org/drawingml/2006/table">
            <a:tbl>
              <a:tblPr/>
              <a:tblGrid>
                <a:gridCol w="2205179"/>
                <a:gridCol w="349153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Penyebab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Penjelasan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Ekspansi infrastruktur agresif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Jalan, tol, kereta, bandara, bendungan, pelabuhan dalam waktu singkat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konstruksi rendah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Persaingan ketat dan proyek politis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terlambat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Piutang pemerintah dan BUMN menjadi masalah pendanaan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 turnkey dan EPC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Kontraktor menanggung risiko desain sampai commissioning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Insentif bermasalah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Keberhasilan diukur dari penyelesaian, bukan profitabilitas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BUMN KONSTRUKSI — KINERJA DAN ARAH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kerugian ±Rp28 triliun menuntut kembali ke model kontraktor yang disiplin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3. Angka berlabel “estimasi” (kelas C); verifikasi dengan laporan teraudit FY2025 sebelum dipakai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349240"/>
            <a:ext cx="5760720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3492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± Rp28 T · anggaran infrastruktur −45%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675120" y="1600200"/>
            <a:ext cx="4965192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675120" y="1636776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269480" y="16367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inti bisnis konstruksi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675120" y="2167128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675120" y="2203704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269480" y="220370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Selektif pada proyek bermargin sehat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75120" y="2734056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675120" y="277063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27706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Perbaiki manajemen proyek dan risiko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675120" y="3300984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675120" y="333756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269480" y="333756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 profesional dan transparan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675120" y="3867912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675120" y="3904488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269480" y="390448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Bangun pertumbuhan berkelanjutan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675120" y="4434840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675120" y="4572000"/>
            <a:ext cx="4965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Siklus kas sehat: uang muka → laksanakan → sertifikasi → tagih → bayar subkontraktor → margin wajar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BUMN KONSTRUKSI — MODEL DAN UKURAN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Aset warisan dipisahkan setelah diagnosis, dan pemulihan diukur dengan metrik nilai dan kas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3 (model); D2 (metrik O). Kendaraan aset warisan adalah keputusan Pilihan D yang memerlukan bukti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5760720" cy="2057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550468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SAAT INI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Konglomerasi investasi infrastruktur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Kontraktor, EPC, pengembang, investor tol, pengembang properti, pemilik aset, pemasok via anak usaha, pembiayaan proyek pemerintah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840480"/>
            <a:ext cx="5760720" cy="205740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76656" y="39502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47" y="403469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" y="4443984"/>
            <a:ext cx="550468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SEHARUSNYA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Perusahaan konstruksi yang disiplin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inti; selektif margin; tanpa aset jangka panjang berlebihan; pendanaan dari owner; risiko kuat; tata kelola profesional</a:t>
            </a:r>
            <a:endParaRPr lang="en-US" sz="11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00200"/>
          <a:ext cx="5148072" cy="914400"/>
        </p:xfrm>
        <a:graphic>
          <a:graphicData uri="http://schemas.openxmlformats.org/drawingml/2006/table">
            <a:tbl>
              <a:tblPr/>
              <a:tblGrid>
                <a:gridCol w="2022457"/>
                <a:gridCol w="31256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Ukuran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Metrik D2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Penciptaan nilai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O01 ROIC − WACC; O02 economic profit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Kualitas laba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O03 margin EBITDA sebanding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O04 konversi kas operasi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O08 utang bersih / EBITDA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Manfaat transformasi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O09 manfaat bersih terverifikasi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Portofolio kontrak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Kontrak bermargin sehat, percepatan penagihan (D4)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DATA DAN AI — ARSITEKTUR DAN FASE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operasi proyek berbasis AI, dimulai dari BUMN Konstruksi dan diperluas bertahap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4–8. Roadmap “3 bulan” dibaca sebagai MVP; 24 bulan sebagai perluasan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5760720" cy="53035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160020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Danantara Portfolio Control Tower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203704"/>
            <a:ext cx="5760720" cy="530352"/>
          </a:xfrm>
          <a:prstGeom prst="rect">
            <a:avLst/>
          </a:prstGeom>
          <a:solidFill>
            <a:srgbClr val="1A4A9E"/>
          </a:solidFill>
          <a:ln w="12700">
            <a:solidFill>
              <a:srgbClr val="1A4A9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220370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SOE Enterprise Orchestrator · CEO/CFO/COO Cockpit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807208"/>
            <a:ext cx="5760720" cy="53035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280720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 korporat: komersial, keuangan, eksekusi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410712"/>
            <a:ext cx="5760720" cy="530352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" y="341071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Control Tower per proyek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4014216"/>
            <a:ext cx="5760720" cy="530352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401421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Intelligence: drone, IoT, CCTV, BIM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4617720"/>
            <a:ext cx="5760720" cy="530352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46177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Platform dan master data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53035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untuk keputusan material dan berisiko tinggi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00200"/>
          <a:ext cx="5056632" cy="914400"/>
        </p:xfrm>
        <a:graphic>
          <a:graphicData uri="http://schemas.openxmlformats.org/drawingml/2006/table">
            <a:tbl>
              <a:tblPr/>
              <a:tblGrid>
                <a:gridCol w="1542701"/>
                <a:gridCol w="2742580"/>
                <a:gridCol w="77135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Cakupan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55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0–3 bulan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BUMN, 2–3 proyek, 6 agen utama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5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6–12 bulan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2–3 BUMN, 20–50 proyek, HA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55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12–24 bulan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Seluruh BUMN Konstruksi, 100+ proyek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5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· &gt;24 bulan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Nasional, multi-site, DR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16–24+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DATA DAN AI — AGEN DAN MASTER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agen prioritas dan satu register identitas bersama melayani AI, scorecard dan DOCK-UP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5–7; satu register identitas bersama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" y="169164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portofolio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Peringkat Green/Amber/Red/Black; deteksi dini kerugian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06824" y="160020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34840" y="169164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/ no-bid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Kelayakan tender, margin historis, simulasi skenario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65008" y="160020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193024" y="169164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biaya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independen; perbandingan kontrak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283464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6656" y="292608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Piutang dan pembayaran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Invoice, sertifikat, prediksi gagal bayar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306824" y="283464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434840" y="292608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Jadwal dan progres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Fisik vs rencana; dampak keterlambatan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065008" y="283464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193024" y="292608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Pengadaan dan pemasok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 pasar, risiko pemasok, substitusi</a:t>
            </a:r>
            <a:endParaRPr lang="en-US" sz="1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914400"/>
        </p:xfrm>
        <a:graphic>
          <a:graphicData uri="http://schemas.openxmlformats.org/drawingml/2006/table">
            <a:tbl>
              <a:tblPr/>
              <a:tblGrid>
                <a:gridCol w="4135878"/>
                <a:gridCol w="695579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Dipakai oleh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ID, WBS, Cost Code, Activity 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 40 proyek (D1), scorecard (D2), Project Control Tower (D4)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ID, Material 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 pengadaan (D4) dan register kesiapan S1–S4 (D3)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Contract, Variation Order, Payment Certificate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 piutang dan klaim; percepatan penagihan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Entity dan Asset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Jembatan perimeter dan pemisahan aset warisan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DATA DAN AI — SUMBER DAYA DAN TATA KELOLA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memerlukan infrastruktur lokal, 14 orang teknis, dan manfaat yang diukur bersih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7–8. Model dijalankan lokal; manfaat diukur melalui O09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Komponen Fase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Spesifikasi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server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 server, 4 × NVIDIA L40S 48 GB, 256–512 GB RAM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platform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Database, lakehouse, vector DB, ETL, knowledge graph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processing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 kontrak dan laporan; computer vision progres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20–50 TB NAS/object storage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30–40B, LLM kecil 7–8B, embedding, computer vision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teknis + 6–8 bisnis dan domain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766560" y="1600200"/>
            <a:ext cx="4873752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894576" y="16916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 diukur bersih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platform dan tim dikurangkan (O09)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766560" y="2651760"/>
            <a:ext cx="4873752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894576" y="2743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keputusan otomatis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Bid/no-bid dan penghentian tetap oleh organ sesuai RASCI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766560" y="3703320"/>
            <a:ext cx="4873752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94576" y="37947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Kedaulatan data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lokal, RBAC, audit, multi-tenant; data pertahanan C3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766560" y="4754880"/>
            <a:ext cx="4873752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894576" y="48463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sebelum kecerdasan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data model di Fase 1 sebelum perluasan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PEMBIAYAAN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Pembiayaan mengikuti kesiapan, dan setiap dukungan publik dikuantifikasi secara eksplisit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D1, D2, D3. Waterfall dihitung dari contoh ilustratif D2 (capex Rp100 M, arus kas Rp15 M/tahun, manfaat eksternal Rp6 M/tahun, 10 tahun); bukan proyek Danantara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879944"/>
                <a:gridCol w="4605864"/>
                <a:gridCol w="460586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Tahap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 pemasok (D3)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 proyek (D1, D2)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Masuk / P0–P1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Insinyur pendamping, pelatihan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Pendanaan studi dan pre-FEED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 / P2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Hibah pendamping, fasilitas bersama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FEED, persiapan investasi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 / P3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KUR, pembiayaan rantai pasok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Keputusan modal sesuai kewenangan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 / P4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Kredit investasi, penjaminan kerugian pertama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close: pendanaan mengikat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S4 / P5–P6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Ventura, R&amp;D super-deduction (PP 45/2019), LPEI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Refinancing, mobilisasi swasta (I10)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548640" y="3749040"/>
          <a:ext cx="67665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6"/>
          <p:cNvSpPr/>
          <p:nvPr/>
        </p:nvSpPr>
        <p:spPr>
          <a:xfrm>
            <a:off x="7543800" y="3749040"/>
            <a:ext cx="4096512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671816" y="3840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FINANSIAL @12%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−Rp15,25 miliar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 proyek 8,14%: di bawah hurdle komersial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7543800" y="5074920"/>
            <a:ext cx="4096512" cy="118872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671816" y="5166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HIBAH VIABILITY GAP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Rp15,25 miliar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NPV investor nol; biaya publik,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manfaat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PEMBIAYAAN — KOREKSI ASUMSI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Tujuh asumsi dalam memo hukum internal perlu dikoreksi sebelum menjadi dasar keputusan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18 (R1–R3, U2)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323872"/>
                <a:gridCol w="6767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Asumsi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Pembacaan yang benar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 19 langsung membentuk Wakil Kepala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menciptakan jabatan baru; jalur anggota dan harmonisasi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Semua 40 proyek keluar dari DAM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Klasifikasikan komersial vs pembangunan melalui register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Pasal 9G dasar tetap status pejabat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UU 16/2025 menghapus Pasal 9G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BJR memberi kekebalan atas kerugian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Pasal 3Y memuat syarat; bukan kekebalan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Obligasi berbasis sumber daya bukan utang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Kewajiban bayar atau kupon tetap = kewajiban pembiayaan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Pasal 33: hak menjaminkan cadangan/royalti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otomatis memberi BPI hak atas cadangan atau PNBP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dapat menetapkan standar/TKDN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 wajib dan TKDN tetap pada otoritas berwenang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PEMBIAYAAN — UJI STRES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Tujuh uji stres dijalankan simultan di tingkat grup, karena risikonya saling berkorelasi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D2. Guncangan adalah asumsi ilustratif, bukan proyeksi atau ambang regulasi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255933"/>
                <a:gridCol w="4699861"/>
                <a:gridCol w="41358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yang diusulkan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 keputusan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Kurs / refinancing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Rupiah −15%; spread +200 bps pada utang yang reprice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Lindung nilai; jaga likuiditas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Siklus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 −20%, bahan baku/listrik +15%, utilisasi rendah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ulang margin, covenant, capex bertahap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Konstruksi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+20%, terlambat 12 bulan, kontraktor gagal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Kontinjensi; insinyur independen; hentikan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Fiskal / layanan publik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Kompensasi terlambat 180 hari; jaminan ditagih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Ungkap dukungan kontinjen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Kredit bank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Migrasi kredit; eksposur BUMN berkorelasi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CET1 setelah kerugian; batasi konsentrasi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 / pasar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 pilot tidak terulang; IP tidak memadai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Pendanaan per milestone independen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Lingkungan / sosial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emisi berlebih; izin gagal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Estimasi ulang; tangguhkan bila gagal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RISIKO TRANSFORMASI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terbesar adalah memperlakukan transformasi sebagai target kuantitas, bukan jalur bergerbang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12 (sintesis D1–D4)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195905"/>
                <a:gridCol w="6579805"/>
                <a:gridCol w="131596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Pengaman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DOCK-UP menjadi kuota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hanya dilepas per gerbang S yang terverifikasi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Duplikasi mandat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Piagam antarfungsi; unit hanya integrasi lintas portofolio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Dominasi promotor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Jalur risiko, legal dan audit terlindungi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Sentralisasi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Peta kewenangan per entitas; RASCI satu 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strategis disalahgunakan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Kasus finansial dan ekonomi; evaluasi ulang P6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D1, D2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Proteksi permanen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Proteksi sementara; target biaya setara impor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 tetap di luar negeri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Hak IPR dan paket alih teknologi dalam ofset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D3, D4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Klaim dampak berlebihan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Kelas bukti, lima tahap modal, kontrafaktual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Pemulihan memindahkan masalah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Valuasi independen; kewajiban warisan dipisahkan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D2, D4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dan AI keliru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Validasi data model; human-in-the-loop; RBAC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33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155448" cy="68580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2377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Resource Fund dan tokenisasi cadangan SDA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48640" y="3429000"/>
            <a:ext cx="100584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Pertanyaan: dapatkah cadangan sumber daya alam yang diestimasi badan bersertifikasi internasional menjadi dasar instrumen pembiayaan, bahkan mata uang khusus, untuk membiayai transformasi Danantara?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6–12 kajian: instrumen · valuasi · teknologi · penggunaan dana · tata kelola · risiko · pelajaran internasional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GAGASAN DAN KLAIM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 menjawab rendahnya fiscal capture SDA, tetapi klaim manfaatnya belum memiliki metodologi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D5 Indonesia Natural Resource Fund, Executive Summary (berkas 250925). Seluruh angka D5 diperlakukan sebagai kelas C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600200"/>
          <a:ext cx="6611112" cy="914400"/>
        </p:xfrm>
        <a:graphic>
          <a:graphicData uri="http://schemas.openxmlformats.org/drawingml/2006/table">
            <a:tbl>
              <a:tblPr/>
              <a:tblGrid>
                <a:gridCol w="3111112"/>
                <a:gridCol w="3500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Klaim D5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Angka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Manfaat fiskal langsung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Rp100 T (tahun 1); Rp1.000 T (tahun 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kapitalisasi batubara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 Rp10.000 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Proyeksi manfaat SDA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Rp336 T; 10,68% pendapatan negara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Porsi negara atas potensi batubara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Kurang dari 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Penerimaan SDA vs bunga utang 2024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Kurang dari 50%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548640" y="49377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676656" y="50292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ABS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367278" y="49377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3495294" y="50292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Note berbasis mineral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185916" y="49377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313932" y="50292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Royalty-Backed Financing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9004554" y="49377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9132570" y="50292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Reserve Trust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4681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opsi monetisasi D5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OPSI INSTRUMEN (BAB 6.2)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bentuk instrumen dinilai: dari mata uang khusus sampai efek negara yang ditokenisasi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6.2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072030" cy="31089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181599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 uang / stablecoin berbasis cadangan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pembayaran yang nilainya dipatok pada cadangan atau komoditas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803550" y="1600200"/>
            <a:ext cx="2072030" cy="31089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93156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057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931566" y="2203704"/>
            <a:ext cx="181599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klaim cadangan in-situ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token mewakili klaim atas sejumlah ton cadangan di dalam tanah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058461" y="1600200"/>
            <a:ext cx="2072030" cy="310896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186477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967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186477" y="2203704"/>
            <a:ext cx="181599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TEPSDA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Efek negara atau EBA yang membayar kupon dan pokok dari royalti dan PNBP, ditokenisasi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7313371" y="1600200"/>
            <a:ext cx="2072030" cy="310896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441387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878" y="1794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441387" y="2203704"/>
            <a:ext cx="181599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Sukuk negara berbasis aset SDA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SBSN dengan aset dasar terkait SDA, ditokenisasi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9568282" y="1600200"/>
            <a:ext cx="2072030" cy="31089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9696298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788" y="1794419"/>
            <a:ext cx="215067" cy="215067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696298" y="2203704"/>
            <a:ext cx="181599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trust cadangan mineral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penyertaan dalam trust yang memegang hak ekonomi bagian negara (opsi 4 D5)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548640" y="5029200"/>
            <a:ext cx="11091672" cy="68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548640" y="5029200"/>
            <a:ext cx="54864" cy="6858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731520" y="5029200"/>
            <a:ext cx="10771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TEPSDA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Token Efek Berbasis Penerimaan SDA, nama usulan kajian untuk efek yang agunannya arus kas penerimaan negara, bukan tonase.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PENILAIAN OPSI (BAB 6.3)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TEPSDA dan sukuk SDA unggul; mata uang dan klaim tonase gagal pada hampir semua kriteria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6.3. Bola Harvey: penilaian kualitatif kajian (penuh = baik, kosong = buruk)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398199"/>
                <a:gridCol w="1049212"/>
                <a:gridCol w="1049212"/>
                <a:gridCol w="1149137"/>
                <a:gridCol w="1149137"/>
                <a:gridCol w="1049212"/>
                <a:gridCol w="1049212"/>
                <a:gridCol w="2198349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Hukum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jujur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Stabilitas moneter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Transparansi fiskal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Ritel aman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Rekomendasi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Mata uang khusus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Klaim tonase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TEPSDA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Ya, instrumen utama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Sukuk SDA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Ya, varian syariah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Unit trust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Setelah pilot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" descr="koso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709" y="2334463"/>
            <a:ext cx="347472" cy="347472"/>
          </a:xfrm>
          <a:prstGeom prst="rect">
            <a:avLst/>
          </a:prstGeom>
        </p:spPr>
      </p:pic>
      <p:pic>
        <p:nvPicPr>
          <p:cNvPr id="12" name="Image 2" descr="seperemp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922" y="2334463"/>
            <a:ext cx="347472" cy="347472"/>
          </a:xfrm>
          <a:prstGeom prst="rect">
            <a:avLst/>
          </a:prstGeom>
        </p:spPr>
      </p:pic>
      <p:pic>
        <p:nvPicPr>
          <p:cNvPr id="13" name="Image 3" descr="koso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096" y="2334463"/>
            <a:ext cx="347472" cy="347472"/>
          </a:xfrm>
          <a:prstGeom prst="rect">
            <a:avLst/>
          </a:prstGeom>
        </p:spPr>
      </p:pic>
      <p:pic>
        <p:nvPicPr>
          <p:cNvPr id="14" name="Image 4" descr="seperempa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234" y="2334463"/>
            <a:ext cx="347472" cy="347472"/>
          </a:xfrm>
          <a:prstGeom prst="rect">
            <a:avLst/>
          </a:prstGeom>
        </p:spPr>
      </p:pic>
      <p:pic>
        <p:nvPicPr>
          <p:cNvPr id="15" name="Image 5" descr="seperempa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4408" y="2334463"/>
            <a:ext cx="347472" cy="347472"/>
          </a:xfrm>
          <a:prstGeom prst="rect">
            <a:avLst/>
          </a:prstGeom>
        </p:spPr>
      </p:pic>
      <p:pic>
        <p:nvPicPr>
          <p:cNvPr id="16" name="Image 6" descr="koso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3620" y="2334463"/>
            <a:ext cx="347472" cy="347472"/>
          </a:xfrm>
          <a:prstGeom prst="rect">
            <a:avLst/>
          </a:prstGeom>
        </p:spPr>
      </p:pic>
      <p:pic>
        <p:nvPicPr>
          <p:cNvPr id="17" name="Image 7" descr="seperempa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7709" y="3016606"/>
            <a:ext cx="347472" cy="347472"/>
          </a:xfrm>
          <a:prstGeom prst="rect">
            <a:avLst/>
          </a:prstGeom>
        </p:spPr>
      </p:pic>
      <p:pic>
        <p:nvPicPr>
          <p:cNvPr id="18" name="Image 8" descr="seperempa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6922" y="3016606"/>
            <a:ext cx="347472" cy="347472"/>
          </a:xfrm>
          <a:prstGeom prst="rect">
            <a:avLst/>
          </a:prstGeom>
        </p:spPr>
      </p:pic>
      <p:pic>
        <p:nvPicPr>
          <p:cNvPr id="19" name="Image 9" descr="setengah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6096" y="3016606"/>
            <a:ext cx="347472" cy="347472"/>
          </a:xfrm>
          <a:prstGeom prst="rect">
            <a:avLst/>
          </a:prstGeom>
        </p:spPr>
      </p:pic>
      <p:pic>
        <p:nvPicPr>
          <p:cNvPr id="20" name="Image 10" descr="seperempa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5234" y="3016606"/>
            <a:ext cx="347472" cy="347472"/>
          </a:xfrm>
          <a:prstGeom prst="rect">
            <a:avLst/>
          </a:prstGeom>
        </p:spPr>
      </p:pic>
      <p:pic>
        <p:nvPicPr>
          <p:cNvPr id="21" name="Image 11" descr="seperempa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94408" y="3016606"/>
            <a:ext cx="347472" cy="347472"/>
          </a:xfrm>
          <a:prstGeom prst="rect">
            <a:avLst/>
          </a:prstGeom>
        </p:spPr>
      </p:pic>
      <p:pic>
        <p:nvPicPr>
          <p:cNvPr id="22" name="Image 12" descr="koso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43620" y="3016606"/>
            <a:ext cx="347472" cy="347472"/>
          </a:xfrm>
          <a:prstGeom prst="rect">
            <a:avLst/>
          </a:prstGeom>
        </p:spPr>
      </p:pic>
      <p:pic>
        <p:nvPicPr>
          <p:cNvPr id="23" name="Image 13" descr="penuh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97709" y="3698748"/>
            <a:ext cx="347472" cy="347472"/>
          </a:xfrm>
          <a:prstGeom prst="rect">
            <a:avLst/>
          </a:prstGeom>
        </p:spPr>
      </p:pic>
      <p:pic>
        <p:nvPicPr>
          <p:cNvPr id="24" name="Image 14" descr="penuh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46922" y="3698748"/>
            <a:ext cx="347472" cy="347472"/>
          </a:xfrm>
          <a:prstGeom prst="rect">
            <a:avLst/>
          </a:prstGeom>
        </p:spPr>
      </p:pic>
      <p:pic>
        <p:nvPicPr>
          <p:cNvPr id="25" name="Image 15" descr="penuh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46096" y="3698748"/>
            <a:ext cx="347472" cy="347472"/>
          </a:xfrm>
          <a:prstGeom prst="rect">
            <a:avLst/>
          </a:prstGeom>
        </p:spPr>
      </p:pic>
      <p:pic>
        <p:nvPicPr>
          <p:cNvPr id="26" name="Image 16" descr="penuh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5234" y="3698748"/>
            <a:ext cx="347472" cy="347472"/>
          </a:xfrm>
          <a:prstGeom prst="rect">
            <a:avLst/>
          </a:prstGeom>
        </p:spPr>
      </p:pic>
      <p:pic>
        <p:nvPicPr>
          <p:cNvPr id="27" name="Image 17" descr="tiga perempat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94408" y="3698748"/>
            <a:ext cx="347472" cy="347472"/>
          </a:xfrm>
          <a:prstGeom prst="rect">
            <a:avLst/>
          </a:prstGeom>
        </p:spPr>
      </p:pic>
      <p:pic>
        <p:nvPicPr>
          <p:cNvPr id="28" name="Image 18" descr="tiga perempat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43620" y="3698748"/>
            <a:ext cx="347472" cy="347472"/>
          </a:xfrm>
          <a:prstGeom prst="rect">
            <a:avLst/>
          </a:prstGeom>
        </p:spPr>
      </p:pic>
      <p:pic>
        <p:nvPicPr>
          <p:cNvPr id="29" name="Image 19" descr="tiga perempat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97709" y="4380890"/>
            <a:ext cx="347472" cy="347472"/>
          </a:xfrm>
          <a:prstGeom prst="rect">
            <a:avLst/>
          </a:prstGeom>
        </p:spPr>
      </p:pic>
      <p:pic>
        <p:nvPicPr>
          <p:cNvPr id="30" name="Image 20" descr="penuh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46922" y="4380890"/>
            <a:ext cx="347472" cy="347472"/>
          </a:xfrm>
          <a:prstGeom prst="rect">
            <a:avLst/>
          </a:prstGeom>
        </p:spPr>
      </p:pic>
      <p:pic>
        <p:nvPicPr>
          <p:cNvPr id="31" name="Image 21" descr="penuh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46096" y="4380890"/>
            <a:ext cx="347472" cy="347472"/>
          </a:xfrm>
          <a:prstGeom prst="rect">
            <a:avLst/>
          </a:prstGeom>
        </p:spPr>
      </p:pic>
      <p:pic>
        <p:nvPicPr>
          <p:cNvPr id="32" name="Image 22" descr="penuh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95234" y="4380890"/>
            <a:ext cx="347472" cy="347472"/>
          </a:xfrm>
          <a:prstGeom prst="rect">
            <a:avLst/>
          </a:prstGeom>
        </p:spPr>
      </p:pic>
      <p:pic>
        <p:nvPicPr>
          <p:cNvPr id="33" name="Image 23" descr="penuh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94408" y="4380890"/>
            <a:ext cx="347472" cy="347472"/>
          </a:xfrm>
          <a:prstGeom prst="rect">
            <a:avLst/>
          </a:prstGeom>
        </p:spPr>
      </p:pic>
      <p:pic>
        <p:nvPicPr>
          <p:cNvPr id="34" name="Image 24" descr="penuh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43620" y="4380890"/>
            <a:ext cx="347472" cy="347472"/>
          </a:xfrm>
          <a:prstGeom prst="rect">
            <a:avLst/>
          </a:prstGeom>
        </p:spPr>
      </p:pic>
      <p:pic>
        <p:nvPicPr>
          <p:cNvPr id="35" name="Image 25" descr="setengah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97709" y="5063033"/>
            <a:ext cx="347472" cy="347472"/>
          </a:xfrm>
          <a:prstGeom prst="rect">
            <a:avLst/>
          </a:prstGeom>
        </p:spPr>
      </p:pic>
      <p:pic>
        <p:nvPicPr>
          <p:cNvPr id="36" name="Image 26" descr="setengah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46922" y="5063033"/>
            <a:ext cx="347472" cy="347472"/>
          </a:xfrm>
          <a:prstGeom prst="rect">
            <a:avLst/>
          </a:prstGeom>
        </p:spPr>
      </p:pic>
      <p:pic>
        <p:nvPicPr>
          <p:cNvPr id="37" name="Image 27" descr="tiga perempat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46096" y="5063033"/>
            <a:ext cx="347472" cy="347472"/>
          </a:xfrm>
          <a:prstGeom prst="rect">
            <a:avLst/>
          </a:prstGeom>
        </p:spPr>
      </p:pic>
      <p:pic>
        <p:nvPicPr>
          <p:cNvPr id="38" name="Image 28" descr="setengah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95234" y="5063033"/>
            <a:ext cx="347472" cy="347472"/>
          </a:xfrm>
          <a:prstGeom prst="rect">
            <a:avLst/>
          </a:prstGeom>
        </p:spPr>
      </p:pic>
      <p:pic>
        <p:nvPicPr>
          <p:cNvPr id="39" name="Image 29" descr="setengah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94408" y="5063033"/>
            <a:ext cx="347472" cy="347472"/>
          </a:xfrm>
          <a:prstGeom prst="rect">
            <a:avLst/>
          </a:prstGeom>
        </p:spPr>
      </p:pic>
      <p:pic>
        <p:nvPicPr>
          <p:cNvPr id="40" name="Image 30" descr="setengah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43620" y="5063033"/>
            <a:ext cx="347472" cy="347472"/>
          </a:xfrm>
          <a:prstGeom prst="rect">
            <a:avLst/>
          </a:prstGeom>
        </p:spPr>
      </p:pic>
      <p:sp>
        <p:nvSpPr>
          <p:cNvPr id="41" name="Text 6"/>
          <p:cNvSpPr txBox="1"/>
          <p:nvPr/>
        </p:nvSpPr>
        <p:spPr>
          <a:xfrm>
            <a:off x="548640" y="5760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Penuh = baik · tiga perempat · setengah · seperempat · kosong = buruk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MENGAPA BUKAN MATA UANG (BAB 6.4)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 uang khusus berbasis cadangan tidak layak secara hukum dan berisiko tinggi secara moneter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6.4. Rujukan hukum dan Petro perlu diverifikasi dengan naskah resmi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30175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237972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HUKUM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Rupiah satu-satunya alat pembayaran sah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 7/2011 dan kewenangan BI atas penerbitan uang, termasuk Rupiah digital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367278" y="1600200"/>
            <a:ext cx="2635758" cy="30175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9529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785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95294" y="2203704"/>
            <a:ext cx="237972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MONETER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Dualisme moneter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berfluktuasi mengikuti harga komoditas; risiko dolarisasi dan arus modal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185916" y="1600200"/>
            <a:ext cx="2635758" cy="30175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13932" y="2203704"/>
            <a:ext cx="237972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LIKUIDITAS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Janji penebusan tidak kredibel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Cadangan di dalam tanah tidak dapat dicairkan cepat untuk menebus unit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9004554" y="1600200"/>
            <a:ext cx="2635758" cy="30175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32570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061" y="1794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32570" y="2203704"/>
            <a:ext cx="237972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PRESEDEN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Petro, Venezuela (2018)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Diklaim didukung minyak; tanpa penebusan, verifikasi atau pasar kredibel; dihentikan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548640" y="4892040"/>
            <a:ext cx="11091672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731520" y="489204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Cadangan di dalam tanah tidak menciptakan kepercayaan dengan sendirinya; yang menciptakannya adalah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 hukum yang jelas, arus kas yang dapat diverifikasi, dan tata kelola yang dapat diuji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DESAIN TEPSDA (BAB 6.6)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TEPSDA: efek beragun arus kas negara, ditokenisasi di jaringan berizin dan diselesaikan dalam Rupiah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6.6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1091672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6367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1636776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(SBN/SBSN), atau SPV NRF sebagai efek beragun aset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2221992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2258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Aset dasar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2258568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 atas sebagian arus kas penerimaan negara dari wilayah dengan laporan Competent Person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2843784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3429000" y="2880360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di buku besar terdistribusi berizin, setara pencatatan efek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3465576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1143000" y="35021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Penyelesaian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3429000" y="3502152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Rupiah melalui sistem BI (DvP); kelak Rupiah digital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4087368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123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1143000" y="412394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Pembayaran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3429000" y="4123944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Kupon dan pokok dari arus kas aktual melalui waterfall terprogram dan rasio cakupan minimum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48640" y="470916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8640" y="4745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1143000" y="474573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 ritel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3429000" y="4745736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 pembelian, edukasi wajib, agen berizin termasuk koperasi yang memenuhi syarat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48640" y="5330952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48640" y="5367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36" name="Text 32"/>
          <p:cNvSpPr txBox="1"/>
          <p:nvPr/>
        </p:nvSpPr>
        <p:spPr>
          <a:xfrm>
            <a:off x="1143000" y="53675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Pengungkapan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3429000" y="5367528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Cadangan, produksi, penerimaan dan cakupan dipublikasikan setiap kuartal (proof of reserve and revenue)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548640" y="5952744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ALUR TEPSDA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Arus kas mengalir dari cadangan terverifikasi ke investor melalui waterfall yang transparan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6.6 dan 8.2. Diagram konseptual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896466" cy="146304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1655064"/>
            <a:ext cx="171358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Cadangan terverifikasi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Competent Person KCMI/CRIRSCO per wilayah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518258" y="222199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847442" y="1600200"/>
            <a:ext cx="1896466" cy="146304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938882" y="1655064"/>
            <a:ext cx="171358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Penerimaan negara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Royalti, PNBP, pajak, dividen BUMN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17059" y="222199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46243" y="1600200"/>
            <a:ext cx="1896466" cy="146304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237683" y="1655064"/>
            <a:ext cx="171358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 / SPV penerbit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satu cadangan, satu klaim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115861" y="222199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45045" y="1600200"/>
            <a:ext cx="1896466" cy="14630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536485" y="1655064"/>
            <a:ext cx="171358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TEPSDA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Buku besar berizin; kustodian; KYC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414662" y="222199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743846" y="1600200"/>
            <a:ext cx="1896466" cy="14630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835286" y="1655064"/>
            <a:ext cx="171358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Institusi dan ritel; penyelesaian Rupiah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 pembayaran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48640" y="5257800"/>
            <a:ext cx="2130552" cy="914400"/>
          </a:xfrm>
          <a:prstGeom prst="rect">
            <a:avLst/>
          </a:prstGeom>
          <a:solidFill>
            <a:srgbClr val="C9D3E3"/>
          </a:solidFill>
          <a:ln w="6350">
            <a:solidFill>
              <a:srgbClr val="C9D3E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0080" y="5330952"/>
            <a:ext cx="1947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Penerimaan masuk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Arus kas aktual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2788920" y="4892040"/>
            <a:ext cx="2130552" cy="1280160"/>
          </a:xfrm>
          <a:prstGeom prst="rect">
            <a:avLst/>
          </a:prstGeom>
          <a:solidFill>
            <a:srgbClr val="7FB2E5"/>
          </a:solidFill>
          <a:ln w="6350">
            <a:solidFill>
              <a:srgbClr val="7FB2E5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880360" y="4965192"/>
            <a:ext cx="19476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Cadangan likuiditas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Penyangga harga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29200" y="4526280"/>
            <a:ext cx="2130552" cy="1645920"/>
          </a:xfrm>
          <a:prstGeom prst="rect">
            <a:avLst/>
          </a:prstGeom>
          <a:solidFill>
            <a:srgbClr val="0091DA"/>
          </a:solidFill>
          <a:ln w="6350">
            <a:solidFill>
              <a:srgbClr val="0091DA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120640" y="4599432"/>
            <a:ext cx="19476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Kupon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 investor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7269480" y="4160520"/>
            <a:ext cx="2130552" cy="201168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360920" y="4233672"/>
            <a:ext cx="194767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Pokok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Amortisasi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9509760" y="3794760"/>
            <a:ext cx="2130552" cy="237744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601200" y="3867912"/>
            <a:ext cx="194767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Sisa ke NRF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Tabungan dan investasi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STANDAR CADANGAN (BAB 7.1)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 cadangan terbukti dan terkira menurut KCMI/CRIRSCO yang layak menjadi dasar pembiayaan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7.1. Keluarga CRIRSCO: JORC, NI 43-101/CIM, SAMREC, PERC, KCMI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819917"/>
                <a:gridCol w="4887855"/>
                <a:gridCol w="33839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Kategori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Dasar pembiayaan?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99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Sumber daya tereka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Keyakinan geologi rendah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9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Sumber daya tertunjuk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Keyakinan sedang; belum diuji ekonomi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99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Sumber daya terukur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Keyakinan tinggi; belum diuji ekonomi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secara langsung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9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Cadangan terkira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Bagian ekonomis setelah faktor pengubah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Ya, haircut lebih besar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499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Cadangan terbukti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Bagian ekonomis dari sumber daya terukur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754880"/>
            <a:ext cx="11091672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475488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“Estimasi resmi oleh badan bersertifikasi internasional” = laporan KCMI/CRIRSCO oleh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Competent Person independen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diverifikasi pihak ketiga, dan dipadukan dengan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valuasi independen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URUTAN VALUASI (BAB 7.2)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Tujuh langkah mengubah tonase cadangan menjadi nilai yang dapat dibiayai secara jujur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7.2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471166" cy="13258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1655064"/>
            <a:ext cx="22882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Cadangan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Terbukti dan terkira per wilayah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092958" y="2153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22142" y="1600200"/>
            <a:ext cx="2471166" cy="13258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513582" y="1655064"/>
            <a:ext cx="22882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Produksi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realistis sesuai izin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66460" y="2153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95644" y="1600200"/>
            <a:ext cx="2471166" cy="13258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387084" y="1655064"/>
            <a:ext cx="22882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Harga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deck konservatif + transisi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839962" y="2153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169146" y="1600200"/>
            <a:ext cx="2471166" cy="13258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260586" y="1655064"/>
            <a:ext cx="22882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Bagian negara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Royalti, PNBP, pajak, dividen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48640" y="3246120"/>
            <a:ext cx="3429000" cy="132588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0080" y="3300984"/>
            <a:ext cx="32461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Nilai kini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Diskonto sesuai risiko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050792" y="37993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79976" y="3246120"/>
            <a:ext cx="3429000" cy="132588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471416" y="3300984"/>
            <a:ext cx="32461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Haircut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Harga, produksi, hukum, sosial, transisi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882128" y="37993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11312" y="3246120"/>
            <a:ext cx="3429000" cy="13258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302752" y="3300984"/>
            <a:ext cx="32461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Rasio cakupan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1,5–2,0× terhadap efek beredar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48640" y="4937760"/>
            <a:ext cx="11091672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48640" y="4937760"/>
            <a:ext cx="54864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31520" y="4937760"/>
            <a:ext cx="10771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CRIRSCO menjawab 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berapa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cadangan yang ada; valuasi independen menjawab 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berapa nilai bagian negara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Keduanya diperlukan sebelum penerbitan.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ILUSTRASI VALUASI (BAB 7.3)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yang dapat dibiayai mungkin hanya sekitar 5–7% dari nilai in-situ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7.3. Ilustrasi hipotetis (kelas D), bukan estimasi wilayah mana pun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600200"/>
          <a:ext cx="4233672" cy="914400"/>
        </p:xfrm>
        <a:graphic>
          <a:graphicData uri="http://schemas.openxmlformats.org/drawingml/2006/table">
            <a:tbl>
              <a:tblPr/>
              <a:tblGrid>
                <a:gridCol w="2925082"/>
                <a:gridCol w="130859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Langkah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in-situ: 1.000 juta ton × USD80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USD80,0 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Bagian negara/tahun: 50 juta ton × USD80 × 15%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USD0,6 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kini 20 tahun @8%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USD5,89 M (7,4%)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Kapasitas penerbitan, cakupan 1,5×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USD3,93 M (4,9%)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Skenario transisi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USD3,31 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7406640" y="5029200"/>
            <a:ext cx="4233672" cy="1143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589520" y="5029200"/>
            <a:ext cx="3867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Klaim “kapitalisasi Rp10.000 T” perlu diterjemahkan menjadi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kini bagian negara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sebelum dipakai untuk target fiskal.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ATURAN VALUASI (BAB 7.4)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valuasi mencegah agunan berlebihan dan penjaminan ganda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7.4. Persentase pengakuan cadangan terkira adalah usulan kebijakan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31922"/>
                <a:gridCol w="845975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Aturan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Kategori yang diakui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Cadangan terbukti 100% setelah haircut; terkira maksimal 50–70%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Competent Person dan valuator tidak terafiliasi dengan penerbit, pembeli atau pemegang izin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Re-estimasi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Tahunan, dan setiap perubahan material (harga, izin, kecelakaan, regulasi)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kecukupan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Rasio cakupan diuji setiap kuartal; di bawah ambang menghentikan penerbitan baru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Transisi energi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Batubara: haircut tambahan dan tenor pendek; mineral transisi diuji pada harga rendah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Larangan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Sumber daya tereka/tertunjuk; wilayah sengketa; cadangan yang sudah menjadi agunan lain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ARSITEKTUR TEKNOLOGI (BAB 8.2)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Delapan lapisan teknologi menghubungkan data cadangan resmi dengan token dan penyelesaian Rupiah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8.1–8.2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7498080" cy="47548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16002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Pengungkapan publik: cadangan, produksi, penerimaan, cakupan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148840"/>
            <a:ext cx="7498080" cy="475488"/>
          </a:xfrm>
          <a:prstGeom prst="rect">
            <a:avLst/>
          </a:prstGeom>
          <a:solidFill>
            <a:srgbClr val="1A4A9E"/>
          </a:solidFill>
          <a:ln w="12700">
            <a:solidFill>
              <a:srgbClr val="1A4A9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214884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Kustodian dan identitas: KYC/AML, dompet berizin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697480"/>
            <a:ext cx="7498080" cy="47548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269748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Penyelesaian: DvP Rupiah (RTGS/BI-FAST), kelak Rupiah digital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246120"/>
            <a:ext cx="7498080" cy="475488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" y="324612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pintar waterfall: likuiditas → kupon → pokok → sisa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3794760"/>
            <a:ext cx="7498080" cy="475488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37947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Buku besar berizin: penerbitan, kepemilikan, transfer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4343400"/>
            <a:ext cx="7498080" cy="475488"/>
          </a:xfrm>
          <a:prstGeom prst="rect">
            <a:avLst/>
          </a:prstGeom>
          <a:solidFill>
            <a:srgbClr val="A9C6EC"/>
          </a:solidFill>
          <a:ln w="12700">
            <a:solidFill>
              <a:srgbClr val="A9C6E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43434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terverifikasi: data resmi ditandatangani digital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48640" y="4892040"/>
            <a:ext cx="7498080" cy="475488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85800" y="489204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cadangan NRF: satu cadangan, satu klaim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48640" y="5440680"/>
            <a:ext cx="7498080" cy="475488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5800" y="544068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sumber: laporan KCMI, produksi ESDM, penerimaan Kemenkeu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8321040" y="1600200"/>
            <a:ext cx="3319272" cy="13258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490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547" y="1794419"/>
            <a:ext cx="215067" cy="21506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449056" y="2203704"/>
            <a:ext cx="3063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Berizin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Partisipan diketahui dan diawasi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8321040" y="3035808"/>
            <a:ext cx="3319272" cy="13258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449056" y="3145536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547" y="3230027"/>
            <a:ext cx="215067" cy="215067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449056" y="3639312"/>
            <a:ext cx="3063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Hukum di atas kode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 diatur prospektus dan peraturan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8321040" y="4471416"/>
            <a:ext cx="3319272" cy="13258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8449056" y="4581144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3547" y="4665635"/>
            <a:ext cx="215067" cy="215067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449056" y="5074920"/>
            <a:ext cx="3063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Interoperabel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efek nasional dan sistem BI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PENGAMAN TEKNOLOGI (BAB 8.3)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Tokenisasi hanya memperkuat kepercayaan bila keamanan setara infrastruktur pasar keuangan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8.3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5454396" cy="19659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519836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kode independen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 peluncuran dan setiap perubahan kontrak pintar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185916" y="1600200"/>
            <a:ext cx="5454396" cy="19659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13932" y="2203704"/>
            <a:ext cx="519836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dan pemulihan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yang diatur hukum dengan otorisasi berlapis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548640" y="3749040"/>
            <a:ext cx="5454396" cy="19659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76656" y="385876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47" y="394325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76656" y="4352544"/>
            <a:ext cx="519836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siber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Setara infrastruktur pasar keuangan; uji penetrasi berkala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6185916" y="3749040"/>
            <a:ext cx="5454396" cy="19659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313932" y="385876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423" y="394325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313932" y="4352544"/>
            <a:ext cx="519836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Pemisahan peran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jaringan, penerbit, kustodian dan agen pembayaran terpisah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PENGGUNAAN DANA (BAB 9.1)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 NRF dialokasikan ke lima porsi dengan pengelola dan aturan yang berbeda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9.1. Besaran porsi ditetapkan undang-undang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255933"/>
                <a:gridCol w="3571894"/>
                <a:gridCol w="2725919"/>
                <a:gridCol w="253792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Tujuan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Pengelola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Aturan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Tabungan antargenerasi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Mengganti kekayaan tidak terbarukan dengan aset keuangan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 (mandat NRF)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Porsi minimum di undang-undang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Stabilisasi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Penyangga saat harga komoditas turun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 / Kemenkeu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Penarikan berbasis harga acuan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 produktif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Hilirisasi, platform industri, infrastruktur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DDMF/DIM via unit Industri Strategis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Hanya proyek lolos P0–P6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Pengembangan pemasok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DOCK-UP: hibah, fasilitas, first-loss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Industri Strategis + DDMF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Dilepas per gerbang S1–S4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Distribusi manfaat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Program, misalnya melalui koperasi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Kementerian/lembaga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Dianggarkan eksplisit; bukan dari utang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HILIRISASI DAN LARANGAN (BAB 9.2–9.3)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 berbasis SDA paling tepat untuk mengubah sumber daya menjadi kapabilitas industri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9.2–9.3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16002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Syarat proyek hilirisasi yang didanai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1965960"/>
            <a:ext cx="6035040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200253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2002536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Lolos P2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063240" y="2002536"/>
            <a:ext cx="3520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teknis, pasar, lingkungan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2834640"/>
            <a:ext cx="603504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287121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2871216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lokalisasi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3063240" y="2871216"/>
            <a:ext cx="3520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gerbang S untuk pemasok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3703320"/>
            <a:ext cx="603504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37398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" y="3739896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Ukuran hasil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3063240" y="3739896"/>
            <a:ext cx="3520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D02, D05, D06 vs kontrafaktual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48640" y="4572000"/>
            <a:ext cx="603504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460857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1143000" y="4608576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stres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3063240" y="4608576"/>
            <a:ext cx="3520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 rendah dan transisi energi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548640" y="5440680"/>
            <a:ext cx="603504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0" y="1600200"/>
            <a:ext cx="4690872" cy="411480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077456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947" y="1794419"/>
            <a:ext cx="215067" cy="215067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077456" y="2203704"/>
            <a:ext cx="443484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Larangan penggunaan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Belanja rutin atau subsidi berulang dari hasil TEPSDA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Menutup kerugian BUMN tanpa rencana pemulihan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Proyek tanpa register, sponsor dan pemimpin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Menjaminkan kembali hasil investasi yang dibiayai TEPSDA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TATA KELOLA (BAB 10.1)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 mengikuti Santiago Principles dan memisahkan pemilik kekayaan dari pengelola investasi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10.1 dan 5. Santiago Principles (IFSWF); OECD SOE Guidelines 2024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195905"/>
                <a:gridCol w="789576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Prinsip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Penerapan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Landasan hukum jelas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Undang-undang NRF: tujuan, aturan penarikan, porsi tabungan, larangan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Pemisahan pemilik dan pengelola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NRF/Kemenkeu pemilik; Danantara pengelola bermandat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Aturan fiskal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Batas penerbitan; rasio cakupan; dicatat sebagai utang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Independensi valuasi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Competent Person dan valuator independen; komite valuasi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Transparansi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Laporan tahunan teraudit dan kuartalan; portal data publik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Akuntabilitas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BPK; pelaporan ke DPR; evaluasi independen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Pencegahan konflik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Larangan kepentingan di pemegang izin; register konflik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PERLINDUNGAN DAN DISTRIBUSI (BAB 10.2–10.4)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Perlindungan investor, proses hukum yang adil, dan pemisahan jalur program dari jalur investasi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10.2–10.4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3575304" cy="35661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331927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Perlindungan investor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Prospektus memuat risiko harga, transisi, hukum, teknologi, likuiditas. Seri ritel: batas pembelian, edukasi wajib, kanal berizin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306824" y="1600200"/>
            <a:ext cx="3575304" cy="35661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434840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31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434840" y="2203704"/>
            <a:ext cx="331927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Penertiban dan peninjauan izin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hukum yang adil; hak masyarakat dan masyarakat adat; risiko sengketa dan arbitrase investasi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065008" y="1600200"/>
            <a:ext cx="3575304" cy="35661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19302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515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93024" y="2203704"/>
            <a:ext cx="331927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Koperasi: dua jalur terpisah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Jalur program dianggarkan dari penerimaan aktual. Jalur investasi: koperasi sebagai agen penjual seri ritel di bawah OJK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RISIKO (BAB 11.1)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Sepuluh risiko utama, dari harga komoditas sampai reputasi, masing-masing dengan pengaman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11.1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443928"/>
                <a:gridCol w="4135878"/>
                <a:gridCol w="451186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Mekanisme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Pengaman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 komoditas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Arus kas dan cakupan turun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deck konservatif; cadangan likuiditas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Transisi energi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Permintaan batubara turun; aset terdampar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Haircut tambahan; tenor pendek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Hukum dan perizinan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Sengketa izin, perubahan regulasi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Hanya wilayah berstatus final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Fiskal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Utang bertambah; penerimaan terikat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Dicatat sebagai utang; batas penerbitan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Moneter dan nilai tukar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Arus modal asing; tekanan Rupiah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Penyelesaian Rupiah; koordinasi BI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Tata kelola dan capture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Dana untuk proyek tidak layak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Gerbang P0–P6; audit independen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Valuasi berlebihan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in-situ dipakai sebagai agunan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Aturan valuasi Bab 7.4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 dan siber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Kegagalan kontrak pintar, peretasan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kode; jaringan berizin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Reputasi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Persepsi mata uang tambang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Komunikasi: efek negara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Lingkungan dan sosial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Kerusakan, konflik lahan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Faktor pengubah KCMI; ESG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UJI STRES (BAB 11.2)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uji stres dijalankan simultan di tingkat grup NRF, Danantara dan perbankan BUMN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11.2. Guncangan ilustratif, bukan proyeksi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067939"/>
                <a:gridCol w="4699861"/>
                <a:gridCol w="4323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Skenario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Guncangan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Ukuran yang diuji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08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Batubara −40%, mineral −30% selama 3 tahun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Rasio cakupan; cadangan likuiditas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8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Produksi batubara −50% dalam 10 tahun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kini bagian negara; bayar pokok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08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Hukum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 wilayah terkena sengketa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Penggantian aset dasar; seri beredar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8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tukar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Rupiah −15%; spread +200 bps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refinancing; arus modal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08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Gabungan grup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 turun + BUMN tambang rugi + bank BUMN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Korelasi risiko lintas grup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303520"/>
            <a:ext cx="11091672" cy="59436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30352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penerbitan baru bila rasio cakupan hasil uji stres berada di bawah ambang yang ditetapkan.</a:t>
            </a:r>
            <a:endParaRPr lang="en-US" sz="13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PELAJARAN INTERNASIONAL (BAB 12)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 sumber daya terbaik menabung penerimaan; tokenisasi berhasil pada efek yang sudah dikenal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12. Rujukan eksternal dari pengetahuan umum penyusun; perlu diverifikasi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32918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237972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 SUMBER DAYA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Tabung, bukan pinjam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Norwegia (GPFG), Chile (ESSF), Botswana (Pula Fund), Timor-Leste: penerimaan ditabung dengan aturan penarikan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367278" y="1600200"/>
            <a:ext cx="2635758" cy="32918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9529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785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95294" y="2203704"/>
            <a:ext cx="237972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PINJAMAN BERBASIS SDA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 dan tertutup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Sering kurang transparan, mengikat produksi, sulit direstrukturisasi saat harga jatuh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185916" y="1600200"/>
            <a:ext cx="2635758" cy="32918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13932" y="2203704"/>
            <a:ext cx="237972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TOKENISASI EFEK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Efisiensi, bukan pengganti hukum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Dunia, EIB, Hong Kong: efek dikenal, dicatat di buku besar terdistribusi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9004554" y="1600200"/>
            <a:ext cx="2635758" cy="32918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32570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061" y="1794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32570" y="2203704"/>
            <a:ext cx="237972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NEGARA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Petro: kredibilitas gagal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penebusan, verifikasi cadangan atau tata kelola yang dapat diuji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548640" y="507492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731520" y="5074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Indonesia: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tabung penerimaan aktual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TEPSDA terbatas dan transparan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penggunaan dana bergerbang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PETA JALAN TERPADU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Tujuh alur kerja, termasuk NRF, berjalan paralel dalam empat tahap hingga 24 bulan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13 (menyatukan jadwal D1, D2, D3, D4). Belah ketupat = titik keputusan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23160" y="1600200"/>
            <a:ext cx="2249424" cy="38404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423160" y="16002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0–30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27448" y="1600200"/>
            <a:ext cx="2249424" cy="38404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27448" y="16002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31–90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031736" y="1600200"/>
            <a:ext cx="2249424" cy="38404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031736" y="16002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4–12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336024" y="1600200"/>
            <a:ext cx="2249424" cy="38404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336024" y="16002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12–24+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2075688"/>
            <a:ext cx="1783080" cy="4572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20756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2459736" y="2130552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551176" y="21305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Register; piagam unit; proyek uji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764024" y="2130552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855464" y="21305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keputusan; evaluasi uji coba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068312" y="2130552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159752" y="21305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Perluasan ke portofolio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9372600" y="2130552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464040" y="21305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permanen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48640" y="2569464"/>
            <a:ext cx="1783080" cy="4572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40080" y="25694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Kinerja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2459736" y="2624328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2551176" y="262432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Jembatan perimeter; kamus data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64024" y="2624328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855464" y="262432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pertama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068312" y="2624328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159752" y="262432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portofolio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9372600" y="2624328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464040" y="262432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teraudit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548640" y="3063240"/>
            <a:ext cx="1783080" cy="4572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40080" y="3063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2459736" y="3118104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551176" y="311810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anchor di register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4764024" y="3118104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855464" y="311810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komponen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7068312" y="3118104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159752" y="311810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Agregasi; kontrak payung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9372600" y="3118104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9464040" y="311810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tambahan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548640" y="3557016"/>
            <a:ext cx="1783080" cy="4572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640080" y="355701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DOCK-UP</a:t>
            </a:r>
            <a:endParaRPr lang="en-US" sz="1250" dirty="0"/>
          </a:p>
        </p:txBody>
      </p:sp>
      <p:sp>
        <p:nvSpPr>
          <p:cNvPr id="50" name="Shape 46"/>
          <p:cNvSpPr/>
          <p:nvPr/>
        </p:nvSpPr>
        <p:spPr>
          <a:xfrm>
            <a:off x="2459736" y="3611880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2551176" y="36118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rintisan; asesor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4764024" y="3611880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4855464" y="36118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20–30 UKM</a:t>
            </a:r>
            <a:endParaRPr lang="en-US" sz="1050" dirty="0"/>
          </a:p>
        </p:txBody>
      </p:sp>
      <p:sp>
        <p:nvSpPr>
          <p:cNvPr id="54" name="Shape 50"/>
          <p:cNvSpPr/>
          <p:nvPr/>
        </p:nvSpPr>
        <p:spPr>
          <a:xfrm>
            <a:off x="7068312" y="3611880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7159752" y="36118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S1, S2; sertifikasi C1</a:t>
            </a:r>
            <a:endParaRPr lang="en-US" sz="1050" dirty="0"/>
          </a:p>
        </p:txBody>
      </p:sp>
      <p:sp>
        <p:nvSpPr>
          <p:cNvPr id="56" name="Shape 52"/>
          <p:cNvSpPr/>
          <p:nvPr/>
        </p:nvSpPr>
        <p:spPr>
          <a:xfrm>
            <a:off x="9372600" y="3611880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9464040" y="36118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S3; seluruh DEFEND ID</a:t>
            </a:r>
            <a:endParaRPr lang="en-US" sz="1050" dirty="0"/>
          </a:p>
        </p:txBody>
      </p:sp>
      <p:sp>
        <p:nvSpPr>
          <p:cNvPr id="58" name="Shape 54"/>
          <p:cNvSpPr/>
          <p:nvPr/>
        </p:nvSpPr>
        <p:spPr>
          <a:xfrm>
            <a:off x="548640" y="4050792"/>
            <a:ext cx="1783080" cy="4572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40080" y="40507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BUMN Konstruksi</a:t>
            </a:r>
            <a:endParaRPr lang="en-US" sz="1250" dirty="0"/>
          </a:p>
        </p:txBody>
      </p:sp>
      <p:sp>
        <p:nvSpPr>
          <p:cNvPr id="60" name="Shape 56"/>
          <p:cNvSpPr/>
          <p:nvPr/>
        </p:nvSpPr>
        <p:spPr>
          <a:xfrm>
            <a:off x="2459736" y="4105656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2551176" y="410565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request teraudit</a:t>
            </a:r>
            <a:endParaRPr lang="en-US" sz="1050" dirty="0"/>
          </a:p>
        </p:txBody>
      </p:sp>
      <p:sp>
        <p:nvSpPr>
          <p:cNvPr id="62" name="Shape 58"/>
          <p:cNvSpPr/>
          <p:nvPr/>
        </p:nvSpPr>
        <p:spPr>
          <a:xfrm>
            <a:off x="4764024" y="4105656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4855464" y="410565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per aset</a:t>
            </a:r>
            <a:endParaRPr lang="en-US" sz="1050" dirty="0"/>
          </a:p>
        </p:txBody>
      </p:sp>
      <p:sp>
        <p:nvSpPr>
          <p:cNvPr id="64" name="Shape 60"/>
          <p:cNvSpPr/>
          <p:nvPr/>
        </p:nvSpPr>
        <p:spPr>
          <a:xfrm>
            <a:off x="7068312" y="4105656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7159752" y="410565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Selektivitas; penagihan</a:t>
            </a:r>
            <a:endParaRPr lang="en-US" sz="1050" dirty="0"/>
          </a:p>
        </p:txBody>
      </p:sp>
      <p:sp>
        <p:nvSpPr>
          <p:cNvPr id="66" name="Shape 62"/>
          <p:cNvSpPr/>
          <p:nvPr/>
        </p:nvSpPr>
        <p:spPr>
          <a:xfrm>
            <a:off x="9372600" y="4105656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9464040" y="410565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Kontraktor disiplin</a:t>
            </a:r>
            <a:endParaRPr lang="en-US" sz="1050" dirty="0"/>
          </a:p>
        </p:txBody>
      </p:sp>
      <p:sp>
        <p:nvSpPr>
          <p:cNvPr id="68" name="Shape 64"/>
          <p:cNvSpPr/>
          <p:nvPr/>
        </p:nvSpPr>
        <p:spPr>
          <a:xfrm>
            <a:off x="548640" y="4544568"/>
            <a:ext cx="1783080" cy="4572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640080" y="45445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dan AI</a:t>
            </a:r>
            <a:endParaRPr lang="en-US" sz="1250" dirty="0"/>
          </a:p>
        </p:txBody>
      </p:sp>
      <p:sp>
        <p:nvSpPr>
          <p:cNvPr id="70" name="Shape 66"/>
          <p:cNvSpPr/>
          <p:nvPr/>
        </p:nvSpPr>
        <p:spPr>
          <a:xfrm>
            <a:off x="2459736" y="4599432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2551176" y="459943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data, ERP read-only</a:t>
            </a:r>
            <a:endParaRPr lang="en-US" sz="1050" dirty="0"/>
          </a:p>
        </p:txBody>
      </p:sp>
      <p:sp>
        <p:nvSpPr>
          <p:cNvPr id="72" name="Shape 68"/>
          <p:cNvSpPr/>
          <p:nvPr/>
        </p:nvSpPr>
        <p:spPr>
          <a:xfrm>
            <a:off x="4764024" y="4599432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4855464" y="459943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agen; pilot 2–3 proyek</a:t>
            </a:r>
            <a:endParaRPr lang="en-US" sz="1050" dirty="0"/>
          </a:p>
        </p:txBody>
      </p:sp>
      <p:sp>
        <p:nvSpPr>
          <p:cNvPr id="74" name="Shape 70"/>
          <p:cNvSpPr/>
          <p:nvPr/>
        </p:nvSpPr>
        <p:spPr>
          <a:xfrm>
            <a:off x="7068312" y="4599432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7159752" y="459943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2: 2–3 BUMN</a:t>
            </a:r>
            <a:endParaRPr lang="en-US" sz="1050" dirty="0"/>
          </a:p>
        </p:txBody>
      </p:sp>
      <p:sp>
        <p:nvSpPr>
          <p:cNvPr id="76" name="Shape 72"/>
          <p:cNvSpPr/>
          <p:nvPr/>
        </p:nvSpPr>
        <p:spPr>
          <a:xfrm>
            <a:off x="9372600" y="4599432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9464040" y="459943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3–4: nasional</a:t>
            </a:r>
            <a:endParaRPr lang="en-US" sz="1050" dirty="0"/>
          </a:p>
        </p:txBody>
      </p:sp>
      <p:sp>
        <p:nvSpPr>
          <p:cNvPr id="78" name="Shape 74"/>
          <p:cNvSpPr/>
          <p:nvPr/>
        </p:nvSpPr>
        <p:spPr>
          <a:xfrm>
            <a:off x="548640" y="5038344"/>
            <a:ext cx="1783080" cy="4572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640080" y="50383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 dan TEPSDA</a:t>
            </a:r>
            <a:endParaRPr lang="en-US" sz="1250" dirty="0"/>
          </a:p>
        </p:txBody>
      </p:sp>
      <p:sp>
        <p:nvSpPr>
          <p:cNvPr id="80" name="Shape 76"/>
          <p:cNvSpPr/>
          <p:nvPr/>
        </p:nvSpPr>
        <p:spPr>
          <a:xfrm>
            <a:off x="2459736" y="5093208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2551176" y="50932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Kajian hukum dan valuasi</a:t>
            </a:r>
            <a:endParaRPr lang="en-US" sz="1050" dirty="0"/>
          </a:p>
        </p:txBody>
      </p:sp>
      <p:sp>
        <p:nvSpPr>
          <p:cNvPr id="82" name="Shape 78"/>
          <p:cNvSpPr/>
          <p:nvPr/>
        </p:nvSpPr>
        <p:spPr>
          <a:xfrm>
            <a:off x="4764024" y="5093208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4855464" y="50932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wilayah percontohan</a:t>
            </a:r>
            <a:endParaRPr lang="en-US" sz="1050" dirty="0"/>
          </a:p>
        </p:txBody>
      </p:sp>
      <p:sp>
        <p:nvSpPr>
          <p:cNvPr id="84" name="Shape 80"/>
          <p:cNvSpPr/>
          <p:nvPr/>
        </p:nvSpPr>
        <p:spPr>
          <a:xfrm>
            <a:off x="7068312" y="5093208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7159752" y="50932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CP; sandbox OJK/BI</a:t>
            </a:r>
            <a:endParaRPr lang="en-US" sz="1050" dirty="0"/>
          </a:p>
        </p:txBody>
      </p:sp>
      <p:sp>
        <p:nvSpPr>
          <p:cNvPr id="86" name="Shape 82"/>
          <p:cNvSpPr/>
          <p:nvPr/>
        </p:nvSpPr>
        <p:spPr>
          <a:xfrm>
            <a:off x="9372600" y="5093208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7" name="Text 83"/>
          <p:cNvSpPr txBox="1"/>
          <p:nvPr/>
        </p:nvSpPr>
        <p:spPr>
          <a:xfrm>
            <a:off x="9464040" y="509320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seri kecil; perluasan</a:t>
            </a:r>
            <a:endParaRPr lang="en-US" sz="1050" dirty="0"/>
          </a:p>
        </p:txBody>
      </p:sp>
      <p:sp>
        <p:nvSpPr>
          <p:cNvPr id="88" name="Shape 84"/>
          <p:cNvSpPr/>
          <p:nvPr/>
        </p:nvSpPr>
        <p:spPr>
          <a:xfrm>
            <a:off x="6858000" y="5568696"/>
            <a:ext cx="237744" cy="237744"/>
          </a:xfrm>
          <a:prstGeom prst="diamond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6336792" y="58155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90</a:t>
            </a:r>
            <a:endParaRPr lang="en-US" sz="1000" dirty="0"/>
          </a:p>
        </p:txBody>
      </p:sp>
      <p:sp>
        <p:nvSpPr>
          <p:cNvPr id="90" name="Shape 86"/>
          <p:cNvSpPr/>
          <p:nvPr/>
        </p:nvSpPr>
        <p:spPr>
          <a:xfrm>
            <a:off x="8010144" y="5568696"/>
            <a:ext cx="237744" cy="237744"/>
          </a:xfrm>
          <a:prstGeom prst="diamond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91" name="Text 87"/>
          <p:cNvSpPr txBox="1"/>
          <p:nvPr/>
        </p:nvSpPr>
        <p:spPr>
          <a:xfrm>
            <a:off x="7488936" y="58155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6</a:t>
            </a:r>
            <a:endParaRPr lang="en-US" sz="1000" dirty="0"/>
          </a:p>
        </p:txBody>
      </p:sp>
      <p:sp>
        <p:nvSpPr>
          <p:cNvPr id="92" name="Shape 88"/>
          <p:cNvSpPr/>
          <p:nvPr/>
        </p:nvSpPr>
        <p:spPr>
          <a:xfrm>
            <a:off x="9162288" y="5568696"/>
            <a:ext cx="237744" cy="237744"/>
          </a:xfrm>
          <a:prstGeom prst="diamond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93" name="Text 89"/>
          <p:cNvSpPr txBox="1"/>
          <p:nvPr/>
        </p:nvSpPr>
        <p:spPr>
          <a:xfrm>
            <a:off x="8641080" y="58155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12</a:t>
            </a:r>
            <a:endParaRPr lang="en-US" sz="1000" dirty="0"/>
          </a:p>
        </p:txBody>
      </p:sp>
      <p:sp>
        <p:nvSpPr>
          <p:cNvPr id="94" name="Shape 90"/>
          <p:cNvSpPr/>
          <p:nvPr/>
        </p:nvSpPr>
        <p:spPr>
          <a:xfrm>
            <a:off x="11305276" y="5568696"/>
            <a:ext cx="237744" cy="237744"/>
          </a:xfrm>
          <a:prstGeom prst="diamond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95" name="Text 91"/>
          <p:cNvSpPr txBox="1"/>
          <p:nvPr/>
        </p:nvSpPr>
        <p:spPr>
          <a:xfrm>
            <a:off x="10360152" y="58155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24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TITIK KEPUTUSAN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titik keputusan memastikan setiap perluasan didasarkan pada bukti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13.3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27432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237972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90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Lanjut, perbaiki atau hentikan uji coba unit; lanjut ke Fase 2 AI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waktu keputusan, hambatan selesai, manfaat bersih pilot AI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3367278" y="1600200"/>
            <a:ext cx="2635758" cy="27432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9529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785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95294" y="2203704"/>
            <a:ext cx="237972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6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Perluasan unit; kerangka kontrak payung DOCK-UP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baseline lengkap; UKM pertama lolos S1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6185916" y="1600200"/>
            <a:ext cx="2635758" cy="27432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13932" y="2203704"/>
            <a:ext cx="237972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12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permanen; opsi kendaraan aset warisan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kriteria kenaikan; valuasi independen</a:t>
            </a:r>
            <a:endParaRPr lang="en-US" sz="1800" dirty="0"/>
          </a:p>
        </p:txBody>
      </p:sp>
      <p:sp>
        <p:nvSpPr>
          <p:cNvPr id="22" name="Shape 15"/>
          <p:cNvSpPr/>
          <p:nvPr/>
        </p:nvSpPr>
        <p:spPr>
          <a:xfrm>
            <a:off x="9004554" y="1600200"/>
            <a:ext cx="2635758" cy="27432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32570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061" y="1794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32570" y="2203704"/>
            <a:ext cx="237972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24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DOCK-UP ke seluruh DEFEND ID; AI nasional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hasil S2–S3; manfaat bersih; laporan portofolio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KEPUTUSAN YANG DIMINTA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keputusan diambil sekarang; keputusan struktural besar ditunda sampai ada bukti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6766560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63677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63677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Industri Strategis di BPI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163677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NITO sebagai unit; uji coba 90 hari · Kepala Badan Pelaksana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242316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45973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245973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scorecard dan kelas bukti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3611880" y="245973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dan jembatan perimeter · Kepala, CFO, Dewas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24612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328269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" y="328269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DOCK-UP sebagai model standar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3611880" y="328269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Rintisan 1 integrator, 20–30 UKM · bersama KKIP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406908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410565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1143000" y="410565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Pemulihan BUMN Konstruksi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3611880" y="410565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berbasis laporan teraudit · COO/DAM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48640" y="489204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92861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1143000" y="492861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AI Control Tower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3611880" y="4928616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proyek prioritas · CTO bersama COO/DAM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548640" y="571500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589520" y="1600200"/>
            <a:ext cx="4050792" cy="41148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717536" y="1691640"/>
            <a:ext cx="3794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Ditunda sampai ada bukti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Jabatan Wakil Kepala formal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Holding atau badan hukum baru, termasuk kendaraan aset warisan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Fase 3–4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DOCK-UP ke seluruh DEFEND ID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Penerbitan TEPSDA skala besar dan target Rp100 T/Rp1.000 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Tidak dilanjutkan: mata uang khusus berbasis cadangan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KPI TERPADU TINGKAT PIMPINAN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belas KPI menghubungkan data, keputusan, investasi, BUMN, pembangunan, pemasok dan NRF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14.4; Kajian NRF, Bab 15.3; kode metrik dari D2, K01–K05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950"/>
                <a:gridCol w="4323872"/>
                <a:gridCol w="1221964"/>
                <a:gridCol w="385388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Sasaran awal (usulan)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Kualitas register 40 proyek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terpetakan dalam 30 hari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Keputusan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Waktu keputusan, median dan P90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−30% median dalam 6 bulan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 hasil bersih vs benchmark; IRR vs hurdle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I01, I02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 atas benchmark yang disetujui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Pencapaian milestone strategis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Terhadap baseline beku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BUMN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Economic profit inkremental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Positif vs baseline independen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BUMN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Konversi kas; utang bersih / EBITDA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O04, O08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Sesuai sektor dengan buffer stres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Pembangunan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tambah domestik tambahan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Metode disepakati di muka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Pembangunan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 teknologi terverifikasi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Terhadap roadmap eksplisit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Pemasok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pemasok per gerbang S1–S4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20–30 UKM masuk rintisan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Pemasok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Kegagalan mutu pasca pesanan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K05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Nol kegagalan kritis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Integritas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Konflik dan pengecualian terdokumentasi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Rasio cakupan TEPSDA setelah haircut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1,5× setiap kuartal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221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Kewajiban TEPSDA tercatat sebagai utang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ISU REKONSILIASI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Delapan inkonsistensi antar dokumen sumber, termasuk NRF, diselesaikan sebelum keputusan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Lampiran E; Kajian NRF, Bab 13.6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69986"/>
                <a:gridCol w="5263844"/>
                <a:gridCol w="535784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Penyelesaian yang diusulkan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 sistem gerbang memakai huruf G (D1 dan D3)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P0–P6 untuk proyek, S1–S4 untuk pemasok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Kepanjangan DOCK-UP berbeda antara D3 dan D4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Baku: Develop, Off-taker, Certification, Upgrading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Jadwal AI “3 bulan” vs diagram M1–M12 dan 24 bulan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bulan = MVP Fase 1; 24 bulan = perluasan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Angka ±Rp28 T dan US$14 miliar belum terverifikasi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Kelas C; konfirmasi dengan laporan teraudit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NITO dan kendaraan aset warisan vs unit di BPI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NITO = unit Pilihan B; kendaraan baru setelah bukti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 Rp18,9 T pada angka 40 proyek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Rekonsiliasi dengan pemilik data sebelum baseline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 di bawah Presiden (D5) vs batas kewenangan BPI atas SDA (D1)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 pemilik hak; Danantara pengelola bermandat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4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Monetisasi “non-utang” (D5) vs koreksi D1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Seluruh kewajiban TEPSDA dicatat sebagai utang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120640"/>
            <a:ext cx="11091672" cy="6858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12064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SEGERA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klaim hasil dapat ditelusuri ke modal, periode, baseline, pemilik dan verifikasi independen.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 Transformasi Terpadu Danantara</dc:title>
  <dc:subject>PptxGenJS Presentation</dc:subject>
  <dc:creator>Kajian internal</dc:creator>
  <cp:lastModifiedBy>Kajian internal</cp:lastModifiedBy>
  <cp:revision>1</cp:revision>
  <dcterms:created xsi:type="dcterms:W3CDTF">2026-10-07T06:43:01Z</dcterms:created>
  <dcterms:modified xsi:type="dcterms:W3CDTF">2026-10-07T06:43:01Z</dcterms:modified>
</cp:coreProperties>
</file>